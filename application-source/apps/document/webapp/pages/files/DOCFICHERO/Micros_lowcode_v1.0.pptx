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659" r:id="rId4"/>
    <p:sldId id="661" r:id="rId5"/>
    <p:sldId id="663" r:id="rId6"/>
    <p:sldId id="664" r:id="rId7"/>
    <p:sldId id="665" r:id="rId8"/>
    <p:sldId id="258" r:id="rId9"/>
    <p:sldId id="259" r:id="rId10"/>
    <p:sldId id="260" r:id="rId11"/>
    <p:sldId id="660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E6111-F5BB-4ED3-904C-F97DD4A25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3C3E38-E141-4FF6-B1F3-DAF7E3F32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3979CD-3688-4E07-A1CE-A31E521F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79C2E7-7DAF-498E-B7E4-A707E2742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4071F-E24C-44A2-BD08-26CA53CD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183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CD82D-AE57-47B4-A403-FF3D3C7B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B5E51E-FDEF-4346-99FD-72C77F4DF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3FE2E-2F2C-4FE0-954E-8C857E4F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C08BD-5AE7-4779-8315-E203EF05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95358C-9C7E-43DB-A87D-FEBD9DC5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59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AE3FE-7A6A-463F-87A5-E6D22C8F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2C259F-DC73-4C6B-8550-BBA0B7C31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4D38A5-50B1-4325-B3F9-3F67B181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6DA439-56F9-457C-8A68-1052F78F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FD7FDB-1DD1-46FE-AC3E-D295C03D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161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28045-1D0A-49A9-9BFF-FAD1F26B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BAC5A6-FD76-4497-A4A9-BADD750A8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78BF96-71D3-4F61-A428-C4205C231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5EF47B-1A82-4654-92CF-AC524AE8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1A297F-65E3-4EDD-94AF-4300EC49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440DB-3D91-4C2C-977C-0381677D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033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7F3DF-6E39-4959-9B0B-D74FF67B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181CD8-F402-4A69-982E-935B88F75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B4862F-E533-4EB7-8D9D-D2676DC73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19D33B-61A9-4C9D-B5FF-113ACBCF2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1071DC-8E40-470B-B19C-97185896B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918B1D-2E18-45C7-B508-DCB5D354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135D2D-F331-4AD9-B2BA-EB9387BD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1EFE7C-05F0-4739-B853-B9C6DD56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90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FA41F-A37B-40B5-BE65-108FF8E6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D092E7-B0D3-433F-B78A-7745A3F3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7E4CE5-BAFF-4628-B240-57B51EB7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53120C-30C2-474C-8E1A-94DFD2B8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91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F22F49-F60B-4043-B51C-76399A08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86D7A2-15D4-46C8-A896-8C7B2576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753333-41E0-44E1-B43D-92D77736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173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5DA5E-5E13-444E-A134-2DFEEC47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F12F2C-3917-4234-ADBC-90D230DC4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5CA027-F47B-4947-BDEA-65D226788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AF1944-606B-476B-A5E0-8B672747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0789FE-69E2-4FF2-A0E2-0629EE1B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DCDC05-F41E-4B79-B787-B4E181EDA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26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9FC44-D204-4F0D-A896-58754198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27400F-2752-4639-B328-D8300882B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15CB1C-FC92-4AFB-855A-10CAA76D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A05F62-2ED2-47E1-B3AB-E6E80566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7AD1C8-7F60-40E1-A6FC-1939150A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DEB15-228F-45AA-89F5-7B7E8E83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82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990B3-CC9B-4973-8AF3-AB07D87B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86736D-A6EA-4660-AF2E-1503EC511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E3D62-83BD-422D-8222-75CAB3FC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C8EC27-02C4-44FF-9FB0-09168AAD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99910-97ED-4687-B4BD-FED9D2A4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85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0333CF-2EAB-4BCB-93E5-DFF8F8FF6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A2DCEF-114D-4053-BF28-3A0D00ED9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48444-AD5C-4945-A12B-47158E27E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282CC9-D5C4-47FB-848A-CCF658B1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A88471-C955-4401-8248-0566B891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516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7812F3-EE37-4486-A974-13B0ADC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472C79-435B-441A-BED6-656B3148C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690CB-C7A0-4882-8949-87CECB000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2D566-8E95-475C-9E4A-2020884A91CC}" type="datetimeFigureOut">
              <a:rPr lang="es-ES" smtClean="0"/>
              <a:t>03/09/2020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D488F4-2EFE-4CB3-8EE0-C39C98A25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5ACAF5-4B57-498C-9881-BE48123B3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E6987-F2BA-4717-97E7-E888B561F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685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jp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jpeg"/><Relationship Id="rId33" Type="http://schemas.openxmlformats.org/officeDocument/2006/relationships/image" Target="../media/image33.png"/><Relationship Id="rId2" Type="http://schemas.openxmlformats.org/officeDocument/2006/relationships/image" Target="../media/image3.png"/><Relationship Id="rId16" Type="http://schemas.openxmlformats.org/officeDocument/2006/relationships/image" Target="../media/image17.svg"/><Relationship Id="rId20" Type="http://schemas.openxmlformats.org/officeDocument/2006/relationships/image" Target="../media/image21.jpe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32" Type="http://schemas.openxmlformats.org/officeDocument/2006/relationships/image" Target="../media/image3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microsoft.com/office/2007/relationships/hdphoto" Target="../media/hdphoto1.wdp"/><Relationship Id="rId35" Type="http://schemas.openxmlformats.org/officeDocument/2006/relationships/image" Target="../media/image35.png"/><Relationship Id="rId8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6A2C0C-FB28-43B5-941C-3D38E4048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2248" y="4078224"/>
            <a:ext cx="2926080" cy="1307592"/>
          </a:xfrm>
        </p:spPr>
        <p:txBody>
          <a:bodyPr>
            <a:normAutofit/>
          </a:bodyPr>
          <a:lstStyle/>
          <a:p>
            <a:pPr algn="l"/>
            <a:r>
              <a:rPr lang="es-ES" sz="2000" dirty="0"/>
              <a:t>Open Low code </a:t>
            </a:r>
            <a:r>
              <a:rPr lang="es-ES" sz="2000" dirty="0" err="1"/>
              <a:t>Platform</a:t>
            </a:r>
            <a:r>
              <a:rPr lang="es-ES" sz="2000" dirty="0"/>
              <a:t> </a:t>
            </a:r>
            <a:r>
              <a:rPr lang="es-ES" sz="2000" dirty="0" err="1"/>
              <a:t>for</a:t>
            </a:r>
            <a:r>
              <a:rPr lang="es-ES" sz="2000" dirty="0"/>
              <a:t> </a:t>
            </a:r>
            <a:r>
              <a:rPr lang="es-ES" sz="2000" dirty="0" err="1"/>
              <a:t>Microservices</a:t>
            </a:r>
            <a:r>
              <a:rPr lang="es-ES" sz="2000" dirty="0"/>
              <a:t> and Business </a:t>
            </a:r>
            <a:r>
              <a:rPr lang="es-ES" sz="2000" dirty="0" err="1"/>
              <a:t>Applications</a:t>
            </a:r>
            <a:endParaRPr lang="es-ES" sz="2000" dirty="0"/>
          </a:p>
        </p:txBody>
      </p:sp>
      <p:sp>
        <p:nvSpPr>
          <p:cNvPr id="32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169C1F-D5A0-4A73-8C71-1BEECF60DA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59" r="1" b="1"/>
          <a:stretch/>
        </p:blipFill>
        <p:spPr>
          <a:xfrm>
            <a:off x="921910" y="465243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4266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1191" y="0"/>
            <a:ext cx="6100799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9048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C1F41B-47B7-49BD-8B1F-D0E04902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3"/>
            <a:ext cx="4284418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Arquitectura Poliglota de Microservicios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6212" y="43498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9FF0849-13FD-4AB5-817B-F60E6D57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80" y="1768138"/>
            <a:ext cx="10266017" cy="449119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AE9DB61-12FC-4FFC-83E3-2B02C864358D}"/>
              </a:ext>
            </a:extLst>
          </p:cNvPr>
          <p:cNvSpPr txBox="1"/>
          <p:nvPr/>
        </p:nvSpPr>
        <p:spPr>
          <a:xfrm>
            <a:off x="7681843" y="1077843"/>
            <a:ext cx="1622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Roadmap</a:t>
            </a:r>
            <a:r>
              <a:rPr lang="es-ES" dirty="0"/>
              <a:t> Base </a:t>
            </a:r>
          </a:p>
        </p:txBody>
      </p:sp>
    </p:spTree>
    <p:extLst>
      <p:ext uri="{BB962C8B-B14F-4D97-AF65-F5344CB8AC3E}">
        <p14:creationId xmlns:p14="http://schemas.microsoft.com/office/powerpoint/2010/main" val="3265470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NGINX Plus software load balancer, web server, and cache | NGINX">
            <a:extLst>
              <a:ext uri="{FF2B5EF4-FFF2-40B4-BE49-F238E27FC236}">
                <a16:creationId xmlns:a16="http://schemas.microsoft.com/office/drawing/2014/main" id="{3509D4AA-D820-4084-9077-130EE6A52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569" y="2254324"/>
            <a:ext cx="1409700" cy="81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3D9F7BCB-F4C8-4A60-8D1C-E63C9EBD2405}"/>
              </a:ext>
            </a:extLst>
          </p:cNvPr>
          <p:cNvSpPr/>
          <p:nvPr/>
        </p:nvSpPr>
        <p:spPr>
          <a:xfrm>
            <a:off x="1650038" y="198703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Stack Tecnológico Micro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Services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074" name="Picture 2" descr="Resultado de imagen de postgresql">
            <a:extLst>
              <a:ext uri="{FF2B5EF4-FFF2-40B4-BE49-F238E27FC236}">
                <a16:creationId xmlns:a16="http://schemas.microsoft.com/office/drawing/2014/main" id="{7668E66D-5311-456D-A8FD-F1B691C37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405" y="6031410"/>
            <a:ext cx="1127770" cy="563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de apache solr logo">
            <a:extLst>
              <a:ext uri="{FF2B5EF4-FFF2-40B4-BE49-F238E27FC236}">
                <a16:creationId xmlns:a16="http://schemas.microsoft.com/office/drawing/2014/main" id="{6CBE6F28-B0ED-4090-904F-0B25182E7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44" y="5994262"/>
            <a:ext cx="1044209" cy="525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3A6E76DC-9459-48CB-97B2-F3D8BA98E6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669" y="2093224"/>
            <a:ext cx="1111803" cy="369332"/>
          </a:xfrm>
          <a:prstGeom prst="rect">
            <a:avLst/>
          </a:prstGeom>
        </p:spPr>
      </p:pic>
      <p:pic>
        <p:nvPicPr>
          <p:cNvPr id="3084" name="Picture 12" descr="Resultado de imagen de spring boot logo">
            <a:extLst>
              <a:ext uri="{FF2B5EF4-FFF2-40B4-BE49-F238E27FC236}">
                <a16:creationId xmlns:a16="http://schemas.microsoft.com/office/drawing/2014/main" id="{2964BFAA-E8B9-4575-8502-06F670D43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37" y="2716287"/>
            <a:ext cx="871016" cy="45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mage result for java logo">
            <a:extLst>
              <a:ext uri="{FF2B5EF4-FFF2-40B4-BE49-F238E27FC236}">
                <a16:creationId xmlns:a16="http://schemas.microsoft.com/office/drawing/2014/main" id="{937E1D66-D369-43C9-A0E7-572DEC705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90" y="4259386"/>
            <a:ext cx="402977" cy="73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02C2B5A-F8FA-4E3C-BF9C-5577B676BBAA}"/>
              </a:ext>
            </a:extLst>
          </p:cNvPr>
          <p:cNvCxnSpPr>
            <a:cxnSpLocks/>
          </p:cNvCxnSpPr>
          <p:nvPr/>
        </p:nvCxnSpPr>
        <p:spPr>
          <a:xfrm>
            <a:off x="3373901" y="3164869"/>
            <a:ext cx="4217687" cy="18809"/>
          </a:xfrm>
          <a:prstGeom prst="line">
            <a:avLst/>
          </a:prstGeom>
          <a:ln>
            <a:solidFill>
              <a:srgbClr val="007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3">
            <a:extLst>
              <a:ext uri="{FF2B5EF4-FFF2-40B4-BE49-F238E27FC236}">
                <a16:creationId xmlns:a16="http://schemas.microsoft.com/office/drawing/2014/main" id="{4AA4B8DB-6DBC-40BE-B933-ED1A06440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062" y="3339583"/>
            <a:ext cx="10256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BPMN / BPEL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C3496DB6-AE1F-4658-8BCA-48913C59D1B7}"/>
              </a:ext>
            </a:extLst>
          </p:cNvPr>
          <p:cNvCxnSpPr>
            <a:cxnSpLocks/>
          </p:cNvCxnSpPr>
          <p:nvPr/>
        </p:nvCxnSpPr>
        <p:spPr>
          <a:xfrm>
            <a:off x="3345154" y="3728847"/>
            <a:ext cx="4224077" cy="22344"/>
          </a:xfrm>
          <a:prstGeom prst="line">
            <a:avLst/>
          </a:prstGeom>
          <a:ln>
            <a:solidFill>
              <a:srgbClr val="007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15">
            <a:extLst>
              <a:ext uri="{FF2B5EF4-FFF2-40B4-BE49-F238E27FC236}">
                <a16:creationId xmlns:a16="http://schemas.microsoft.com/office/drawing/2014/main" id="{BECF96BC-F292-4EF2-93F8-E598915E5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64394" y="5749136"/>
            <a:ext cx="426379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DataBase</a:t>
            </a:r>
            <a:endParaRPr lang="es-ES" altLang="es-ES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093" name="Picture 21" descr="Resultado de imagen de kubernetes logo">
            <a:extLst>
              <a:ext uri="{FF2B5EF4-FFF2-40B4-BE49-F238E27FC236}">
                <a16:creationId xmlns:a16="http://schemas.microsoft.com/office/drawing/2014/main" id="{0645262D-3CC2-4E72-8947-770E1C909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336" y="1252050"/>
            <a:ext cx="1120711" cy="56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Marcador de contenido 4">
            <a:extLst>
              <a:ext uri="{FF2B5EF4-FFF2-40B4-BE49-F238E27FC236}">
                <a16:creationId xmlns:a16="http://schemas.microsoft.com/office/drawing/2014/main" id="{C91C3A38-7FD3-43AC-A07A-DFA6F9E372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43159" y="2784044"/>
            <a:ext cx="1025690" cy="49425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00D3980-5D78-4514-A7C7-CBB045D6A4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55806" y="6031410"/>
            <a:ext cx="1813425" cy="590692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9666900C-6B42-40A2-B11A-A40C80BB79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64054" y="1495224"/>
            <a:ext cx="1676400" cy="28575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1C4BE50-C91A-433D-A73A-C1E612DB843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46170" y="1498185"/>
            <a:ext cx="1676400" cy="28575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4F914C88-D8A7-4579-B603-7473EE8D9F00}"/>
              </a:ext>
            </a:extLst>
          </p:cNvPr>
          <p:cNvSpPr txBox="1"/>
          <p:nvPr/>
        </p:nvSpPr>
        <p:spPr>
          <a:xfrm>
            <a:off x="7208171" y="2500160"/>
            <a:ext cx="1268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Nginx-ingress</a:t>
            </a:r>
            <a:endParaRPr lang="es-E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1928DCF-6373-4F52-B5CF-B54C3F3AE1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78804" y="2197645"/>
            <a:ext cx="1094753" cy="30777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7D9BC54-52C5-425A-90A7-79226430A2B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48702" y="3313564"/>
            <a:ext cx="735016" cy="31706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9E9113F-7BB6-403F-A414-AFC622C3593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20718" y="3299245"/>
            <a:ext cx="545684" cy="351582"/>
          </a:xfrm>
          <a:prstGeom prst="rect">
            <a:avLst/>
          </a:prstGeom>
        </p:spPr>
      </p:pic>
      <p:sp>
        <p:nvSpPr>
          <p:cNvPr id="61" name="Rectangle 3">
            <a:extLst>
              <a:ext uri="{FF2B5EF4-FFF2-40B4-BE49-F238E27FC236}">
                <a16:creationId xmlns:a16="http://schemas.microsoft.com/office/drawing/2014/main" id="{ECD9D52C-9833-49BF-8481-678A7C82E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630" y="3342478"/>
            <a:ext cx="10256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Orchestration</a:t>
            </a:r>
            <a:endParaRPr lang="es-ES" altLang="es-ES" sz="105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DD045FB5-A1F6-4C5D-A246-76C5066C3EC3}"/>
              </a:ext>
            </a:extLst>
          </p:cNvPr>
          <p:cNvCxnSpPr>
            <a:cxnSpLocks/>
          </p:cNvCxnSpPr>
          <p:nvPr/>
        </p:nvCxnSpPr>
        <p:spPr>
          <a:xfrm flipV="1">
            <a:off x="3399325" y="2051054"/>
            <a:ext cx="4192263" cy="6025"/>
          </a:xfrm>
          <a:prstGeom prst="line">
            <a:avLst/>
          </a:prstGeom>
          <a:ln>
            <a:solidFill>
              <a:srgbClr val="007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3">
            <a:extLst>
              <a:ext uri="{FF2B5EF4-FFF2-40B4-BE49-F238E27FC236}">
                <a16:creationId xmlns:a16="http://schemas.microsoft.com/office/drawing/2014/main" id="{445D9581-1584-48A2-B086-73E718C45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702" y="2008130"/>
            <a:ext cx="1967659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Register</a:t>
            </a:r>
            <a:r>
              <a:rPr lang="es-ES" altLang="es-E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 and </a:t>
            </a:r>
            <a:r>
              <a:rPr lang="es-ES" altLang="es-E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Service</a:t>
            </a:r>
            <a:r>
              <a:rPr lang="es-ES" altLang="es-E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 Discovery</a:t>
            </a:r>
          </a:p>
        </p:txBody>
      </p:sp>
      <p:pic>
        <p:nvPicPr>
          <p:cNvPr id="1030" name="Picture 6" descr="Monitorizando con Elasticsearch, Logstash, Kibana, Grafana, Beats ...">
            <a:extLst>
              <a:ext uri="{FF2B5EF4-FFF2-40B4-BE49-F238E27FC236}">
                <a16:creationId xmlns:a16="http://schemas.microsoft.com/office/drawing/2014/main" id="{B4A0F5E4-D2AC-4E91-99ED-A06DD326C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733" y="5262480"/>
            <a:ext cx="878983" cy="45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Imagen 4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F3AC3A24-1F61-4F82-8D31-2EB9AE6159D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38" y="4259386"/>
            <a:ext cx="1626998" cy="350327"/>
          </a:xfrm>
          <a:prstGeom prst="rect">
            <a:avLst/>
          </a:prstGeom>
        </p:spPr>
      </p:pic>
      <p:pic>
        <p:nvPicPr>
          <p:cNvPr id="1032" name="Picture 8" descr="Emanuel Goette, alias Crespo: Que es Apache Kafka?">
            <a:extLst>
              <a:ext uri="{FF2B5EF4-FFF2-40B4-BE49-F238E27FC236}">
                <a16:creationId xmlns:a16="http://schemas.microsoft.com/office/drawing/2014/main" id="{78CD89E5-09DF-4C5D-9EC9-FD3186D65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039" y="4056103"/>
            <a:ext cx="886994" cy="886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1D439C79-034B-4427-B70A-22384322B59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418" y="3978946"/>
            <a:ext cx="1071170" cy="107117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CA3FB67E-01FD-4399-B9F4-06B232E8D8F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585" y="6031410"/>
            <a:ext cx="747446" cy="587912"/>
          </a:xfrm>
          <a:prstGeom prst="rect">
            <a:avLst/>
          </a:prstGeom>
        </p:spPr>
      </p:pic>
      <p:pic>
        <p:nvPicPr>
          <p:cNvPr id="1034" name="Picture 10" descr="Fedora y openSUSE cambiarán MySQL por MariaDB">
            <a:extLst>
              <a:ext uri="{FF2B5EF4-FFF2-40B4-BE49-F238E27FC236}">
                <a16:creationId xmlns:a16="http://schemas.microsoft.com/office/drawing/2014/main" id="{46E9C4DB-AB55-4EE7-9681-8AE254718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154" y="5938304"/>
            <a:ext cx="882111" cy="6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Imagen 64" descr="Imagen que contiene mano, cuarto, reloj&#10;&#10;Descripción generada automáticamente">
            <a:extLst>
              <a:ext uri="{FF2B5EF4-FFF2-40B4-BE49-F238E27FC236}">
                <a16:creationId xmlns:a16="http://schemas.microsoft.com/office/drawing/2014/main" id="{A8062AC1-B477-4EF1-8A84-4EE07A5D4E0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106" y="3439981"/>
            <a:ext cx="768286" cy="768771"/>
          </a:xfrm>
          <a:prstGeom prst="rect">
            <a:avLst/>
          </a:prstGeom>
        </p:spPr>
      </p:pic>
      <p:pic>
        <p:nvPicPr>
          <p:cNvPr id="1038" name="Picture 14" descr="Let's Encrypt - Certificados SSL/TLS Gratuitos">
            <a:extLst>
              <a:ext uri="{FF2B5EF4-FFF2-40B4-BE49-F238E27FC236}">
                <a16:creationId xmlns:a16="http://schemas.microsoft.com/office/drawing/2014/main" id="{ABA8E4A5-AF60-41C6-85B4-37D80E351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106" y="4236992"/>
            <a:ext cx="768771" cy="76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Imagen 68" descr="Imagen que contiene parada, estacionado&#10;&#10;Descripción generada automáticamente">
            <a:extLst>
              <a:ext uri="{FF2B5EF4-FFF2-40B4-BE49-F238E27FC236}">
                <a16:creationId xmlns:a16="http://schemas.microsoft.com/office/drawing/2014/main" id="{40EDAC53-957D-451B-9213-CFD80D7A515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640" y="2284740"/>
            <a:ext cx="802614" cy="802614"/>
          </a:xfrm>
          <a:prstGeom prst="rect">
            <a:avLst/>
          </a:prstGeom>
        </p:spPr>
      </p:pic>
      <p:pic>
        <p:nvPicPr>
          <p:cNvPr id="1040" name="Picture 16" descr="Redis">
            <a:extLst>
              <a:ext uri="{FF2B5EF4-FFF2-40B4-BE49-F238E27FC236}">
                <a16:creationId xmlns:a16="http://schemas.microsoft.com/office/drawing/2014/main" id="{73F8B9A4-B15D-4386-B434-F7168CE43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006" y="6088007"/>
            <a:ext cx="1352067" cy="45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CuadroTexto 84">
            <a:extLst>
              <a:ext uri="{FF2B5EF4-FFF2-40B4-BE49-F238E27FC236}">
                <a16:creationId xmlns:a16="http://schemas.microsoft.com/office/drawing/2014/main" id="{2A728594-6E99-49FA-B502-7607D1EDFE8A}"/>
              </a:ext>
            </a:extLst>
          </p:cNvPr>
          <p:cNvSpPr txBox="1"/>
          <p:nvPr/>
        </p:nvSpPr>
        <p:spPr>
          <a:xfrm>
            <a:off x="8400575" y="6159462"/>
            <a:ext cx="604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Redis</a:t>
            </a:r>
          </a:p>
        </p:txBody>
      </p:sp>
      <p:pic>
        <p:nvPicPr>
          <p:cNvPr id="1042" name="Picture 18" descr="Spring Cloud Config with HashiCorp Vault Backend | by Furkan ...">
            <a:extLst>
              <a:ext uri="{FF2B5EF4-FFF2-40B4-BE49-F238E27FC236}">
                <a16:creationId xmlns:a16="http://schemas.microsoft.com/office/drawing/2014/main" id="{EC50DF32-F5F7-4D86-8B08-38CFEDC9E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25" y="3251972"/>
            <a:ext cx="1470981" cy="86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Aplyca es ahora Partner de Rancher | Aplyca">
            <a:extLst>
              <a:ext uri="{FF2B5EF4-FFF2-40B4-BE49-F238E27FC236}">
                <a16:creationId xmlns:a16="http://schemas.microsoft.com/office/drawing/2014/main" id="{C2D08C72-77BB-4179-8F07-DE0CEB520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9458" y="5893442"/>
            <a:ext cx="1484435" cy="76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loo - Envoy Proxy based API Gateway and Ingress Controller - Solo.io">
            <a:extLst>
              <a:ext uri="{FF2B5EF4-FFF2-40B4-BE49-F238E27FC236}">
                <a16:creationId xmlns:a16="http://schemas.microsoft.com/office/drawing/2014/main" id="{6B61E4AA-62E0-4B75-8C29-B7E395F75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583" y="2410767"/>
            <a:ext cx="1651601" cy="54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ntroducción y ejemplo básico sobre Vert.x">
            <a:extLst>
              <a:ext uri="{FF2B5EF4-FFF2-40B4-BE49-F238E27FC236}">
                <a16:creationId xmlns:a16="http://schemas.microsoft.com/office/drawing/2014/main" id="{B5192228-9513-4555-9F25-CD44A762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878" y="2646931"/>
            <a:ext cx="1358823" cy="59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9A1E79-A82A-4492-B83E-5C7EBD0D3B7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32405" y="2056079"/>
            <a:ext cx="1028856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2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9D017863-0799-4ED3-9C0B-0D45CB128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08" y="1119916"/>
            <a:ext cx="10106991" cy="4428906"/>
          </a:xfrm>
          <a:prstGeom prst="rect">
            <a:avLst/>
          </a:prstGeom>
        </p:spPr>
      </p:pic>
      <p:pic>
        <p:nvPicPr>
          <p:cNvPr id="7" name="Imagen 6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DEC13161-489F-4B3E-BB48-E1C7BEB6DF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CDAAB24-175E-4CAF-B2C7-CCFF1D33053A}"/>
              </a:ext>
            </a:extLst>
          </p:cNvPr>
          <p:cNvSpPr/>
          <p:nvPr/>
        </p:nvSpPr>
        <p:spPr>
          <a:xfrm>
            <a:off x="1304685" y="196735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Diseñador de Micro Servicios y API 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796CF06-EA6F-4A4B-A49C-A9EF2B3972C8}"/>
              </a:ext>
            </a:extLst>
          </p:cNvPr>
          <p:cNvCxnSpPr>
            <a:cxnSpLocks/>
          </p:cNvCxnSpPr>
          <p:nvPr/>
        </p:nvCxnSpPr>
        <p:spPr>
          <a:xfrm flipV="1">
            <a:off x="1467749" y="4143514"/>
            <a:ext cx="182289" cy="117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A4781F0-5845-44C9-9418-15741A91EC1C}"/>
              </a:ext>
            </a:extLst>
          </p:cNvPr>
          <p:cNvSpPr txBox="1"/>
          <p:nvPr/>
        </p:nvSpPr>
        <p:spPr>
          <a:xfrm>
            <a:off x="384599" y="5299525"/>
            <a:ext cx="2301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Micro asíncrono de eventos y </a:t>
            </a:r>
            <a:r>
              <a:rPr lang="es-ES" sz="1400" dirty="0" err="1"/>
              <a:t>streams</a:t>
            </a:r>
            <a:endParaRPr lang="es-ES" sz="14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8C9F291-5981-407D-BF90-408B0A98DECF}"/>
              </a:ext>
            </a:extLst>
          </p:cNvPr>
          <p:cNvCxnSpPr/>
          <p:nvPr/>
        </p:nvCxnSpPr>
        <p:spPr>
          <a:xfrm flipH="1" flipV="1">
            <a:off x="2637183" y="2623930"/>
            <a:ext cx="48592" cy="340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A4D280C-C652-41E9-BCC6-5EA05206669F}"/>
              </a:ext>
            </a:extLst>
          </p:cNvPr>
          <p:cNvCxnSpPr/>
          <p:nvPr/>
        </p:nvCxnSpPr>
        <p:spPr>
          <a:xfrm flipH="1" flipV="1">
            <a:off x="4442493" y="4195252"/>
            <a:ext cx="66716" cy="154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9D66A47-1738-43F1-907A-124F4E85485D}"/>
              </a:ext>
            </a:extLst>
          </p:cNvPr>
          <p:cNvCxnSpPr>
            <a:cxnSpLocks/>
          </p:cNvCxnSpPr>
          <p:nvPr/>
        </p:nvCxnSpPr>
        <p:spPr>
          <a:xfrm flipH="1" flipV="1">
            <a:off x="3500621" y="4936976"/>
            <a:ext cx="1008588" cy="801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5F02D3F-B698-47C7-9B87-67BCB379D382}"/>
              </a:ext>
            </a:extLst>
          </p:cNvPr>
          <p:cNvCxnSpPr>
            <a:cxnSpLocks/>
          </p:cNvCxnSpPr>
          <p:nvPr/>
        </p:nvCxnSpPr>
        <p:spPr>
          <a:xfrm flipV="1">
            <a:off x="2685775" y="3394662"/>
            <a:ext cx="1345238" cy="2601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7D40FEBF-2EB4-4A33-83EC-ABA2784CA975}"/>
              </a:ext>
            </a:extLst>
          </p:cNvPr>
          <p:cNvCxnSpPr>
            <a:cxnSpLocks/>
          </p:cNvCxnSpPr>
          <p:nvPr/>
        </p:nvCxnSpPr>
        <p:spPr>
          <a:xfrm flipH="1" flipV="1">
            <a:off x="4469965" y="3057159"/>
            <a:ext cx="39244" cy="2680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54A5ABD-5461-471E-9BA5-CA14A2E93E6A}"/>
              </a:ext>
            </a:extLst>
          </p:cNvPr>
          <p:cNvCxnSpPr/>
          <p:nvPr/>
        </p:nvCxnSpPr>
        <p:spPr>
          <a:xfrm flipH="1" flipV="1">
            <a:off x="5941638" y="4666187"/>
            <a:ext cx="294335" cy="1071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00B943E8-CC4B-475C-BA7B-B31A0D468FC2}"/>
              </a:ext>
            </a:extLst>
          </p:cNvPr>
          <p:cNvCxnSpPr/>
          <p:nvPr/>
        </p:nvCxnSpPr>
        <p:spPr>
          <a:xfrm flipH="1" flipV="1">
            <a:off x="6208501" y="2476336"/>
            <a:ext cx="1474292" cy="3261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169D390-86F6-4807-B297-A4BB29D5857F}"/>
              </a:ext>
            </a:extLst>
          </p:cNvPr>
          <p:cNvSpPr txBox="1"/>
          <p:nvPr/>
        </p:nvSpPr>
        <p:spPr>
          <a:xfrm>
            <a:off x="1702691" y="5996580"/>
            <a:ext cx="23011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Micro síncrono admite llamadas REST, mensajes y </a:t>
            </a:r>
            <a:r>
              <a:rPr lang="es-ES" sz="1400" dirty="0" err="1"/>
              <a:t>Streams</a:t>
            </a:r>
            <a:endParaRPr lang="es-ES" sz="14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C3193FA-159E-4C2B-9C7B-1ADB8F926604}"/>
              </a:ext>
            </a:extLst>
          </p:cNvPr>
          <p:cNvSpPr txBox="1"/>
          <p:nvPr/>
        </p:nvSpPr>
        <p:spPr>
          <a:xfrm>
            <a:off x="3834786" y="5728801"/>
            <a:ext cx="1930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Mensajes o </a:t>
            </a:r>
            <a:r>
              <a:rPr lang="es-ES" sz="1400" dirty="0" err="1"/>
              <a:t>Streams</a:t>
            </a:r>
            <a:endParaRPr lang="es-ES" sz="14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0C89968-2B1E-4E55-94FB-7EA60AEFB958}"/>
              </a:ext>
            </a:extLst>
          </p:cNvPr>
          <p:cNvSpPr txBox="1"/>
          <p:nvPr/>
        </p:nvSpPr>
        <p:spPr>
          <a:xfrm>
            <a:off x="5809122" y="5682666"/>
            <a:ext cx="1193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Llamada a servicio externo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4E42405-668B-46B2-AD65-356A0B088226}"/>
              </a:ext>
            </a:extLst>
          </p:cNvPr>
          <p:cNvSpPr txBox="1"/>
          <p:nvPr/>
        </p:nvSpPr>
        <p:spPr>
          <a:xfrm>
            <a:off x="7445031" y="5738084"/>
            <a:ext cx="1193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Tabla, Vista o </a:t>
            </a:r>
            <a:r>
              <a:rPr lang="es-ES" sz="1400" dirty="0" err="1"/>
              <a:t>Stored</a:t>
            </a:r>
            <a:r>
              <a:rPr lang="es-ES" sz="1400" dirty="0"/>
              <a:t> </a:t>
            </a:r>
            <a:r>
              <a:rPr lang="es-ES" sz="1400" dirty="0" err="1"/>
              <a:t>procedure</a:t>
            </a:r>
            <a:r>
              <a:rPr lang="es-ES" sz="1400" dirty="0"/>
              <a:t>  Base de datos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4F21B0D-A137-43E3-AD10-514EE2B1AEBC}"/>
              </a:ext>
            </a:extLst>
          </p:cNvPr>
          <p:cNvSpPr txBox="1"/>
          <p:nvPr/>
        </p:nvSpPr>
        <p:spPr>
          <a:xfrm>
            <a:off x="10429684" y="1397675"/>
            <a:ext cx="16512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Mediante el diseñador Drag and Drop , se puede definir el API de cada micro servicio asi como las llamadas a eventos, datos, </a:t>
            </a:r>
            <a:r>
              <a:rPr lang="es-ES" sz="1400" dirty="0" err="1"/>
              <a:t>streams</a:t>
            </a:r>
            <a:r>
              <a:rPr lang="es-ES" sz="1400" dirty="0"/>
              <a:t> u otros servicios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29CC2CC4-B006-4236-91AF-23C5D357589E}"/>
              </a:ext>
            </a:extLst>
          </p:cNvPr>
          <p:cNvCxnSpPr>
            <a:cxnSpLocks/>
          </p:cNvCxnSpPr>
          <p:nvPr/>
        </p:nvCxnSpPr>
        <p:spPr>
          <a:xfrm flipH="1" flipV="1">
            <a:off x="9410864" y="3210211"/>
            <a:ext cx="1306846" cy="2056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D479FCB-328D-4CDE-A453-21BC4720FB5C}"/>
              </a:ext>
            </a:extLst>
          </p:cNvPr>
          <p:cNvSpPr txBox="1"/>
          <p:nvPr/>
        </p:nvSpPr>
        <p:spPr>
          <a:xfrm>
            <a:off x="10489309" y="5291075"/>
            <a:ext cx="1193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Paleta con tablas, servicios, mensajes ….</a:t>
            </a:r>
          </a:p>
        </p:txBody>
      </p:sp>
    </p:spTree>
    <p:extLst>
      <p:ext uri="{BB962C8B-B14F-4D97-AF65-F5344CB8AC3E}">
        <p14:creationId xmlns:p14="http://schemas.microsoft.com/office/powerpoint/2010/main" val="204669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3766A67-ACFC-443A-8176-D117E8886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81" y="2429243"/>
            <a:ext cx="9469814" cy="3887035"/>
          </a:xfrm>
          <a:prstGeom prst="rect">
            <a:avLst/>
          </a:prstGeom>
        </p:spPr>
      </p:pic>
      <p:pic>
        <p:nvPicPr>
          <p:cNvPr id="7" name="Imagen 6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9F6E56AA-63B3-4E75-87DD-7EC1C02D8D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B81288D-5770-4CC4-9F29-27F244BFA020}"/>
              </a:ext>
            </a:extLst>
          </p:cNvPr>
          <p:cNvSpPr/>
          <p:nvPr/>
        </p:nvSpPr>
        <p:spPr>
          <a:xfrm>
            <a:off x="1304685" y="196735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Editor de Micro Servicios y API 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E5D2D3-24FF-4CF6-B88B-EAD0E5755BA7}"/>
              </a:ext>
            </a:extLst>
          </p:cNvPr>
          <p:cNvSpPr txBox="1"/>
          <p:nvPr/>
        </p:nvSpPr>
        <p:spPr>
          <a:xfrm>
            <a:off x="471651" y="1451216"/>
            <a:ext cx="94038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Al editar un servicio, podremos personalizar sus operaciones, seguridad, </a:t>
            </a:r>
            <a:r>
              <a:rPr lang="es-ES" sz="1400" dirty="0" err="1"/>
              <a:t>schemas</a:t>
            </a:r>
            <a:r>
              <a:rPr lang="es-ES" sz="1400" dirty="0"/>
              <a:t>, documentación … asi como incluir validadores y el mapeo de valores del </a:t>
            </a:r>
            <a:r>
              <a:rPr lang="es-ES" sz="1400" dirty="0" err="1"/>
              <a:t>schema</a:t>
            </a:r>
            <a:r>
              <a:rPr lang="es-ES" sz="1400" dirty="0"/>
              <a:t> hacia el modelo de datos, eventos, llamadas a servicios externos … El proceso de generación generara el codigo completamente operativo según la definición del servicio y sus operaciones.</a:t>
            </a:r>
          </a:p>
        </p:txBody>
      </p:sp>
    </p:spTree>
    <p:extLst>
      <p:ext uri="{BB962C8B-B14F-4D97-AF65-F5344CB8AC3E}">
        <p14:creationId xmlns:p14="http://schemas.microsoft.com/office/powerpoint/2010/main" val="377315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761899FF-BAD9-477F-A433-895A7F4F66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5C49F3F-4E84-48AA-8CF6-BD8FBD0AF5FB}"/>
              </a:ext>
            </a:extLst>
          </p:cNvPr>
          <p:cNvSpPr/>
          <p:nvPr/>
        </p:nvSpPr>
        <p:spPr>
          <a:xfrm>
            <a:off x="1304685" y="196735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Diseño modelo datos, mensajes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streams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E4EFFB-F691-49B3-A46E-9923645E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1" y="2314154"/>
            <a:ext cx="11516139" cy="411442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D15D6B6-B417-45E1-8C49-15D38B8698F2}"/>
              </a:ext>
            </a:extLst>
          </p:cNvPr>
          <p:cNvSpPr txBox="1"/>
          <p:nvPr/>
        </p:nvSpPr>
        <p:spPr>
          <a:xfrm>
            <a:off x="428482" y="1247144"/>
            <a:ext cx="94038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El diseño de tablas y vistas del modelo de datos se realiza de forma visual , incluyendo las relaciones ascendientes y descendientes , asi como validaciones en tipos de campos, comportamientos …. Todo el diseño se realiza en tiempo real conectado contra una base de datos que permite crear interfaces dinámicas o importación desde ficheros </a:t>
            </a:r>
            <a:r>
              <a:rPr lang="es-ES" sz="1400" dirty="0" err="1"/>
              <a:t>csv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9053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47A4AC-5D28-4170-8615-06974C9BF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12" y="2884338"/>
            <a:ext cx="10847506" cy="3328087"/>
          </a:xfrm>
          <a:prstGeom prst="rect">
            <a:avLst/>
          </a:prstGeom>
        </p:spPr>
      </p:pic>
      <p:pic>
        <p:nvPicPr>
          <p:cNvPr id="7" name="Imagen 6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41D8E8CF-49E6-4E3C-9778-BD62CD27BB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11B36BF-A584-422D-B357-4A1222F0AC77}"/>
              </a:ext>
            </a:extLst>
          </p:cNvPr>
          <p:cNvSpPr/>
          <p:nvPr/>
        </p:nvSpPr>
        <p:spPr>
          <a:xfrm>
            <a:off x="1304685" y="196735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Diseño modelo datos, mensajes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streams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608730-710D-4979-9F2D-717C004AFF04}"/>
              </a:ext>
            </a:extLst>
          </p:cNvPr>
          <p:cNvSpPr txBox="1"/>
          <p:nvPr/>
        </p:nvSpPr>
        <p:spPr>
          <a:xfrm>
            <a:off x="428481" y="1247144"/>
            <a:ext cx="11329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La interface permite definir las colas de mensajes y su tipología (Mensajes y </a:t>
            </a:r>
            <a:r>
              <a:rPr lang="es-ES" sz="1400" dirty="0" err="1"/>
              <a:t>Streams</a:t>
            </a:r>
            <a:r>
              <a:rPr lang="es-ES" sz="1400" dirty="0"/>
              <a:t>) conectados directamente contra </a:t>
            </a:r>
            <a:r>
              <a:rPr lang="es-ES" sz="1400" dirty="0" err="1"/>
              <a:t>RabbitMQ</a:t>
            </a:r>
            <a:r>
              <a:rPr lang="es-ES" sz="1400" dirty="0"/>
              <a:t> y </a:t>
            </a:r>
            <a:r>
              <a:rPr lang="es-ES" sz="1400" dirty="0" err="1"/>
              <a:t>Confluent</a:t>
            </a:r>
            <a:r>
              <a:rPr lang="es-ES" sz="1400" dirty="0"/>
              <a:t> Kafka.</a:t>
            </a:r>
          </a:p>
          <a:p>
            <a:endParaRPr lang="es-ES" sz="1400" dirty="0"/>
          </a:p>
          <a:p>
            <a:r>
              <a:rPr lang="es-ES" sz="1400" dirty="0"/>
              <a:t>Además de definir las colas, </a:t>
            </a:r>
            <a:r>
              <a:rPr lang="es-ES" sz="1400" dirty="0" err="1"/>
              <a:t>topics</a:t>
            </a:r>
            <a:r>
              <a:rPr lang="es-ES" sz="1400" dirty="0"/>
              <a:t>… también permite definir el </a:t>
            </a:r>
            <a:r>
              <a:rPr lang="es-ES" sz="1400" dirty="0" err="1"/>
              <a:t>schema</a:t>
            </a:r>
            <a:r>
              <a:rPr lang="es-ES" sz="1400" dirty="0"/>
              <a:t> del mensaje o </a:t>
            </a:r>
            <a:r>
              <a:rPr lang="es-ES" sz="1400" dirty="0" err="1"/>
              <a:t>streams</a:t>
            </a:r>
            <a:r>
              <a:rPr lang="es-ES" sz="1400" dirty="0"/>
              <a:t>  (atributos, valores por defecto, tipos de campo…) similar a como se diseña una tabla de datos.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15A335-ADAC-44E2-AC07-DC6098EC36FB}"/>
              </a:ext>
            </a:extLst>
          </p:cNvPr>
          <p:cNvSpPr txBox="1"/>
          <p:nvPr/>
        </p:nvSpPr>
        <p:spPr>
          <a:xfrm>
            <a:off x="2972046" y="2474174"/>
            <a:ext cx="2887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Pendiente añadir editor </a:t>
            </a:r>
            <a:r>
              <a:rPr lang="es-ES" sz="1400" dirty="0" err="1">
                <a:solidFill>
                  <a:srgbClr val="FF0000"/>
                </a:solidFill>
              </a:rPr>
              <a:t>AsyncAPI</a:t>
            </a:r>
            <a:r>
              <a:rPr lang="es-ES" sz="1400" dirty="0">
                <a:solidFill>
                  <a:srgbClr val="FF0000"/>
                </a:solidFill>
              </a:rPr>
              <a:t> 2.0</a:t>
            </a:r>
          </a:p>
        </p:txBody>
      </p:sp>
    </p:spTree>
    <p:extLst>
      <p:ext uri="{BB962C8B-B14F-4D97-AF65-F5344CB8AC3E}">
        <p14:creationId xmlns:p14="http://schemas.microsoft.com/office/powerpoint/2010/main" val="709298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7515440-09CA-4D09-977D-0C71CA18E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654" y="1375371"/>
            <a:ext cx="3976285" cy="40132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C734358-C6CF-4966-A76C-FFE361988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8659"/>
            <a:ext cx="5734599" cy="401320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E7AABEC-D028-4687-A59C-D2EB72CDB8E2}"/>
              </a:ext>
            </a:extLst>
          </p:cNvPr>
          <p:cNvSpPr txBox="1"/>
          <p:nvPr/>
        </p:nvSpPr>
        <p:spPr>
          <a:xfrm>
            <a:off x="940905" y="5752486"/>
            <a:ext cx="10981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Mediante anotaciones java simplifica el desarrollo de microservicios , mostrando el api , tokens con </a:t>
            </a:r>
            <a:r>
              <a:rPr lang="es-ES" dirty="0" err="1"/>
              <a:t>jwt</a:t>
            </a:r>
            <a:r>
              <a:rPr lang="es-ES" dirty="0"/>
              <a:t>, configuración de diferentes entornos en repositorios </a:t>
            </a:r>
            <a:r>
              <a:rPr lang="es-ES" dirty="0" err="1"/>
              <a:t>git</a:t>
            </a:r>
            <a:r>
              <a:rPr lang="es-ES" dirty="0"/>
              <a:t> …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D45174DE-C83F-4ED0-B994-FE39D323D359}"/>
              </a:ext>
            </a:extLst>
          </p:cNvPr>
          <p:cNvSpPr/>
          <p:nvPr/>
        </p:nvSpPr>
        <p:spPr>
          <a:xfrm>
            <a:off x="6869043" y="3180522"/>
            <a:ext cx="569844" cy="693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Imagen 17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291DD7BE-F54E-416B-AA5E-93F355E33F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398E1DA4-BF2D-4B61-B0D9-85717D102C9F}"/>
              </a:ext>
            </a:extLst>
          </p:cNvPr>
          <p:cNvSpPr/>
          <p:nvPr/>
        </p:nvSpPr>
        <p:spPr>
          <a:xfrm>
            <a:off x="1650038" y="198703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Arquitectura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vertx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3.9.2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Franja diagonal 23">
            <a:extLst>
              <a:ext uri="{FF2B5EF4-FFF2-40B4-BE49-F238E27FC236}">
                <a16:creationId xmlns:a16="http://schemas.microsoft.com/office/drawing/2014/main" id="{0B6774EA-FEC0-4246-991C-6FB5406E4795}"/>
              </a:ext>
            </a:extLst>
          </p:cNvPr>
          <p:cNvSpPr/>
          <p:nvPr/>
        </p:nvSpPr>
        <p:spPr>
          <a:xfrm>
            <a:off x="-1" y="-2168"/>
            <a:ext cx="1878663" cy="974221"/>
          </a:xfrm>
          <a:prstGeom prst="diagStri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SlantUp">
              <a:avLst>
                <a:gd name="adj" fmla="val 71431"/>
              </a:avLst>
            </a:prstTxWarp>
          </a:bodyPr>
          <a:lstStyle/>
          <a:p>
            <a:pPr algn="ctr"/>
            <a:r>
              <a:rPr lang="es-ES" sz="1000" dirty="0">
                <a:solidFill>
                  <a:schemeClr val="bg1"/>
                </a:solidFill>
              </a:rPr>
              <a:t>Auto Generado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9186EFE-5E4F-4DA9-AD45-2C48D06D2D34}"/>
              </a:ext>
            </a:extLst>
          </p:cNvPr>
          <p:cNvCxnSpPr>
            <a:cxnSpLocks/>
            <a:stCxn id="26" idx="2"/>
          </p:cNvCxnSpPr>
          <p:nvPr/>
        </p:nvCxnSpPr>
        <p:spPr>
          <a:xfrm flipV="1">
            <a:off x="559433" y="2959048"/>
            <a:ext cx="437382" cy="2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13C5779-D826-47C9-8EB1-5D905C612F89}"/>
              </a:ext>
            </a:extLst>
          </p:cNvPr>
          <p:cNvSpPr txBox="1"/>
          <p:nvPr/>
        </p:nvSpPr>
        <p:spPr>
          <a:xfrm rot="16200000">
            <a:off x="-556674" y="2850485"/>
            <a:ext cx="1955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Anotaciones de arquitectura</a:t>
            </a:r>
          </a:p>
        </p:txBody>
      </p:sp>
    </p:spTree>
    <p:extLst>
      <p:ext uri="{BB962C8B-B14F-4D97-AF65-F5344CB8AC3E}">
        <p14:creationId xmlns:p14="http://schemas.microsoft.com/office/powerpoint/2010/main" val="2608780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11A1888-CE23-476D-8B71-429D1B5D0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33" y="1780209"/>
            <a:ext cx="6041304" cy="26980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AE25710-F708-48FF-A218-2589F35A7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383" y="3383718"/>
            <a:ext cx="5618920" cy="32588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CA9D3AB-4041-4B44-ADD5-26AF7B771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3" y="4946894"/>
            <a:ext cx="4594088" cy="1086351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5953484-EBA6-4086-A3B8-41749BDA0D46}"/>
              </a:ext>
            </a:extLst>
          </p:cNvPr>
          <p:cNvCxnSpPr>
            <a:cxnSpLocks/>
          </p:cNvCxnSpPr>
          <p:nvPr/>
        </p:nvCxnSpPr>
        <p:spPr>
          <a:xfrm flipV="1">
            <a:off x="838200" y="5423609"/>
            <a:ext cx="398006" cy="84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B269361-7289-4C9F-BB29-73D00D6CA6FA}"/>
              </a:ext>
            </a:extLst>
          </p:cNvPr>
          <p:cNvSpPr txBox="1"/>
          <p:nvPr/>
        </p:nvSpPr>
        <p:spPr>
          <a:xfrm>
            <a:off x="576896" y="6212427"/>
            <a:ext cx="329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Schema</a:t>
            </a:r>
            <a:r>
              <a:rPr lang="es-ES" dirty="0"/>
              <a:t> de errores personalizado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E28C419-35C0-4EDB-8A52-714D626EF450}"/>
              </a:ext>
            </a:extLst>
          </p:cNvPr>
          <p:cNvSpPr txBox="1"/>
          <p:nvPr/>
        </p:nvSpPr>
        <p:spPr>
          <a:xfrm>
            <a:off x="7197793" y="1780209"/>
            <a:ext cx="4156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Definición de la interface del microservicio para su generación como servicio de </a:t>
            </a:r>
            <a:r>
              <a:rPr lang="es-ES" dirty="0" err="1"/>
              <a:t>vertx</a:t>
            </a:r>
            <a:endParaRPr lang="es-ES" dirty="0"/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84C15D2C-A665-4216-B507-F2FC3149F680}"/>
              </a:ext>
            </a:extLst>
          </p:cNvPr>
          <p:cNvSpPr/>
          <p:nvPr/>
        </p:nvSpPr>
        <p:spPr>
          <a:xfrm rot="5400000">
            <a:off x="6895282" y="2064268"/>
            <a:ext cx="215846" cy="1334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4359FD2-9676-49A1-B227-5A657859C75F}"/>
              </a:ext>
            </a:extLst>
          </p:cNvPr>
          <p:cNvSpPr txBox="1"/>
          <p:nvPr/>
        </p:nvSpPr>
        <p:spPr>
          <a:xfrm>
            <a:off x="8695351" y="2835499"/>
            <a:ext cx="282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Implementación del servicio</a:t>
            </a:r>
          </a:p>
        </p:txBody>
      </p:sp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1D4FCCE9-E877-4567-BD5F-83B48DEEAD74}"/>
              </a:ext>
            </a:extLst>
          </p:cNvPr>
          <p:cNvSpPr/>
          <p:nvPr/>
        </p:nvSpPr>
        <p:spPr>
          <a:xfrm rot="21387720">
            <a:off x="10206874" y="3189957"/>
            <a:ext cx="215846" cy="1334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D967B3D-57F0-454A-B871-9ED992834FF3}"/>
              </a:ext>
            </a:extLst>
          </p:cNvPr>
          <p:cNvCxnSpPr/>
          <p:nvPr/>
        </p:nvCxnSpPr>
        <p:spPr>
          <a:xfrm flipH="1">
            <a:off x="4831015" y="2723578"/>
            <a:ext cx="2335055" cy="27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C91FA23-631B-4AEC-9707-18DB12630EF9}"/>
              </a:ext>
            </a:extLst>
          </p:cNvPr>
          <p:cNvSpPr txBox="1"/>
          <p:nvPr/>
        </p:nvSpPr>
        <p:spPr>
          <a:xfrm>
            <a:off x="7111128" y="2513386"/>
            <a:ext cx="264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Anotación de arquitectura</a:t>
            </a:r>
          </a:p>
        </p:txBody>
      </p:sp>
      <p:pic>
        <p:nvPicPr>
          <p:cNvPr id="28" name="Imagen 27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A9693545-EEC9-435F-8299-BD3DEDDB03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74867226-357A-4277-BFBD-0EC7490FF2CE}"/>
              </a:ext>
            </a:extLst>
          </p:cNvPr>
          <p:cNvSpPr/>
          <p:nvPr/>
        </p:nvSpPr>
        <p:spPr>
          <a:xfrm>
            <a:off x="1650038" y="198703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Arquitectura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vertx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3.9.2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Franja diagonal 30">
            <a:extLst>
              <a:ext uri="{FF2B5EF4-FFF2-40B4-BE49-F238E27FC236}">
                <a16:creationId xmlns:a16="http://schemas.microsoft.com/office/drawing/2014/main" id="{47B8E489-1402-4450-84B1-2F3E703C17D5}"/>
              </a:ext>
            </a:extLst>
          </p:cNvPr>
          <p:cNvSpPr/>
          <p:nvPr/>
        </p:nvSpPr>
        <p:spPr>
          <a:xfrm>
            <a:off x="-1" y="-2168"/>
            <a:ext cx="1878663" cy="974221"/>
          </a:xfrm>
          <a:prstGeom prst="diagStri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SlantUp">
              <a:avLst>
                <a:gd name="adj" fmla="val 71431"/>
              </a:avLst>
            </a:prstTxWarp>
          </a:bodyPr>
          <a:lstStyle/>
          <a:p>
            <a:pPr algn="ctr"/>
            <a:r>
              <a:rPr lang="es-ES" sz="1000" dirty="0">
                <a:solidFill>
                  <a:schemeClr val="bg1"/>
                </a:solidFill>
              </a:rPr>
              <a:t>Auto Generado</a:t>
            </a:r>
          </a:p>
        </p:txBody>
      </p:sp>
    </p:spTree>
    <p:extLst>
      <p:ext uri="{BB962C8B-B14F-4D97-AF65-F5344CB8AC3E}">
        <p14:creationId xmlns:p14="http://schemas.microsoft.com/office/powerpoint/2010/main" val="153654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28D49B1-AB64-48B2-A64C-454D70B98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18" y="1786026"/>
            <a:ext cx="6068776" cy="230325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6A52BDD-98D5-4D94-8284-D98A286E0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285" y="2428104"/>
            <a:ext cx="3581726" cy="3044713"/>
          </a:xfrm>
          <a:prstGeom prst="rect">
            <a:avLst/>
          </a:prstGeom>
        </p:spPr>
      </p:pic>
      <p:pic>
        <p:nvPicPr>
          <p:cNvPr id="11" name="Imagen 10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E9D7092A-0EF9-4F17-91A7-BC4E73E315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5" name="Franja diagonal 14">
            <a:extLst>
              <a:ext uri="{FF2B5EF4-FFF2-40B4-BE49-F238E27FC236}">
                <a16:creationId xmlns:a16="http://schemas.microsoft.com/office/drawing/2014/main" id="{BBA82F24-15EF-44F9-BA13-D118EEC759B3}"/>
              </a:ext>
            </a:extLst>
          </p:cNvPr>
          <p:cNvSpPr/>
          <p:nvPr/>
        </p:nvSpPr>
        <p:spPr>
          <a:xfrm>
            <a:off x="-1" y="-2168"/>
            <a:ext cx="1878663" cy="974221"/>
          </a:xfrm>
          <a:prstGeom prst="diagStri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SlantUp">
              <a:avLst>
                <a:gd name="adj" fmla="val 71431"/>
              </a:avLst>
            </a:prstTxWarp>
          </a:bodyPr>
          <a:lstStyle/>
          <a:p>
            <a:pPr algn="ctr"/>
            <a:r>
              <a:rPr lang="es-ES" sz="1000" dirty="0">
                <a:solidFill>
                  <a:schemeClr val="bg1"/>
                </a:solidFill>
              </a:rPr>
              <a:t>Auto Generado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AD85657-275E-466F-A2CB-5E6C9E7DEC9E}"/>
              </a:ext>
            </a:extLst>
          </p:cNvPr>
          <p:cNvSpPr txBox="1"/>
          <p:nvPr/>
        </p:nvSpPr>
        <p:spPr>
          <a:xfrm>
            <a:off x="202517" y="1090277"/>
            <a:ext cx="6012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Java </a:t>
            </a:r>
            <a:r>
              <a:rPr lang="es-ES" dirty="0" err="1"/>
              <a:t>Bean</a:t>
            </a:r>
            <a:r>
              <a:rPr lang="es-ES" dirty="0"/>
              <a:t> representación del </a:t>
            </a:r>
            <a:r>
              <a:rPr lang="es-ES" dirty="0" err="1"/>
              <a:t>schema</a:t>
            </a:r>
            <a:r>
              <a:rPr lang="es-ES" dirty="0"/>
              <a:t>, incluye validación de </a:t>
            </a:r>
            <a:r>
              <a:rPr lang="es-ES" dirty="0" err="1"/>
              <a:t>tipos,fechas</a:t>
            </a:r>
            <a:r>
              <a:rPr lang="es-ES" dirty="0"/>
              <a:t>, valores,  colecciones y enumeraciones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4291662-6A38-469E-87D3-42360FEBAEF2}"/>
              </a:ext>
            </a:extLst>
          </p:cNvPr>
          <p:cNvSpPr txBox="1"/>
          <p:nvPr/>
        </p:nvSpPr>
        <p:spPr>
          <a:xfrm>
            <a:off x="7848926" y="1573558"/>
            <a:ext cx="3932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Definición YAML del micro servicio según open api 3.0.2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ABDE434-B2DD-40E1-B77B-0B6EC4DFB4E7}"/>
              </a:ext>
            </a:extLst>
          </p:cNvPr>
          <p:cNvSpPr/>
          <p:nvPr/>
        </p:nvSpPr>
        <p:spPr>
          <a:xfrm>
            <a:off x="1650038" y="198703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Arquitectura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vertx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3.9.2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983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3D0950A4-748F-490F-B519-B6171BAD99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04FFCAD-2190-4AEC-9802-9E643087CFF9}"/>
              </a:ext>
            </a:extLst>
          </p:cNvPr>
          <p:cNvSpPr/>
          <p:nvPr/>
        </p:nvSpPr>
        <p:spPr>
          <a:xfrm>
            <a:off x="1650038" y="198703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Arquitectura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vertx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3.9.2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53E3090-9FF4-4830-B147-82A2C735D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1" y="1351722"/>
            <a:ext cx="2567837" cy="348532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94D40D8-DBD9-4A67-A298-F8026351C097}"/>
              </a:ext>
            </a:extLst>
          </p:cNvPr>
          <p:cNvSpPr txBox="1"/>
          <p:nvPr/>
        </p:nvSpPr>
        <p:spPr>
          <a:xfrm>
            <a:off x="3003826" y="1285461"/>
            <a:ext cx="5783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Framework especifico basado en anotaciones para </a:t>
            </a:r>
            <a:r>
              <a:rPr lang="es-ES" dirty="0" err="1"/>
              <a:t>vertx</a:t>
            </a:r>
            <a:r>
              <a:rPr lang="es-ES" dirty="0"/>
              <a:t> 3 X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3296412-446D-4C5F-A9DC-1C88199CB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494978"/>
            <a:ext cx="8560904" cy="296163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CD2BE1B-CB2F-4A9E-A616-88DD75347AA3}"/>
              </a:ext>
            </a:extLst>
          </p:cNvPr>
          <p:cNvSpPr txBox="1"/>
          <p:nvPr/>
        </p:nvSpPr>
        <p:spPr>
          <a:xfrm>
            <a:off x="3048000" y="1740226"/>
            <a:ext cx="3308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Mensajeria</a:t>
            </a:r>
            <a:r>
              <a:rPr lang="es-ES" dirty="0"/>
              <a:t> basada en </a:t>
            </a:r>
            <a:r>
              <a:rPr lang="es-ES" dirty="0" err="1"/>
              <a:t>RabbitMQ</a:t>
            </a:r>
            <a:r>
              <a:rPr lang="es-ES" dirty="0"/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88346C5-5890-46DA-A0AD-A72EC6D12575}"/>
              </a:ext>
            </a:extLst>
          </p:cNvPr>
          <p:cNvSpPr txBox="1"/>
          <p:nvPr/>
        </p:nvSpPr>
        <p:spPr>
          <a:xfrm>
            <a:off x="4463342" y="5740156"/>
            <a:ext cx="3386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Pendiente autogeneración con </a:t>
            </a:r>
            <a:r>
              <a:rPr lang="es-ES" sz="1400" dirty="0" err="1">
                <a:solidFill>
                  <a:srgbClr val="FF0000"/>
                </a:solidFill>
              </a:rPr>
              <a:t>AsyncAPI</a:t>
            </a:r>
            <a:r>
              <a:rPr lang="es-ES" sz="1400" dirty="0">
                <a:solidFill>
                  <a:srgbClr val="FF0000"/>
                </a:solidFill>
              </a:rPr>
              <a:t> 2.0</a:t>
            </a:r>
          </a:p>
        </p:txBody>
      </p:sp>
    </p:spTree>
    <p:extLst>
      <p:ext uri="{BB962C8B-B14F-4D97-AF65-F5344CB8AC3E}">
        <p14:creationId xmlns:p14="http://schemas.microsoft.com/office/powerpoint/2010/main" val="41561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5669</TotalTime>
  <Words>421</Words>
  <Application>Microsoft Office PowerPoint</Application>
  <PresentationFormat>Panorámica</PresentationFormat>
  <Paragraphs>45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Roboto</vt:lpstr>
      <vt:lpstr>Rockwell</vt:lpstr>
      <vt:lpstr>Tema de Office</vt:lpstr>
      <vt:lpstr>Presentación de PowerPoint</vt:lpstr>
      <vt:lpstr>Arquitectura Poliglota de Microservicios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Jose Gonzalez Lopez</dc:creator>
  <cp:lastModifiedBy>Manuel Jose Gonzalez Lopez</cp:lastModifiedBy>
  <cp:revision>26</cp:revision>
  <dcterms:created xsi:type="dcterms:W3CDTF">2020-09-03T17:11:13Z</dcterms:created>
  <dcterms:modified xsi:type="dcterms:W3CDTF">2020-09-07T15:42:26Z</dcterms:modified>
</cp:coreProperties>
</file>