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svg" ContentType="image/svg+xml"/>
  <Default Extension="tiff" ContentType="image/tiff"/>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4"/>
    <p:sldMasterId id="2147483693" r:id="rId5"/>
  </p:sldMasterIdLst>
  <p:notesMasterIdLst>
    <p:notesMasterId r:id="rId72"/>
  </p:notesMasterIdLst>
  <p:handoutMasterIdLst>
    <p:handoutMasterId r:id="rId73"/>
  </p:handoutMasterIdLst>
  <p:sldIdLst>
    <p:sldId id="1137" r:id="rId6"/>
    <p:sldId id="1097" r:id="rId7"/>
    <p:sldId id="1096" r:id="rId8"/>
    <p:sldId id="1138" r:id="rId9"/>
    <p:sldId id="1139" r:id="rId10"/>
    <p:sldId id="1140" r:id="rId11"/>
    <p:sldId id="1099" r:id="rId12"/>
    <p:sldId id="1141" r:id="rId13"/>
    <p:sldId id="1221" r:id="rId14"/>
    <p:sldId id="8135" r:id="rId15"/>
    <p:sldId id="2710" r:id="rId16"/>
    <p:sldId id="2725" r:id="rId17"/>
    <p:sldId id="2712" r:id="rId18"/>
    <p:sldId id="8139" r:id="rId19"/>
    <p:sldId id="8134" r:id="rId20"/>
    <p:sldId id="1144" r:id="rId21"/>
    <p:sldId id="2726" r:id="rId22"/>
    <p:sldId id="2727" r:id="rId23"/>
    <p:sldId id="2728" r:id="rId24"/>
    <p:sldId id="2729" r:id="rId25"/>
    <p:sldId id="8136" r:id="rId26"/>
    <p:sldId id="8142" r:id="rId27"/>
    <p:sldId id="2751" r:id="rId28"/>
    <p:sldId id="2752" r:id="rId29"/>
    <p:sldId id="2741" r:id="rId30"/>
    <p:sldId id="2742" r:id="rId31"/>
    <p:sldId id="2743" r:id="rId32"/>
    <p:sldId id="2744" r:id="rId33"/>
    <p:sldId id="2745" r:id="rId34"/>
    <p:sldId id="1183" r:id="rId35"/>
    <p:sldId id="2746" r:id="rId36"/>
    <p:sldId id="2747" r:id="rId37"/>
    <p:sldId id="1152" r:id="rId38"/>
    <p:sldId id="1153" r:id="rId39"/>
    <p:sldId id="1217" r:id="rId40"/>
    <p:sldId id="1218" r:id="rId41"/>
    <p:sldId id="1154" r:id="rId42"/>
    <p:sldId id="1202" r:id="rId43"/>
    <p:sldId id="1216" r:id="rId44"/>
    <p:sldId id="279" r:id="rId45"/>
    <p:sldId id="2699" r:id="rId46"/>
    <p:sldId id="2700" r:id="rId47"/>
    <p:sldId id="1204" r:id="rId48"/>
    <p:sldId id="2730" r:id="rId49"/>
    <p:sldId id="2731" r:id="rId50"/>
    <p:sldId id="2732" r:id="rId51"/>
    <p:sldId id="2733" r:id="rId52"/>
    <p:sldId id="2734" r:id="rId53"/>
    <p:sldId id="8138" r:id="rId54"/>
    <p:sldId id="8143" r:id="rId55"/>
    <p:sldId id="1214" r:id="rId56"/>
    <p:sldId id="1244" r:id="rId57"/>
    <p:sldId id="1384" r:id="rId58"/>
    <p:sldId id="2748" r:id="rId59"/>
    <p:sldId id="1328" r:id="rId60"/>
    <p:sldId id="2740" r:id="rId61"/>
    <p:sldId id="8140" r:id="rId62"/>
    <p:sldId id="1233" r:id="rId63"/>
    <p:sldId id="8141" r:id="rId64"/>
    <p:sldId id="8144" r:id="rId65"/>
    <p:sldId id="1219" r:id="rId66"/>
    <p:sldId id="1128" r:id="rId67"/>
    <p:sldId id="8137" r:id="rId68"/>
    <p:sldId id="1220" r:id="rId69"/>
    <p:sldId id="1129" r:id="rId70"/>
    <p:sldId id="1130" r:id="rId71"/>
  </p:sldIdLst>
  <p:sldSz cx="12192000" cy="6858000"/>
  <p:notesSz cx="6797675" cy="9926638"/>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DC7F0FC9-7EE3-4610-B719-50D06B475416}">
          <p14:sldIdLst>
            <p14:sldId id="1137"/>
            <p14:sldId id="1097"/>
            <p14:sldId id="1096"/>
            <p14:sldId id="1138"/>
            <p14:sldId id="1139"/>
            <p14:sldId id="1140"/>
            <p14:sldId id="1099"/>
            <p14:sldId id="1141"/>
            <p14:sldId id="1221"/>
            <p14:sldId id="8135"/>
            <p14:sldId id="2710"/>
            <p14:sldId id="2725"/>
            <p14:sldId id="2712"/>
            <p14:sldId id="8139"/>
          </p14:sldIdLst>
        </p14:section>
        <p14:section name="ANEXOS" id="{72CAA00C-3BE3-4B3B-8E30-05FBB239BE39}">
          <p14:sldIdLst>
            <p14:sldId id="8134"/>
            <p14:sldId id="1144"/>
            <p14:sldId id="2726"/>
            <p14:sldId id="2727"/>
            <p14:sldId id="2728"/>
            <p14:sldId id="2729"/>
            <p14:sldId id="8136"/>
            <p14:sldId id="8142"/>
            <p14:sldId id="2751"/>
            <p14:sldId id="2752"/>
            <p14:sldId id="2741"/>
            <p14:sldId id="2742"/>
            <p14:sldId id="2743"/>
            <p14:sldId id="2744"/>
            <p14:sldId id="2745"/>
            <p14:sldId id="1183"/>
            <p14:sldId id="2746"/>
            <p14:sldId id="2747"/>
            <p14:sldId id="1152"/>
            <p14:sldId id="1153"/>
            <p14:sldId id="1217"/>
            <p14:sldId id="1218"/>
            <p14:sldId id="1154"/>
            <p14:sldId id="1202"/>
            <p14:sldId id="1216"/>
            <p14:sldId id="279"/>
            <p14:sldId id="2699"/>
            <p14:sldId id="2700"/>
            <p14:sldId id="1204"/>
            <p14:sldId id="2730"/>
            <p14:sldId id="2731"/>
            <p14:sldId id="2732"/>
            <p14:sldId id="2733"/>
            <p14:sldId id="2734"/>
            <p14:sldId id="8138"/>
            <p14:sldId id="8143"/>
            <p14:sldId id="1214"/>
            <p14:sldId id="1244"/>
            <p14:sldId id="1384"/>
            <p14:sldId id="2748"/>
            <p14:sldId id="1328"/>
            <p14:sldId id="2740"/>
            <p14:sldId id="8140"/>
            <p14:sldId id="1233"/>
            <p14:sldId id="8141"/>
            <p14:sldId id="8144"/>
            <p14:sldId id="1219"/>
            <p14:sldId id="1128"/>
            <p14:sldId id="8137"/>
            <p14:sldId id="1220"/>
            <p14:sldId id="1129"/>
            <p14:sldId id="1130"/>
          </p14:sldIdLst>
        </p14:section>
      </p14:sectionLst>
    </p:ext>
    <p:ext uri="{EFAFB233-063F-42B5-8137-9DF3F51BA10A}">
      <p15:sldGuideLst xmlns:p15="http://schemas.microsoft.com/office/powerpoint/2012/main">
        <p15:guide id="1" orient="horz" pos="1548" userDrawn="1">
          <p15:clr>
            <a:srgbClr val="A4A3A4"/>
          </p15:clr>
        </p15:guide>
        <p15:guide id="3" orient="horz" pos="1398" userDrawn="1">
          <p15:clr>
            <a:srgbClr val="A4A3A4"/>
          </p15:clr>
        </p15:guide>
        <p15:guide id="4" orient="horz" pos="1117" userDrawn="1">
          <p15:clr>
            <a:srgbClr val="A4A3A4"/>
          </p15:clr>
        </p15:guide>
        <p15:guide id="5" pos="3840" userDrawn="1">
          <p15:clr>
            <a:srgbClr val="A4A3A4"/>
          </p15:clr>
        </p15:guide>
        <p15:guide id="6" orient="horz" pos="1409" userDrawn="1">
          <p15:clr>
            <a:srgbClr val="A4A3A4"/>
          </p15:clr>
        </p15:guide>
        <p15:guide id="7" orient="horz" pos="54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MPO GUERRAS INMACULADA" initials="CGI" lastIdx="1" clrIdx="0">
    <p:extLst>
      <p:ext uri="{19B8F6BF-5375-455C-9EA6-DF929625EA0E}">
        <p15:presenceInfo xmlns:p15="http://schemas.microsoft.com/office/powerpoint/2012/main" userId="S::n64244@gruposantander.es::904141f8-09e8-46d8-ab83-c2c3a7603b4a" providerId="AD"/>
      </p:ext>
    </p:extLst>
  </p:cmAuthor>
  <p:cmAuthor id="2" name="PLAZA LORENTE JUAN ANGEL" initials="PLJA" lastIdx="5" clrIdx="1">
    <p:extLst>
      <p:ext uri="{19B8F6BF-5375-455C-9EA6-DF929625EA0E}">
        <p15:presenceInfo xmlns:p15="http://schemas.microsoft.com/office/powerpoint/2012/main" userId="S::x262145@gruposantander.es::5f16d80d-a059-4ad5-946e-598919db82c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33CCCC"/>
    <a:srgbClr val="EB0000"/>
    <a:srgbClr val="FF0000"/>
    <a:srgbClr val="B5B5B5"/>
    <a:srgbClr val="ABC111"/>
    <a:srgbClr val="9E3667"/>
    <a:srgbClr val="E59D27"/>
    <a:srgbClr val="1BB3BC"/>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592E5F-EC2B-4B4E-BA4E-3FD60141C5F8}" v="4" dt="2023-06-23T08:54:40.82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2" autoAdjust="0"/>
    <p:restoredTop sz="93403" autoAdjust="0"/>
  </p:normalViewPr>
  <p:slideViewPr>
    <p:cSldViewPr snapToGrid="0" showGuides="1">
      <p:cViewPr varScale="1">
        <p:scale>
          <a:sx n="72" d="100"/>
          <a:sy n="72" d="100"/>
        </p:scale>
        <p:origin x="732" y="72"/>
      </p:cViewPr>
      <p:guideLst>
        <p:guide orient="horz" pos="1548"/>
        <p:guide orient="horz" pos="1398"/>
        <p:guide orient="horz" pos="1117"/>
        <p:guide pos="3840"/>
        <p:guide orient="horz" pos="1409"/>
        <p:guide orient="horz" pos="541"/>
      </p:guideLst>
    </p:cSldViewPr>
  </p:slideViewPr>
  <p:outlineViewPr>
    <p:cViewPr>
      <p:scale>
        <a:sx n="33" d="100"/>
        <a:sy n="33" d="100"/>
      </p:scale>
      <p:origin x="0" y="-2064"/>
    </p:cViewPr>
  </p:outlineViewPr>
  <p:notesTextViewPr>
    <p:cViewPr>
      <p:scale>
        <a:sx n="150" d="100"/>
        <a:sy n="150" d="100"/>
      </p:scale>
      <p:origin x="0" y="0"/>
    </p:cViewPr>
  </p:notesTextViewPr>
  <p:sorterViewPr>
    <p:cViewPr>
      <p:scale>
        <a:sx n="100" d="100"/>
        <a:sy n="100" d="100"/>
      </p:scale>
      <p:origin x="0" y="-19440"/>
    </p:cViewPr>
  </p:sorterViewPr>
  <p:notesViewPr>
    <p:cSldViewPr snapToGrid="0" showGuides="1">
      <p:cViewPr varScale="1">
        <p:scale>
          <a:sx n="66" d="100"/>
          <a:sy n="66" d="100"/>
        </p:scale>
        <p:origin x="3264"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commentAuthors" Target="commentAuthors.xml"/><Relationship Id="rId79"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handoutMaster" Target="handoutMasters/handoutMaster1.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A803C9-2B90-49F2-BFE2-63DD151E200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ES"/>
        </a:p>
      </dgm:t>
    </dgm:pt>
    <dgm:pt modelId="{B947BA75-9104-45D7-B289-2D09902F93AA}">
      <dgm:prSet phldrT="[Texto]" custT="1"/>
      <dgm:spPr>
        <a:solidFill>
          <a:srgbClr val="EB0000"/>
        </a:solidFill>
      </dgm:spPr>
      <dgm:t>
        <a:bodyPr/>
        <a:lstStyle/>
        <a:p>
          <a:r>
            <a:rPr lang="es-ES" sz="1800" b="0">
              <a:latin typeface="Arial" panose="020B0604020202020204" pitchFamily="34" charset="0"/>
              <a:cs typeface="Arial" panose="020B0604020202020204" pitchFamily="34" charset="0"/>
            </a:rPr>
            <a:t>Autenticación</a:t>
          </a:r>
          <a:endParaRPr lang="es-ES" sz="1800" b="0" dirty="0">
            <a:latin typeface="Arial" panose="020B0604020202020204" pitchFamily="34" charset="0"/>
            <a:cs typeface="Arial" panose="020B0604020202020204" pitchFamily="34" charset="0"/>
          </a:endParaRPr>
        </a:p>
      </dgm:t>
    </dgm:pt>
    <dgm:pt modelId="{173396AE-6074-491B-85B8-B267BDB74685}" type="parTrans" cxnId="{001A38AB-3880-4ECC-BA61-EF56197397CB}">
      <dgm:prSet/>
      <dgm:spPr/>
      <dgm:t>
        <a:bodyPr/>
        <a:lstStyle/>
        <a:p>
          <a:endParaRPr lang="es-ES" sz="1600">
            <a:latin typeface="Arial" panose="020B0604020202020204" pitchFamily="34" charset="0"/>
            <a:cs typeface="Arial" panose="020B0604020202020204" pitchFamily="34" charset="0"/>
          </a:endParaRPr>
        </a:p>
      </dgm:t>
    </dgm:pt>
    <dgm:pt modelId="{FC27FD87-B744-4825-A3BD-1A3A02AC8620}" type="sibTrans" cxnId="{001A38AB-3880-4ECC-BA61-EF56197397CB}">
      <dgm:prSet/>
      <dgm:spPr/>
      <dgm:t>
        <a:bodyPr/>
        <a:lstStyle/>
        <a:p>
          <a:endParaRPr lang="es-ES" sz="1600">
            <a:latin typeface="Arial" panose="020B0604020202020204" pitchFamily="34" charset="0"/>
            <a:cs typeface="Arial" panose="020B0604020202020204" pitchFamily="34" charset="0"/>
          </a:endParaRPr>
        </a:p>
      </dgm:t>
    </dgm:pt>
    <dgm:pt modelId="{698CF322-7B46-446F-888E-CA9D1EA872CC}">
      <dgm:prSet phldrT="[Texto]" custT="1"/>
      <dgm:spPr>
        <a:solidFill>
          <a:srgbClr val="EB0000"/>
        </a:solidFill>
      </dgm:spPr>
      <dgm:t>
        <a:bodyPr/>
        <a:lstStyle/>
        <a:p>
          <a:r>
            <a:rPr lang="es-ES" sz="1800" b="0">
              <a:latin typeface="Arial" panose="020B0604020202020204" pitchFamily="34" charset="0"/>
              <a:cs typeface="Arial" panose="020B0604020202020204" pitchFamily="34" charset="0"/>
            </a:rPr>
            <a:t>Autorización, Personalización</a:t>
          </a:r>
          <a:endParaRPr lang="es-ES" sz="1800" b="0" dirty="0">
            <a:latin typeface="Arial" panose="020B0604020202020204" pitchFamily="34" charset="0"/>
            <a:cs typeface="Arial" panose="020B0604020202020204" pitchFamily="34" charset="0"/>
          </a:endParaRPr>
        </a:p>
      </dgm:t>
    </dgm:pt>
    <dgm:pt modelId="{37C273ED-CD83-426D-9510-3297AB35007F}" type="parTrans" cxnId="{BB34D893-E580-4B63-8BAF-ADEBFB65D36C}">
      <dgm:prSet/>
      <dgm:spPr/>
      <dgm:t>
        <a:bodyPr/>
        <a:lstStyle/>
        <a:p>
          <a:endParaRPr lang="es-ES" sz="1600">
            <a:latin typeface="Arial" panose="020B0604020202020204" pitchFamily="34" charset="0"/>
            <a:cs typeface="Arial" panose="020B0604020202020204" pitchFamily="34" charset="0"/>
          </a:endParaRPr>
        </a:p>
      </dgm:t>
    </dgm:pt>
    <dgm:pt modelId="{B0BF20EC-B9A2-4FA9-89F7-067894C44CCC}" type="sibTrans" cxnId="{BB34D893-E580-4B63-8BAF-ADEBFB65D36C}">
      <dgm:prSet/>
      <dgm:spPr/>
      <dgm:t>
        <a:bodyPr/>
        <a:lstStyle/>
        <a:p>
          <a:endParaRPr lang="es-ES" sz="1600">
            <a:latin typeface="Arial" panose="020B0604020202020204" pitchFamily="34" charset="0"/>
            <a:cs typeface="Arial" panose="020B0604020202020204" pitchFamily="34" charset="0"/>
          </a:endParaRPr>
        </a:p>
      </dgm:t>
    </dgm:pt>
    <dgm:pt modelId="{D8684972-E148-41A9-9221-B6F0B496403F}">
      <dgm:prSet phldrT="[Texto]" custT="1"/>
      <dgm:spPr>
        <a:solidFill>
          <a:schemeClr val="bg1">
            <a:lumMod val="95000"/>
            <a:alpha val="90000"/>
          </a:schemeClr>
        </a:solidFill>
        <a:ln>
          <a:solidFill>
            <a:schemeClr val="bg2">
              <a:lumMod val="90000"/>
              <a:alpha val="90000"/>
            </a:schemeClr>
          </a:solidFill>
        </a:ln>
      </dgm:spPr>
      <dgm:t>
        <a:bodyPr/>
        <a:lstStyle/>
        <a:p>
          <a:endParaRPr lang="es-ES" sz="1400" kern="1200" dirty="0">
            <a:solidFill>
              <a:srgbClr val="808080"/>
            </a:solidFill>
            <a:latin typeface="Arial" panose="020B0604020202020204" pitchFamily="34" charset="0"/>
            <a:cs typeface="Arial" panose="020B0604020202020204" pitchFamily="34" charset="0"/>
          </a:endParaRPr>
        </a:p>
      </dgm:t>
    </dgm:pt>
    <dgm:pt modelId="{D5188DA5-B6C6-4821-9D99-AC5445639CB9}" type="parTrans" cxnId="{744C1610-D1D7-4A26-828B-B2467998C705}">
      <dgm:prSet/>
      <dgm:spPr/>
      <dgm:t>
        <a:bodyPr/>
        <a:lstStyle/>
        <a:p>
          <a:endParaRPr lang="es-ES" sz="1600">
            <a:latin typeface="Arial" panose="020B0604020202020204" pitchFamily="34" charset="0"/>
            <a:cs typeface="Arial" panose="020B0604020202020204" pitchFamily="34" charset="0"/>
          </a:endParaRPr>
        </a:p>
      </dgm:t>
    </dgm:pt>
    <dgm:pt modelId="{02402CB5-2003-4F0B-8861-5BBBD7F1BA98}" type="sibTrans" cxnId="{744C1610-D1D7-4A26-828B-B2467998C705}">
      <dgm:prSet/>
      <dgm:spPr/>
      <dgm:t>
        <a:bodyPr/>
        <a:lstStyle/>
        <a:p>
          <a:endParaRPr lang="es-ES" sz="1600">
            <a:latin typeface="Arial" panose="020B0604020202020204" pitchFamily="34" charset="0"/>
            <a:cs typeface="Arial" panose="020B0604020202020204" pitchFamily="34" charset="0"/>
          </a:endParaRPr>
        </a:p>
      </dgm:t>
    </dgm:pt>
    <dgm:pt modelId="{61169C77-D706-4F7D-9014-F1383FB4F1F8}">
      <dgm:prSet custT="1"/>
      <dgm:spPr>
        <a:solidFill>
          <a:schemeClr val="bg1">
            <a:lumMod val="95000"/>
            <a:alpha val="90000"/>
          </a:schemeClr>
        </a:solidFill>
        <a:ln>
          <a:solidFill>
            <a:schemeClr val="bg2">
              <a:lumMod val="90000"/>
              <a:alpha val="90000"/>
            </a:schemeClr>
          </a:solidFill>
        </a:ln>
      </dgm:spPr>
      <dgm:t>
        <a:bodyPr/>
        <a:lstStyle/>
        <a:p>
          <a:endParaRPr lang="es-ES" sz="1400" kern="1200" dirty="0">
            <a:latin typeface="Arial" panose="020B0604020202020204" pitchFamily="34" charset="0"/>
            <a:cs typeface="Arial" panose="020B0604020202020204" pitchFamily="34" charset="0"/>
          </a:endParaRPr>
        </a:p>
      </dgm:t>
    </dgm:pt>
    <dgm:pt modelId="{07C17E52-057D-455F-BC10-46E33A3BFCE7}" type="parTrans" cxnId="{1E65C4DE-3C7B-4FE9-BE4F-2195A4532495}">
      <dgm:prSet/>
      <dgm:spPr/>
      <dgm:t>
        <a:bodyPr/>
        <a:lstStyle/>
        <a:p>
          <a:endParaRPr lang="es-ES" sz="1600">
            <a:latin typeface="Arial" panose="020B0604020202020204" pitchFamily="34" charset="0"/>
            <a:cs typeface="Arial" panose="020B0604020202020204" pitchFamily="34" charset="0"/>
          </a:endParaRPr>
        </a:p>
      </dgm:t>
    </dgm:pt>
    <dgm:pt modelId="{73194C9B-0057-49DB-906A-2CD8B247735F}" type="sibTrans" cxnId="{1E65C4DE-3C7B-4FE9-BE4F-2195A4532495}">
      <dgm:prSet/>
      <dgm:spPr/>
      <dgm:t>
        <a:bodyPr/>
        <a:lstStyle/>
        <a:p>
          <a:endParaRPr lang="es-ES" sz="1600">
            <a:latin typeface="Arial" panose="020B0604020202020204" pitchFamily="34" charset="0"/>
            <a:cs typeface="Arial" panose="020B0604020202020204" pitchFamily="34" charset="0"/>
          </a:endParaRPr>
        </a:p>
      </dgm:t>
    </dgm:pt>
    <dgm:pt modelId="{B29B7783-5D45-4241-BE6C-8EB76E65A8D5}">
      <dgm:prSet phldrT="[Texto]" custT="1"/>
      <dgm:spPr>
        <a:solidFill>
          <a:schemeClr val="bg1">
            <a:lumMod val="95000"/>
            <a:alpha val="90000"/>
          </a:schemeClr>
        </a:solidFill>
        <a:ln>
          <a:solidFill>
            <a:schemeClr val="bg2">
              <a:lumMod val="90000"/>
              <a:alpha val="90000"/>
            </a:schemeClr>
          </a:solidFill>
        </a:ln>
      </dgm:spPr>
      <dgm:t>
        <a:bodyPr/>
        <a:lstStyle/>
        <a:p>
          <a:pPr>
            <a:buClr>
              <a:srgbClr val="FF0000"/>
            </a:buClr>
            <a:buNone/>
          </a:pPr>
          <a:r>
            <a:rPr lang="es-ES" sz="1400" kern="1200" dirty="0"/>
            <a:t> </a:t>
          </a:r>
          <a:r>
            <a:rPr lang="es-ES" sz="1400" kern="1200" dirty="0" err="1">
              <a:solidFill>
                <a:srgbClr val="808080"/>
              </a:solidFill>
              <a:latin typeface="Arial" panose="020B0604020202020204" pitchFamily="34" charset="0"/>
              <a:ea typeface="+mn-ea"/>
              <a:cs typeface="Arial" panose="020B0604020202020204" pitchFamily="34" charset="0"/>
            </a:rPr>
            <a:t>Inbenta</a:t>
          </a:r>
          <a:r>
            <a:rPr lang="es-ES" sz="1400" kern="1200" dirty="0">
              <a:solidFill>
                <a:srgbClr val="808080"/>
              </a:solidFill>
              <a:latin typeface="Arial" panose="020B0604020202020204" pitchFamily="34" charset="0"/>
              <a:ea typeface="+mn-ea"/>
              <a:cs typeface="Arial" panose="020B0604020202020204" pitchFamily="34" charset="0"/>
            </a:rPr>
            <a:t> controla la autorización a través de los filtros de dominio entrante que viajan en dicha clave.  </a:t>
          </a:r>
        </a:p>
      </dgm:t>
    </dgm:pt>
    <dgm:pt modelId="{4E807684-E05C-4C71-B487-B5FBFD4B7592}" type="parTrans" cxnId="{AFDFD117-5625-4796-945B-29F0A6453A03}">
      <dgm:prSet/>
      <dgm:spPr/>
      <dgm:t>
        <a:bodyPr/>
        <a:lstStyle/>
        <a:p>
          <a:endParaRPr lang="es-ES"/>
        </a:p>
      </dgm:t>
    </dgm:pt>
    <dgm:pt modelId="{372B8405-358B-44DC-9C68-9ED231406FE2}" type="sibTrans" cxnId="{AFDFD117-5625-4796-945B-29F0A6453A03}">
      <dgm:prSet/>
      <dgm:spPr/>
      <dgm:t>
        <a:bodyPr/>
        <a:lstStyle/>
        <a:p>
          <a:endParaRPr lang="es-ES"/>
        </a:p>
      </dgm:t>
    </dgm:pt>
    <dgm:pt modelId="{FBEC685E-BE2A-4444-AF8B-D31C02637162}">
      <dgm:prSet phldrT="[Texto]" custT="1"/>
      <dgm:spPr>
        <a:solidFill>
          <a:schemeClr val="bg1">
            <a:lumMod val="95000"/>
            <a:alpha val="90000"/>
          </a:schemeClr>
        </a:solidFill>
        <a:ln>
          <a:solidFill>
            <a:schemeClr val="bg2">
              <a:lumMod val="90000"/>
              <a:alpha val="90000"/>
            </a:schemeClr>
          </a:solidFill>
        </a:ln>
      </dgm:spPr>
      <dgm:t>
        <a:bodyPr/>
        <a:lstStyle/>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En el flujo de Onboarding de personas físicas se usará usuario de proceso.</a:t>
          </a:r>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C0A6C8F4-B35E-4FEF-9B03-2759ECD1BFA4}" type="parTrans" cxnId="{00D5782D-2089-4005-BCA8-0772CF4E83C8}">
      <dgm:prSet/>
      <dgm:spPr/>
      <dgm:t>
        <a:bodyPr/>
        <a:lstStyle/>
        <a:p>
          <a:endParaRPr lang="es-ES"/>
        </a:p>
      </dgm:t>
    </dgm:pt>
    <dgm:pt modelId="{4CC4C241-E9D5-4BED-98B4-4A69B1C0624B}" type="sibTrans" cxnId="{00D5782D-2089-4005-BCA8-0772CF4E83C8}">
      <dgm:prSet/>
      <dgm:spPr/>
      <dgm:t>
        <a:bodyPr/>
        <a:lstStyle/>
        <a:p>
          <a:endParaRPr lang="es-ES"/>
        </a:p>
      </dgm:t>
    </dgm:pt>
    <dgm:pt modelId="{6985A4C8-7D3B-45AF-91A7-EF677C5478C4}">
      <dgm:prSet phldrT="[Texto]" custT="1"/>
      <dgm:spPr>
        <a:solidFill>
          <a:schemeClr val="bg1">
            <a:lumMod val="95000"/>
            <a:alpha val="90000"/>
          </a:schemeClr>
        </a:solidFill>
        <a:ln>
          <a:solidFill>
            <a:schemeClr val="bg2">
              <a:lumMod val="90000"/>
              <a:alpha val="90000"/>
            </a:schemeClr>
          </a:solidFill>
        </a:ln>
      </dgm:spPr>
      <dgm:t>
        <a:bodyPr/>
        <a:lstStyle/>
        <a:p>
          <a:pPr marL="114300" lvl="1" indent="-114300" algn="l" defTabSz="622300">
            <a:lnSpc>
              <a:spcPct val="90000"/>
            </a:lnSpc>
            <a:spcBef>
              <a:spcPct val="0"/>
            </a:spcBef>
            <a:spcAft>
              <a:spcPct val="15000"/>
            </a:spcAft>
            <a:buClr>
              <a:srgbClr val="FF0000"/>
            </a:buClr>
            <a:buNone/>
          </a:pPr>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02274822-9287-432E-820D-45B1637CF473}" type="parTrans" cxnId="{6B06ABEA-D2AE-4B54-B43B-FFF48768E3A3}">
      <dgm:prSet/>
      <dgm:spPr/>
      <dgm:t>
        <a:bodyPr/>
        <a:lstStyle/>
        <a:p>
          <a:endParaRPr lang="es-ES"/>
        </a:p>
      </dgm:t>
    </dgm:pt>
    <dgm:pt modelId="{3AECD6EE-CB1F-476B-B54F-6D0E90FD8DB3}" type="sibTrans" cxnId="{6B06ABEA-D2AE-4B54-B43B-FFF48768E3A3}">
      <dgm:prSet/>
      <dgm:spPr/>
      <dgm:t>
        <a:bodyPr/>
        <a:lstStyle/>
        <a:p>
          <a:endParaRPr lang="es-ES"/>
        </a:p>
      </dgm:t>
    </dgm:pt>
    <dgm:pt modelId="{2324012F-C0AF-4483-AA66-394C5198B7A7}">
      <dgm:prSet phldrT="[Texto]" custT="1"/>
      <dgm:spPr>
        <a:solidFill>
          <a:schemeClr val="bg1">
            <a:lumMod val="95000"/>
            <a:alpha val="90000"/>
          </a:schemeClr>
        </a:solidFill>
        <a:ln>
          <a:solidFill>
            <a:schemeClr val="bg2">
              <a:lumMod val="90000"/>
              <a:alpha val="90000"/>
            </a:schemeClr>
          </a:solidFill>
        </a:ln>
      </dgm:spPr>
      <dgm:t>
        <a:bodyPr/>
        <a:lstStyle/>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En el flujo de  Tramitación de expedientes u procesos planificados se usará usuario nominal de BCE.</a:t>
          </a:r>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E167BCA0-A5FF-44CC-8EFC-ED956818E854}" type="parTrans" cxnId="{66657A30-F757-4629-B072-9249112B7BD0}">
      <dgm:prSet/>
      <dgm:spPr/>
      <dgm:t>
        <a:bodyPr/>
        <a:lstStyle/>
        <a:p>
          <a:endParaRPr lang="es-ES"/>
        </a:p>
      </dgm:t>
    </dgm:pt>
    <dgm:pt modelId="{0B63C261-D6E0-4859-B93F-F771EBCE41D3}" type="sibTrans" cxnId="{66657A30-F757-4629-B072-9249112B7BD0}">
      <dgm:prSet/>
      <dgm:spPr/>
      <dgm:t>
        <a:bodyPr/>
        <a:lstStyle/>
        <a:p>
          <a:endParaRPr lang="es-ES"/>
        </a:p>
      </dgm:t>
    </dgm:pt>
    <dgm:pt modelId="{35185F69-EA95-46D1-9246-EA85D3054723}">
      <dgm:prSet phldrT="[Texto]" custT="1"/>
      <dgm:spPr>
        <a:solidFill>
          <a:schemeClr val="bg1">
            <a:lumMod val="95000"/>
            <a:alpha val="90000"/>
          </a:schemeClr>
        </a:solidFill>
        <a:ln>
          <a:solidFill>
            <a:schemeClr val="bg2">
              <a:lumMod val="90000"/>
              <a:alpha val="90000"/>
            </a:schemeClr>
          </a:solidFill>
        </a:ln>
      </dgm:spPr>
      <dgm:t>
        <a:bodyPr/>
        <a:lstStyle/>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Se controlará el flujo de navegación generando un token COS (que contendrá el uuid de pantalla y timespam).</a:t>
          </a:r>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3980BE52-26D7-4F5B-980D-82DE04D820E8}" type="parTrans" cxnId="{2692DDBB-C172-4BE5-AD20-D177727DE982}">
      <dgm:prSet/>
      <dgm:spPr/>
      <dgm:t>
        <a:bodyPr/>
        <a:lstStyle/>
        <a:p>
          <a:endParaRPr lang="es-ES"/>
        </a:p>
      </dgm:t>
    </dgm:pt>
    <dgm:pt modelId="{0FAD9A16-E3FB-4A4D-9212-9D0F529D0E66}" type="sibTrans" cxnId="{2692DDBB-C172-4BE5-AD20-D177727DE982}">
      <dgm:prSet/>
      <dgm:spPr/>
      <dgm:t>
        <a:bodyPr/>
        <a:lstStyle/>
        <a:p>
          <a:endParaRPr lang="es-ES"/>
        </a:p>
      </dgm:t>
    </dgm:pt>
    <dgm:pt modelId="{4244653D-C1B6-42A3-8C85-53B1BD9760A1}">
      <dgm:prSet phldrT="[Texto]" custT="1"/>
      <dgm:spPr>
        <a:solidFill>
          <a:schemeClr val="bg1">
            <a:lumMod val="95000"/>
            <a:alpha val="90000"/>
          </a:schemeClr>
        </a:solidFill>
        <a:ln>
          <a:solidFill>
            <a:schemeClr val="bg2">
              <a:lumMod val="90000"/>
              <a:alpha val="90000"/>
            </a:schemeClr>
          </a:solidFill>
        </a:ln>
      </dgm:spPr>
      <dgm:t>
        <a:bodyPr/>
        <a:lstStyle/>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Desde SPA se entrará sin seguridad en el Gateway.</a:t>
          </a:r>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8A898388-7015-4229-9C17-B02EEA184DB2}" type="parTrans" cxnId="{50BD9043-595E-4A49-81D9-A01CD25A0AC6}">
      <dgm:prSet/>
      <dgm:spPr/>
      <dgm:t>
        <a:bodyPr/>
        <a:lstStyle/>
        <a:p>
          <a:endParaRPr lang="es-ES"/>
        </a:p>
      </dgm:t>
    </dgm:pt>
    <dgm:pt modelId="{A841820C-8DA4-4898-A8FF-5402BE968939}" type="sibTrans" cxnId="{50BD9043-595E-4A49-81D9-A01CD25A0AC6}">
      <dgm:prSet/>
      <dgm:spPr/>
      <dgm:t>
        <a:bodyPr/>
        <a:lstStyle/>
        <a:p>
          <a:endParaRPr lang="es-ES"/>
        </a:p>
      </dgm:t>
    </dgm:pt>
    <dgm:pt modelId="{F932A01A-627C-4DB3-903F-2FB1A3D9935A}">
      <dgm:prSet phldrT="[Texto]" custT="1"/>
      <dgm:spPr>
        <a:solidFill>
          <a:schemeClr val="bg1">
            <a:lumMod val="95000"/>
            <a:alpha val="90000"/>
          </a:schemeClr>
        </a:solidFill>
        <a:ln>
          <a:solidFill>
            <a:schemeClr val="bg2">
              <a:lumMod val="90000"/>
              <a:alpha val="90000"/>
            </a:schemeClr>
          </a:solidFill>
        </a:ln>
      </dgm:spPr>
      <dgm:t>
        <a:bodyPr/>
        <a:lstStyle/>
        <a:p>
          <a:pPr marL="114300" lvl="1" indent="-114300" algn="l" defTabSz="622300">
            <a:lnSpc>
              <a:spcPct val="90000"/>
            </a:lnSpc>
            <a:spcBef>
              <a:spcPct val="0"/>
            </a:spcBef>
            <a:spcAft>
              <a:spcPct val="15000"/>
            </a:spcAft>
            <a:buClr>
              <a:srgbClr val="FF0000"/>
            </a:buClr>
            <a:buNone/>
          </a:pPr>
          <a:r>
            <a:rPr lang="es-ES" sz="1400" kern="1200" dirty="0">
              <a:solidFill>
                <a:srgbClr val="808080"/>
              </a:solidFill>
              <a:latin typeface="Arial" panose="020B0604020202020204" pitchFamily="34" charset="0"/>
              <a:ea typeface="+mn-ea"/>
              <a:cs typeface="Arial" panose="020B0604020202020204" pitchFamily="34" charset="0"/>
            </a:rPr>
            <a:t>La integración con el </a:t>
          </a:r>
          <a:r>
            <a:rPr lang="es-ES" sz="1400" kern="1200" dirty="0" err="1">
              <a:solidFill>
                <a:srgbClr val="808080"/>
              </a:solidFill>
              <a:latin typeface="Arial" panose="020B0604020202020204" pitchFamily="34" charset="0"/>
              <a:ea typeface="+mn-ea"/>
              <a:cs typeface="Arial" panose="020B0604020202020204" pitchFamily="34" charset="0"/>
            </a:rPr>
            <a:t>ChatBot</a:t>
          </a:r>
          <a:r>
            <a:rPr lang="es-ES" sz="1400" kern="1200" dirty="0">
              <a:solidFill>
                <a:srgbClr val="808080"/>
              </a:solidFill>
              <a:latin typeface="Arial" panose="020B0604020202020204" pitchFamily="34" charset="0"/>
              <a:ea typeface="+mn-ea"/>
              <a:cs typeface="Arial" panose="020B0604020202020204" pitchFamily="34" charset="0"/>
            </a:rPr>
            <a:t> </a:t>
          </a:r>
          <a:r>
            <a:rPr lang="es-ES" sz="1400" kern="1200" dirty="0" err="1">
              <a:solidFill>
                <a:srgbClr val="808080"/>
              </a:solidFill>
              <a:latin typeface="Arial" panose="020B0604020202020204" pitchFamily="34" charset="0"/>
              <a:ea typeface="+mn-ea"/>
              <a:cs typeface="Arial" panose="020B0604020202020204" pitchFamily="34" charset="0"/>
            </a:rPr>
            <a:t>inbenta</a:t>
          </a:r>
          <a:r>
            <a:rPr lang="es-ES" sz="1400" kern="1200" dirty="0">
              <a:solidFill>
                <a:srgbClr val="808080"/>
              </a:solidFill>
              <a:latin typeface="Arial" panose="020B0604020202020204" pitchFamily="34" charset="0"/>
              <a:ea typeface="+mn-ea"/>
              <a:cs typeface="Arial" panose="020B0604020202020204" pitchFamily="34" charset="0"/>
            </a:rPr>
            <a:t> se hará a través de un </a:t>
          </a:r>
          <a:r>
            <a:rPr lang="es-ES" sz="1400" kern="1200" dirty="0" err="1">
              <a:solidFill>
                <a:srgbClr val="808080"/>
              </a:solidFill>
              <a:latin typeface="Arial" panose="020B0604020202020204" pitchFamily="34" charset="0"/>
              <a:ea typeface="+mn-ea"/>
              <a:cs typeface="Arial" panose="020B0604020202020204" pitchFamily="34" charset="0"/>
            </a:rPr>
            <a:t>KeyID</a:t>
          </a:r>
          <a:r>
            <a:rPr lang="es-ES" sz="1400" kern="1200" dirty="0">
              <a:solidFill>
                <a:srgbClr val="808080"/>
              </a:solidFill>
              <a:latin typeface="Arial" panose="020B0604020202020204" pitchFamily="34" charset="0"/>
              <a:ea typeface="+mn-ea"/>
              <a:cs typeface="Arial" panose="020B0604020202020204" pitchFamily="34" charset="0"/>
            </a:rPr>
            <a:t>(llave de Dominio).</a:t>
          </a:r>
        </a:p>
      </dgm:t>
    </dgm:pt>
    <dgm:pt modelId="{D562099E-F03B-4C01-A0BA-D3E82E87FD4D}" type="parTrans" cxnId="{27DB2A98-34AC-4B4B-BA86-607437690D2D}">
      <dgm:prSet/>
      <dgm:spPr/>
      <dgm:t>
        <a:bodyPr/>
        <a:lstStyle/>
        <a:p>
          <a:endParaRPr lang="es-ES"/>
        </a:p>
      </dgm:t>
    </dgm:pt>
    <dgm:pt modelId="{09B6AA77-D2E4-4CF9-96B7-CBCC7A9480C4}" type="sibTrans" cxnId="{27DB2A98-34AC-4B4B-BA86-607437690D2D}">
      <dgm:prSet/>
      <dgm:spPr/>
      <dgm:t>
        <a:bodyPr/>
        <a:lstStyle/>
        <a:p>
          <a:endParaRPr lang="es-ES"/>
        </a:p>
      </dgm:t>
    </dgm:pt>
    <dgm:pt modelId="{1C986D0D-7544-4F5B-999F-0072E7679219}">
      <dgm:prSet phldrT="[Texto]" custT="1"/>
      <dgm:spPr>
        <a:solidFill>
          <a:schemeClr val="bg1">
            <a:lumMod val="95000"/>
            <a:alpha val="90000"/>
          </a:schemeClr>
        </a:solidFill>
        <a:ln>
          <a:solidFill>
            <a:schemeClr val="bg2">
              <a:lumMod val="90000"/>
              <a:alpha val="90000"/>
            </a:schemeClr>
          </a:solidFill>
        </a:ln>
      </dgm:spPr>
      <dgm:t>
        <a:bodyPr/>
        <a:lstStyle/>
        <a:p>
          <a:pPr marL="114300" lvl="1" indent="-114300" algn="l" defTabSz="622300">
            <a:lnSpc>
              <a:spcPct val="90000"/>
            </a:lnSpc>
            <a:spcBef>
              <a:spcPct val="0"/>
            </a:spcBef>
            <a:spcAft>
              <a:spcPct val="15000"/>
            </a:spcAft>
            <a:buClr>
              <a:srgbClr val="FF0000"/>
            </a:buClr>
            <a:buNone/>
          </a:pPr>
          <a:r>
            <a:rPr lang="es-ES" sz="1400" kern="1200" dirty="0">
              <a:solidFill>
                <a:srgbClr val="808080"/>
              </a:solidFill>
              <a:latin typeface="Arial" panose="020B0604020202020204" pitchFamily="34" charset="0"/>
              <a:ea typeface="+mn-ea"/>
              <a:cs typeface="Arial" panose="020B0604020202020204" pitchFamily="34" charset="0"/>
            </a:rPr>
            <a:t>El acceso al S3 OHE se hará vía </a:t>
          </a:r>
          <a:r>
            <a:rPr lang="es-ES" sz="1400" kern="1200" dirty="0" err="1">
              <a:solidFill>
                <a:srgbClr val="808080"/>
              </a:solidFill>
              <a:latin typeface="Arial" panose="020B0604020202020204" pitchFamily="34" charset="0"/>
              <a:ea typeface="+mn-ea"/>
              <a:cs typeface="Arial" panose="020B0604020202020204" pitchFamily="34" charset="0"/>
            </a:rPr>
            <a:t>keyID</a:t>
          </a:r>
          <a:r>
            <a:rPr lang="es-ES" sz="1400" kern="1200" dirty="0">
              <a:solidFill>
                <a:srgbClr val="808080"/>
              </a:solidFill>
              <a:latin typeface="Arial" panose="020B0604020202020204" pitchFamily="34" charset="0"/>
              <a:ea typeface="+mn-ea"/>
              <a:cs typeface="Arial" panose="020B0604020202020204" pitchFamily="34" charset="0"/>
            </a:rPr>
            <a:t> y </a:t>
          </a:r>
          <a:r>
            <a:rPr lang="es-ES" sz="1400" kern="1200" dirty="0" err="1">
              <a:solidFill>
                <a:srgbClr val="808080"/>
              </a:solidFill>
              <a:latin typeface="Arial" panose="020B0604020202020204" pitchFamily="34" charset="0"/>
              <a:ea typeface="+mn-ea"/>
              <a:cs typeface="Arial" panose="020B0604020202020204" pitchFamily="34" charset="0"/>
            </a:rPr>
            <a:t>Secret</a:t>
          </a:r>
          <a:r>
            <a:rPr lang="es-ES" sz="1400" kern="1200" dirty="0">
              <a:solidFill>
                <a:srgbClr val="808080"/>
              </a:solidFill>
              <a:latin typeface="Arial" panose="020B0604020202020204" pitchFamily="34" charset="0"/>
              <a:ea typeface="+mn-ea"/>
              <a:cs typeface="Arial" panose="020B0604020202020204" pitchFamily="34" charset="0"/>
            </a:rPr>
            <a:t> configurado en el proceso creado en Sistemas medios (configuración). </a:t>
          </a:r>
        </a:p>
      </dgm:t>
    </dgm:pt>
    <dgm:pt modelId="{4C202CB2-AF86-43AE-9D1C-FE38CD1BFD55}" type="parTrans" cxnId="{BE99CE55-817F-4D46-982E-D5B638123CD1}">
      <dgm:prSet/>
      <dgm:spPr/>
      <dgm:t>
        <a:bodyPr/>
        <a:lstStyle/>
        <a:p>
          <a:endParaRPr lang="es-ES"/>
        </a:p>
      </dgm:t>
    </dgm:pt>
    <dgm:pt modelId="{29434CC9-78D2-47D7-A119-CD54F9A08590}" type="sibTrans" cxnId="{BE99CE55-817F-4D46-982E-D5B638123CD1}">
      <dgm:prSet/>
      <dgm:spPr/>
      <dgm:t>
        <a:bodyPr/>
        <a:lstStyle/>
        <a:p>
          <a:endParaRPr lang="es-ES"/>
        </a:p>
      </dgm:t>
    </dgm:pt>
    <dgm:pt modelId="{30EEBD66-2446-4B9E-9A98-ABE86ABEB569}" type="pres">
      <dgm:prSet presAssocID="{65A803C9-2B90-49F2-BFE2-63DD151E2004}" presName="Name0" presStyleCnt="0">
        <dgm:presLayoutVars>
          <dgm:dir/>
          <dgm:animLvl val="lvl"/>
          <dgm:resizeHandles val="exact"/>
        </dgm:presLayoutVars>
      </dgm:prSet>
      <dgm:spPr/>
    </dgm:pt>
    <dgm:pt modelId="{8797EDF3-8A49-427C-B6BB-4967E136DB0B}" type="pres">
      <dgm:prSet presAssocID="{B947BA75-9104-45D7-B289-2D09902F93AA}" presName="linNode" presStyleCnt="0"/>
      <dgm:spPr/>
    </dgm:pt>
    <dgm:pt modelId="{1C578EC4-B958-489D-8921-FE9B3D64799A}" type="pres">
      <dgm:prSet presAssocID="{B947BA75-9104-45D7-B289-2D09902F93AA}" presName="parentText" presStyleLbl="node1" presStyleIdx="0" presStyleCnt="2" custScaleX="66870">
        <dgm:presLayoutVars>
          <dgm:chMax val="1"/>
          <dgm:bulletEnabled val="1"/>
        </dgm:presLayoutVars>
      </dgm:prSet>
      <dgm:spPr/>
    </dgm:pt>
    <dgm:pt modelId="{9E2546A7-3AF7-47A1-A580-C8AC2D643050}" type="pres">
      <dgm:prSet presAssocID="{B947BA75-9104-45D7-B289-2D09902F93AA}" presName="descendantText" presStyleLbl="alignAccFollowNode1" presStyleIdx="0" presStyleCnt="2" custScaleX="118063" custScaleY="112987">
        <dgm:presLayoutVars>
          <dgm:bulletEnabled val="1"/>
        </dgm:presLayoutVars>
      </dgm:prSet>
      <dgm:spPr/>
    </dgm:pt>
    <dgm:pt modelId="{B06E37E7-97B2-4AC1-AE05-A5F0E661E935}" type="pres">
      <dgm:prSet presAssocID="{FC27FD87-B744-4825-A3BD-1A3A02AC8620}" presName="sp" presStyleCnt="0"/>
      <dgm:spPr/>
    </dgm:pt>
    <dgm:pt modelId="{87BBF5DA-61C7-4ABB-8DB6-A0CA5660EDB7}" type="pres">
      <dgm:prSet presAssocID="{698CF322-7B46-446F-888E-CA9D1EA872CC}" presName="linNode" presStyleCnt="0"/>
      <dgm:spPr/>
    </dgm:pt>
    <dgm:pt modelId="{668B995B-BD61-4CDA-8436-D36E8E88F4B1}" type="pres">
      <dgm:prSet presAssocID="{698CF322-7B46-446F-888E-CA9D1EA872CC}" presName="parentText" presStyleLbl="node1" presStyleIdx="1" presStyleCnt="2" custScaleX="66870" custScaleY="42332">
        <dgm:presLayoutVars>
          <dgm:chMax val="1"/>
          <dgm:bulletEnabled val="1"/>
        </dgm:presLayoutVars>
      </dgm:prSet>
      <dgm:spPr/>
    </dgm:pt>
    <dgm:pt modelId="{88CD91F5-364A-4848-A4E4-15E14C8B70C1}" type="pres">
      <dgm:prSet presAssocID="{698CF322-7B46-446F-888E-CA9D1EA872CC}" presName="descendantText" presStyleLbl="alignAccFollowNode1" presStyleIdx="1" presStyleCnt="2" custScaleX="118063" custScaleY="42332" custLinFactNeighborY="0">
        <dgm:presLayoutVars>
          <dgm:bulletEnabled val="1"/>
        </dgm:presLayoutVars>
      </dgm:prSet>
      <dgm:spPr/>
    </dgm:pt>
  </dgm:ptLst>
  <dgm:cxnLst>
    <dgm:cxn modelId="{744C1610-D1D7-4A26-828B-B2467998C705}" srcId="{698CF322-7B46-446F-888E-CA9D1EA872CC}" destId="{D8684972-E148-41A9-9221-B6F0B496403F}" srcOrd="0" destOrd="0" parTransId="{D5188DA5-B6C6-4821-9D99-AC5445639CB9}" sibTransId="{02402CB5-2003-4F0B-8861-5BBBD7F1BA98}"/>
    <dgm:cxn modelId="{AFDFD117-5625-4796-945B-29F0A6453A03}" srcId="{698CF322-7B46-446F-888E-CA9D1EA872CC}" destId="{B29B7783-5D45-4241-BE6C-8EB76E65A8D5}" srcOrd="1" destOrd="0" parTransId="{4E807684-E05C-4C71-B487-B5FBFD4B7592}" sibTransId="{372B8405-358B-44DC-9C68-9ED231406FE2}"/>
    <dgm:cxn modelId="{92CF6F20-3BC6-4554-BC78-89F6D23FB5EF}" type="presOf" srcId="{FBEC685E-BE2A-4444-AF8B-D31C02637162}" destId="{9E2546A7-3AF7-47A1-A580-C8AC2D643050}" srcOrd="0" destOrd="0" presId="urn:microsoft.com/office/officeart/2005/8/layout/vList5"/>
    <dgm:cxn modelId="{00D5782D-2089-4005-BCA8-0772CF4E83C8}" srcId="{B947BA75-9104-45D7-B289-2D09902F93AA}" destId="{FBEC685E-BE2A-4444-AF8B-D31C02637162}" srcOrd="0" destOrd="0" parTransId="{C0A6C8F4-B35E-4FEF-9B03-2759ECD1BFA4}" sibTransId="{4CC4C241-E9D5-4BED-98B4-4A69B1C0624B}"/>
    <dgm:cxn modelId="{66657A30-F757-4629-B072-9249112B7BD0}" srcId="{B947BA75-9104-45D7-B289-2D09902F93AA}" destId="{2324012F-C0AF-4483-AA66-394C5198B7A7}" srcOrd="2" destOrd="0" parTransId="{E167BCA0-A5FF-44CC-8EFC-ED956818E854}" sibTransId="{0B63C261-D6E0-4859-B93F-F771EBCE41D3}"/>
    <dgm:cxn modelId="{50BD9043-595E-4A49-81D9-A01CD25A0AC6}" srcId="{B947BA75-9104-45D7-B289-2D09902F93AA}" destId="{4244653D-C1B6-42A3-8C85-53B1BD9760A1}" srcOrd="1" destOrd="0" parTransId="{8A898388-7015-4229-9C17-B02EEA184DB2}" sibTransId="{A841820C-8DA4-4898-A8FF-5402BE968939}"/>
    <dgm:cxn modelId="{ACC3F74D-ED5A-4F7D-BA4E-DC2420152FFB}" type="presOf" srcId="{B947BA75-9104-45D7-B289-2D09902F93AA}" destId="{1C578EC4-B958-489D-8921-FE9B3D64799A}" srcOrd="0" destOrd="0" presId="urn:microsoft.com/office/officeart/2005/8/layout/vList5"/>
    <dgm:cxn modelId="{C9A5184F-E7C1-49D2-B3E9-ED915A5AEC2D}" type="presOf" srcId="{4244653D-C1B6-42A3-8C85-53B1BD9760A1}" destId="{9E2546A7-3AF7-47A1-A580-C8AC2D643050}" srcOrd="0" destOrd="1" presId="urn:microsoft.com/office/officeart/2005/8/layout/vList5"/>
    <dgm:cxn modelId="{BE99CE55-817F-4D46-982E-D5B638123CD1}" srcId="{B947BA75-9104-45D7-B289-2D09902F93AA}" destId="{1C986D0D-7544-4F5B-999F-0072E7679219}" srcOrd="5" destOrd="0" parTransId="{4C202CB2-AF86-43AE-9D1C-FE38CD1BFD55}" sibTransId="{29434CC9-78D2-47D7-A119-CD54F9A08590}"/>
    <dgm:cxn modelId="{12F4AA8A-54F0-4C56-8EE2-80ABD1CCC416}" type="presOf" srcId="{1C986D0D-7544-4F5B-999F-0072E7679219}" destId="{9E2546A7-3AF7-47A1-A580-C8AC2D643050}" srcOrd="0" destOrd="5" presId="urn:microsoft.com/office/officeart/2005/8/layout/vList5"/>
    <dgm:cxn modelId="{5FAECE8B-C496-43EB-BEAF-568675986AD6}" type="presOf" srcId="{D8684972-E148-41A9-9221-B6F0B496403F}" destId="{88CD91F5-364A-4848-A4E4-15E14C8B70C1}" srcOrd="0" destOrd="0" presId="urn:microsoft.com/office/officeart/2005/8/layout/vList5"/>
    <dgm:cxn modelId="{BB34D893-E580-4B63-8BAF-ADEBFB65D36C}" srcId="{65A803C9-2B90-49F2-BFE2-63DD151E2004}" destId="{698CF322-7B46-446F-888E-CA9D1EA872CC}" srcOrd="1" destOrd="0" parTransId="{37C273ED-CD83-426D-9510-3297AB35007F}" sibTransId="{B0BF20EC-B9A2-4FA9-89F7-067894C44CCC}"/>
    <dgm:cxn modelId="{27DB2A98-34AC-4B4B-BA86-607437690D2D}" srcId="{B947BA75-9104-45D7-B289-2D09902F93AA}" destId="{F932A01A-627C-4DB3-903F-2FB1A3D9935A}" srcOrd="4" destOrd="0" parTransId="{D562099E-F03B-4C01-A0BA-D3E82E87FD4D}" sibTransId="{09B6AA77-D2E4-4CF9-96B7-CBCC7A9480C4}"/>
    <dgm:cxn modelId="{FC87FC9A-A0A0-4579-96A4-366C191B305C}" type="presOf" srcId="{B29B7783-5D45-4241-BE6C-8EB76E65A8D5}" destId="{88CD91F5-364A-4848-A4E4-15E14C8B70C1}" srcOrd="0" destOrd="1" presId="urn:microsoft.com/office/officeart/2005/8/layout/vList5"/>
    <dgm:cxn modelId="{C7BCC4A2-1531-4E6B-B0BB-F3A058E318E5}" type="presOf" srcId="{61169C77-D706-4F7D-9014-F1383FB4F1F8}" destId="{88CD91F5-364A-4848-A4E4-15E14C8B70C1}" srcOrd="0" destOrd="2" presId="urn:microsoft.com/office/officeart/2005/8/layout/vList5"/>
    <dgm:cxn modelId="{001A38AB-3880-4ECC-BA61-EF56197397CB}" srcId="{65A803C9-2B90-49F2-BFE2-63DD151E2004}" destId="{B947BA75-9104-45D7-B289-2D09902F93AA}" srcOrd="0" destOrd="0" parTransId="{173396AE-6074-491B-85B8-B267BDB74685}" sibTransId="{FC27FD87-B744-4825-A3BD-1A3A02AC8620}"/>
    <dgm:cxn modelId="{2692DDBB-C172-4BE5-AD20-D177727DE982}" srcId="{B947BA75-9104-45D7-B289-2D09902F93AA}" destId="{35185F69-EA95-46D1-9246-EA85D3054723}" srcOrd="3" destOrd="0" parTransId="{3980BE52-26D7-4F5B-980D-82DE04D820E8}" sibTransId="{0FAD9A16-E3FB-4A4D-9212-9D0F529D0E66}"/>
    <dgm:cxn modelId="{365F46BC-DFC1-4B5C-9E67-89703F2FB766}" type="presOf" srcId="{698CF322-7B46-446F-888E-CA9D1EA872CC}" destId="{668B995B-BD61-4CDA-8436-D36E8E88F4B1}" srcOrd="0" destOrd="0" presId="urn:microsoft.com/office/officeart/2005/8/layout/vList5"/>
    <dgm:cxn modelId="{218DFCC1-8DDA-42B7-B222-193A48FC040D}" type="presOf" srcId="{2324012F-C0AF-4483-AA66-394C5198B7A7}" destId="{9E2546A7-3AF7-47A1-A580-C8AC2D643050}" srcOrd="0" destOrd="2" presId="urn:microsoft.com/office/officeart/2005/8/layout/vList5"/>
    <dgm:cxn modelId="{1E65C4DE-3C7B-4FE9-BE4F-2195A4532495}" srcId="{698CF322-7B46-446F-888E-CA9D1EA872CC}" destId="{61169C77-D706-4F7D-9014-F1383FB4F1F8}" srcOrd="2" destOrd="0" parTransId="{07C17E52-057D-455F-BC10-46E33A3BFCE7}" sibTransId="{73194C9B-0057-49DB-906A-2CD8B247735F}"/>
    <dgm:cxn modelId="{5BD5E9E3-5D10-4FEE-94CF-1E37A037F9D8}" type="presOf" srcId="{F932A01A-627C-4DB3-903F-2FB1A3D9935A}" destId="{9E2546A7-3AF7-47A1-A580-C8AC2D643050}" srcOrd="0" destOrd="4" presId="urn:microsoft.com/office/officeart/2005/8/layout/vList5"/>
    <dgm:cxn modelId="{496589E8-0012-460D-92D5-CF96B0D1E84F}" type="presOf" srcId="{6985A4C8-7D3B-45AF-91A7-EF677C5478C4}" destId="{9E2546A7-3AF7-47A1-A580-C8AC2D643050}" srcOrd="0" destOrd="6" presId="urn:microsoft.com/office/officeart/2005/8/layout/vList5"/>
    <dgm:cxn modelId="{6B06ABEA-D2AE-4B54-B43B-FFF48768E3A3}" srcId="{B947BA75-9104-45D7-B289-2D09902F93AA}" destId="{6985A4C8-7D3B-45AF-91A7-EF677C5478C4}" srcOrd="6" destOrd="0" parTransId="{02274822-9287-432E-820D-45B1637CF473}" sibTransId="{3AECD6EE-CB1F-476B-B54F-6D0E90FD8DB3}"/>
    <dgm:cxn modelId="{980C3FED-4CAD-469F-A1F3-AA65BF7D71CB}" type="presOf" srcId="{65A803C9-2B90-49F2-BFE2-63DD151E2004}" destId="{30EEBD66-2446-4B9E-9A98-ABE86ABEB569}" srcOrd="0" destOrd="0" presId="urn:microsoft.com/office/officeart/2005/8/layout/vList5"/>
    <dgm:cxn modelId="{51695BF3-8FF7-430D-B688-8976EACDAAAA}" type="presOf" srcId="{35185F69-EA95-46D1-9246-EA85D3054723}" destId="{9E2546A7-3AF7-47A1-A580-C8AC2D643050}" srcOrd="0" destOrd="3" presId="urn:microsoft.com/office/officeart/2005/8/layout/vList5"/>
    <dgm:cxn modelId="{BCE0CD6A-B943-412D-B570-023A604BC3C8}" type="presParOf" srcId="{30EEBD66-2446-4B9E-9A98-ABE86ABEB569}" destId="{8797EDF3-8A49-427C-B6BB-4967E136DB0B}" srcOrd="0" destOrd="0" presId="urn:microsoft.com/office/officeart/2005/8/layout/vList5"/>
    <dgm:cxn modelId="{E19728E7-CEE3-40FF-A84C-81918549E66D}" type="presParOf" srcId="{8797EDF3-8A49-427C-B6BB-4967E136DB0B}" destId="{1C578EC4-B958-489D-8921-FE9B3D64799A}" srcOrd="0" destOrd="0" presId="urn:microsoft.com/office/officeart/2005/8/layout/vList5"/>
    <dgm:cxn modelId="{FA6DB20D-462E-437F-8449-49CACAB26123}" type="presParOf" srcId="{8797EDF3-8A49-427C-B6BB-4967E136DB0B}" destId="{9E2546A7-3AF7-47A1-A580-C8AC2D643050}" srcOrd="1" destOrd="0" presId="urn:microsoft.com/office/officeart/2005/8/layout/vList5"/>
    <dgm:cxn modelId="{BD01142E-0C44-4868-A405-FCF45E72DC68}" type="presParOf" srcId="{30EEBD66-2446-4B9E-9A98-ABE86ABEB569}" destId="{B06E37E7-97B2-4AC1-AE05-A5F0E661E935}" srcOrd="1" destOrd="0" presId="urn:microsoft.com/office/officeart/2005/8/layout/vList5"/>
    <dgm:cxn modelId="{0EE55485-314F-4D5B-908F-2573EB873FF9}" type="presParOf" srcId="{30EEBD66-2446-4B9E-9A98-ABE86ABEB569}" destId="{87BBF5DA-61C7-4ABB-8DB6-A0CA5660EDB7}" srcOrd="2" destOrd="0" presId="urn:microsoft.com/office/officeart/2005/8/layout/vList5"/>
    <dgm:cxn modelId="{84ABFE31-F210-4EE4-B622-4A369BE1576A}" type="presParOf" srcId="{87BBF5DA-61C7-4ABB-8DB6-A0CA5660EDB7}" destId="{668B995B-BD61-4CDA-8436-D36E8E88F4B1}" srcOrd="0" destOrd="0" presId="urn:microsoft.com/office/officeart/2005/8/layout/vList5"/>
    <dgm:cxn modelId="{54E427FD-D522-4717-9C9B-4CC10DA2BC14}" type="presParOf" srcId="{87BBF5DA-61C7-4ABB-8DB6-A0CA5660EDB7}" destId="{88CD91F5-364A-4848-A4E4-15E14C8B70C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A803C9-2B90-49F2-BFE2-63DD151E200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ES"/>
        </a:p>
      </dgm:t>
    </dgm:pt>
    <dgm:pt modelId="{B947BA75-9104-45D7-B289-2D09902F93AA}">
      <dgm:prSet phldrT="[Texto]" custT="1"/>
      <dgm:spPr>
        <a:solidFill>
          <a:srgbClr val="EB0000"/>
        </a:solidFill>
      </dgm:spPr>
      <dgm:t>
        <a:bodyPr/>
        <a:lstStyle/>
        <a:p>
          <a:r>
            <a:rPr lang="es-ES" sz="1800" b="0">
              <a:latin typeface="Arial" panose="020B0604020202020204" pitchFamily="34" charset="0"/>
              <a:cs typeface="Arial" panose="020B0604020202020204" pitchFamily="34" charset="0"/>
            </a:rPr>
            <a:t>Seguridad Operativa</a:t>
          </a:r>
          <a:endParaRPr lang="es-ES" sz="1800" b="0" dirty="0">
            <a:latin typeface="Arial" panose="020B0604020202020204" pitchFamily="34" charset="0"/>
            <a:cs typeface="Arial" panose="020B0604020202020204" pitchFamily="34" charset="0"/>
          </a:endParaRPr>
        </a:p>
      </dgm:t>
    </dgm:pt>
    <dgm:pt modelId="{173396AE-6074-491B-85B8-B267BDB74685}" type="parTrans" cxnId="{001A38AB-3880-4ECC-BA61-EF56197397CB}">
      <dgm:prSet/>
      <dgm:spPr/>
      <dgm:t>
        <a:bodyPr/>
        <a:lstStyle/>
        <a:p>
          <a:endParaRPr lang="es-ES" sz="1600">
            <a:latin typeface="Arial" panose="020B0604020202020204" pitchFamily="34" charset="0"/>
            <a:cs typeface="Arial" panose="020B0604020202020204" pitchFamily="34" charset="0"/>
          </a:endParaRPr>
        </a:p>
      </dgm:t>
    </dgm:pt>
    <dgm:pt modelId="{FC27FD87-B744-4825-A3BD-1A3A02AC8620}" type="sibTrans" cxnId="{001A38AB-3880-4ECC-BA61-EF56197397CB}">
      <dgm:prSet/>
      <dgm:spPr/>
      <dgm:t>
        <a:bodyPr/>
        <a:lstStyle/>
        <a:p>
          <a:endParaRPr lang="es-ES" sz="1600">
            <a:latin typeface="Arial" panose="020B0604020202020204" pitchFamily="34" charset="0"/>
            <a:cs typeface="Arial" panose="020B0604020202020204" pitchFamily="34" charset="0"/>
          </a:endParaRPr>
        </a:p>
      </dgm:t>
    </dgm:pt>
    <dgm:pt modelId="{698CF322-7B46-446F-888E-CA9D1EA872CC}">
      <dgm:prSet phldrT="[Texto]" custT="1"/>
      <dgm:spPr>
        <a:solidFill>
          <a:srgbClr val="EB0000"/>
        </a:solidFill>
      </dgm:spPr>
      <dgm:t>
        <a:bodyPr/>
        <a:lstStyle/>
        <a:p>
          <a:r>
            <a:rPr lang="es-ES" sz="1800" b="0">
              <a:latin typeface="Arial" panose="020B0604020202020204" pitchFamily="34" charset="0"/>
              <a:cs typeface="Arial" panose="020B0604020202020204" pitchFamily="34" charset="0"/>
            </a:rPr>
            <a:t>Usuarios</a:t>
          </a:r>
          <a:endParaRPr lang="es-ES" sz="1800" b="0" dirty="0">
            <a:latin typeface="Arial" panose="020B0604020202020204" pitchFamily="34" charset="0"/>
            <a:cs typeface="Arial" panose="020B0604020202020204" pitchFamily="34" charset="0"/>
          </a:endParaRPr>
        </a:p>
      </dgm:t>
    </dgm:pt>
    <dgm:pt modelId="{37C273ED-CD83-426D-9510-3297AB35007F}" type="parTrans" cxnId="{BB34D893-E580-4B63-8BAF-ADEBFB65D36C}">
      <dgm:prSet/>
      <dgm:spPr/>
      <dgm:t>
        <a:bodyPr/>
        <a:lstStyle/>
        <a:p>
          <a:endParaRPr lang="es-ES" sz="1600">
            <a:latin typeface="Arial" panose="020B0604020202020204" pitchFamily="34" charset="0"/>
            <a:cs typeface="Arial" panose="020B0604020202020204" pitchFamily="34" charset="0"/>
          </a:endParaRPr>
        </a:p>
      </dgm:t>
    </dgm:pt>
    <dgm:pt modelId="{B0BF20EC-B9A2-4FA9-89F7-067894C44CCC}" type="sibTrans" cxnId="{BB34D893-E580-4B63-8BAF-ADEBFB65D36C}">
      <dgm:prSet/>
      <dgm:spPr/>
      <dgm:t>
        <a:bodyPr/>
        <a:lstStyle/>
        <a:p>
          <a:endParaRPr lang="es-ES" sz="1600">
            <a:latin typeface="Arial" panose="020B0604020202020204" pitchFamily="34" charset="0"/>
            <a:cs typeface="Arial" panose="020B0604020202020204" pitchFamily="34" charset="0"/>
          </a:endParaRPr>
        </a:p>
      </dgm:t>
    </dgm:pt>
    <dgm:pt modelId="{E185387F-95E2-4D83-A899-79E8F0B6B8EB}">
      <dgm:prSet custT="1"/>
      <dgm:spPr>
        <a:solidFill>
          <a:schemeClr val="bg1">
            <a:lumMod val="95000"/>
            <a:alpha val="90000"/>
          </a:schemeClr>
        </a:solidFill>
        <a:ln>
          <a:solidFill>
            <a:schemeClr val="bg2">
              <a:lumMod val="90000"/>
              <a:alpha val="90000"/>
            </a:schemeClr>
          </a:solidFill>
        </a:ln>
      </dgm:spPr>
      <dgm:t>
        <a:bodyPr/>
        <a:lstStyle/>
        <a:p>
          <a:r>
            <a:rPr lang="es-ES" altLang="es-ES" sz="1200" kern="1200">
              <a:solidFill>
                <a:srgbClr val="808080"/>
              </a:solidFill>
              <a:latin typeface="Arial" panose="020B0604020202020204" pitchFamily="34" charset="0"/>
              <a:ea typeface="+mn-ea"/>
              <a:cs typeface="Arial" panose="020B0604020202020204" pitchFamily="34" charset="0"/>
            </a:rPr>
            <a:t>Funcionalmente no se ha requerido seguridad operativa especifica para esta aplicación pero, todos los servicios consumidos tendrán que tener implementada la seguridad operativa, la existente en Darwin y BKS.</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3CC55558-0CD4-4881-BF8E-262B98269DAA}" type="parTrans" cxnId="{4E64D973-5A88-479E-85FA-829259532C72}">
      <dgm:prSet/>
      <dgm:spPr/>
      <dgm:t>
        <a:bodyPr/>
        <a:lstStyle/>
        <a:p>
          <a:endParaRPr lang="es-ES" sz="1600">
            <a:latin typeface="Arial" panose="020B0604020202020204" pitchFamily="34" charset="0"/>
            <a:cs typeface="Arial" panose="020B0604020202020204" pitchFamily="34" charset="0"/>
          </a:endParaRPr>
        </a:p>
      </dgm:t>
    </dgm:pt>
    <dgm:pt modelId="{3E7F7FEF-A380-4D08-BFF1-B1CF9CF0573C}" type="sibTrans" cxnId="{4E64D973-5A88-479E-85FA-829259532C72}">
      <dgm:prSet/>
      <dgm:spPr/>
      <dgm:t>
        <a:bodyPr/>
        <a:lstStyle/>
        <a:p>
          <a:endParaRPr lang="es-ES" sz="1600">
            <a:latin typeface="Arial" panose="020B0604020202020204" pitchFamily="34" charset="0"/>
            <a:cs typeface="Arial" panose="020B0604020202020204" pitchFamily="34" charset="0"/>
          </a:endParaRPr>
        </a:p>
      </dgm:t>
    </dgm:pt>
    <dgm:pt modelId="{D8684972-E148-41A9-9221-B6F0B496403F}">
      <dgm:prSet phldrT="[Texto]" custT="1"/>
      <dgm:spPr>
        <a:solidFill>
          <a:schemeClr val="bg1">
            <a:lumMod val="95000"/>
            <a:alpha val="90000"/>
          </a:schemeClr>
        </a:solidFill>
        <a:ln>
          <a:solidFill>
            <a:schemeClr val="bg2">
              <a:lumMod val="90000"/>
              <a:alpha val="90000"/>
            </a:schemeClr>
          </a:solidFill>
        </a:ln>
      </dgm:spPr>
      <dgm:t>
        <a:bodyPr/>
        <a:lstStyle/>
        <a:p>
          <a:r>
            <a:rPr lang="es-ES" sz="1400" kern="1200">
              <a:solidFill>
                <a:srgbClr val="808080"/>
              </a:solidFill>
              <a:latin typeface="Arial" panose="020B0604020202020204" pitchFamily="34" charset="0"/>
              <a:cs typeface="Arial" panose="020B0604020202020204" pitchFamily="34" charset="0"/>
            </a:rPr>
            <a:t>Futuros Clientes y Personal de Backoffice.</a:t>
          </a:r>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02402CB5-2003-4F0B-8861-5BBBD7F1BA98}" type="sibTrans" cxnId="{744C1610-D1D7-4A26-828B-B2467998C705}">
      <dgm:prSet/>
      <dgm:spPr/>
      <dgm:t>
        <a:bodyPr/>
        <a:lstStyle/>
        <a:p>
          <a:endParaRPr lang="es-ES" sz="1600">
            <a:latin typeface="Arial" panose="020B0604020202020204" pitchFamily="34" charset="0"/>
            <a:cs typeface="Arial" panose="020B0604020202020204" pitchFamily="34" charset="0"/>
          </a:endParaRPr>
        </a:p>
      </dgm:t>
    </dgm:pt>
    <dgm:pt modelId="{D5188DA5-B6C6-4821-9D99-AC5445639CB9}" type="parTrans" cxnId="{744C1610-D1D7-4A26-828B-B2467998C705}">
      <dgm:prSet/>
      <dgm:spPr/>
      <dgm:t>
        <a:bodyPr/>
        <a:lstStyle/>
        <a:p>
          <a:endParaRPr lang="es-ES" sz="1600">
            <a:latin typeface="Arial" panose="020B0604020202020204" pitchFamily="34" charset="0"/>
            <a:cs typeface="Arial" panose="020B0604020202020204" pitchFamily="34" charset="0"/>
          </a:endParaRPr>
        </a:p>
      </dgm:t>
    </dgm:pt>
    <dgm:pt modelId="{F333573B-C986-4C9B-8993-6E641E571BE0}">
      <dgm:prSet custT="1"/>
      <dgm:spPr>
        <a:solidFill>
          <a:schemeClr val="bg1">
            <a:lumMod val="95000"/>
            <a:alpha val="90000"/>
          </a:schemeClr>
        </a:solidFill>
        <a:ln>
          <a:solidFill>
            <a:schemeClr val="bg2">
              <a:lumMod val="90000"/>
              <a:alpha val="90000"/>
            </a:schemeClr>
          </a:solidFill>
        </a:ln>
      </dgm:spPr>
      <dgm:t>
        <a:bodyPr/>
        <a:lstStyle/>
        <a:p>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95A41F44-8857-418D-89AC-22606209655A}" type="parTrans" cxnId="{8465F196-1D33-4F8A-BCEC-E5759D5ED9D4}">
      <dgm:prSet/>
      <dgm:spPr/>
      <dgm:t>
        <a:bodyPr/>
        <a:lstStyle/>
        <a:p>
          <a:endParaRPr lang="es-ES"/>
        </a:p>
      </dgm:t>
    </dgm:pt>
    <dgm:pt modelId="{17F2E68C-A4D4-4367-AE3F-16C0362D5FE2}" type="sibTrans" cxnId="{8465F196-1D33-4F8A-BCEC-E5759D5ED9D4}">
      <dgm:prSet/>
      <dgm:spPr/>
      <dgm:t>
        <a:bodyPr/>
        <a:lstStyle/>
        <a:p>
          <a:endParaRPr lang="es-ES"/>
        </a:p>
      </dgm:t>
    </dgm:pt>
    <dgm:pt modelId="{CC19FB2C-E798-4F24-9716-AFBB20F8C020}">
      <dgm:prSet custT="1"/>
      <dgm:spPr/>
      <dgm:t>
        <a:bodyPr/>
        <a:lstStyle/>
        <a:p>
          <a:r>
            <a:rPr lang="es-ES" sz="1200" kern="1200">
              <a:solidFill>
                <a:srgbClr val="808080"/>
              </a:solidFill>
              <a:latin typeface="Arial" panose="020B0604020202020204" pitchFamily="34" charset="0"/>
              <a:ea typeface="+mn-ea"/>
              <a:cs typeface="Arial" panose="020B0604020202020204" pitchFamily="34" charset="0"/>
            </a:rPr>
            <a:t>Se invoca el micro de seguridad operativa CMC para comprobar que el usuario tiene el rol de firma del PaaS de Banca Electrónica.</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CB1FBDAA-2F93-4E2D-9519-31D634C8CA55}" type="parTrans" cxnId="{1896FF68-6F6D-439C-BC66-391F0DBEE2F7}">
      <dgm:prSet/>
      <dgm:spPr/>
      <dgm:t>
        <a:bodyPr/>
        <a:lstStyle/>
        <a:p>
          <a:endParaRPr lang="es-ES"/>
        </a:p>
      </dgm:t>
    </dgm:pt>
    <dgm:pt modelId="{258FD1B6-85D5-4D74-A42F-5956B40A3CFB}" type="sibTrans" cxnId="{1896FF68-6F6D-439C-BC66-391F0DBEE2F7}">
      <dgm:prSet/>
      <dgm:spPr/>
      <dgm:t>
        <a:bodyPr/>
        <a:lstStyle/>
        <a:p>
          <a:endParaRPr lang="es-ES"/>
        </a:p>
      </dgm:t>
    </dgm:pt>
    <dgm:pt modelId="{649AB81D-6209-402B-8707-D6B05C1C6401}">
      <dgm:prSet custT="1"/>
      <dgm:spPr>
        <a:solidFill>
          <a:schemeClr val="bg1">
            <a:lumMod val="95000"/>
            <a:alpha val="90000"/>
          </a:schemeClr>
        </a:solidFill>
        <a:ln>
          <a:solidFill>
            <a:schemeClr val="bg2">
              <a:lumMod val="90000"/>
              <a:alpha val="90000"/>
            </a:schemeClr>
          </a:solidFill>
        </a:ln>
      </dgm:spPr>
      <dgm:t>
        <a:bodyPr/>
        <a:lstStyle/>
        <a:p>
          <a:r>
            <a:rPr lang="es-ES" sz="1200" kern="1200">
              <a:solidFill>
                <a:srgbClr val="808080"/>
              </a:solidFill>
              <a:latin typeface="Arial" panose="020B0604020202020204" pitchFamily="34" charset="0"/>
              <a:ea typeface="+mn-ea"/>
              <a:cs typeface="Arial" panose="020B0604020202020204" pitchFamily="34" charset="0"/>
            </a:rPr>
            <a:t>Se incluye el token de firma cuando se llama al patrón de firma (OSS de servicios comunes), el servicio core que reciba la petición desde el canal debe comprobar dicho token volviendo a llamar al servicio OSS.</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5474CE64-DD05-4733-8491-23415EC5FF96}" type="parTrans" cxnId="{F72ABB24-B160-4A32-A7D7-DA6B7771E5DB}">
      <dgm:prSet/>
      <dgm:spPr/>
      <dgm:t>
        <a:bodyPr/>
        <a:lstStyle/>
        <a:p>
          <a:endParaRPr lang="es-ES"/>
        </a:p>
      </dgm:t>
    </dgm:pt>
    <dgm:pt modelId="{02FCDB0F-FBC4-4BDA-A2D5-8E7788F91582}" type="sibTrans" cxnId="{F72ABB24-B160-4A32-A7D7-DA6B7771E5DB}">
      <dgm:prSet/>
      <dgm:spPr/>
      <dgm:t>
        <a:bodyPr/>
        <a:lstStyle/>
        <a:p>
          <a:endParaRPr lang="es-ES"/>
        </a:p>
      </dgm:t>
    </dgm:pt>
    <dgm:pt modelId="{7490A645-7BAF-444C-93A1-01203704A41E}">
      <dgm:prSet custT="1"/>
      <dgm:spPr/>
      <dgm:t>
        <a:bodyPr/>
        <a:lstStyle/>
        <a:p>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A18B8A2D-1601-452E-A6FE-4798B2562E4B}" type="parTrans" cxnId="{84196604-36AE-487F-A3D4-8DA02E776F6E}">
      <dgm:prSet/>
      <dgm:spPr/>
      <dgm:t>
        <a:bodyPr/>
        <a:lstStyle/>
        <a:p>
          <a:endParaRPr lang="es-ES"/>
        </a:p>
      </dgm:t>
    </dgm:pt>
    <dgm:pt modelId="{0FD12415-DDAA-4C16-BA7A-CD121409E459}" type="sibTrans" cxnId="{84196604-36AE-487F-A3D4-8DA02E776F6E}">
      <dgm:prSet/>
      <dgm:spPr/>
      <dgm:t>
        <a:bodyPr/>
        <a:lstStyle/>
        <a:p>
          <a:endParaRPr lang="es-ES"/>
        </a:p>
      </dgm:t>
    </dgm:pt>
    <dgm:pt modelId="{C72BF0EB-3839-43D4-A631-34BE9EE2A5C7}">
      <dgm:prSet custT="1"/>
      <dgm:spPr>
        <a:solidFill>
          <a:schemeClr val="bg1">
            <a:lumMod val="95000"/>
            <a:alpha val="90000"/>
          </a:schemeClr>
        </a:solidFill>
        <a:ln>
          <a:solidFill>
            <a:schemeClr val="bg2">
              <a:lumMod val="90000"/>
              <a:alpha val="90000"/>
            </a:schemeClr>
          </a:solidFill>
        </a:ln>
      </dgm:spPr>
      <dgm:t>
        <a:bodyPr/>
        <a:lstStyle/>
        <a:p>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D30E45A6-66D1-43D3-A98C-905C253A2E6F}" type="parTrans" cxnId="{D9FAC2B9-9234-407C-8FCB-DEE39CC24AA6}">
      <dgm:prSet/>
      <dgm:spPr/>
      <dgm:t>
        <a:bodyPr/>
        <a:lstStyle/>
        <a:p>
          <a:endParaRPr lang="es-ES"/>
        </a:p>
      </dgm:t>
    </dgm:pt>
    <dgm:pt modelId="{49943DFF-4010-4F92-9ECF-9C78FC685CDA}" type="sibTrans" cxnId="{D9FAC2B9-9234-407C-8FCB-DEE39CC24AA6}">
      <dgm:prSet/>
      <dgm:spPr/>
      <dgm:t>
        <a:bodyPr/>
        <a:lstStyle/>
        <a:p>
          <a:endParaRPr lang="es-ES"/>
        </a:p>
      </dgm:t>
    </dgm:pt>
    <dgm:pt modelId="{55D73D69-6077-42EF-9C94-11CF7F7EF3B3}">
      <dgm:prSet custT="1"/>
      <dgm:spPr/>
      <dgm:t>
        <a:bodyPr/>
        <a:lstStyle/>
        <a:p>
          <a:r>
            <a:rPr lang="es-ES" sz="1200" kern="1200">
              <a:solidFill>
                <a:srgbClr val="808080"/>
              </a:solidFill>
              <a:latin typeface="Arial" panose="020B0604020202020204" pitchFamily="34" charset="0"/>
              <a:ea typeface="+mn-ea"/>
              <a:cs typeface="Arial" panose="020B0604020202020204" pitchFamily="34" charset="0"/>
            </a:rPr>
            <a:t>Relativo al chatbot se debe incluir:</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8571F438-FA3D-4737-BEFE-3B4D0AFA0677}" type="parTrans" cxnId="{BAAED435-B625-4699-9711-F3DDC327157F}">
      <dgm:prSet/>
      <dgm:spPr/>
      <dgm:t>
        <a:bodyPr/>
        <a:lstStyle/>
        <a:p>
          <a:endParaRPr lang="es-ES"/>
        </a:p>
      </dgm:t>
    </dgm:pt>
    <dgm:pt modelId="{E3667D4A-9313-4F6B-9631-DF084EC88996}" type="sibTrans" cxnId="{BAAED435-B625-4699-9711-F3DDC327157F}">
      <dgm:prSet/>
      <dgm:spPr/>
      <dgm:t>
        <a:bodyPr/>
        <a:lstStyle/>
        <a:p>
          <a:endParaRPr lang="es-ES"/>
        </a:p>
      </dgm:t>
    </dgm:pt>
    <dgm:pt modelId="{A89E4A67-2D13-4D30-948F-AEFA67568B1A}">
      <dgm:prSet custT="1"/>
      <dgm:spPr/>
      <dgm:t>
        <a:bodyPr/>
        <a:lstStyle/>
        <a:p>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15310393-B9BC-470D-B46E-02E7503AF521}" type="parTrans" cxnId="{CC81B257-8A60-4E7D-A4A9-4BDA55801868}">
      <dgm:prSet/>
      <dgm:spPr/>
      <dgm:t>
        <a:bodyPr/>
        <a:lstStyle/>
        <a:p>
          <a:endParaRPr lang="es-ES"/>
        </a:p>
      </dgm:t>
    </dgm:pt>
    <dgm:pt modelId="{52441D1D-217E-4C8B-AC71-F7BB1377D525}" type="sibTrans" cxnId="{CC81B257-8A60-4E7D-A4A9-4BDA55801868}">
      <dgm:prSet/>
      <dgm:spPr/>
      <dgm:t>
        <a:bodyPr/>
        <a:lstStyle/>
        <a:p>
          <a:endParaRPr lang="es-ES"/>
        </a:p>
      </dgm:t>
    </dgm:pt>
    <dgm:pt modelId="{166FBF01-17E8-4268-AF4C-79CE91110A8E}">
      <dgm:prSet custT="1"/>
      <dgm:spPr/>
      <dgm:t>
        <a:bodyPr/>
        <a:lstStyle/>
        <a:p>
          <a:pPr>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Al iniciar el chat, informar al no cliente que no comparta información sensible.</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D50BF2A4-7CE4-467F-98B9-8B1E462E94B1}" type="parTrans" cxnId="{1234BEF6-154A-481A-9755-84164E097250}">
      <dgm:prSet/>
      <dgm:spPr/>
      <dgm:t>
        <a:bodyPr/>
        <a:lstStyle/>
        <a:p>
          <a:endParaRPr lang="es-ES"/>
        </a:p>
      </dgm:t>
    </dgm:pt>
    <dgm:pt modelId="{893B8F69-FBF8-4F8F-A991-7F65CC0E432E}" type="sibTrans" cxnId="{1234BEF6-154A-481A-9755-84164E097250}">
      <dgm:prSet/>
      <dgm:spPr/>
      <dgm:t>
        <a:bodyPr/>
        <a:lstStyle/>
        <a:p>
          <a:endParaRPr lang="es-ES"/>
        </a:p>
      </dgm:t>
    </dgm:pt>
    <dgm:pt modelId="{D121C3D0-DEC6-4A3E-AF3E-D050E4BE3020}">
      <dgm:prSet custT="1"/>
      <dgm:spPr/>
      <dgm:t>
        <a:bodyPr/>
        <a:lstStyle/>
        <a:p>
          <a:pPr>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Como medida adicional, incluir reglas para ofuscar información sensible. </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52E899CB-12AE-498D-8119-5BABBAAB92A7}" type="parTrans" cxnId="{1D336CBD-1CBA-4414-8192-3EFA0191A4DD}">
      <dgm:prSet/>
      <dgm:spPr/>
      <dgm:t>
        <a:bodyPr/>
        <a:lstStyle/>
        <a:p>
          <a:endParaRPr lang="es-ES"/>
        </a:p>
      </dgm:t>
    </dgm:pt>
    <dgm:pt modelId="{42E6E99D-B347-4863-8EE0-DF1A90A6B911}" type="sibTrans" cxnId="{1D336CBD-1CBA-4414-8192-3EFA0191A4DD}">
      <dgm:prSet/>
      <dgm:spPr/>
      <dgm:t>
        <a:bodyPr/>
        <a:lstStyle/>
        <a:p>
          <a:endParaRPr lang="es-ES"/>
        </a:p>
      </dgm:t>
    </dgm:pt>
    <dgm:pt modelId="{E5E37BCD-82D3-4AFF-82B9-941CAD065BBF}">
      <dgm:prSet custT="1"/>
      <dgm:spPr/>
      <dgm:t>
        <a:bodyPr/>
        <a:lstStyle/>
        <a:p>
          <a:pPr>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Con respecto al asunto del acceso al backstage, para la creación de los chats y contenidos, los usuarios de Santander deberían conectarse con dicha plataforma a través de una integración con SSO. No obstante, tal y como indicáis en la reunión, no es posible debido a que actualmente se está utilizando una integración con usuarios propios de Inbenta para los chat privados existentes. Lo indico como punto de atención.</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09253011-0207-4418-B896-1A1A6CA9519F}" type="parTrans" cxnId="{A0497E08-0474-4F32-BFB5-84A4D3B10A3A}">
      <dgm:prSet/>
      <dgm:spPr/>
      <dgm:t>
        <a:bodyPr/>
        <a:lstStyle/>
        <a:p>
          <a:endParaRPr lang="es-ES"/>
        </a:p>
      </dgm:t>
    </dgm:pt>
    <dgm:pt modelId="{A98682AC-063F-452C-9439-6FC6ADED6484}" type="sibTrans" cxnId="{A0497E08-0474-4F32-BFB5-84A4D3B10A3A}">
      <dgm:prSet/>
      <dgm:spPr/>
      <dgm:t>
        <a:bodyPr/>
        <a:lstStyle/>
        <a:p>
          <a:endParaRPr lang="es-ES"/>
        </a:p>
      </dgm:t>
    </dgm:pt>
    <dgm:pt modelId="{31892256-FD9E-4CE0-8279-DF9C23A4E7A9}">
      <dgm:prSet custT="1"/>
      <dgm:spPr/>
      <dgm:t>
        <a:bodyPr/>
        <a:lstStyle/>
        <a:p>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739AFA12-0B8A-4AEA-B2DC-73CBA6B5CF78}" type="sibTrans" cxnId="{54F75C1B-3F24-40E6-93CF-802D6F1F3CD9}">
      <dgm:prSet/>
      <dgm:spPr/>
      <dgm:t>
        <a:bodyPr/>
        <a:lstStyle/>
        <a:p>
          <a:endParaRPr lang="es-ES"/>
        </a:p>
      </dgm:t>
    </dgm:pt>
    <dgm:pt modelId="{E15E29DA-6B5E-4EE9-9F7C-BB4292C26640}" type="parTrans" cxnId="{54F75C1B-3F24-40E6-93CF-802D6F1F3CD9}">
      <dgm:prSet/>
      <dgm:spPr/>
      <dgm:t>
        <a:bodyPr/>
        <a:lstStyle/>
        <a:p>
          <a:endParaRPr lang="es-ES"/>
        </a:p>
      </dgm:t>
    </dgm:pt>
    <dgm:pt modelId="{1162169F-8A7A-446B-9951-4E9EFCA9C666}">
      <dgm:prSet custT="1"/>
      <dgm:spPr/>
      <dgm:t>
        <a:bodyPr/>
        <a:lstStyle/>
        <a:p>
          <a:pPr>
            <a:buSzPts val="1000"/>
            <a:buFont typeface="Symbol" panose="05050102010706020507" pitchFamily="18" charset="2"/>
            <a:buChar char=""/>
          </a:pP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288CD5DE-1BB9-4EBC-9498-CD346C6A3DF2}" type="parTrans" cxnId="{D2094917-9D3F-4CE3-8918-C9AB87A5E728}">
      <dgm:prSet/>
      <dgm:spPr/>
      <dgm:t>
        <a:bodyPr/>
        <a:lstStyle/>
        <a:p>
          <a:endParaRPr lang="es-ES"/>
        </a:p>
      </dgm:t>
    </dgm:pt>
    <dgm:pt modelId="{3FBAC081-EC57-4CBD-86CD-BABBC9D54B41}" type="sibTrans" cxnId="{D2094917-9D3F-4CE3-8918-C9AB87A5E728}">
      <dgm:prSet/>
      <dgm:spPr/>
      <dgm:t>
        <a:bodyPr/>
        <a:lstStyle/>
        <a:p>
          <a:endParaRPr lang="es-ES"/>
        </a:p>
      </dgm:t>
    </dgm:pt>
    <dgm:pt modelId="{8AA9D3C5-B620-43BE-B9E5-36E1164C5E02}">
      <dgm:prSet custT="1"/>
      <dgm:spPr/>
      <dgm:t>
        <a:bodyPr/>
        <a:lstStyle/>
        <a:p>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AE64F39E-3B6A-4BD2-AC0F-68D0F33AFA51}" type="parTrans" cxnId="{327024A3-B33F-42C2-9713-ADA77BC52ADB}">
      <dgm:prSet/>
      <dgm:spPr/>
      <dgm:t>
        <a:bodyPr/>
        <a:lstStyle/>
        <a:p>
          <a:endParaRPr lang="es-ES"/>
        </a:p>
      </dgm:t>
    </dgm:pt>
    <dgm:pt modelId="{2C1174E4-BAB9-477D-AB83-8B77932396A7}" type="sibTrans" cxnId="{327024A3-B33F-42C2-9713-ADA77BC52ADB}">
      <dgm:prSet/>
      <dgm:spPr/>
      <dgm:t>
        <a:bodyPr/>
        <a:lstStyle/>
        <a:p>
          <a:endParaRPr lang="es-ES"/>
        </a:p>
      </dgm:t>
    </dgm:pt>
    <dgm:pt modelId="{EA89F890-4161-4603-8D91-64A85C9C3AD5}">
      <dgm:prSet custT="1"/>
      <dgm:spPr/>
      <dgm:t>
        <a:bodyPr/>
        <a:lstStyle/>
        <a:p>
          <a:pPr>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El modelo de seguridad de el componente de Chatbot queda fuera de este diseño y se define en Ref3</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77BDECA9-005C-4FF8-AB78-9BEC8B944321}" type="parTrans" cxnId="{37731B0E-1257-40AC-90B0-D2061AC31091}">
      <dgm:prSet/>
      <dgm:spPr/>
      <dgm:t>
        <a:bodyPr/>
        <a:lstStyle/>
        <a:p>
          <a:endParaRPr lang="es-ES"/>
        </a:p>
      </dgm:t>
    </dgm:pt>
    <dgm:pt modelId="{874DBA46-6F0A-4419-A905-B87D133B7766}" type="sibTrans" cxnId="{37731B0E-1257-40AC-90B0-D2061AC31091}">
      <dgm:prSet/>
      <dgm:spPr/>
      <dgm:t>
        <a:bodyPr/>
        <a:lstStyle/>
        <a:p>
          <a:endParaRPr lang="es-ES"/>
        </a:p>
      </dgm:t>
    </dgm:pt>
    <dgm:pt modelId="{9DCF1348-1819-4095-AA9C-1518DFFA1587}">
      <dgm:prSet custT="1"/>
      <dgm:spPr/>
      <dgm:t>
        <a:bodyPr/>
        <a:lstStyle/>
        <a:p>
          <a:pPr>
            <a:buSzPts val="1000"/>
            <a:buFont typeface="Symbol" panose="05050102010706020507" pitchFamily="18" charset="2"/>
            <a:buChar char=""/>
          </a:pP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9C467065-115D-4CD5-A34C-1751419E6309}" type="parTrans" cxnId="{1B804C7D-6962-4285-9A53-4B028FC88634}">
      <dgm:prSet/>
      <dgm:spPr/>
      <dgm:t>
        <a:bodyPr/>
        <a:lstStyle/>
        <a:p>
          <a:endParaRPr lang="es-ES"/>
        </a:p>
      </dgm:t>
    </dgm:pt>
    <dgm:pt modelId="{08974244-BE32-404D-AA43-3724C7114A43}" type="sibTrans" cxnId="{1B804C7D-6962-4285-9A53-4B028FC88634}">
      <dgm:prSet/>
      <dgm:spPr/>
      <dgm:t>
        <a:bodyPr/>
        <a:lstStyle/>
        <a:p>
          <a:endParaRPr lang="es-ES"/>
        </a:p>
      </dgm:t>
    </dgm:pt>
    <dgm:pt modelId="{298EC1F6-5D6C-4930-A7F7-5E8F043B451E}">
      <dgm:prSet custT="1"/>
      <dgm:spPr/>
      <dgm:t>
        <a:bodyPr/>
        <a:lstStyle/>
        <a:p>
          <a:pPr>
            <a:buClr>
              <a:schemeClr val="accent2"/>
            </a:buClr>
            <a:buSzPct val="100000"/>
            <a:buChar char="•"/>
          </a:pPr>
          <a:r>
            <a:rPr lang="es-ES" sz="1200" kern="1200">
              <a:solidFill>
                <a:srgbClr val="808080"/>
              </a:solidFill>
              <a:latin typeface="Arial" panose="020B0604020202020204" pitchFamily="34" charset="0"/>
              <a:ea typeface="+mn-ea"/>
              <a:cs typeface="Arial" panose="020B0604020202020204" pitchFamily="34" charset="0"/>
            </a:rPr>
            <a:t>Basada en la seguridad de acceso a S3 de CCC.</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B14D02BA-364F-4E65-B642-519DB4EB321D}" type="parTrans" cxnId="{7EC19459-4E2D-47FF-BAD3-5801E81EADAE}">
      <dgm:prSet/>
      <dgm:spPr/>
      <dgm:t>
        <a:bodyPr/>
        <a:lstStyle/>
        <a:p>
          <a:endParaRPr lang="es-ES"/>
        </a:p>
      </dgm:t>
    </dgm:pt>
    <dgm:pt modelId="{BFE5A376-5DA7-4A74-8F53-7A56DF418EC2}" type="sibTrans" cxnId="{7EC19459-4E2D-47FF-BAD3-5801E81EADAE}">
      <dgm:prSet/>
      <dgm:spPr/>
      <dgm:t>
        <a:bodyPr/>
        <a:lstStyle/>
        <a:p>
          <a:endParaRPr lang="es-ES"/>
        </a:p>
      </dgm:t>
    </dgm:pt>
    <dgm:pt modelId="{99800280-03F9-47AB-8E1F-71333C14F78B}">
      <dgm:prSet custT="1"/>
      <dgm:spPr/>
      <dgm:t>
        <a:bodyPr/>
        <a:lstStyle/>
        <a:p>
          <a:pPr>
            <a:buSzPts val="1000"/>
            <a:buFont typeface="Symbol" panose="05050102010706020507" pitchFamily="18" charset="2"/>
            <a:buNone/>
          </a:pP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89F2108B-85D2-4ABC-8E43-B8D10227D416}" type="parTrans" cxnId="{685F50E7-CE87-49C4-AF46-41B9FC26FF77}">
      <dgm:prSet/>
      <dgm:spPr/>
      <dgm:t>
        <a:bodyPr/>
        <a:lstStyle/>
        <a:p>
          <a:endParaRPr lang="es-ES"/>
        </a:p>
      </dgm:t>
    </dgm:pt>
    <dgm:pt modelId="{63BD3F61-C853-42B0-921F-FC2DAA86538F}" type="sibTrans" cxnId="{685F50E7-CE87-49C4-AF46-41B9FC26FF77}">
      <dgm:prSet/>
      <dgm:spPr/>
      <dgm:t>
        <a:bodyPr/>
        <a:lstStyle/>
        <a:p>
          <a:endParaRPr lang="es-ES"/>
        </a:p>
      </dgm:t>
    </dgm:pt>
    <dgm:pt modelId="{B40A0AF1-97AF-4F90-9B90-611D0E0FADA6}">
      <dgm:prSet phldrT="[Texto]" custT="1"/>
      <dgm:spPr>
        <a:solidFill>
          <a:schemeClr val="bg1">
            <a:lumMod val="95000"/>
            <a:alpha val="90000"/>
          </a:schemeClr>
        </a:solidFill>
        <a:ln>
          <a:solidFill>
            <a:schemeClr val="bg2">
              <a:lumMod val="90000"/>
              <a:alpha val="90000"/>
            </a:schemeClr>
          </a:solidFill>
        </a:ln>
      </dgm:spPr>
      <dgm:t>
        <a:bodyPr/>
        <a:lstStyle/>
        <a:p>
          <a:pPr>
            <a:buClr>
              <a:schemeClr val="accent2"/>
            </a:buClr>
            <a:buSzPct val="100000"/>
            <a:buChar char="•"/>
          </a:pPr>
          <a:r>
            <a:rPr lang="es-ES" sz="1400" kern="1200">
              <a:solidFill>
                <a:srgbClr val="808080"/>
              </a:solidFill>
              <a:latin typeface="Arial" panose="020B0604020202020204" pitchFamily="34" charset="0"/>
              <a:ea typeface="+mn-ea"/>
              <a:cs typeface="Arial" panose="020B0604020202020204" pitchFamily="34" charset="0"/>
            </a:rPr>
            <a:t>Usuario asignado a S3 creado por CCC.</a:t>
          </a:r>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3B8878FD-916F-4E85-AAF6-694C078DDB80}" type="parTrans" cxnId="{A72AB026-7134-4CE1-9ABB-8719E64D61BB}">
      <dgm:prSet/>
      <dgm:spPr/>
      <dgm:t>
        <a:bodyPr/>
        <a:lstStyle/>
        <a:p>
          <a:endParaRPr lang="es-ES"/>
        </a:p>
      </dgm:t>
    </dgm:pt>
    <dgm:pt modelId="{2A5560B2-5AB4-4101-9222-B607582EA74A}" type="sibTrans" cxnId="{A72AB026-7134-4CE1-9ABB-8719E64D61BB}">
      <dgm:prSet/>
      <dgm:spPr/>
      <dgm:t>
        <a:bodyPr/>
        <a:lstStyle/>
        <a:p>
          <a:endParaRPr lang="es-ES"/>
        </a:p>
      </dgm:t>
    </dgm:pt>
    <dgm:pt modelId="{30EEBD66-2446-4B9E-9A98-ABE86ABEB569}" type="pres">
      <dgm:prSet presAssocID="{65A803C9-2B90-49F2-BFE2-63DD151E2004}" presName="Name0" presStyleCnt="0">
        <dgm:presLayoutVars>
          <dgm:dir/>
          <dgm:animLvl val="lvl"/>
          <dgm:resizeHandles val="exact"/>
        </dgm:presLayoutVars>
      </dgm:prSet>
      <dgm:spPr/>
    </dgm:pt>
    <dgm:pt modelId="{8797EDF3-8A49-427C-B6BB-4967E136DB0B}" type="pres">
      <dgm:prSet presAssocID="{B947BA75-9104-45D7-B289-2D09902F93AA}" presName="linNode" presStyleCnt="0"/>
      <dgm:spPr/>
    </dgm:pt>
    <dgm:pt modelId="{1C578EC4-B958-489D-8921-FE9B3D64799A}" type="pres">
      <dgm:prSet presAssocID="{B947BA75-9104-45D7-B289-2D09902F93AA}" presName="parentText" presStyleLbl="node1" presStyleIdx="0" presStyleCnt="2" custScaleX="66870" custScaleY="31948">
        <dgm:presLayoutVars>
          <dgm:chMax val="1"/>
          <dgm:bulletEnabled val="1"/>
        </dgm:presLayoutVars>
      </dgm:prSet>
      <dgm:spPr/>
    </dgm:pt>
    <dgm:pt modelId="{9E2546A7-3AF7-47A1-A580-C8AC2D643050}" type="pres">
      <dgm:prSet presAssocID="{B947BA75-9104-45D7-B289-2D09902F93AA}" presName="descendantText" presStyleLbl="alignAccFollowNode1" presStyleIdx="0" presStyleCnt="2" custScaleX="118063" custScaleY="323357">
        <dgm:presLayoutVars>
          <dgm:bulletEnabled val="1"/>
        </dgm:presLayoutVars>
      </dgm:prSet>
      <dgm:spPr/>
    </dgm:pt>
    <dgm:pt modelId="{B06E37E7-97B2-4AC1-AE05-A5F0E661E935}" type="pres">
      <dgm:prSet presAssocID="{FC27FD87-B744-4825-A3BD-1A3A02AC8620}" presName="sp" presStyleCnt="0"/>
      <dgm:spPr/>
    </dgm:pt>
    <dgm:pt modelId="{87BBF5DA-61C7-4ABB-8DB6-A0CA5660EDB7}" type="pres">
      <dgm:prSet presAssocID="{698CF322-7B46-446F-888E-CA9D1EA872CC}" presName="linNode" presStyleCnt="0"/>
      <dgm:spPr/>
    </dgm:pt>
    <dgm:pt modelId="{668B995B-BD61-4CDA-8436-D36E8E88F4B1}" type="pres">
      <dgm:prSet presAssocID="{698CF322-7B46-446F-888E-CA9D1EA872CC}" presName="parentText" presStyleLbl="node1" presStyleIdx="1" presStyleCnt="2" custScaleX="66870" custScaleY="29683">
        <dgm:presLayoutVars>
          <dgm:chMax val="1"/>
          <dgm:bulletEnabled val="1"/>
        </dgm:presLayoutVars>
      </dgm:prSet>
      <dgm:spPr/>
    </dgm:pt>
    <dgm:pt modelId="{88CD91F5-364A-4848-A4E4-15E14C8B70C1}" type="pres">
      <dgm:prSet presAssocID="{698CF322-7B46-446F-888E-CA9D1EA872CC}" presName="descendantText" presStyleLbl="alignAccFollowNode1" presStyleIdx="1" presStyleCnt="2" custScaleX="118063" custScaleY="31553">
        <dgm:presLayoutVars>
          <dgm:bulletEnabled val="1"/>
        </dgm:presLayoutVars>
      </dgm:prSet>
      <dgm:spPr/>
    </dgm:pt>
  </dgm:ptLst>
  <dgm:cxnLst>
    <dgm:cxn modelId="{84196604-36AE-487F-A3D4-8DA02E776F6E}" srcId="{649AB81D-6209-402B-8707-D6B05C1C6401}" destId="{7490A645-7BAF-444C-93A1-01203704A41E}" srcOrd="0" destOrd="0" parTransId="{A18B8A2D-1601-452E-A6FE-4798B2562E4B}" sibTransId="{0FD12415-DDAA-4C16-BA7A-CD121409E459}"/>
    <dgm:cxn modelId="{A0497E08-0474-4F32-BFB5-84A4D3B10A3A}" srcId="{1162169F-8A7A-446B-9951-4E9EFCA9C666}" destId="{E5E37BCD-82D3-4AFF-82B9-941CAD065BBF}" srcOrd="0" destOrd="0" parTransId="{09253011-0207-4418-B896-1A1A6CA9519F}" sibTransId="{A98682AC-063F-452C-9439-6FC6ADED6484}"/>
    <dgm:cxn modelId="{5C76CC0B-52A2-4815-9A1F-5D457A19E7D0}" type="presOf" srcId="{A89E4A67-2D13-4D30-948F-AEFA67568B1A}" destId="{9E2546A7-3AF7-47A1-A580-C8AC2D643050}" srcOrd="0" destOrd="5" presId="urn:microsoft.com/office/officeart/2005/8/layout/vList5"/>
    <dgm:cxn modelId="{37731B0E-1257-40AC-90B0-D2061AC31091}" srcId="{B947BA75-9104-45D7-B289-2D09902F93AA}" destId="{EA89F890-4161-4603-8D91-64A85C9C3AD5}" srcOrd="10" destOrd="0" parTransId="{77BDECA9-005C-4FF8-AB78-9BEC8B944321}" sibTransId="{874DBA46-6F0A-4419-A905-B87D133B7766}"/>
    <dgm:cxn modelId="{744C1610-D1D7-4A26-828B-B2467998C705}" srcId="{698CF322-7B46-446F-888E-CA9D1EA872CC}" destId="{D8684972-E148-41A9-9221-B6F0B496403F}" srcOrd="0" destOrd="0" parTransId="{D5188DA5-B6C6-4821-9D99-AC5445639CB9}" sibTransId="{02402CB5-2003-4F0B-8861-5BBBD7F1BA98}"/>
    <dgm:cxn modelId="{E4323B12-A43B-40F7-9C9D-43E076851C08}" type="presOf" srcId="{65A803C9-2B90-49F2-BFE2-63DD151E2004}" destId="{30EEBD66-2446-4B9E-9A98-ABE86ABEB569}" srcOrd="0" destOrd="0" presId="urn:microsoft.com/office/officeart/2005/8/layout/vList5"/>
    <dgm:cxn modelId="{81643D12-6A64-4ED2-A0E1-F0AB2ACE858D}" type="presOf" srcId="{E5E37BCD-82D3-4AFF-82B9-941CAD065BBF}" destId="{9E2546A7-3AF7-47A1-A580-C8AC2D643050}" srcOrd="0" destOrd="12" presId="urn:microsoft.com/office/officeart/2005/8/layout/vList5"/>
    <dgm:cxn modelId="{D2094917-9D3F-4CE3-8918-C9AB87A5E728}" srcId="{B947BA75-9104-45D7-B289-2D09902F93AA}" destId="{1162169F-8A7A-446B-9951-4E9EFCA9C666}" srcOrd="8" destOrd="0" parTransId="{288CD5DE-1BB9-4EBC-9498-CD346C6A3DF2}" sibTransId="{3FBAC081-EC57-4CBD-86CD-BABBC9D54B41}"/>
    <dgm:cxn modelId="{54F75C1B-3F24-40E6-93CF-802D6F1F3CD9}" srcId="{B947BA75-9104-45D7-B289-2D09902F93AA}" destId="{31892256-FD9E-4CE0-8279-DF9C23A4E7A9}" srcOrd="7" destOrd="0" parTransId="{E15E29DA-6B5E-4EE9-9F7C-BB4292C26640}" sibTransId="{739AFA12-0B8A-4AEA-B2DC-73CBA6B5CF78}"/>
    <dgm:cxn modelId="{5A5FF720-9FF7-4F81-9CD7-FF4C845217B7}" type="presOf" srcId="{166FBF01-17E8-4268-AF4C-79CE91110A8E}" destId="{9E2546A7-3AF7-47A1-A580-C8AC2D643050}" srcOrd="0" destOrd="8" presId="urn:microsoft.com/office/officeart/2005/8/layout/vList5"/>
    <dgm:cxn modelId="{C8A53124-E624-44DE-BC6A-CE974E59886C}" type="presOf" srcId="{B40A0AF1-97AF-4F90-9B90-611D0E0FADA6}" destId="{88CD91F5-364A-4848-A4E4-15E14C8B70C1}" srcOrd="0" destOrd="1" presId="urn:microsoft.com/office/officeart/2005/8/layout/vList5"/>
    <dgm:cxn modelId="{F72ABB24-B160-4A32-A7D7-DA6B7771E5DB}" srcId="{B947BA75-9104-45D7-B289-2D09902F93AA}" destId="{649AB81D-6209-402B-8707-D6B05C1C6401}" srcOrd="2" destOrd="0" parTransId="{5474CE64-DD05-4733-8491-23415EC5FF96}" sibTransId="{02FCDB0F-FBC4-4BDA-A2D5-8E7788F91582}"/>
    <dgm:cxn modelId="{A72AB026-7134-4CE1-9ABB-8719E64D61BB}" srcId="{698CF322-7B46-446F-888E-CA9D1EA872CC}" destId="{B40A0AF1-97AF-4F90-9B90-611D0E0FADA6}" srcOrd="1" destOrd="0" parTransId="{3B8878FD-916F-4E85-AAF6-694C078DDB80}" sibTransId="{2A5560B2-5AB4-4101-9222-B607582EA74A}"/>
    <dgm:cxn modelId="{BAAED435-B625-4699-9711-F3DDC327157F}" srcId="{B947BA75-9104-45D7-B289-2D09902F93AA}" destId="{55D73D69-6077-42EF-9C94-11CF7F7EF3B3}" srcOrd="5" destOrd="0" parTransId="{8571F438-FA3D-4737-BEFE-3B4D0AFA0677}" sibTransId="{E3667D4A-9313-4F6B-9631-DF084EC88996}"/>
    <dgm:cxn modelId="{8869E136-264B-4DCE-AEAC-721686B59091}" type="presOf" srcId="{CC19FB2C-E798-4F24-9716-AFBB20F8C020}" destId="{9E2546A7-3AF7-47A1-A580-C8AC2D643050}" srcOrd="0" destOrd="4" presId="urn:microsoft.com/office/officeart/2005/8/layout/vList5"/>
    <dgm:cxn modelId="{21BCCD38-104E-4563-B088-F71A393BE2EA}" type="presOf" srcId="{E185387F-95E2-4D83-A899-79E8F0B6B8EB}" destId="{9E2546A7-3AF7-47A1-A580-C8AC2D643050}" srcOrd="0" destOrd="0" presId="urn:microsoft.com/office/officeart/2005/8/layout/vList5"/>
    <dgm:cxn modelId="{0EDF363B-B931-489E-9BC0-43CE99432D98}" type="presOf" srcId="{D8684972-E148-41A9-9221-B6F0B496403F}" destId="{88CD91F5-364A-4848-A4E4-15E14C8B70C1}" srcOrd="0" destOrd="0" presId="urn:microsoft.com/office/officeart/2005/8/layout/vList5"/>
    <dgm:cxn modelId="{748EC462-2826-4354-929E-652FA615E9E5}" type="presOf" srcId="{31892256-FD9E-4CE0-8279-DF9C23A4E7A9}" destId="{9E2546A7-3AF7-47A1-A580-C8AC2D643050}" srcOrd="0" destOrd="9" presId="urn:microsoft.com/office/officeart/2005/8/layout/vList5"/>
    <dgm:cxn modelId="{4548E247-DBE7-4BF3-88C8-A07C4129F07F}" type="presOf" srcId="{698CF322-7B46-446F-888E-CA9D1EA872CC}" destId="{668B995B-BD61-4CDA-8436-D36E8E88F4B1}" srcOrd="0" destOrd="0" presId="urn:microsoft.com/office/officeart/2005/8/layout/vList5"/>
    <dgm:cxn modelId="{C252FA67-F5C1-4579-B9E7-743EE6D2BDF7}" type="presOf" srcId="{9DCF1348-1819-4095-AA9C-1518DFFA1587}" destId="{9E2546A7-3AF7-47A1-A580-C8AC2D643050}" srcOrd="0" destOrd="13" presId="urn:microsoft.com/office/officeart/2005/8/layout/vList5"/>
    <dgm:cxn modelId="{1896FF68-6F6D-439C-BC66-391F0DBEE2F7}" srcId="{B947BA75-9104-45D7-B289-2D09902F93AA}" destId="{CC19FB2C-E798-4F24-9716-AFBB20F8C020}" srcOrd="3" destOrd="0" parTransId="{CB1FBDAA-2F93-4E2D-9519-31D634C8CA55}" sibTransId="{258FD1B6-85D5-4D74-A42F-5956B40A3CFB}"/>
    <dgm:cxn modelId="{4E64D973-5A88-479E-85FA-829259532C72}" srcId="{B947BA75-9104-45D7-B289-2D09902F93AA}" destId="{E185387F-95E2-4D83-A899-79E8F0B6B8EB}" srcOrd="0" destOrd="0" parTransId="{3CC55558-0CD4-4881-BF8E-262B98269DAA}" sibTransId="{3E7F7FEF-A380-4D08-BFF1-B1CF9CF0573C}"/>
    <dgm:cxn modelId="{43C6D674-40FB-48EC-AC82-1360410C95FC}" type="presOf" srcId="{99800280-03F9-47AB-8E1F-71333C14F78B}" destId="{9E2546A7-3AF7-47A1-A580-C8AC2D643050}" srcOrd="0" destOrd="15" presId="urn:microsoft.com/office/officeart/2005/8/layout/vList5"/>
    <dgm:cxn modelId="{CC81B257-8A60-4E7D-A4A9-4BDA55801868}" srcId="{B947BA75-9104-45D7-B289-2D09902F93AA}" destId="{A89E4A67-2D13-4D30-948F-AEFA67568B1A}" srcOrd="4" destOrd="0" parTransId="{15310393-B9BC-470D-B46E-02E7503AF521}" sibTransId="{52441D1D-217E-4C8B-AC71-F7BB1377D525}"/>
    <dgm:cxn modelId="{7EC19459-4E2D-47FF-BAD3-5801E81EADAE}" srcId="{B947BA75-9104-45D7-B289-2D09902F93AA}" destId="{298EC1F6-5D6C-4930-A7F7-5E8F043B451E}" srcOrd="12" destOrd="0" parTransId="{B14D02BA-364F-4E65-B642-519DB4EB321D}" sibTransId="{BFE5A376-5DA7-4A74-8F53-7A56DF418EC2}"/>
    <dgm:cxn modelId="{1B804C7D-6962-4285-9A53-4B028FC88634}" srcId="{B947BA75-9104-45D7-B289-2D09902F93AA}" destId="{9DCF1348-1819-4095-AA9C-1518DFFA1587}" srcOrd="9" destOrd="0" parTransId="{9C467065-115D-4CD5-A34C-1751419E6309}" sibTransId="{08974244-BE32-404D-AA43-3724C7114A43}"/>
    <dgm:cxn modelId="{5545A882-041B-4C1C-AFF2-E43D36131B8A}" type="presOf" srcId="{EA89F890-4161-4603-8D91-64A85C9C3AD5}" destId="{9E2546A7-3AF7-47A1-A580-C8AC2D643050}" srcOrd="0" destOrd="14" presId="urn:microsoft.com/office/officeart/2005/8/layout/vList5"/>
    <dgm:cxn modelId="{15683D87-BEA8-492E-B836-A06D8F2F686A}" type="presOf" srcId="{B947BA75-9104-45D7-B289-2D09902F93AA}" destId="{1C578EC4-B958-489D-8921-FE9B3D64799A}" srcOrd="0" destOrd="0" presId="urn:microsoft.com/office/officeart/2005/8/layout/vList5"/>
    <dgm:cxn modelId="{BB34D893-E580-4B63-8BAF-ADEBFB65D36C}" srcId="{65A803C9-2B90-49F2-BFE2-63DD151E2004}" destId="{698CF322-7B46-446F-888E-CA9D1EA872CC}" srcOrd="1" destOrd="0" parTransId="{37C273ED-CD83-426D-9510-3297AB35007F}" sibTransId="{B0BF20EC-B9A2-4FA9-89F7-067894C44CCC}"/>
    <dgm:cxn modelId="{8465F196-1D33-4F8A-BCEC-E5759D5ED9D4}" srcId="{B947BA75-9104-45D7-B289-2D09902F93AA}" destId="{F333573B-C986-4C9B-8993-6E641E571BE0}" srcOrd="13" destOrd="0" parTransId="{95A41F44-8857-418D-89AC-22606209655A}" sibTransId="{17F2E68C-A4D4-4367-AE3F-16C0362D5FE2}"/>
    <dgm:cxn modelId="{FB82ADA1-3119-43AE-82FB-DFD2A4752372}" type="presOf" srcId="{298EC1F6-5D6C-4930-A7F7-5E8F043B451E}" destId="{9E2546A7-3AF7-47A1-A580-C8AC2D643050}" srcOrd="0" destOrd="16" presId="urn:microsoft.com/office/officeart/2005/8/layout/vList5"/>
    <dgm:cxn modelId="{327024A3-B33F-42C2-9713-ADA77BC52ADB}" srcId="{B947BA75-9104-45D7-B289-2D09902F93AA}" destId="{8AA9D3C5-B620-43BE-B9E5-36E1164C5E02}" srcOrd="6" destOrd="0" parTransId="{AE64F39E-3B6A-4BD2-AC0F-68D0F33AFA51}" sibTransId="{2C1174E4-BAB9-477D-AB83-8B77932396A7}"/>
    <dgm:cxn modelId="{0C07D5A4-BD18-4AB4-AC77-BCE3356CAE8E}" type="presOf" srcId="{8AA9D3C5-B620-43BE-B9E5-36E1164C5E02}" destId="{9E2546A7-3AF7-47A1-A580-C8AC2D643050}" srcOrd="0" destOrd="7" presId="urn:microsoft.com/office/officeart/2005/8/layout/vList5"/>
    <dgm:cxn modelId="{001A38AB-3880-4ECC-BA61-EF56197397CB}" srcId="{65A803C9-2B90-49F2-BFE2-63DD151E2004}" destId="{B947BA75-9104-45D7-B289-2D09902F93AA}" srcOrd="0" destOrd="0" parTransId="{173396AE-6074-491B-85B8-B267BDB74685}" sibTransId="{FC27FD87-B744-4825-A3BD-1A3A02AC8620}"/>
    <dgm:cxn modelId="{5E9C45B7-9E5B-4986-9446-AF50374FB9F9}" type="presOf" srcId="{649AB81D-6209-402B-8707-D6B05C1C6401}" destId="{9E2546A7-3AF7-47A1-A580-C8AC2D643050}" srcOrd="0" destOrd="2" presId="urn:microsoft.com/office/officeart/2005/8/layout/vList5"/>
    <dgm:cxn modelId="{CB29E8B7-F391-4394-B7C1-5B5259BBFF2E}" type="presOf" srcId="{D121C3D0-DEC6-4A3E-AF3E-D050E4BE3020}" destId="{9E2546A7-3AF7-47A1-A580-C8AC2D643050}" srcOrd="0" destOrd="10" presId="urn:microsoft.com/office/officeart/2005/8/layout/vList5"/>
    <dgm:cxn modelId="{D9FAC2B9-9234-407C-8FCB-DEE39CC24AA6}" srcId="{B947BA75-9104-45D7-B289-2D09902F93AA}" destId="{C72BF0EB-3839-43D4-A631-34BE9EE2A5C7}" srcOrd="1" destOrd="0" parTransId="{D30E45A6-66D1-43D3-A98C-905C253A2E6F}" sibTransId="{49943DFF-4010-4F92-9ECF-9C78FC685CDA}"/>
    <dgm:cxn modelId="{A7C0A0BA-CAC7-4003-9A3D-89CD11126F77}" type="presOf" srcId="{1162169F-8A7A-446B-9951-4E9EFCA9C666}" destId="{9E2546A7-3AF7-47A1-A580-C8AC2D643050}" srcOrd="0" destOrd="11" presId="urn:microsoft.com/office/officeart/2005/8/layout/vList5"/>
    <dgm:cxn modelId="{1D336CBD-1CBA-4414-8192-3EFA0191A4DD}" srcId="{31892256-FD9E-4CE0-8279-DF9C23A4E7A9}" destId="{D121C3D0-DEC6-4A3E-AF3E-D050E4BE3020}" srcOrd="0" destOrd="0" parTransId="{52E899CB-12AE-498D-8119-5BABBAAB92A7}" sibTransId="{42E6E99D-B347-4863-8EE0-DF1A90A6B911}"/>
    <dgm:cxn modelId="{35A6E7D0-7F3C-4265-8555-1A2CE796E325}" type="presOf" srcId="{C72BF0EB-3839-43D4-A631-34BE9EE2A5C7}" destId="{9E2546A7-3AF7-47A1-A580-C8AC2D643050}" srcOrd="0" destOrd="1" presId="urn:microsoft.com/office/officeart/2005/8/layout/vList5"/>
    <dgm:cxn modelId="{BB95ADDD-1BB5-4B95-9783-F0268E06665B}" type="presOf" srcId="{7490A645-7BAF-444C-93A1-01203704A41E}" destId="{9E2546A7-3AF7-47A1-A580-C8AC2D643050}" srcOrd="0" destOrd="3" presId="urn:microsoft.com/office/officeart/2005/8/layout/vList5"/>
    <dgm:cxn modelId="{685F50E7-CE87-49C4-AF46-41B9FC26FF77}" srcId="{B947BA75-9104-45D7-B289-2D09902F93AA}" destId="{99800280-03F9-47AB-8E1F-71333C14F78B}" srcOrd="11" destOrd="0" parTransId="{89F2108B-85D2-4ABC-8E43-B8D10227D416}" sibTransId="{63BD3F61-C853-42B0-921F-FC2DAA86538F}"/>
    <dgm:cxn modelId="{6D197FF0-CD26-4CD3-9885-43A1D5E41305}" type="presOf" srcId="{55D73D69-6077-42EF-9C94-11CF7F7EF3B3}" destId="{9E2546A7-3AF7-47A1-A580-C8AC2D643050}" srcOrd="0" destOrd="6" presId="urn:microsoft.com/office/officeart/2005/8/layout/vList5"/>
    <dgm:cxn modelId="{1234BEF6-154A-481A-9755-84164E097250}" srcId="{8AA9D3C5-B620-43BE-B9E5-36E1164C5E02}" destId="{166FBF01-17E8-4268-AF4C-79CE91110A8E}" srcOrd="0" destOrd="0" parTransId="{D50BF2A4-7CE4-467F-98B9-8B1E462E94B1}" sibTransId="{893B8F69-FBF8-4F8F-A991-7F65CC0E432E}"/>
    <dgm:cxn modelId="{457A51FE-61AF-4779-871D-AF7859C1E583}" type="presOf" srcId="{F333573B-C986-4C9B-8993-6E641E571BE0}" destId="{9E2546A7-3AF7-47A1-A580-C8AC2D643050}" srcOrd="0" destOrd="17" presId="urn:microsoft.com/office/officeart/2005/8/layout/vList5"/>
    <dgm:cxn modelId="{67D1220E-98D5-4379-BB48-EE913F50090B}" type="presParOf" srcId="{30EEBD66-2446-4B9E-9A98-ABE86ABEB569}" destId="{8797EDF3-8A49-427C-B6BB-4967E136DB0B}" srcOrd="0" destOrd="0" presId="urn:microsoft.com/office/officeart/2005/8/layout/vList5"/>
    <dgm:cxn modelId="{2EB68908-D68C-474E-B20F-EA58ED4457C1}" type="presParOf" srcId="{8797EDF3-8A49-427C-B6BB-4967E136DB0B}" destId="{1C578EC4-B958-489D-8921-FE9B3D64799A}" srcOrd="0" destOrd="0" presId="urn:microsoft.com/office/officeart/2005/8/layout/vList5"/>
    <dgm:cxn modelId="{E07799D9-433C-4162-BC32-A05B90CFE2DC}" type="presParOf" srcId="{8797EDF3-8A49-427C-B6BB-4967E136DB0B}" destId="{9E2546A7-3AF7-47A1-A580-C8AC2D643050}" srcOrd="1" destOrd="0" presId="urn:microsoft.com/office/officeart/2005/8/layout/vList5"/>
    <dgm:cxn modelId="{31CE49D1-31E6-41F9-A720-AD5F05C6C05E}" type="presParOf" srcId="{30EEBD66-2446-4B9E-9A98-ABE86ABEB569}" destId="{B06E37E7-97B2-4AC1-AE05-A5F0E661E935}" srcOrd="1" destOrd="0" presId="urn:microsoft.com/office/officeart/2005/8/layout/vList5"/>
    <dgm:cxn modelId="{5357C3C1-1705-4DA1-B997-55D4BC7049A3}" type="presParOf" srcId="{30EEBD66-2446-4B9E-9A98-ABE86ABEB569}" destId="{87BBF5DA-61C7-4ABB-8DB6-A0CA5660EDB7}" srcOrd="2" destOrd="0" presId="urn:microsoft.com/office/officeart/2005/8/layout/vList5"/>
    <dgm:cxn modelId="{ADBE7A27-E57D-4CB8-8C94-2ABCE8E2E9A4}" type="presParOf" srcId="{87BBF5DA-61C7-4ABB-8DB6-A0CA5660EDB7}" destId="{668B995B-BD61-4CDA-8436-D36E8E88F4B1}" srcOrd="0" destOrd="0" presId="urn:microsoft.com/office/officeart/2005/8/layout/vList5"/>
    <dgm:cxn modelId="{6257197B-D170-4207-AFC2-BFE393020961}" type="presParOf" srcId="{87BBF5DA-61C7-4ABB-8DB6-A0CA5660EDB7}" destId="{88CD91F5-364A-4848-A4E4-15E14C8B70C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A803C9-2B90-49F2-BFE2-63DD151E200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ES"/>
        </a:p>
      </dgm:t>
    </dgm:pt>
    <dgm:pt modelId="{B947BA75-9104-45D7-B289-2D09902F93AA}">
      <dgm:prSet phldrT="[Texto]" custT="1"/>
      <dgm:spPr>
        <a:solidFill>
          <a:srgbClr val="EB0000"/>
        </a:solidFill>
        <a:ln w="12700" cap="flat" cmpd="sng" algn="ctr">
          <a:solidFill>
            <a:prstClr val="white">
              <a:hueOff val="0"/>
              <a:satOff val="0"/>
              <a:lumOff val="0"/>
              <a:alphaOff val="0"/>
            </a:prstClr>
          </a:solidFill>
          <a:prstDash val="solid"/>
          <a:miter lim="800000"/>
        </a:ln>
        <a:effectLst/>
      </dgm:spPr>
      <dgm:t>
        <a:bodyPr spcFirstLastPara="0" vert="horz" wrap="square" lIns="68580" tIns="34290" rIns="68580" bIns="34290" numCol="1" spcCol="1270" anchor="ctr" anchorCtr="0"/>
        <a:lstStyle/>
        <a:p>
          <a:pPr marL="0" lvl="0" indent="0" algn="ctr" defTabSz="800100">
            <a:lnSpc>
              <a:spcPct val="90000"/>
            </a:lnSpc>
            <a:spcBef>
              <a:spcPct val="0"/>
            </a:spcBef>
            <a:spcAft>
              <a:spcPct val="35000"/>
            </a:spcAft>
            <a:buNone/>
          </a:pPr>
          <a:r>
            <a:rPr lang="es-ES" sz="1800" b="0" kern="1200" dirty="0">
              <a:solidFill>
                <a:prstClr val="white"/>
              </a:solidFill>
              <a:latin typeface="Arial" panose="020B0604020202020204" pitchFamily="34" charset="0"/>
              <a:ea typeface="+mn-ea"/>
              <a:cs typeface="Arial" panose="020B0604020202020204" pitchFamily="34" charset="0"/>
            </a:rPr>
            <a:t>Procesos Batch</a:t>
          </a:r>
        </a:p>
      </dgm:t>
    </dgm:pt>
    <dgm:pt modelId="{173396AE-6074-491B-85B8-B267BDB74685}" type="parTrans" cxnId="{001A38AB-3880-4ECC-BA61-EF56197397CB}">
      <dgm:prSet/>
      <dgm:spPr/>
      <dgm:t>
        <a:bodyPr/>
        <a:lstStyle/>
        <a:p>
          <a:endParaRPr lang="es-ES"/>
        </a:p>
      </dgm:t>
    </dgm:pt>
    <dgm:pt modelId="{FC27FD87-B744-4825-A3BD-1A3A02AC8620}" type="sibTrans" cxnId="{001A38AB-3880-4ECC-BA61-EF56197397CB}">
      <dgm:prSet/>
      <dgm:spPr/>
      <dgm:t>
        <a:bodyPr/>
        <a:lstStyle/>
        <a:p>
          <a:endParaRPr lang="es-ES"/>
        </a:p>
      </dgm:t>
    </dgm:pt>
    <dgm:pt modelId="{A2C798F9-F45F-4097-9FB0-4F21314F478D}">
      <dgm:prSet custT="1"/>
      <dgm:spPr>
        <a:solidFill>
          <a:prstClr val="white">
            <a:lumMod val="95000"/>
            <a:alpha val="90000"/>
          </a:prstClr>
        </a:solidFill>
        <a:ln w="12700" cap="flat" cmpd="sng" algn="ctr">
          <a:solidFill>
            <a:srgbClr val="E7E6E6">
              <a:lumMod val="90000"/>
              <a:alpha val="90000"/>
            </a:srgbClr>
          </a:solidFill>
          <a:prstDash val="solid"/>
          <a:miter lim="800000"/>
        </a:ln>
        <a:effectLst/>
      </dgm:spPr>
      <dgm:t>
        <a:bodyPr spcFirstLastPara="0" vert="horz" wrap="square" lIns="247650" tIns="123825" rIns="247650" bIns="123825" numCol="1" spcCol="1270" anchor="ctr" anchorCtr="0"/>
        <a:lstStyle/>
        <a:p>
          <a:pPr marL="114300" lvl="1" indent="-114300" algn="l" defTabSz="622300">
            <a:lnSpc>
              <a:spcPct val="90000"/>
            </a:lnSpc>
            <a:spcBef>
              <a:spcPct val="0"/>
            </a:spcBef>
            <a:spcAft>
              <a:spcPct val="15000"/>
            </a:spcAft>
            <a:buChar char="•"/>
          </a:pPr>
          <a:r>
            <a:rPr lang="es-ES" sz="1400" kern="1200" dirty="0">
              <a:solidFill>
                <a:srgbClr val="808080"/>
              </a:solidFill>
              <a:latin typeface="Arial" panose="020B0604020202020204" pitchFamily="34" charset="0"/>
              <a:ea typeface="+mn-ea"/>
              <a:cs typeface="Arial" panose="020B0604020202020204" pitchFamily="34" charset="0"/>
            </a:rPr>
            <a:t>No existen procesos batch dentro del alcance del DTI</a:t>
          </a:r>
        </a:p>
      </dgm:t>
    </dgm:pt>
    <dgm:pt modelId="{47A6CB87-AD67-4183-BCFD-A00CD41F4688}" type="parTrans" cxnId="{7222A726-11C4-4CCA-9CF0-8D6A22073B2F}">
      <dgm:prSet/>
      <dgm:spPr/>
      <dgm:t>
        <a:bodyPr/>
        <a:lstStyle/>
        <a:p>
          <a:endParaRPr lang="es-ES"/>
        </a:p>
      </dgm:t>
    </dgm:pt>
    <dgm:pt modelId="{66D18476-07B5-4FED-89E1-D5BE2CB6543C}" type="sibTrans" cxnId="{7222A726-11C4-4CCA-9CF0-8D6A22073B2F}">
      <dgm:prSet/>
      <dgm:spPr/>
      <dgm:t>
        <a:bodyPr/>
        <a:lstStyle/>
        <a:p>
          <a:endParaRPr lang="es-ES"/>
        </a:p>
      </dgm:t>
    </dgm:pt>
    <dgm:pt modelId="{43A0365F-7452-4E5D-B5B9-BA0C4B075D4F}">
      <dgm:prSet phldrT="[Texto]" custT="1"/>
      <dgm:spPr>
        <a:solidFill>
          <a:srgbClr val="EB0000"/>
        </a:solidFill>
        <a:ln w="12700" cap="flat" cmpd="sng" algn="ctr">
          <a:solidFill>
            <a:prstClr val="white">
              <a:hueOff val="0"/>
              <a:satOff val="0"/>
              <a:lumOff val="0"/>
              <a:alphaOff val="0"/>
            </a:prstClr>
          </a:solidFill>
          <a:prstDash val="solid"/>
          <a:miter lim="800000"/>
        </a:ln>
        <a:effectLst/>
      </dgm:spPr>
      <dgm:t>
        <a:bodyPr spcFirstLastPara="0" vert="horz" wrap="square" lIns="68580" tIns="34290" rIns="68580" bIns="34290" numCol="1" spcCol="1270" anchor="ctr" anchorCtr="0"/>
        <a:lstStyle/>
        <a:p>
          <a:pPr marL="0" lvl="0" indent="0" algn="ctr" defTabSz="800100">
            <a:lnSpc>
              <a:spcPct val="90000"/>
            </a:lnSpc>
            <a:spcBef>
              <a:spcPct val="0"/>
            </a:spcBef>
            <a:spcAft>
              <a:spcPct val="35000"/>
            </a:spcAft>
            <a:buNone/>
          </a:pPr>
          <a:r>
            <a:rPr lang="es-ES" sz="1800" b="0" kern="1200" dirty="0">
              <a:solidFill>
                <a:prstClr val="white"/>
              </a:solidFill>
              <a:latin typeface="Arial" panose="020B0604020202020204" pitchFamily="34" charset="0"/>
              <a:ea typeface="+mn-ea"/>
              <a:cs typeface="Arial" panose="020B0604020202020204" pitchFamily="34" charset="0"/>
            </a:rPr>
            <a:t>Monitorización</a:t>
          </a:r>
        </a:p>
      </dgm:t>
    </dgm:pt>
    <dgm:pt modelId="{43A70B65-1346-4436-AAE4-FA6132F0BAC9}" type="parTrans" cxnId="{06C24988-DBA5-4715-8BF8-CE61A60669A9}">
      <dgm:prSet/>
      <dgm:spPr/>
      <dgm:t>
        <a:bodyPr/>
        <a:lstStyle/>
        <a:p>
          <a:endParaRPr lang="es-ES"/>
        </a:p>
      </dgm:t>
    </dgm:pt>
    <dgm:pt modelId="{2B2193B4-4FB3-49C6-85A7-6CC1EBC1475F}" type="sibTrans" cxnId="{06C24988-DBA5-4715-8BF8-CE61A60669A9}">
      <dgm:prSet/>
      <dgm:spPr/>
      <dgm:t>
        <a:bodyPr/>
        <a:lstStyle/>
        <a:p>
          <a:endParaRPr lang="es-ES"/>
        </a:p>
      </dgm:t>
    </dgm:pt>
    <dgm:pt modelId="{D91CD068-9C8C-4698-AA36-728F12F70081}">
      <dgm:prSet phldrT="[Texto]" custT="1"/>
      <dgm:spPr>
        <a:solidFill>
          <a:prstClr val="white">
            <a:lumMod val="95000"/>
            <a:alpha val="90000"/>
          </a:prstClr>
        </a:solidFill>
        <a:ln w="12700" cap="flat" cmpd="sng" algn="ctr">
          <a:solidFill>
            <a:srgbClr val="E7E6E6">
              <a:lumMod val="90000"/>
              <a:alpha val="90000"/>
            </a:srgbClr>
          </a:solidFill>
          <a:prstDash val="solid"/>
          <a:miter lim="800000"/>
        </a:ln>
        <a:effectLst/>
      </dgm:spPr>
      <dgm:t>
        <a:bodyPr spcFirstLastPara="0" vert="horz" wrap="square" lIns="247650" tIns="123825" rIns="247650" bIns="123825" numCol="1" spcCol="1270" anchor="ctr" anchorCtr="0"/>
        <a:lstStyle/>
        <a:p>
          <a:pPr algn="just"/>
          <a:r>
            <a:rPr lang="es-ES" sz="1600" kern="1200" dirty="0">
              <a:solidFill>
                <a:srgbClr val="808080"/>
              </a:solidFill>
            </a:rPr>
            <a:t>La </a:t>
          </a:r>
          <a:r>
            <a:rPr lang="es-ES" sz="1400" kern="1200" dirty="0">
              <a:solidFill>
                <a:srgbClr val="808080"/>
              </a:solidFill>
              <a:latin typeface="Arial" panose="020B0604020202020204" pitchFamily="34" charset="0"/>
              <a:ea typeface="+mn-ea"/>
              <a:cs typeface="Arial" panose="020B0604020202020204" pitchFamily="34" charset="0"/>
            </a:rPr>
            <a:t>monitorización</a:t>
          </a:r>
          <a:r>
            <a:rPr lang="es-ES" sz="1600" kern="1200" dirty="0">
              <a:solidFill>
                <a:srgbClr val="808080"/>
              </a:solidFill>
            </a:rPr>
            <a:t> de la plataforma estará integrada dentro de la ya existente para la plataforma, a saber:  PaaS</a:t>
          </a:r>
          <a:endParaRPr lang="es-ES" sz="1600" kern="1200" dirty="0">
            <a:solidFill>
              <a:srgbClr val="808080"/>
            </a:solidFill>
            <a:latin typeface="Arial"/>
            <a:ea typeface="+mn-ea"/>
            <a:cs typeface="+mn-cs"/>
          </a:endParaRPr>
        </a:p>
      </dgm:t>
    </dgm:pt>
    <dgm:pt modelId="{BF5DDB96-C272-4347-8FF6-AB6D3AFA0ECF}" type="parTrans" cxnId="{1DCFE691-4639-4778-9ECC-5FDF88A20761}">
      <dgm:prSet/>
      <dgm:spPr/>
      <dgm:t>
        <a:bodyPr/>
        <a:lstStyle/>
        <a:p>
          <a:endParaRPr lang="es-ES"/>
        </a:p>
      </dgm:t>
    </dgm:pt>
    <dgm:pt modelId="{19B7AC91-D992-420F-B7FB-B7545774C7AB}" type="sibTrans" cxnId="{1DCFE691-4639-4778-9ECC-5FDF88A20761}">
      <dgm:prSet/>
      <dgm:spPr/>
      <dgm:t>
        <a:bodyPr/>
        <a:lstStyle/>
        <a:p>
          <a:endParaRPr lang="es-ES"/>
        </a:p>
      </dgm:t>
    </dgm:pt>
    <dgm:pt modelId="{14BFA934-6BA3-4EA2-A3E6-A645A9861010}">
      <dgm:prSet phldrT="[Texto]" custT="1"/>
      <dgm:spPr>
        <a:solidFill>
          <a:prstClr val="white">
            <a:lumMod val="95000"/>
            <a:alpha val="90000"/>
          </a:prstClr>
        </a:solidFill>
        <a:ln w="12700" cap="flat" cmpd="sng" algn="ctr">
          <a:solidFill>
            <a:srgbClr val="E7E6E6">
              <a:lumMod val="90000"/>
              <a:alpha val="90000"/>
            </a:srgbClr>
          </a:solidFill>
          <a:prstDash val="solid"/>
          <a:miter lim="800000"/>
        </a:ln>
        <a:effectLst/>
      </dgm:spPr>
      <dgm:t>
        <a:bodyPr spcFirstLastPara="0" vert="horz" wrap="square" lIns="247650" tIns="123825" rIns="247650" bIns="123825" numCol="1" spcCol="1270" anchor="ctr" anchorCtr="0"/>
        <a:lstStyle/>
        <a:p>
          <a:pPr algn="just"/>
          <a:r>
            <a:rPr lang="es-ES" sz="1600" kern="1200" dirty="0">
              <a:solidFill>
                <a:srgbClr val="808080"/>
              </a:solidFill>
              <a:latin typeface="Calibri" panose="020F0502020204030204"/>
              <a:ea typeface="+mn-ea"/>
              <a:cs typeface="+mn-cs"/>
            </a:rPr>
            <a:t>Para obtener las métricas de uso de los links a las herramientas se utilizará la funcionalidad de log técnicos y funcionales de Darwin</a:t>
          </a:r>
          <a:r>
            <a:rPr lang="es-ES" sz="1600" kern="1200" dirty="0">
              <a:solidFill>
                <a:srgbClr val="808080"/>
              </a:solidFill>
              <a:latin typeface="Arial"/>
              <a:ea typeface="+mn-ea"/>
              <a:cs typeface="+mn-cs"/>
            </a:rPr>
            <a:t>.</a:t>
          </a:r>
        </a:p>
      </dgm:t>
    </dgm:pt>
    <dgm:pt modelId="{C2C3A463-125B-4EAB-B7F5-9A77A5327A56}" type="parTrans" cxnId="{D484BFB3-23AC-4CB6-AE00-45A98739C015}">
      <dgm:prSet/>
      <dgm:spPr/>
      <dgm:t>
        <a:bodyPr/>
        <a:lstStyle/>
        <a:p>
          <a:endParaRPr lang="es-ES"/>
        </a:p>
      </dgm:t>
    </dgm:pt>
    <dgm:pt modelId="{DC530D8B-A8DB-4EAE-A171-2191BB53F524}" type="sibTrans" cxnId="{D484BFB3-23AC-4CB6-AE00-45A98739C015}">
      <dgm:prSet/>
      <dgm:spPr/>
      <dgm:t>
        <a:bodyPr/>
        <a:lstStyle/>
        <a:p>
          <a:endParaRPr lang="es-ES"/>
        </a:p>
      </dgm:t>
    </dgm:pt>
    <dgm:pt modelId="{30EEBD66-2446-4B9E-9A98-ABE86ABEB569}" type="pres">
      <dgm:prSet presAssocID="{65A803C9-2B90-49F2-BFE2-63DD151E2004}" presName="Name0" presStyleCnt="0">
        <dgm:presLayoutVars>
          <dgm:dir/>
          <dgm:animLvl val="lvl"/>
          <dgm:resizeHandles val="exact"/>
        </dgm:presLayoutVars>
      </dgm:prSet>
      <dgm:spPr/>
    </dgm:pt>
    <dgm:pt modelId="{8797EDF3-8A49-427C-B6BB-4967E136DB0B}" type="pres">
      <dgm:prSet presAssocID="{B947BA75-9104-45D7-B289-2D09902F93AA}" presName="linNode" presStyleCnt="0"/>
      <dgm:spPr/>
    </dgm:pt>
    <dgm:pt modelId="{1C578EC4-B958-489D-8921-FE9B3D64799A}" type="pres">
      <dgm:prSet presAssocID="{B947BA75-9104-45D7-B289-2D09902F93AA}" presName="parentText" presStyleLbl="node1" presStyleIdx="0" presStyleCnt="2" custScaleX="66870" custScaleY="25587">
        <dgm:presLayoutVars>
          <dgm:chMax val="1"/>
          <dgm:bulletEnabled val="1"/>
        </dgm:presLayoutVars>
      </dgm:prSet>
      <dgm:spPr>
        <a:xfrm>
          <a:off x="18842" y="929630"/>
          <a:ext cx="2475377" cy="1175075"/>
        </a:xfrm>
        <a:prstGeom prst="roundRect">
          <a:avLst/>
        </a:prstGeom>
      </dgm:spPr>
    </dgm:pt>
    <dgm:pt modelId="{9E2546A7-3AF7-47A1-A580-C8AC2D643050}" type="pres">
      <dgm:prSet presAssocID="{B947BA75-9104-45D7-B289-2D09902F93AA}" presName="descendantText" presStyleLbl="alignAccFollowNode1" presStyleIdx="0" presStyleCnt="2" custScaleX="118063" custScaleY="17033">
        <dgm:presLayoutVars>
          <dgm:bulletEnabled val="1"/>
        </dgm:presLayoutVars>
      </dgm:prSet>
      <dgm:spPr>
        <a:xfrm rot="5400000">
          <a:off x="6066150" y="-2367656"/>
          <a:ext cx="625788" cy="7769649"/>
        </a:xfrm>
        <a:prstGeom prst="round2SameRect">
          <a:avLst/>
        </a:prstGeom>
      </dgm:spPr>
    </dgm:pt>
    <dgm:pt modelId="{F9DAFB86-7C09-4812-A650-8AEE10B8EB7D}" type="pres">
      <dgm:prSet presAssocID="{FC27FD87-B744-4825-A3BD-1A3A02AC8620}" presName="sp" presStyleCnt="0"/>
      <dgm:spPr/>
    </dgm:pt>
    <dgm:pt modelId="{9FC4233F-5A59-4793-88E0-A107F789BBFE}" type="pres">
      <dgm:prSet presAssocID="{43A0365F-7452-4E5D-B5B9-BA0C4B075D4F}" presName="linNode" presStyleCnt="0"/>
      <dgm:spPr/>
    </dgm:pt>
    <dgm:pt modelId="{CE61BC34-AE89-4263-95EA-209FF6CEBDB5}" type="pres">
      <dgm:prSet presAssocID="{43A0365F-7452-4E5D-B5B9-BA0C4B075D4F}" presName="parentText" presStyleLbl="node1" presStyleIdx="1" presStyleCnt="2" custScaleX="66870" custScaleY="24351">
        <dgm:presLayoutVars>
          <dgm:chMax val="1"/>
          <dgm:bulletEnabled val="1"/>
        </dgm:presLayoutVars>
      </dgm:prSet>
      <dgm:spPr>
        <a:xfrm>
          <a:off x="18842" y="2439428"/>
          <a:ext cx="2475377" cy="1118312"/>
        </a:xfrm>
        <a:prstGeom prst="roundRect">
          <a:avLst/>
        </a:prstGeom>
      </dgm:spPr>
    </dgm:pt>
    <dgm:pt modelId="{B3D3D25A-64EF-4AFA-AA9C-7B6B42375306}" type="pres">
      <dgm:prSet presAssocID="{43A0365F-7452-4E5D-B5B9-BA0C4B075D4F}" presName="descendantText" presStyleLbl="alignAccFollowNode1" presStyleIdx="1" presStyleCnt="2" custScaleX="118063" custScaleY="36160">
        <dgm:presLayoutVars>
          <dgm:bulletEnabled val="1"/>
        </dgm:presLayoutVars>
      </dgm:prSet>
      <dgm:spPr>
        <a:xfrm rot="5400000">
          <a:off x="5714789" y="-886240"/>
          <a:ext cx="1328509" cy="7769649"/>
        </a:xfrm>
        <a:prstGeom prst="round2SameRect">
          <a:avLst/>
        </a:prstGeom>
      </dgm:spPr>
    </dgm:pt>
  </dgm:ptLst>
  <dgm:cxnLst>
    <dgm:cxn modelId="{7222A726-11C4-4CCA-9CF0-8D6A22073B2F}" srcId="{B947BA75-9104-45D7-B289-2D09902F93AA}" destId="{A2C798F9-F45F-4097-9FB0-4F21314F478D}" srcOrd="0" destOrd="0" parTransId="{47A6CB87-AD67-4183-BCFD-A00CD41F4688}" sibTransId="{66D18476-07B5-4FED-89E1-D5BE2CB6543C}"/>
    <dgm:cxn modelId="{F43E1B29-27E5-4C38-997E-2E3CDF6261C4}" type="presOf" srcId="{D91CD068-9C8C-4698-AA36-728F12F70081}" destId="{B3D3D25A-64EF-4AFA-AA9C-7B6B42375306}" srcOrd="0" destOrd="0" presId="urn:microsoft.com/office/officeart/2005/8/layout/vList5"/>
    <dgm:cxn modelId="{DB72994C-5C53-4307-9761-4ADFFCE22443}" type="presOf" srcId="{B947BA75-9104-45D7-B289-2D09902F93AA}" destId="{1C578EC4-B958-489D-8921-FE9B3D64799A}" srcOrd="0" destOrd="0" presId="urn:microsoft.com/office/officeart/2005/8/layout/vList5"/>
    <dgm:cxn modelId="{AE423E5A-C48A-4201-9A10-6D490D9F8FF4}" type="presOf" srcId="{14BFA934-6BA3-4EA2-A3E6-A645A9861010}" destId="{B3D3D25A-64EF-4AFA-AA9C-7B6B42375306}" srcOrd="0" destOrd="1" presId="urn:microsoft.com/office/officeart/2005/8/layout/vList5"/>
    <dgm:cxn modelId="{06C24988-DBA5-4715-8BF8-CE61A60669A9}" srcId="{65A803C9-2B90-49F2-BFE2-63DD151E2004}" destId="{43A0365F-7452-4E5D-B5B9-BA0C4B075D4F}" srcOrd="1" destOrd="0" parTransId="{43A70B65-1346-4436-AAE4-FA6132F0BAC9}" sibTransId="{2B2193B4-4FB3-49C6-85A7-6CC1EBC1475F}"/>
    <dgm:cxn modelId="{1DCFE691-4639-4778-9ECC-5FDF88A20761}" srcId="{43A0365F-7452-4E5D-B5B9-BA0C4B075D4F}" destId="{D91CD068-9C8C-4698-AA36-728F12F70081}" srcOrd="0" destOrd="0" parTransId="{BF5DDB96-C272-4347-8FF6-AB6D3AFA0ECF}" sibTransId="{19B7AC91-D992-420F-B7FB-B7545774C7AB}"/>
    <dgm:cxn modelId="{A9D57BA5-264D-49AF-A43A-F33AB7D20EC2}" type="presOf" srcId="{65A803C9-2B90-49F2-BFE2-63DD151E2004}" destId="{30EEBD66-2446-4B9E-9A98-ABE86ABEB569}" srcOrd="0" destOrd="0" presId="urn:microsoft.com/office/officeart/2005/8/layout/vList5"/>
    <dgm:cxn modelId="{001A38AB-3880-4ECC-BA61-EF56197397CB}" srcId="{65A803C9-2B90-49F2-BFE2-63DD151E2004}" destId="{B947BA75-9104-45D7-B289-2D09902F93AA}" srcOrd="0" destOrd="0" parTransId="{173396AE-6074-491B-85B8-B267BDB74685}" sibTransId="{FC27FD87-B744-4825-A3BD-1A3A02AC8620}"/>
    <dgm:cxn modelId="{D484BFB3-23AC-4CB6-AE00-45A98739C015}" srcId="{43A0365F-7452-4E5D-B5B9-BA0C4B075D4F}" destId="{14BFA934-6BA3-4EA2-A3E6-A645A9861010}" srcOrd="1" destOrd="0" parTransId="{C2C3A463-125B-4EAB-B7F5-9A77A5327A56}" sibTransId="{DC530D8B-A8DB-4EAE-A171-2191BB53F524}"/>
    <dgm:cxn modelId="{4B6E60E2-9497-48B4-B512-A3A043CB4778}" type="presOf" srcId="{A2C798F9-F45F-4097-9FB0-4F21314F478D}" destId="{9E2546A7-3AF7-47A1-A580-C8AC2D643050}" srcOrd="0" destOrd="0" presId="urn:microsoft.com/office/officeart/2005/8/layout/vList5"/>
    <dgm:cxn modelId="{D845F1E8-8C14-41D5-920A-9956A5B763C3}" type="presOf" srcId="{43A0365F-7452-4E5D-B5B9-BA0C4B075D4F}" destId="{CE61BC34-AE89-4263-95EA-209FF6CEBDB5}" srcOrd="0" destOrd="0" presId="urn:microsoft.com/office/officeart/2005/8/layout/vList5"/>
    <dgm:cxn modelId="{3D25F106-5F6E-4ABB-B8C7-4020AE6008B6}" type="presParOf" srcId="{30EEBD66-2446-4B9E-9A98-ABE86ABEB569}" destId="{8797EDF3-8A49-427C-B6BB-4967E136DB0B}" srcOrd="0" destOrd="0" presId="urn:microsoft.com/office/officeart/2005/8/layout/vList5"/>
    <dgm:cxn modelId="{B275060D-80CC-4530-8AF9-6387AB2306B2}" type="presParOf" srcId="{8797EDF3-8A49-427C-B6BB-4967E136DB0B}" destId="{1C578EC4-B958-489D-8921-FE9B3D64799A}" srcOrd="0" destOrd="0" presId="urn:microsoft.com/office/officeart/2005/8/layout/vList5"/>
    <dgm:cxn modelId="{A98C376D-B8BF-4EAC-94B3-FC4AB903B4DC}" type="presParOf" srcId="{8797EDF3-8A49-427C-B6BB-4967E136DB0B}" destId="{9E2546A7-3AF7-47A1-A580-C8AC2D643050}" srcOrd="1" destOrd="0" presId="urn:microsoft.com/office/officeart/2005/8/layout/vList5"/>
    <dgm:cxn modelId="{DE66233B-C263-4E9D-BCBA-8C3F791E1E42}" type="presParOf" srcId="{30EEBD66-2446-4B9E-9A98-ABE86ABEB569}" destId="{F9DAFB86-7C09-4812-A650-8AEE10B8EB7D}" srcOrd="1" destOrd="0" presId="urn:microsoft.com/office/officeart/2005/8/layout/vList5"/>
    <dgm:cxn modelId="{557D685A-A4BE-4D31-98DA-25A6E123F712}" type="presParOf" srcId="{30EEBD66-2446-4B9E-9A98-ABE86ABEB569}" destId="{9FC4233F-5A59-4793-88E0-A107F789BBFE}" srcOrd="2" destOrd="0" presId="urn:microsoft.com/office/officeart/2005/8/layout/vList5"/>
    <dgm:cxn modelId="{AE4989AF-86D8-4424-8340-96CAFDC2FD3C}" type="presParOf" srcId="{9FC4233F-5A59-4793-88E0-A107F789BBFE}" destId="{CE61BC34-AE89-4263-95EA-209FF6CEBDB5}" srcOrd="0" destOrd="0" presId="urn:microsoft.com/office/officeart/2005/8/layout/vList5"/>
    <dgm:cxn modelId="{16636CF9-7123-4CB5-A1CD-439854F63C24}" type="presParOf" srcId="{9FC4233F-5A59-4793-88E0-A107F789BBFE}" destId="{B3D3D25A-64EF-4AFA-AA9C-7B6B42375306}"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2546A7-3AF7-47A1-A580-C8AC2D643050}">
      <dsp:nvSpPr>
        <dsp:cNvPr id="0" name=""/>
        <dsp:cNvSpPr/>
      </dsp:nvSpPr>
      <dsp:spPr>
        <a:xfrm rot="5400000">
          <a:off x="4841524" y="-2245433"/>
          <a:ext cx="2826924" cy="7618548"/>
        </a:xfrm>
        <a:prstGeom prst="round2SameRect">
          <a:avLst/>
        </a:prstGeom>
        <a:solidFill>
          <a:schemeClr val="bg1">
            <a:lumMod val="95000"/>
            <a:alpha val="90000"/>
          </a:schemeClr>
        </a:solidFill>
        <a:ln w="12700" cap="flat" cmpd="sng" algn="ctr">
          <a:solidFill>
            <a:schemeClr val="bg2">
              <a:lumMod val="90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En el flujo de Onboarding de personas físicas se usará usuario de proceso.</a:t>
          </a:r>
          <a:endParaRPr lang="es-ES" sz="14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Desde SPA se entrará sin seguridad en el Gateway.</a:t>
          </a:r>
          <a:endParaRPr lang="es-ES" sz="14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En el flujo de  Tramitación de expedientes u procesos planificados se usará usuario nominal de BCE.</a:t>
          </a:r>
          <a:endParaRPr lang="es-ES" sz="14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Se controlará el flujo de navegación generando un token COS (que contendrá el uuid de pantalla y timespam).</a:t>
          </a:r>
          <a:endParaRPr lang="es-ES" sz="14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622300">
            <a:lnSpc>
              <a:spcPct val="90000"/>
            </a:lnSpc>
            <a:spcBef>
              <a:spcPct val="0"/>
            </a:spcBef>
            <a:spcAft>
              <a:spcPct val="15000"/>
            </a:spcAft>
            <a:buClr>
              <a:srgbClr val="FF0000"/>
            </a:buClr>
            <a:buNone/>
          </a:pPr>
          <a:r>
            <a:rPr lang="es-ES" sz="1400" kern="1200" dirty="0">
              <a:solidFill>
                <a:srgbClr val="808080"/>
              </a:solidFill>
              <a:latin typeface="Arial" panose="020B0604020202020204" pitchFamily="34" charset="0"/>
              <a:ea typeface="+mn-ea"/>
              <a:cs typeface="Arial" panose="020B0604020202020204" pitchFamily="34" charset="0"/>
            </a:rPr>
            <a:t>La integración con el </a:t>
          </a:r>
          <a:r>
            <a:rPr lang="es-ES" sz="1400" kern="1200" dirty="0" err="1">
              <a:solidFill>
                <a:srgbClr val="808080"/>
              </a:solidFill>
              <a:latin typeface="Arial" panose="020B0604020202020204" pitchFamily="34" charset="0"/>
              <a:ea typeface="+mn-ea"/>
              <a:cs typeface="Arial" panose="020B0604020202020204" pitchFamily="34" charset="0"/>
            </a:rPr>
            <a:t>ChatBot</a:t>
          </a:r>
          <a:r>
            <a:rPr lang="es-ES" sz="1400" kern="1200" dirty="0">
              <a:solidFill>
                <a:srgbClr val="808080"/>
              </a:solidFill>
              <a:latin typeface="Arial" panose="020B0604020202020204" pitchFamily="34" charset="0"/>
              <a:ea typeface="+mn-ea"/>
              <a:cs typeface="Arial" panose="020B0604020202020204" pitchFamily="34" charset="0"/>
            </a:rPr>
            <a:t> </a:t>
          </a:r>
          <a:r>
            <a:rPr lang="es-ES" sz="1400" kern="1200" dirty="0" err="1">
              <a:solidFill>
                <a:srgbClr val="808080"/>
              </a:solidFill>
              <a:latin typeface="Arial" panose="020B0604020202020204" pitchFamily="34" charset="0"/>
              <a:ea typeface="+mn-ea"/>
              <a:cs typeface="Arial" panose="020B0604020202020204" pitchFamily="34" charset="0"/>
            </a:rPr>
            <a:t>inbenta</a:t>
          </a:r>
          <a:r>
            <a:rPr lang="es-ES" sz="1400" kern="1200" dirty="0">
              <a:solidFill>
                <a:srgbClr val="808080"/>
              </a:solidFill>
              <a:latin typeface="Arial" panose="020B0604020202020204" pitchFamily="34" charset="0"/>
              <a:ea typeface="+mn-ea"/>
              <a:cs typeface="Arial" panose="020B0604020202020204" pitchFamily="34" charset="0"/>
            </a:rPr>
            <a:t> se hará a través de un </a:t>
          </a:r>
          <a:r>
            <a:rPr lang="es-ES" sz="1400" kern="1200" dirty="0" err="1">
              <a:solidFill>
                <a:srgbClr val="808080"/>
              </a:solidFill>
              <a:latin typeface="Arial" panose="020B0604020202020204" pitchFamily="34" charset="0"/>
              <a:ea typeface="+mn-ea"/>
              <a:cs typeface="Arial" panose="020B0604020202020204" pitchFamily="34" charset="0"/>
            </a:rPr>
            <a:t>KeyID</a:t>
          </a:r>
          <a:r>
            <a:rPr lang="es-ES" sz="1400" kern="1200" dirty="0">
              <a:solidFill>
                <a:srgbClr val="808080"/>
              </a:solidFill>
              <a:latin typeface="Arial" panose="020B0604020202020204" pitchFamily="34" charset="0"/>
              <a:ea typeface="+mn-ea"/>
              <a:cs typeface="Arial" panose="020B0604020202020204" pitchFamily="34" charset="0"/>
            </a:rPr>
            <a:t>(llave de Dominio).</a:t>
          </a:r>
        </a:p>
        <a:p>
          <a:pPr marL="114300" lvl="1" indent="-114300" algn="l" defTabSz="622300">
            <a:lnSpc>
              <a:spcPct val="90000"/>
            </a:lnSpc>
            <a:spcBef>
              <a:spcPct val="0"/>
            </a:spcBef>
            <a:spcAft>
              <a:spcPct val="15000"/>
            </a:spcAft>
            <a:buClr>
              <a:srgbClr val="FF0000"/>
            </a:buClr>
            <a:buNone/>
          </a:pPr>
          <a:r>
            <a:rPr lang="es-ES" sz="1400" kern="1200" dirty="0">
              <a:solidFill>
                <a:srgbClr val="808080"/>
              </a:solidFill>
              <a:latin typeface="Arial" panose="020B0604020202020204" pitchFamily="34" charset="0"/>
              <a:ea typeface="+mn-ea"/>
              <a:cs typeface="Arial" panose="020B0604020202020204" pitchFamily="34" charset="0"/>
            </a:rPr>
            <a:t>El acceso al S3 OHE se hará vía </a:t>
          </a:r>
          <a:r>
            <a:rPr lang="es-ES" sz="1400" kern="1200" dirty="0" err="1">
              <a:solidFill>
                <a:srgbClr val="808080"/>
              </a:solidFill>
              <a:latin typeface="Arial" panose="020B0604020202020204" pitchFamily="34" charset="0"/>
              <a:ea typeface="+mn-ea"/>
              <a:cs typeface="Arial" panose="020B0604020202020204" pitchFamily="34" charset="0"/>
            </a:rPr>
            <a:t>keyID</a:t>
          </a:r>
          <a:r>
            <a:rPr lang="es-ES" sz="1400" kern="1200" dirty="0">
              <a:solidFill>
                <a:srgbClr val="808080"/>
              </a:solidFill>
              <a:latin typeface="Arial" panose="020B0604020202020204" pitchFamily="34" charset="0"/>
              <a:ea typeface="+mn-ea"/>
              <a:cs typeface="Arial" panose="020B0604020202020204" pitchFamily="34" charset="0"/>
            </a:rPr>
            <a:t> y </a:t>
          </a:r>
          <a:r>
            <a:rPr lang="es-ES" sz="1400" kern="1200" dirty="0" err="1">
              <a:solidFill>
                <a:srgbClr val="808080"/>
              </a:solidFill>
              <a:latin typeface="Arial" panose="020B0604020202020204" pitchFamily="34" charset="0"/>
              <a:ea typeface="+mn-ea"/>
              <a:cs typeface="Arial" panose="020B0604020202020204" pitchFamily="34" charset="0"/>
            </a:rPr>
            <a:t>Secret</a:t>
          </a:r>
          <a:r>
            <a:rPr lang="es-ES" sz="1400" kern="1200" dirty="0">
              <a:solidFill>
                <a:srgbClr val="808080"/>
              </a:solidFill>
              <a:latin typeface="Arial" panose="020B0604020202020204" pitchFamily="34" charset="0"/>
              <a:ea typeface="+mn-ea"/>
              <a:cs typeface="Arial" panose="020B0604020202020204" pitchFamily="34" charset="0"/>
            </a:rPr>
            <a:t> configurado en el proceso creado en Sistemas medios (configuración). </a:t>
          </a:r>
        </a:p>
        <a:p>
          <a:pPr marL="114300" lvl="1" indent="-114300" algn="l" defTabSz="622300">
            <a:lnSpc>
              <a:spcPct val="90000"/>
            </a:lnSpc>
            <a:spcBef>
              <a:spcPct val="0"/>
            </a:spcBef>
            <a:spcAft>
              <a:spcPct val="15000"/>
            </a:spcAft>
            <a:buClr>
              <a:srgbClr val="FF0000"/>
            </a:buClr>
            <a:buNone/>
          </a:pPr>
          <a:endParaRPr lang="es-ES" sz="1400" kern="1200" dirty="0">
            <a:solidFill>
              <a:srgbClr val="808080"/>
            </a:solidFill>
            <a:latin typeface="Arial" panose="020B0604020202020204" pitchFamily="34" charset="0"/>
            <a:ea typeface="+mn-ea"/>
            <a:cs typeface="Arial" panose="020B0604020202020204" pitchFamily="34" charset="0"/>
          </a:endParaRPr>
        </a:p>
      </dsp:txBody>
      <dsp:txXfrm rot="-5400000">
        <a:off x="2445713" y="288377"/>
        <a:ext cx="7480549" cy="2550926"/>
      </dsp:txXfrm>
    </dsp:sp>
    <dsp:sp modelId="{1C578EC4-B958-489D-8921-FE9B3D64799A}">
      <dsp:nvSpPr>
        <dsp:cNvPr id="0" name=""/>
        <dsp:cNvSpPr/>
      </dsp:nvSpPr>
      <dsp:spPr>
        <a:xfrm>
          <a:off x="18475" y="95"/>
          <a:ext cx="2427237" cy="3127489"/>
        </a:xfrm>
        <a:prstGeom prst="roundRect">
          <a:avLst/>
        </a:prstGeom>
        <a:solidFill>
          <a:srgbClr val="EB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 sz="1800" b="0" kern="1200">
              <a:latin typeface="Arial" panose="020B0604020202020204" pitchFamily="34" charset="0"/>
              <a:cs typeface="Arial" panose="020B0604020202020204" pitchFamily="34" charset="0"/>
            </a:rPr>
            <a:t>Autenticación</a:t>
          </a:r>
          <a:endParaRPr lang="es-ES" sz="1800" b="0" kern="1200" dirty="0">
            <a:latin typeface="Arial" panose="020B0604020202020204" pitchFamily="34" charset="0"/>
            <a:cs typeface="Arial" panose="020B0604020202020204" pitchFamily="34" charset="0"/>
          </a:endParaRPr>
        </a:p>
      </dsp:txBody>
      <dsp:txXfrm>
        <a:off x="136963" y="118583"/>
        <a:ext cx="2190261" cy="2890513"/>
      </dsp:txXfrm>
    </dsp:sp>
    <dsp:sp modelId="{88CD91F5-364A-4848-A4E4-15E14C8B70C1}">
      <dsp:nvSpPr>
        <dsp:cNvPr id="0" name=""/>
        <dsp:cNvSpPr/>
      </dsp:nvSpPr>
      <dsp:spPr>
        <a:xfrm rot="5400000">
          <a:off x="5725415" y="136649"/>
          <a:ext cx="1059142" cy="7618548"/>
        </a:xfrm>
        <a:prstGeom prst="round2SameRect">
          <a:avLst/>
        </a:prstGeom>
        <a:solidFill>
          <a:schemeClr val="bg1">
            <a:lumMod val="95000"/>
            <a:alpha val="90000"/>
          </a:schemeClr>
        </a:solidFill>
        <a:ln w="12700" cap="flat" cmpd="sng" algn="ctr">
          <a:solidFill>
            <a:schemeClr val="bg2">
              <a:lumMod val="90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endParaRPr lang="es-ES" sz="1400" kern="1200" dirty="0">
            <a:solidFill>
              <a:srgbClr val="808080"/>
            </a:solidFill>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lr>
              <a:srgbClr val="FF0000"/>
            </a:buClr>
            <a:buNone/>
          </a:pPr>
          <a:r>
            <a:rPr lang="es-ES" sz="1400" kern="1200" dirty="0"/>
            <a:t> </a:t>
          </a:r>
          <a:r>
            <a:rPr lang="es-ES" sz="1400" kern="1200" dirty="0" err="1">
              <a:solidFill>
                <a:srgbClr val="808080"/>
              </a:solidFill>
              <a:latin typeface="Arial" panose="020B0604020202020204" pitchFamily="34" charset="0"/>
              <a:ea typeface="+mn-ea"/>
              <a:cs typeface="Arial" panose="020B0604020202020204" pitchFamily="34" charset="0"/>
            </a:rPr>
            <a:t>Inbenta</a:t>
          </a:r>
          <a:r>
            <a:rPr lang="es-ES" sz="1400" kern="1200" dirty="0">
              <a:solidFill>
                <a:srgbClr val="808080"/>
              </a:solidFill>
              <a:latin typeface="Arial" panose="020B0604020202020204" pitchFamily="34" charset="0"/>
              <a:ea typeface="+mn-ea"/>
              <a:cs typeface="Arial" panose="020B0604020202020204" pitchFamily="34" charset="0"/>
            </a:rPr>
            <a:t> controla la autorización a través de los filtros de dominio entrante que viajan en dicha clave.  </a:t>
          </a:r>
        </a:p>
        <a:p>
          <a:pPr marL="114300" lvl="1" indent="-114300" algn="l" defTabSz="622300">
            <a:lnSpc>
              <a:spcPct val="90000"/>
            </a:lnSpc>
            <a:spcBef>
              <a:spcPct val="0"/>
            </a:spcBef>
            <a:spcAft>
              <a:spcPct val="15000"/>
            </a:spcAft>
            <a:buChar char="•"/>
          </a:pPr>
          <a:endParaRPr lang="es-ES" sz="1400" kern="1200" dirty="0">
            <a:latin typeface="Arial" panose="020B0604020202020204" pitchFamily="34" charset="0"/>
            <a:cs typeface="Arial" panose="020B0604020202020204" pitchFamily="34" charset="0"/>
          </a:endParaRPr>
        </a:p>
      </dsp:txBody>
      <dsp:txXfrm rot="-5400000">
        <a:off x="2445713" y="3468055"/>
        <a:ext cx="7566845" cy="955736"/>
      </dsp:txXfrm>
    </dsp:sp>
    <dsp:sp modelId="{668B995B-BD61-4CDA-8436-D36E8E88F4B1}">
      <dsp:nvSpPr>
        <dsp:cNvPr id="0" name=""/>
        <dsp:cNvSpPr/>
      </dsp:nvSpPr>
      <dsp:spPr>
        <a:xfrm>
          <a:off x="18475" y="3283959"/>
          <a:ext cx="2427237" cy="1323928"/>
        </a:xfrm>
        <a:prstGeom prst="roundRect">
          <a:avLst/>
        </a:prstGeom>
        <a:solidFill>
          <a:srgbClr val="EB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 sz="1800" b="0" kern="1200">
              <a:latin typeface="Arial" panose="020B0604020202020204" pitchFamily="34" charset="0"/>
              <a:cs typeface="Arial" panose="020B0604020202020204" pitchFamily="34" charset="0"/>
            </a:rPr>
            <a:t>Autorización, Personalización</a:t>
          </a:r>
          <a:endParaRPr lang="es-ES" sz="1800" b="0" kern="1200" dirty="0">
            <a:latin typeface="Arial" panose="020B0604020202020204" pitchFamily="34" charset="0"/>
            <a:cs typeface="Arial" panose="020B0604020202020204" pitchFamily="34" charset="0"/>
          </a:endParaRPr>
        </a:p>
      </dsp:txBody>
      <dsp:txXfrm>
        <a:off x="83104" y="3348588"/>
        <a:ext cx="2297979" cy="11946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2546A7-3AF7-47A1-A580-C8AC2D643050}">
      <dsp:nvSpPr>
        <dsp:cNvPr id="0" name=""/>
        <dsp:cNvSpPr/>
      </dsp:nvSpPr>
      <dsp:spPr>
        <a:xfrm rot="5400000">
          <a:off x="4028412" y="-1490499"/>
          <a:ext cx="4922696" cy="7904478"/>
        </a:xfrm>
        <a:prstGeom prst="round2SameRect">
          <a:avLst/>
        </a:prstGeom>
        <a:solidFill>
          <a:schemeClr val="bg1">
            <a:lumMod val="95000"/>
            <a:alpha val="90000"/>
          </a:schemeClr>
        </a:solidFill>
        <a:ln w="12700" cap="flat" cmpd="sng" algn="ctr">
          <a:solidFill>
            <a:schemeClr val="bg2">
              <a:lumMod val="90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s-ES" altLang="es-ES" sz="1200" kern="1200">
              <a:solidFill>
                <a:srgbClr val="808080"/>
              </a:solidFill>
              <a:latin typeface="Arial" panose="020B0604020202020204" pitchFamily="34" charset="0"/>
              <a:ea typeface="+mn-ea"/>
              <a:cs typeface="Arial" panose="020B0604020202020204" pitchFamily="34" charset="0"/>
            </a:rPr>
            <a:t>Funcionalmente no se ha requerido seguridad operativa especifica para esta aplicación pero, todos los servicios consumidos tendrán que tener implementada la seguridad operativa, la existente en Darwin y BKS.</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har char="•"/>
          </a:pP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har char="•"/>
          </a:pPr>
          <a:r>
            <a:rPr lang="es-ES" sz="1200" kern="1200">
              <a:solidFill>
                <a:srgbClr val="808080"/>
              </a:solidFill>
              <a:latin typeface="Arial" panose="020B0604020202020204" pitchFamily="34" charset="0"/>
              <a:ea typeface="+mn-ea"/>
              <a:cs typeface="Arial" panose="020B0604020202020204" pitchFamily="34" charset="0"/>
            </a:rPr>
            <a:t>Se incluye el token de firma cuando se llama al patrón de firma (OSS de servicios comunes), el servicio core que reciba la petición desde el canal debe comprobar dicho token volviendo a llamar al servicio OSS.</a:t>
          </a:r>
          <a:endParaRPr lang="es-ES" sz="1200" kern="1200" dirty="0">
            <a:solidFill>
              <a:srgbClr val="808080"/>
            </a:solidFill>
            <a:latin typeface="Arial" panose="020B0604020202020204" pitchFamily="34" charset="0"/>
            <a:ea typeface="+mn-ea"/>
            <a:cs typeface="Arial" panose="020B0604020202020204" pitchFamily="34" charset="0"/>
          </a:endParaRPr>
        </a:p>
        <a:p>
          <a:pPr marL="228600" lvl="2" indent="-114300" algn="l" defTabSz="533400">
            <a:lnSpc>
              <a:spcPct val="90000"/>
            </a:lnSpc>
            <a:spcBef>
              <a:spcPct val="0"/>
            </a:spcBef>
            <a:spcAft>
              <a:spcPct val="15000"/>
            </a:spcAft>
            <a:buChar char="•"/>
          </a:pP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har char="•"/>
          </a:pPr>
          <a:r>
            <a:rPr lang="es-ES" sz="1200" kern="1200">
              <a:solidFill>
                <a:srgbClr val="808080"/>
              </a:solidFill>
              <a:latin typeface="Arial" panose="020B0604020202020204" pitchFamily="34" charset="0"/>
              <a:ea typeface="+mn-ea"/>
              <a:cs typeface="Arial" panose="020B0604020202020204" pitchFamily="34" charset="0"/>
            </a:rPr>
            <a:t>Se invoca el micro de seguridad operativa CMC para comprobar que el usuario tiene el rol de firma del PaaS de Banca Electrónica.</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har char="•"/>
          </a:pP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har char="•"/>
          </a:pPr>
          <a:r>
            <a:rPr lang="es-ES" sz="1200" kern="1200">
              <a:solidFill>
                <a:srgbClr val="808080"/>
              </a:solidFill>
              <a:latin typeface="Arial" panose="020B0604020202020204" pitchFamily="34" charset="0"/>
              <a:ea typeface="+mn-ea"/>
              <a:cs typeface="Arial" panose="020B0604020202020204" pitchFamily="34" charset="0"/>
            </a:rPr>
            <a:t>Relativo al chatbot se debe incluir:</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har char="•"/>
          </a:pPr>
          <a:endParaRPr lang="es-ES" sz="1200" kern="1200" dirty="0">
            <a:solidFill>
              <a:srgbClr val="808080"/>
            </a:solidFill>
            <a:latin typeface="Arial" panose="020B0604020202020204" pitchFamily="34" charset="0"/>
            <a:ea typeface="+mn-ea"/>
            <a:cs typeface="Arial" panose="020B0604020202020204" pitchFamily="34" charset="0"/>
          </a:endParaRPr>
        </a:p>
        <a:p>
          <a:pPr marL="228600" lvl="2" indent="-114300" algn="l" defTabSz="533400">
            <a:lnSpc>
              <a:spcPct val="90000"/>
            </a:lnSpc>
            <a:spcBef>
              <a:spcPct val="0"/>
            </a:spcBef>
            <a:spcAft>
              <a:spcPct val="15000"/>
            </a:spcAft>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Al iniciar el chat, informar al no cliente que no comparta información sensible.</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har char="•"/>
          </a:pPr>
          <a:endParaRPr lang="es-ES" sz="1200" kern="1200" dirty="0">
            <a:solidFill>
              <a:srgbClr val="808080"/>
            </a:solidFill>
            <a:latin typeface="Arial" panose="020B0604020202020204" pitchFamily="34" charset="0"/>
            <a:ea typeface="+mn-ea"/>
            <a:cs typeface="Arial" panose="020B0604020202020204" pitchFamily="34" charset="0"/>
          </a:endParaRPr>
        </a:p>
        <a:p>
          <a:pPr marL="228600" lvl="2" indent="-114300" algn="l" defTabSz="533400">
            <a:lnSpc>
              <a:spcPct val="90000"/>
            </a:lnSpc>
            <a:spcBef>
              <a:spcPct val="0"/>
            </a:spcBef>
            <a:spcAft>
              <a:spcPct val="15000"/>
            </a:spcAft>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Como medida adicional, incluir reglas para ofuscar información sensible. </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SzPts val="1000"/>
            <a:buFont typeface="Symbol" panose="05050102010706020507" pitchFamily="18" charset="2"/>
            <a:buChar char=""/>
          </a:pPr>
          <a:endParaRPr lang="es-ES" sz="1200" kern="1200" dirty="0">
            <a:solidFill>
              <a:srgbClr val="808080"/>
            </a:solidFill>
            <a:latin typeface="Arial" panose="020B0604020202020204" pitchFamily="34" charset="0"/>
            <a:ea typeface="+mn-ea"/>
            <a:cs typeface="Arial" panose="020B0604020202020204" pitchFamily="34" charset="0"/>
          </a:endParaRPr>
        </a:p>
        <a:p>
          <a:pPr marL="228600" lvl="2" indent="-114300" algn="l" defTabSz="533400">
            <a:lnSpc>
              <a:spcPct val="90000"/>
            </a:lnSpc>
            <a:spcBef>
              <a:spcPct val="0"/>
            </a:spcBef>
            <a:spcAft>
              <a:spcPct val="15000"/>
            </a:spcAft>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Con respecto al asunto del acceso al backstage, para la creación de los chats y contenidos, los usuarios de Santander deberían conectarse con dicha plataforma a través de una integración con SSO. No obstante, tal y como indicáis en la reunión, no es posible debido a que actualmente se está utilizando una integración con usuarios propios de Inbenta para los chat privados existentes. Lo indico como punto de atención.</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SzPts val="1000"/>
            <a:buFont typeface="Symbol" panose="05050102010706020507" pitchFamily="18" charset="2"/>
            <a:buChar char=""/>
          </a:pP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El modelo de seguridad de el componente de Chatbot queda fuera de este diseño y se define en Ref3</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SzPts val="1000"/>
            <a:buFont typeface="Symbol" panose="05050102010706020507" pitchFamily="18" charset="2"/>
            <a:buNone/>
          </a:pP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lr>
              <a:schemeClr val="accent2"/>
            </a:buClr>
            <a:buSzPct val="100000"/>
            <a:buChar char="•"/>
          </a:pPr>
          <a:r>
            <a:rPr lang="es-ES" sz="1200" kern="1200">
              <a:solidFill>
                <a:srgbClr val="808080"/>
              </a:solidFill>
              <a:latin typeface="Arial" panose="020B0604020202020204" pitchFamily="34" charset="0"/>
              <a:ea typeface="+mn-ea"/>
              <a:cs typeface="Arial" panose="020B0604020202020204" pitchFamily="34" charset="0"/>
            </a:rPr>
            <a:t>Basada en la seguridad de acceso a S3 de CCC.</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622300">
            <a:lnSpc>
              <a:spcPct val="90000"/>
            </a:lnSpc>
            <a:spcBef>
              <a:spcPct val="0"/>
            </a:spcBef>
            <a:spcAft>
              <a:spcPct val="15000"/>
            </a:spcAft>
            <a:buChar char="•"/>
          </a:pPr>
          <a:endParaRPr lang="es-ES" sz="1400" kern="1200" dirty="0">
            <a:solidFill>
              <a:srgbClr val="808080"/>
            </a:solidFill>
            <a:latin typeface="Arial" panose="020B0604020202020204" pitchFamily="34" charset="0"/>
            <a:ea typeface="+mn-ea"/>
            <a:cs typeface="Arial" panose="020B0604020202020204" pitchFamily="34" charset="0"/>
          </a:endParaRPr>
        </a:p>
      </dsp:txBody>
      <dsp:txXfrm rot="-5400000">
        <a:off x="2537521" y="240698"/>
        <a:ext cx="7664172" cy="4442084"/>
      </dsp:txXfrm>
    </dsp:sp>
    <dsp:sp modelId="{1C578EC4-B958-489D-8921-FE9B3D64799A}">
      <dsp:nvSpPr>
        <dsp:cNvPr id="0" name=""/>
        <dsp:cNvSpPr/>
      </dsp:nvSpPr>
      <dsp:spPr>
        <a:xfrm>
          <a:off x="19187" y="2157760"/>
          <a:ext cx="2518333" cy="607959"/>
        </a:xfrm>
        <a:prstGeom prst="roundRect">
          <a:avLst/>
        </a:prstGeom>
        <a:solidFill>
          <a:srgbClr val="EB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 sz="1800" b="0" kern="1200">
              <a:latin typeface="Arial" panose="020B0604020202020204" pitchFamily="34" charset="0"/>
              <a:cs typeface="Arial" panose="020B0604020202020204" pitchFamily="34" charset="0"/>
            </a:rPr>
            <a:t>Seguridad Operativa</a:t>
          </a:r>
          <a:endParaRPr lang="es-ES" sz="1800" b="0" kern="1200" dirty="0">
            <a:latin typeface="Arial" panose="020B0604020202020204" pitchFamily="34" charset="0"/>
            <a:cs typeface="Arial" panose="020B0604020202020204" pitchFamily="34" charset="0"/>
          </a:endParaRPr>
        </a:p>
      </dsp:txBody>
      <dsp:txXfrm>
        <a:off x="48865" y="2187438"/>
        <a:ext cx="2458977" cy="548603"/>
      </dsp:txXfrm>
    </dsp:sp>
    <dsp:sp modelId="{88CD91F5-364A-4848-A4E4-15E14C8B70C1}">
      <dsp:nvSpPr>
        <dsp:cNvPr id="0" name=""/>
        <dsp:cNvSpPr/>
      </dsp:nvSpPr>
      <dsp:spPr>
        <a:xfrm rot="5400000">
          <a:off x="6255908" y="1344562"/>
          <a:ext cx="480354" cy="7912205"/>
        </a:xfrm>
        <a:prstGeom prst="round2SameRect">
          <a:avLst/>
        </a:prstGeom>
        <a:solidFill>
          <a:schemeClr val="bg1">
            <a:lumMod val="95000"/>
            <a:alpha val="90000"/>
          </a:schemeClr>
        </a:solidFill>
        <a:ln w="12700" cap="flat" cmpd="sng" algn="ctr">
          <a:solidFill>
            <a:schemeClr val="bg2">
              <a:lumMod val="90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s-ES" sz="1400" kern="1200">
              <a:solidFill>
                <a:srgbClr val="808080"/>
              </a:solidFill>
              <a:latin typeface="Arial" panose="020B0604020202020204" pitchFamily="34" charset="0"/>
              <a:cs typeface="Arial" panose="020B0604020202020204" pitchFamily="34" charset="0"/>
            </a:rPr>
            <a:t>Futuros Clientes y Personal de Backoffice.</a:t>
          </a:r>
          <a:endParaRPr lang="es-ES" sz="14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622300">
            <a:lnSpc>
              <a:spcPct val="90000"/>
            </a:lnSpc>
            <a:spcBef>
              <a:spcPct val="0"/>
            </a:spcBef>
            <a:spcAft>
              <a:spcPct val="15000"/>
            </a:spcAft>
            <a:buClr>
              <a:schemeClr val="accent2"/>
            </a:buClr>
            <a:buSzPct val="100000"/>
            <a:buChar char="•"/>
          </a:pPr>
          <a:r>
            <a:rPr lang="es-ES" sz="1400" kern="1200">
              <a:solidFill>
                <a:srgbClr val="808080"/>
              </a:solidFill>
              <a:latin typeface="Arial" panose="020B0604020202020204" pitchFamily="34" charset="0"/>
              <a:ea typeface="+mn-ea"/>
              <a:cs typeface="Arial" panose="020B0604020202020204" pitchFamily="34" charset="0"/>
            </a:rPr>
            <a:t>Usuario asignado a S3 creado por CCC.</a:t>
          </a:r>
          <a:endParaRPr lang="es-ES" sz="1400" kern="1200" dirty="0">
            <a:solidFill>
              <a:srgbClr val="808080"/>
            </a:solidFill>
            <a:latin typeface="Arial" panose="020B0604020202020204" pitchFamily="34" charset="0"/>
            <a:ea typeface="+mn-ea"/>
            <a:cs typeface="Arial" panose="020B0604020202020204" pitchFamily="34" charset="0"/>
          </a:endParaRPr>
        </a:p>
      </dsp:txBody>
      <dsp:txXfrm rot="-5400000">
        <a:off x="2539983" y="5083937"/>
        <a:ext cx="7888756" cy="433456"/>
      </dsp:txXfrm>
    </dsp:sp>
    <dsp:sp modelId="{668B995B-BD61-4CDA-8436-D36E8E88F4B1}">
      <dsp:nvSpPr>
        <dsp:cNvPr id="0" name=""/>
        <dsp:cNvSpPr/>
      </dsp:nvSpPr>
      <dsp:spPr>
        <a:xfrm>
          <a:off x="19187" y="5018236"/>
          <a:ext cx="2520795" cy="564857"/>
        </a:xfrm>
        <a:prstGeom prst="roundRect">
          <a:avLst/>
        </a:prstGeom>
        <a:solidFill>
          <a:srgbClr val="EB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 sz="1800" b="0" kern="1200">
              <a:latin typeface="Arial" panose="020B0604020202020204" pitchFamily="34" charset="0"/>
              <a:cs typeface="Arial" panose="020B0604020202020204" pitchFamily="34" charset="0"/>
            </a:rPr>
            <a:t>Usuarios</a:t>
          </a:r>
          <a:endParaRPr lang="es-ES" sz="1800" b="0" kern="1200" dirty="0">
            <a:latin typeface="Arial" panose="020B0604020202020204" pitchFamily="34" charset="0"/>
            <a:cs typeface="Arial" panose="020B0604020202020204" pitchFamily="34" charset="0"/>
          </a:endParaRPr>
        </a:p>
      </dsp:txBody>
      <dsp:txXfrm>
        <a:off x="46761" y="5045810"/>
        <a:ext cx="2465647" cy="5097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2546A7-3AF7-47A1-A580-C8AC2D643050}">
      <dsp:nvSpPr>
        <dsp:cNvPr id="0" name=""/>
        <dsp:cNvSpPr/>
      </dsp:nvSpPr>
      <dsp:spPr>
        <a:xfrm rot="5400000">
          <a:off x="6066150" y="-2367656"/>
          <a:ext cx="625788" cy="7769649"/>
        </a:xfrm>
        <a:prstGeom prst="round2SameRect">
          <a:avLst/>
        </a:prstGeom>
        <a:solidFill>
          <a:prstClr val="white">
            <a:lumMod val="95000"/>
            <a:alpha val="90000"/>
          </a:prstClr>
        </a:solidFill>
        <a:ln w="12700" cap="flat" cmpd="sng" algn="ctr">
          <a:solidFill>
            <a:srgbClr val="E7E6E6">
              <a:lumMod val="90000"/>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s-ES" sz="1400" kern="1200" dirty="0">
              <a:solidFill>
                <a:srgbClr val="808080"/>
              </a:solidFill>
              <a:latin typeface="Arial" panose="020B0604020202020204" pitchFamily="34" charset="0"/>
              <a:ea typeface="+mn-ea"/>
              <a:cs typeface="Arial" panose="020B0604020202020204" pitchFamily="34" charset="0"/>
            </a:rPr>
            <a:t>No existen procesos batch dentro del alcance del DTI</a:t>
          </a:r>
        </a:p>
      </dsp:txBody>
      <dsp:txXfrm rot="-5400000">
        <a:off x="2494220" y="1234822"/>
        <a:ext cx="7739101" cy="564692"/>
      </dsp:txXfrm>
    </dsp:sp>
    <dsp:sp modelId="{1C578EC4-B958-489D-8921-FE9B3D64799A}">
      <dsp:nvSpPr>
        <dsp:cNvPr id="0" name=""/>
        <dsp:cNvSpPr/>
      </dsp:nvSpPr>
      <dsp:spPr>
        <a:xfrm>
          <a:off x="18842" y="929630"/>
          <a:ext cx="2475377" cy="1175075"/>
        </a:xfrm>
        <a:prstGeom prst="roundRect">
          <a:avLst/>
        </a:prstGeom>
        <a:solidFill>
          <a:srgbClr val="EB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 sz="1800" b="0" kern="1200" dirty="0">
              <a:solidFill>
                <a:prstClr val="white"/>
              </a:solidFill>
              <a:latin typeface="Arial" panose="020B0604020202020204" pitchFamily="34" charset="0"/>
              <a:ea typeface="+mn-ea"/>
              <a:cs typeface="Arial" panose="020B0604020202020204" pitchFamily="34" charset="0"/>
            </a:rPr>
            <a:t>Procesos Batch</a:t>
          </a:r>
        </a:p>
      </dsp:txBody>
      <dsp:txXfrm>
        <a:off x="76204" y="986992"/>
        <a:ext cx="2360653" cy="1060351"/>
      </dsp:txXfrm>
    </dsp:sp>
    <dsp:sp modelId="{B3D3D25A-64EF-4AFA-AA9C-7B6B42375306}">
      <dsp:nvSpPr>
        <dsp:cNvPr id="0" name=""/>
        <dsp:cNvSpPr/>
      </dsp:nvSpPr>
      <dsp:spPr>
        <a:xfrm rot="5400000">
          <a:off x="5714789" y="-886240"/>
          <a:ext cx="1328509" cy="7769649"/>
        </a:xfrm>
        <a:prstGeom prst="round2SameRect">
          <a:avLst/>
        </a:prstGeom>
        <a:solidFill>
          <a:prstClr val="white">
            <a:lumMod val="95000"/>
            <a:alpha val="90000"/>
          </a:prstClr>
        </a:solidFill>
        <a:ln w="12700" cap="flat" cmpd="sng" algn="ctr">
          <a:solidFill>
            <a:srgbClr val="E7E6E6">
              <a:lumMod val="90000"/>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711200">
            <a:lnSpc>
              <a:spcPct val="90000"/>
            </a:lnSpc>
            <a:spcBef>
              <a:spcPct val="0"/>
            </a:spcBef>
            <a:spcAft>
              <a:spcPct val="15000"/>
            </a:spcAft>
            <a:buChar char="•"/>
          </a:pPr>
          <a:r>
            <a:rPr lang="es-ES" sz="1600" kern="1200" dirty="0">
              <a:solidFill>
                <a:srgbClr val="808080"/>
              </a:solidFill>
            </a:rPr>
            <a:t>La </a:t>
          </a:r>
          <a:r>
            <a:rPr lang="es-ES" sz="1400" kern="1200" dirty="0">
              <a:solidFill>
                <a:srgbClr val="808080"/>
              </a:solidFill>
              <a:latin typeface="Arial" panose="020B0604020202020204" pitchFamily="34" charset="0"/>
              <a:ea typeface="+mn-ea"/>
              <a:cs typeface="Arial" panose="020B0604020202020204" pitchFamily="34" charset="0"/>
            </a:rPr>
            <a:t>monitorización</a:t>
          </a:r>
          <a:r>
            <a:rPr lang="es-ES" sz="1600" kern="1200" dirty="0">
              <a:solidFill>
                <a:srgbClr val="808080"/>
              </a:solidFill>
            </a:rPr>
            <a:t> de la plataforma estará integrada dentro de la ya existente para la plataforma, a saber:  PaaS</a:t>
          </a:r>
          <a:endParaRPr lang="es-ES" sz="1600" kern="1200" dirty="0">
            <a:solidFill>
              <a:srgbClr val="808080"/>
            </a:solidFill>
            <a:latin typeface="Arial"/>
            <a:ea typeface="+mn-ea"/>
            <a:cs typeface="+mn-cs"/>
          </a:endParaRPr>
        </a:p>
        <a:p>
          <a:pPr marL="171450" lvl="1" indent="-171450" algn="just" defTabSz="711200">
            <a:lnSpc>
              <a:spcPct val="90000"/>
            </a:lnSpc>
            <a:spcBef>
              <a:spcPct val="0"/>
            </a:spcBef>
            <a:spcAft>
              <a:spcPct val="15000"/>
            </a:spcAft>
            <a:buChar char="•"/>
          </a:pPr>
          <a:r>
            <a:rPr lang="es-ES" sz="1600" kern="1200" dirty="0">
              <a:solidFill>
                <a:srgbClr val="808080"/>
              </a:solidFill>
              <a:latin typeface="Calibri" panose="020F0502020204030204"/>
              <a:ea typeface="+mn-ea"/>
              <a:cs typeface="+mn-cs"/>
            </a:rPr>
            <a:t>Para obtener las métricas de uso de los links a las herramientas se utilizará la funcionalidad de log técnicos y funcionales de Darwin</a:t>
          </a:r>
          <a:r>
            <a:rPr lang="es-ES" sz="1600" kern="1200" dirty="0">
              <a:solidFill>
                <a:srgbClr val="808080"/>
              </a:solidFill>
              <a:latin typeface="Arial"/>
              <a:ea typeface="+mn-ea"/>
              <a:cs typeface="+mn-cs"/>
            </a:rPr>
            <a:t>.</a:t>
          </a:r>
        </a:p>
      </dsp:txBody>
      <dsp:txXfrm rot="-5400000">
        <a:off x="2494219" y="2399182"/>
        <a:ext cx="7704797" cy="1198805"/>
      </dsp:txXfrm>
    </dsp:sp>
    <dsp:sp modelId="{CE61BC34-AE89-4263-95EA-209FF6CEBDB5}">
      <dsp:nvSpPr>
        <dsp:cNvPr id="0" name=""/>
        <dsp:cNvSpPr/>
      </dsp:nvSpPr>
      <dsp:spPr>
        <a:xfrm>
          <a:off x="18842" y="2439428"/>
          <a:ext cx="2475377" cy="1118312"/>
        </a:xfrm>
        <a:prstGeom prst="roundRect">
          <a:avLst/>
        </a:prstGeom>
        <a:solidFill>
          <a:srgbClr val="EB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 sz="1800" b="0" kern="1200" dirty="0">
              <a:solidFill>
                <a:prstClr val="white"/>
              </a:solidFill>
              <a:latin typeface="Arial" panose="020B0604020202020204" pitchFamily="34" charset="0"/>
              <a:ea typeface="+mn-ea"/>
              <a:cs typeface="Arial" panose="020B0604020202020204" pitchFamily="34" charset="0"/>
            </a:rPr>
            <a:t>Monitorización</a:t>
          </a:r>
        </a:p>
      </dsp:txBody>
      <dsp:txXfrm>
        <a:off x="73433" y="2494019"/>
        <a:ext cx="2366195" cy="100913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096EE82A-41D1-4151-B625-D73086965E86}" type="datetimeFigureOut">
              <a:rPr lang="es-ES" smtClean="0"/>
              <a:t>26/10/2023</a:t>
            </a:fld>
            <a:endParaRPr lang="es-ES"/>
          </a:p>
        </p:txBody>
      </p:sp>
      <p:sp>
        <p:nvSpPr>
          <p:cNvPr id="4" name="Marcador de pie de página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28FB01CC-32A8-4AF6-91AC-D5C2D20DF673}" type="slidenum">
              <a:rPr lang="es-ES" smtClean="0"/>
              <a:t>‹Nº›</a:t>
            </a:fld>
            <a:endParaRPr lang="es-ES"/>
          </a:p>
        </p:txBody>
      </p:sp>
    </p:spTree>
    <p:extLst>
      <p:ext uri="{BB962C8B-B14F-4D97-AF65-F5344CB8AC3E}">
        <p14:creationId xmlns:p14="http://schemas.microsoft.com/office/powerpoint/2010/main" val="11732104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FEC58AA0-786D-46D0-BDE2-C6B75AE58344}" type="datetimeFigureOut">
              <a:rPr lang="es-ES" smtClean="0"/>
              <a:t>26/10/2023</a:t>
            </a:fld>
            <a:endParaRPr lang="es-ES"/>
          </a:p>
        </p:txBody>
      </p:sp>
      <p:sp>
        <p:nvSpPr>
          <p:cNvPr id="4" name="Marcador de imagen de diapositiva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D6754B7D-73B6-4C66-8A54-D41D1352103D}" type="slidenum">
              <a:rPr lang="es-ES" smtClean="0"/>
              <a:t>‹Nº›</a:t>
            </a:fld>
            <a:endParaRPr lang="es-ES"/>
          </a:p>
        </p:txBody>
      </p:sp>
    </p:spTree>
    <p:extLst>
      <p:ext uri="{BB962C8B-B14F-4D97-AF65-F5344CB8AC3E}">
        <p14:creationId xmlns:p14="http://schemas.microsoft.com/office/powerpoint/2010/main" val="1437980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6754B7D-73B6-4C66-8A54-D41D1352103D}" type="slidenum">
              <a:rPr lang="es-ES" smtClean="0"/>
              <a:t>1</a:t>
            </a:fld>
            <a:endParaRPr lang="es-ES"/>
          </a:p>
        </p:txBody>
      </p:sp>
    </p:spTree>
    <p:extLst>
      <p:ext uri="{BB962C8B-B14F-4D97-AF65-F5344CB8AC3E}">
        <p14:creationId xmlns:p14="http://schemas.microsoft.com/office/powerpoint/2010/main" val="3067978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6754B7D-73B6-4C66-8A54-D41D1352103D}" type="slidenum">
              <a:rPr lang="es-ES" smtClean="0"/>
              <a:t>17</a:t>
            </a:fld>
            <a:endParaRPr lang="es-ES"/>
          </a:p>
        </p:txBody>
      </p:sp>
    </p:spTree>
    <p:extLst>
      <p:ext uri="{BB962C8B-B14F-4D97-AF65-F5344CB8AC3E}">
        <p14:creationId xmlns:p14="http://schemas.microsoft.com/office/powerpoint/2010/main" val="686313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23</a:t>
            </a:fld>
            <a:endParaRPr lang="es-ES" dirty="0"/>
          </a:p>
        </p:txBody>
      </p:sp>
    </p:spTree>
    <p:extLst>
      <p:ext uri="{BB962C8B-B14F-4D97-AF65-F5344CB8AC3E}">
        <p14:creationId xmlns:p14="http://schemas.microsoft.com/office/powerpoint/2010/main" val="2629187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24</a:t>
            </a:fld>
            <a:endParaRPr lang="es-ES" dirty="0"/>
          </a:p>
        </p:txBody>
      </p:sp>
    </p:spTree>
    <p:extLst>
      <p:ext uri="{BB962C8B-B14F-4D97-AF65-F5344CB8AC3E}">
        <p14:creationId xmlns:p14="http://schemas.microsoft.com/office/powerpoint/2010/main" val="653277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25</a:t>
            </a:fld>
            <a:endParaRPr lang="es-ES" dirty="0"/>
          </a:p>
        </p:txBody>
      </p:sp>
    </p:spTree>
    <p:extLst>
      <p:ext uri="{BB962C8B-B14F-4D97-AF65-F5344CB8AC3E}">
        <p14:creationId xmlns:p14="http://schemas.microsoft.com/office/powerpoint/2010/main" val="2257083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26</a:t>
            </a:fld>
            <a:endParaRPr lang="es-ES" dirty="0"/>
          </a:p>
        </p:txBody>
      </p:sp>
    </p:spTree>
    <p:extLst>
      <p:ext uri="{BB962C8B-B14F-4D97-AF65-F5344CB8AC3E}">
        <p14:creationId xmlns:p14="http://schemas.microsoft.com/office/powerpoint/2010/main" val="1769244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27</a:t>
            </a:fld>
            <a:endParaRPr lang="es-ES" dirty="0"/>
          </a:p>
        </p:txBody>
      </p:sp>
    </p:spTree>
    <p:extLst>
      <p:ext uri="{BB962C8B-B14F-4D97-AF65-F5344CB8AC3E}">
        <p14:creationId xmlns:p14="http://schemas.microsoft.com/office/powerpoint/2010/main" val="173436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28</a:t>
            </a:fld>
            <a:endParaRPr lang="es-ES" dirty="0"/>
          </a:p>
        </p:txBody>
      </p:sp>
    </p:spTree>
    <p:extLst>
      <p:ext uri="{BB962C8B-B14F-4D97-AF65-F5344CB8AC3E}">
        <p14:creationId xmlns:p14="http://schemas.microsoft.com/office/powerpoint/2010/main" val="38371805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29</a:t>
            </a:fld>
            <a:endParaRPr lang="es-ES" dirty="0"/>
          </a:p>
        </p:txBody>
      </p:sp>
    </p:spTree>
    <p:extLst>
      <p:ext uri="{BB962C8B-B14F-4D97-AF65-F5344CB8AC3E}">
        <p14:creationId xmlns:p14="http://schemas.microsoft.com/office/powerpoint/2010/main" val="3568739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978D618-BBD3-4FF5-9218-0E9FEB4B2F82}" type="slidenum">
              <a:rPr lang="es-ES" smtClean="0"/>
              <a:t>30</a:t>
            </a:fld>
            <a:endParaRPr lang="es-ES"/>
          </a:p>
        </p:txBody>
      </p:sp>
    </p:spTree>
    <p:extLst>
      <p:ext uri="{BB962C8B-B14F-4D97-AF65-F5344CB8AC3E}">
        <p14:creationId xmlns:p14="http://schemas.microsoft.com/office/powerpoint/2010/main" val="3824575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31</a:t>
            </a:fld>
            <a:endParaRPr lang="es-ES" dirty="0"/>
          </a:p>
        </p:txBody>
      </p:sp>
    </p:spTree>
    <p:extLst>
      <p:ext uri="{BB962C8B-B14F-4D97-AF65-F5344CB8AC3E}">
        <p14:creationId xmlns:p14="http://schemas.microsoft.com/office/powerpoint/2010/main" val="4246052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978D618-BBD3-4FF5-9218-0E9FEB4B2F82}" type="slidenum">
              <a:rPr lang="es-ES" smtClean="0"/>
              <a:t>32</a:t>
            </a:fld>
            <a:endParaRPr lang="es-ES"/>
          </a:p>
        </p:txBody>
      </p:sp>
    </p:spTree>
    <p:extLst>
      <p:ext uri="{BB962C8B-B14F-4D97-AF65-F5344CB8AC3E}">
        <p14:creationId xmlns:p14="http://schemas.microsoft.com/office/powerpoint/2010/main" val="1205360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2116008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1506102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19634144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10544460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3730328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42295502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38150" y="1235075"/>
            <a:ext cx="5921375" cy="333057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52</a:t>
            </a:fld>
            <a:endParaRPr lang="es-ES" dirty="0"/>
          </a:p>
        </p:txBody>
      </p:sp>
    </p:spTree>
    <p:extLst>
      <p:ext uri="{BB962C8B-B14F-4D97-AF65-F5344CB8AC3E}">
        <p14:creationId xmlns:p14="http://schemas.microsoft.com/office/powerpoint/2010/main" val="26058826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38150" y="1235075"/>
            <a:ext cx="5921375" cy="333057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53</a:t>
            </a:fld>
            <a:endParaRPr lang="es-ES" dirty="0"/>
          </a:p>
        </p:txBody>
      </p:sp>
    </p:spTree>
    <p:extLst>
      <p:ext uri="{BB962C8B-B14F-4D97-AF65-F5344CB8AC3E}">
        <p14:creationId xmlns:p14="http://schemas.microsoft.com/office/powerpoint/2010/main" val="22861718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38150" y="1235075"/>
            <a:ext cx="5921375" cy="333057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54</a:t>
            </a:fld>
            <a:endParaRPr lang="es-ES" dirty="0"/>
          </a:p>
        </p:txBody>
      </p:sp>
    </p:spTree>
    <p:extLst>
      <p:ext uri="{BB962C8B-B14F-4D97-AF65-F5344CB8AC3E}">
        <p14:creationId xmlns:p14="http://schemas.microsoft.com/office/powerpoint/2010/main" val="34309221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55</a:t>
            </a:fld>
            <a:endParaRPr lang="es-ES" dirty="0"/>
          </a:p>
        </p:txBody>
      </p:sp>
    </p:spTree>
    <p:extLst>
      <p:ext uri="{BB962C8B-B14F-4D97-AF65-F5344CB8AC3E}">
        <p14:creationId xmlns:p14="http://schemas.microsoft.com/office/powerpoint/2010/main" val="1898376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57</a:t>
            </a:fld>
            <a:endParaRPr lang="es-ES" dirty="0"/>
          </a:p>
        </p:txBody>
      </p:sp>
    </p:spTree>
    <p:extLst>
      <p:ext uri="{BB962C8B-B14F-4D97-AF65-F5344CB8AC3E}">
        <p14:creationId xmlns:p14="http://schemas.microsoft.com/office/powerpoint/2010/main" val="9132944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59</a:t>
            </a:fld>
            <a:endParaRPr lang="es-ES" dirty="0"/>
          </a:p>
        </p:txBody>
      </p:sp>
    </p:spTree>
    <p:extLst>
      <p:ext uri="{BB962C8B-B14F-4D97-AF65-F5344CB8AC3E}">
        <p14:creationId xmlns:p14="http://schemas.microsoft.com/office/powerpoint/2010/main" val="29410522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60</a:t>
            </a:fld>
            <a:endParaRPr lang="es-ES" dirty="0"/>
          </a:p>
        </p:txBody>
      </p:sp>
    </p:spTree>
    <p:extLst>
      <p:ext uri="{BB962C8B-B14F-4D97-AF65-F5344CB8AC3E}">
        <p14:creationId xmlns:p14="http://schemas.microsoft.com/office/powerpoint/2010/main" val="150989873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3.sv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0.sv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9.sv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1.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Interior texto a una columna">
    <p:spTree>
      <p:nvGrpSpPr>
        <p:cNvPr id="1" name=""/>
        <p:cNvGrpSpPr/>
        <p:nvPr/>
      </p:nvGrpSpPr>
      <p:grpSpPr>
        <a:xfrm>
          <a:off x="0" y="0"/>
          <a:ext cx="0" cy="0"/>
          <a:chOff x="0" y="0"/>
          <a:chExt cx="0" cy="0"/>
        </a:xfrm>
      </p:grpSpPr>
      <p:sp>
        <p:nvSpPr>
          <p:cNvPr id="55" name="CuadroTexto 54">
            <a:extLst>
              <a:ext uri="{FF2B5EF4-FFF2-40B4-BE49-F238E27FC236}">
                <a16:creationId xmlns:a16="http://schemas.microsoft.com/office/drawing/2014/main" id="{5F4CF10F-7D6D-476F-A4FC-D2A2F55D1DAC}"/>
              </a:ext>
            </a:extLst>
          </p:cNvPr>
          <p:cNvSpPr txBox="1"/>
          <p:nvPr userDrawn="1"/>
        </p:nvSpPr>
        <p:spPr>
          <a:xfrm>
            <a:off x="719288" y="1945649"/>
            <a:ext cx="3365478" cy="1169551"/>
          </a:xfrm>
          <a:prstGeom prst="rect">
            <a:avLst/>
          </a:prstGeom>
          <a:noFill/>
        </p:spPr>
        <p:txBody>
          <a:bodyPr wrap="square" rtlCol="0">
            <a:spAutoFit/>
          </a:bodyPr>
          <a:lstStyle/>
          <a:p>
            <a:r>
              <a:rPr lang="es-ES" sz="1400" dirty="0">
                <a:solidFill>
                  <a:srgbClr val="6E7678"/>
                </a:solidFill>
                <a:latin typeface="Arial"/>
              </a:rPr>
              <a:t>Nuestro propósito es ayudar a personas y empresas a prosperar.</a:t>
            </a:r>
          </a:p>
          <a:p>
            <a:endParaRPr lang="es-ES" sz="1400" dirty="0">
              <a:solidFill>
                <a:srgbClr val="6E7678"/>
              </a:solidFill>
              <a:latin typeface="Arial"/>
            </a:endParaRPr>
          </a:p>
          <a:p>
            <a:r>
              <a:rPr lang="es-ES" sz="1400" dirty="0">
                <a:solidFill>
                  <a:srgbClr val="6E7678"/>
                </a:solidFill>
                <a:latin typeface="Arial"/>
              </a:rPr>
              <a:t>Nuestra cultura se basa en la creencia de que todo lo que hacemos debe ser</a:t>
            </a:r>
          </a:p>
        </p:txBody>
      </p:sp>
      <p:pic>
        <p:nvPicPr>
          <p:cNvPr id="56" name="Gráfico 55">
            <a:extLst>
              <a:ext uri="{FF2B5EF4-FFF2-40B4-BE49-F238E27FC236}">
                <a16:creationId xmlns:a16="http://schemas.microsoft.com/office/drawing/2014/main" id="{4BD74DA5-DDE3-4A9C-93B1-4A4D8AD728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9150" y="3461863"/>
            <a:ext cx="2790825" cy="202298"/>
          </a:xfrm>
          <a:prstGeom prst="rect">
            <a:avLst/>
          </a:prstGeom>
        </p:spPr>
      </p:pic>
      <p:sp>
        <p:nvSpPr>
          <p:cNvPr id="57" name="CuadroTexto 56">
            <a:extLst>
              <a:ext uri="{FF2B5EF4-FFF2-40B4-BE49-F238E27FC236}">
                <a16:creationId xmlns:a16="http://schemas.microsoft.com/office/drawing/2014/main" id="{C14DCBE2-DB15-48E1-A627-82882DB55B96}"/>
              </a:ext>
            </a:extLst>
          </p:cNvPr>
          <p:cNvSpPr txBox="1"/>
          <p:nvPr userDrawn="1"/>
        </p:nvSpPr>
        <p:spPr>
          <a:xfrm>
            <a:off x="719288" y="678282"/>
            <a:ext cx="3365478" cy="707886"/>
          </a:xfrm>
          <a:prstGeom prst="rect">
            <a:avLst/>
          </a:prstGeom>
          <a:noFill/>
        </p:spPr>
        <p:txBody>
          <a:bodyPr wrap="square" rtlCol="0">
            <a:spAutoFit/>
          </a:bodyPr>
          <a:lstStyle/>
          <a:p>
            <a:r>
              <a:rPr lang="es-ES" sz="4000" dirty="0">
                <a:solidFill>
                  <a:srgbClr val="EB0000"/>
                </a:solidFill>
                <a:latin typeface="Arial"/>
              </a:rPr>
              <a:t>Gracias.</a:t>
            </a:r>
          </a:p>
        </p:txBody>
      </p:sp>
      <p:pic>
        <p:nvPicPr>
          <p:cNvPr id="7" name="Picture 2" descr="Resultado de imagen de DJSI Member Log">
            <a:extLst>
              <a:ext uri="{FF2B5EF4-FFF2-40B4-BE49-F238E27FC236}">
                <a16:creationId xmlns:a16="http://schemas.microsoft.com/office/drawing/2014/main" id="{48981B97-0080-44FB-808D-3CFEF86F5205}"/>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5796918" y="5573143"/>
            <a:ext cx="1347482"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upo 7">
            <a:extLst>
              <a:ext uri="{FF2B5EF4-FFF2-40B4-BE49-F238E27FC236}">
                <a16:creationId xmlns:a16="http://schemas.microsoft.com/office/drawing/2014/main" id="{1D8B4074-251C-4BBA-97A9-8D687E1D6371}"/>
              </a:ext>
            </a:extLst>
          </p:cNvPr>
          <p:cNvGrpSpPr/>
          <p:nvPr userDrawn="1"/>
        </p:nvGrpSpPr>
        <p:grpSpPr>
          <a:xfrm>
            <a:off x="7612559" y="5573576"/>
            <a:ext cx="578707" cy="455017"/>
            <a:chOff x="2203451" y="-4230356"/>
            <a:chExt cx="6896100" cy="5422158"/>
          </a:xfrm>
        </p:grpSpPr>
        <p:pic>
          <p:nvPicPr>
            <p:cNvPr id="9" name="Imagen 8" descr="Imagen relacionada">
              <a:extLst>
                <a:ext uri="{FF2B5EF4-FFF2-40B4-BE49-F238E27FC236}">
                  <a16:creationId xmlns:a16="http://schemas.microsoft.com/office/drawing/2014/main" id="{F690BBB2-F364-4355-AAD7-E25B1142F713}"/>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l="22544" t="3352" r="22378" b="28229"/>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10" name="Imagen 9" descr="Imagen relacionada">
              <a:extLst>
                <a:ext uri="{FF2B5EF4-FFF2-40B4-BE49-F238E27FC236}">
                  <a16:creationId xmlns:a16="http://schemas.microsoft.com/office/drawing/2014/main" id="{496879A2-7D19-44E0-A2DD-23FFB7461722}"/>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t="78757"/>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12" name="Forma libre: forma 11">
            <a:extLst>
              <a:ext uri="{FF2B5EF4-FFF2-40B4-BE49-F238E27FC236}">
                <a16:creationId xmlns:a16="http://schemas.microsoft.com/office/drawing/2014/main" id="{7DAE9136-8074-44BA-B0DE-9BD1DBCA1AF2}"/>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pic>
        <p:nvPicPr>
          <p:cNvPr id="13" name="Imagen 12">
            <a:extLst>
              <a:ext uri="{FF2B5EF4-FFF2-40B4-BE49-F238E27FC236}">
                <a16:creationId xmlns:a16="http://schemas.microsoft.com/office/drawing/2014/main" id="{6C9F6EB5-61B0-42B3-850A-B8EC6141B327}"/>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370936" y="5460275"/>
            <a:ext cx="2437890" cy="1105555"/>
          </a:xfrm>
          <a:prstGeom prst="rect">
            <a:avLst/>
          </a:prstGeom>
        </p:spPr>
      </p:pic>
      <p:pic>
        <p:nvPicPr>
          <p:cNvPr id="15" name="Gráfico 14">
            <a:extLst>
              <a:ext uri="{FF2B5EF4-FFF2-40B4-BE49-F238E27FC236}">
                <a16:creationId xmlns:a16="http://schemas.microsoft.com/office/drawing/2014/main" id="{8DCFD48B-50BC-447B-AD2C-20E0AF267E5C}"/>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821978" y="5727401"/>
            <a:ext cx="1896592" cy="332588"/>
          </a:xfrm>
          <a:prstGeom prst="rect">
            <a:avLst/>
          </a:prstGeom>
        </p:spPr>
      </p:pic>
    </p:spTree>
    <p:extLst>
      <p:ext uri="{BB962C8B-B14F-4D97-AF65-F5344CB8AC3E}">
        <p14:creationId xmlns:p14="http://schemas.microsoft.com/office/powerpoint/2010/main" val="5931352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915">
          <p15:clr>
            <a:srgbClr val="FBAE40"/>
          </p15:clr>
        </p15:guide>
        <p15:guide id="4" orient="horz" pos="785">
          <p15:clr>
            <a:srgbClr val="FBAE40"/>
          </p15:clr>
        </p15:guide>
        <p15:guide id="5" orient="horz" pos="562">
          <p15:clr>
            <a:srgbClr val="FBAE40"/>
          </p15:clr>
        </p15:guide>
        <p15:guide id="6" orient="horz" pos="543">
          <p15:clr>
            <a:srgbClr val="FBAE40"/>
          </p15:clr>
        </p15:guide>
        <p15:guide id="7" orient="horz" pos="1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A14D1A53-DB21-48B5-BB03-BBF49252D04F}"/>
              </a:ext>
            </a:extLst>
          </p:cNvPr>
          <p:cNvSpPr>
            <a:spLocks noGrp="1"/>
          </p:cNvSpPr>
          <p:nvPr>
            <p:ph type="body" sz="quarter" idx="12" hasCustomPrompt="1"/>
          </p:nvPr>
        </p:nvSpPr>
        <p:spPr>
          <a:xfrm>
            <a:off x="653142" y="328774"/>
            <a:ext cx="10833365" cy="318498"/>
          </a:xfrm>
          <a:prstGeom prst="rect">
            <a:avLst/>
          </a:prstGeom>
        </p:spPr>
        <p:txBody>
          <a:bodyPr>
            <a:normAutofit/>
          </a:bodyPr>
          <a:lstStyle>
            <a:lvl1pPr marL="0" indent="0">
              <a:buFontTx/>
              <a:buNone/>
              <a:defRPr sz="1300" b="1" baseline="0">
                <a:solidFill>
                  <a:srgbClr val="EB0000"/>
                </a:solidFill>
                <a:latin typeface="Arial cuerpo"/>
                <a:ea typeface="Segoe UI" panose="020B0502040204020203" pitchFamily="34" charset="0"/>
                <a:cs typeface="Segoe UI" panose="020B0502040204020203" pitchFamily="34" charset="0"/>
              </a:defRPr>
            </a:lvl1pPr>
            <a:lvl2pPr marL="457200" indent="0">
              <a:buFontTx/>
              <a:buNone/>
              <a:defRPr sz="3200">
                <a:solidFill>
                  <a:srgbClr val="FF0000"/>
                </a:solidFill>
              </a:defRPr>
            </a:lvl2pPr>
            <a:lvl3pPr marL="914400" indent="0">
              <a:buFontTx/>
              <a:buNone/>
              <a:defRPr sz="3200">
                <a:solidFill>
                  <a:srgbClr val="FF0000"/>
                </a:solidFill>
              </a:defRPr>
            </a:lvl3pPr>
            <a:lvl4pPr marL="1371600" indent="0">
              <a:buFontTx/>
              <a:buNone/>
              <a:defRPr sz="3200">
                <a:solidFill>
                  <a:srgbClr val="FF0000"/>
                </a:solidFill>
              </a:defRPr>
            </a:lvl4pPr>
            <a:lvl5pPr marL="1828800" indent="0">
              <a:buFontTx/>
              <a:buNone/>
              <a:defRPr sz="3200">
                <a:solidFill>
                  <a:srgbClr val="FF0000"/>
                </a:solidFill>
              </a:defRPr>
            </a:lvl5pPr>
          </a:lstStyle>
          <a:p>
            <a:pPr lvl="0"/>
            <a:r>
              <a:rPr lang="es-ES" dirty="0"/>
              <a:t>Clic para editar el título</a:t>
            </a:r>
          </a:p>
        </p:txBody>
      </p:sp>
      <p:sp>
        <p:nvSpPr>
          <p:cNvPr id="5" name="Text Placeholder 2">
            <a:extLst>
              <a:ext uri="{FF2B5EF4-FFF2-40B4-BE49-F238E27FC236}">
                <a16:creationId xmlns:a16="http://schemas.microsoft.com/office/drawing/2014/main" id="{4C04B1C7-E8FC-4FB8-AFA5-8A56F22D39FA}"/>
              </a:ext>
            </a:extLst>
          </p:cNvPr>
          <p:cNvSpPr>
            <a:spLocks noGrp="1"/>
          </p:cNvSpPr>
          <p:nvPr>
            <p:ph type="body" idx="13"/>
          </p:nvPr>
        </p:nvSpPr>
        <p:spPr>
          <a:xfrm>
            <a:off x="653141" y="740515"/>
            <a:ext cx="10833365" cy="276627"/>
          </a:xfrm>
          <a:prstGeom prst="rect">
            <a:avLst/>
          </a:prstGeom>
        </p:spPr>
        <p:txBody>
          <a:bodyPr anchor="t" anchorCtr="0">
            <a:normAutofit/>
          </a:bodyPr>
          <a:lstStyle>
            <a:lvl1pPr marL="0" indent="0">
              <a:buFontTx/>
              <a:buNone/>
              <a:defRPr lang="es-ES" sz="1200" i="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182563" lvl="0" indent="-182563">
              <a:lnSpc>
                <a:spcPct val="100000"/>
              </a:lnSpc>
              <a:spcBef>
                <a:spcPts val="1800"/>
              </a:spcBef>
              <a:buClr>
                <a:srgbClr val="FF0000"/>
              </a:buClr>
            </a:pPr>
            <a:r>
              <a:rPr lang="es-ES" dirty="0"/>
              <a:t>Clic para modificar el </a:t>
            </a:r>
            <a:r>
              <a:rPr lang="es-ES" dirty="0" err="1"/>
              <a:t>subt</a:t>
            </a:r>
            <a:r>
              <a:rPr lang="es-ES_tradnl" dirty="0" err="1"/>
              <a:t>ítulo</a:t>
            </a:r>
            <a:endParaRPr lang="es-ES" dirty="0"/>
          </a:p>
        </p:txBody>
      </p:sp>
      <p:pic>
        <p:nvPicPr>
          <p:cNvPr id="11" name="Gráfico 10">
            <a:extLst>
              <a:ext uri="{FF2B5EF4-FFF2-40B4-BE49-F238E27FC236}">
                <a16:creationId xmlns:a16="http://schemas.microsoft.com/office/drawing/2014/main" id="{58FD8E39-4FAF-42D2-B3BB-3D047A163F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2" name="Rectángulo 11">
            <a:extLst>
              <a:ext uri="{FF2B5EF4-FFF2-40B4-BE49-F238E27FC236}">
                <a16:creationId xmlns:a16="http://schemas.microsoft.com/office/drawing/2014/main" id="{9A1ACFD4-FAD7-43E3-A361-DBED1656301E}"/>
              </a:ext>
            </a:extLst>
          </p:cNvPr>
          <p:cNvSpPr/>
          <p:nvPr userDrawn="1"/>
        </p:nvSpPr>
        <p:spPr>
          <a:xfrm>
            <a:off x="0" y="6564052"/>
            <a:ext cx="12192000" cy="293948"/>
          </a:xfrm>
          <a:prstGeom prst="rect">
            <a:avLst/>
          </a:pr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sp>
        <p:nvSpPr>
          <p:cNvPr id="13" name="Rectángulo 12">
            <a:extLst>
              <a:ext uri="{FF2B5EF4-FFF2-40B4-BE49-F238E27FC236}">
                <a16:creationId xmlns:a16="http://schemas.microsoft.com/office/drawing/2014/main" id="{9CEC8621-9090-48FF-8CA6-33CA4FA03599}"/>
              </a:ext>
            </a:extLst>
          </p:cNvPr>
          <p:cNvSpPr/>
          <p:nvPr userDrawn="1"/>
        </p:nvSpPr>
        <p:spPr>
          <a:xfrm>
            <a:off x="9605554" y="6228355"/>
            <a:ext cx="2586446" cy="354452"/>
          </a:xfrm>
          <a:prstGeom prst="rect">
            <a:avLst/>
          </a:pr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sp>
        <p:nvSpPr>
          <p:cNvPr id="14" name="Marcador de número de diapositiva 21">
            <a:extLst>
              <a:ext uri="{FF2B5EF4-FFF2-40B4-BE49-F238E27FC236}">
                <a16:creationId xmlns:a16="http://schemas.microsoft.com/office/drawing/2014/main" id="{9501E68B-BF38-4BC4-9FE8-A32FB22284AA}"/>
              </a:ext>
            </a:extLst>
          </p:cNvPr>
          <p:cNvSpPr txBox="1">
            <a:spLocks/>
          </p:cNvSpPr>
          <p:nvPr userDrawn="1"/>
        </p:nvSpPr>
        <p:spPr>
          <a:xfrm>
            <a:off x="9605553" y="6241991"/>
            <a:ext cx="637904"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bg1">
                    <a:lumMod val="8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0D97B6-E32F-4D7D-B839-7C3B51F2640F}" type="slidenum">
              <a:rPr lang="es-ES" smtClean="0">
                <a:solidFill>
                  <a:prstClr val="white">
                    <a:lumMod val="85000"/>
                  </a:prstClr>
                </a:solidFill>
                <a:latin typeface="Arial"/>
              </a:rPr>
              <a:pPr/>
              <a:t>‹Nº›</a:t>
            </a:fld>
            <a:endParaRPr lang="es-ES">
              <a:solidFill>
                <a:prstClr val="white">
                  <a:lumMod val="85000"/>
                </a:prstClr>
              </a:solidFill>
              <a:latin typeface="Arial"/>
            </a:endParaRPr>
          </a:p>
        </p:txBody>
      </p:sp>
      <p:pic>
        <p:nvPicPr>
          <p:cNvPr id="15" name="Imagen 14">
            <a:extLst>
              <a:ext uri="{FF2B5EF4-FFF2-40B4-BE49-F238E27FC236}">
                <a16:creationId xmlns:a16="http://schemas.microsoft.com/office/drawing/2014/main" id="{AABFB902-AC18-4043-AB2F-35AB0E22096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3352321643"/>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Null_2">
    <p:spTree>
      <p:nvGrpSpPr>
        <p:cNvPr id="1" name=""/>
        <p:cNvGrpSpPr/>
        <p:nvPr/>
      </p:nvGrpSpPr>
      <p:grpSpPr>
        <a:xfrm>
          <a:off x="0" y="0"/>
          <a:ext cx="0" cy="0"/>
          <a:chOff x="0" y="0"/>
          <a:chExt cx="0" cy="0"/>
        </a:xfrm>
      </p:grpSpPr>
      <p:sp>
        <p:nvSpPr>
          <p:cNvPr id="2" name="Marcador de texto 3"/>
          <p:cNvSpPr>
            <a:spLocks noGrp="1"/>
          </p:cNvSpPr>
          <p:nvPr>
            <p:ph type="body" sz="quarter" idx="12" hasCustomPrompt="1"/>
          </p:nvPr>
        </p:nvSpPr>
        <p:spPr>
          <a:xfrm>
            <a:off x="653142" y="328774"/>
            <a:ext cx="10833365" cy="318498"/>
          </a:xfrm>
          <a:prstGeom prst="rect">
            <a:avLst/>
          </a:prstGeom>
        </p:spPr>
        <p:txBody>
          <a:bodyPr>
            <a:normAutofit/>
          </a:bodyPr>
          <a:lstStyle>
            <a:lvl1pPr marL="0" indent="0">
              <a:buFontTx/>
              <a:buNone/>
              <a:defRPr sz="1300" b="1" baseline="0">
                <a:solidFill>
                  <a:srgbClr val="EB0000"/>
                </a:solidFill>
                <a:latin typeface="Arial cuerpo"/>
                <a:ea typeface="Segoe UI" panose="020B0502040204020203" pitchFamily="34" charset="0"/>
                <a:cs typeface="Segoe UI" panose="020B0502040204020203" pitchFamily="34" charset="0"/>
              </a:defRPr>
            </a:lvl1pPr>
            <a:lvl2pPr marL="457200" indent="0">
              <a:buFontTx/>
              <a:buNone/>
              <a:defRPr sz="3200">
                <a:solidFill>
                  <a:srgbClr val="FF0000"/>
                </a:solidFill>
              </a:defRPr>
            </a:lvl2pPr>
            <a:lvl3pPr marL="914400" indent="0">
              <a:buFontTx/>
              <a:buNone/>
              <a:defRPr sz="3200">
                <a:solidFill>
                  <a:srgbClr val="FF0000"/>
                </a:solidFill>
              </a:defRPr>
            </a:lvl3pPr>
            <a:lvl4pPr marL="1371600" indent="0">
              <a:buFontTx/>
              <a:buNone/>
              <a:defRPr sz="3200">
                <a:solidFill>
                  <a:srgbClr val="FF0000"/>
                </a:solidFill>
              </a:defRPr>
            </a:lvl4pPr>
            <a:lvl5pPr marL="1828800" indent="0">
              <a:buFontTx/>
              <a:buNone/>
              <a:defRPr sz="3200">
                <a:solidFill>
                  <a:srgbClr val="FF0000"/>
                </a:solidFill>
              </a:defRPr>
            </a:lvl5pPr>
          </a:lstStyle>
          <a:p>
            <a:pPr lvl="0"/>
            <a:r>
              <a:rPr lang="es-ES" dirty="0"/>
              <a:t>Clic para editar el título</a:t>
            </a:r>
          </a:p>
        </p:txBody>
      </p:sp>
      <p:sp>
        <p:nvSpPr>
          <p:cNvPr id="4" name="Text Placeholder 2"/>
          <p:cNvSpPr>
            <a:spLocks noGrp="1"/>
          </p:cNvSpPr>
          <p:nvPr>
            <p:ph type="body" idx="13"/>
          </p:nvPr>
        </p:nvSpPr>
        <p:spPr>
          <a:xfrm>
            <a:off x="653141" y="740515"/>
            <a:ext cx="10833365" cy="276627"/>
          </a:xfrm>
          <a:prstGeom prst="rect">
            <a:avLst/>
          </a:prstGeom>
        </p:spPr>
        <p:txBody>
          <a:bodyPr anchor="t" anchorCtr="0">
            <a:normAutofit/>
          </a:bodyPr>
          <a:lstStyle>
            <a:lvl1pPr marL="0" indent="0">
              <a:buFontTx/>
              <a:buNone/>
              <a:defRPr lang="es-ES" sz="1200" i="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182563" lvl="0" indent="-182563">
              <a:lnSpc>
                <a:spcPct val="100000"/>
              </a:lnSpc>
              <a:spcBef>
                <a:spcPts val="1800"/>
              </a:spcBef>
              <a:buClr>
                <a:srgbClr val="FF0000"/>
              </a:buClr>
            </a:pPr>
            <a:r>
              <a:rPr lang="es-ES" dirty="0"/>
              <a:t>Clic para modificar el </a:t>
            </a:r>
            <a:r>
              <a:rPr lang="es-ES" dirty="0" err="1"/>
              <a:t>subt</a:t>
            </a:r>
            <a:r>
              <a:rPr lang="es-ES_tradnl" dirty="0" err="1"/>
              <a:t>ítulo</a:t>
            </a:r>
            <a:endParaRPr lang="es-ES" dirty="0"/>
          </a:p>
        </p:txBody>
      </p:sp>
      <p:sp>
        <p:nvSpPr>
          <p:cNvPr id="5" name="Shape 172"/>
          <p:cNvSpPr>
            <a:spLocks noGrp="1"/>
          </p:cNvSpPr>
          <p:nvPr>
            <p:ph type="body" sz="quarter" idx="1" hasCustomPrompt="1"/>
          </p:nvPr>
        </p:nvSpPr>
        <p:spPr>
          <a:xfrm>
            <a:off x="653143" y="1266092"/>
            <a:ext cx="10833363" cy="4682532"/>
          </a:xfrm>
          <a:prstGeom prst="rect">
            <a:avLst/>
          </a:prstGeom>
        </p:spPr>
        <p:txBody>
          <a:bodyPr>
            <a:normAutofit/>
          </a:bodyPr>
          <a:lstStyle>
            <a:lvl1pPr marL="0" marR="0" indent="0" algn="just" defTabSz="868680" rtl="0" eaLnBrk="1" fontAlgn="auto" latinLnBrk="0" hangingPunct="1">
              <a:lnSpc>
                <a:spcPct val="110000"/>
              </a:lnSpc>
              <a:spcBef>
                <a:spcPts val="900"/>
              </a:spcBef>
              <a:spcAft>
                <a:spcPts val="0"/>
              </a:spcAft>
              <a:buClrTx/>
              <a:buSzTx/>
              <a:buFont typeface="Arial" panose="020B0604020202020204" pitchFamily="34" charset="0"/>
              <a:buNone/>
              <a:tabLst/>
              <a:defRPr sz="1200" baseline="0">
                <a:solidFill>
                  <a:schemeClr val="tx1">
                    <a:lumMod val="50000"/>
                    <a:lumOff val="50000"/>
                  </a:schemeClr>
                </a:solidFill>
                <a:latin typeface="Arial cuerpo"/>
              </a:defRPr>
            </a:lvl1pPr>
          </a:lstStyle>
          <a:p>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Suspendisse</a:t>
            </a:r>
            <a:r>
              <a:rPr lang="es-ES" dirty="0"/>
              <a:t> </a:t>
            </a:r>
            <a:r>
              <a:rPr lang="es-ES" dirty="0" err="1"/>
              <a:t>eleifend</a:t>
            </a:r>
            <a:r>
              <a:rPr lang="es-ES" dirty="0"/>
              <a:t> leo ut </a:t>
            </a:r>
            <a:r>
              <a:rPr lang="es-ES" dirty="0" err="1"/>
              <a:t>lectus</a:t>
            </a:r>
            <a:r>
              <a:rPr lang="es-ES" dirty="0"/>
              <a:t> </a:t>
            </a:r>
            <a:r>
              <a:rPr lang="es-ES" dirty="0" err="1"/>
              <a:t>rhoncus</a:t>
            </a:r>
            <a:r>
              <a:rPr lang="es-ES" dirty="0"/>
              <a:t> </a:t>
            </a:r>
            <a:r>
              <a:rPr lang="es-ES" dirty="0" err="1"/>
              <a:t>posuere</a:t>
            </a:r>
            <a:r>
              <a:rPr lang="es-ES" dirty="0"/>
              <a:t>. </a:t>
            </a:r>
            <a:r>
              <a:rPr lang="es-ES" dirty="0" err="1"/>
              <a:t>Cras</a:t>
            </a:r>
            <a:r>
              <a:rPr lang="es-ES" dirty="0"/>
              <a:t> </a:t>
            </a:r>
            <a:r>
              <a:rPr lang="es-ES" dirty="0" err="1"/>
              <a:t>ac</a:t>
            </a:r>
            <a:r>
              <a:rPr lang="es-ES" dirty="0"/>
              <a:t> </a:t>
            </a:r>
            <a:r>
              <a:rPr lang="es-ES" dirty="0" err="1"/>
              <a:t>accumsan</a:t>
            </a:r>
            <a:r>
              <a:rPr lang="es-ES" dirty="0"/>
              <a:t> dolor. </a:t>
            </a:r>
            <a:r>
              <a:rPr lang="es-ES" dirty="0" err="1"/>
              <a:t>Etiam</a:t>
            </a:r>
            <a:r>
              <a:rPr lang="es-ES" dirty="0"/>
              <a:t> </a:t>
            </a:r>
            <a:r>
              <a:rPr lang="es-ES" dirty="0" err="1"/>
              <a:t>consectetur</a:t>
            </a:r>
            <a:r>
              <a:rPr lang="es-ES" dirty="0"/>
              <a:t>, </a:t>
            </a:r>
            <a:r>
              <a:rPr lang="es-ES" dirty="0" err="1"/>
              <a:t>nibh</a:t>
            </a:r>
            <a:r>
              <a:rPr lang="es-ES" dirty="0"/>
              <a:t> non vehicula </a:t>
            </a:r>
            <a:r>
              <a:rPr lang="es-ES" dirty="0" err="1"/>
              <a:t>blandit</a:t>
            </a:r>
            <a:r>
              <a:rPr lang="es-ES" dirty="0"/>
              <a:t>, </a:t>
            </a:r>
            <a:r>
              <a:rPr lang="es-ES" dirty="0" err="1"/>
              <a:t>neque</a:t>
            </a:r>
            <a:r>
              <a:rPr lang="es-ES" dirty="0"/>
              <a:t> </a:t>
            </a:r>
            <a:r>
              <a:rPr lang="es-ES" dirty="0" err="1"/>
              <a:t>ipsum</a:t>
            </a:r>
            <a:r>
              <a:rPr lang="es-ES" dirty="0"/>
              <a:t> </a:t>
            </a:r>
            <a:r>
              <a:rPr lang="es-ES" dirty="0" err="1"/>
              <a:t>imperdiet</a:t>
            </a:r>
            <a:r>
              <a:rPr lang="es-ES" dirty="0"/>
              <a:t> </a:t>
            </a:r>
            <a:r>
              <a:rPr lang="es-ES" dirty="0" err="1"/>
              <a:t>est</a:t>
            </a:r>
            <a:r>
              <a:rPr lang="es-ES" dirty="0"/>
              <a:t>, ut </a:t>
            </a:r>
            <a:r>
              <a:rPr lang="es-ES" dirty="0" err="1"/>
              <a:t>euismod</a:t>
            </a:r>
            <a:r>
              <a:rPr lang="es-ES" dirty="0"/>
              <a:t> </a:t>
            </a:r>
            <a:r>
              <a:rPr lang="es-ES" dirty="0" err="1"/>
              <a:t>purus</a:t>
            </a:r>
            <a:r>
              <a:rPr lang="es-ES" dirty="0"/>
              <a:t> </a:t>
            </a:r>
            <a:r>
              <a:rPr lang="es-ES" dirty="0" err="1"/>
              <a:t>est</a:t>
            </a:r>
            <a:r>
              <a:rPr lang="es-ES" dirty="0"/>
              <a:t> sed </a:t>
            </a:r>
            <a:r>
              <a:rPr lang="es-ES" dirty="0" err="1"/>
              <a:t>lacus</a:t>
            </a:r>
            <a:r>
              <a:rPr lang="es-ES" dirty="0"/>
              <a:t>. </a:t>
            </a:r>
            <a:r>
              <a:rPr lang="es-ES" dirty="0" err="1"/>
              <a:t>Fusce</a:t>
            </a:r>
            <a:r>
              <a:rPr lang="es-ES" dirty="0"/>
              <a:t> </a:t>
            </a:r>
            <a:r>
              <a:rPr lang="es-ES" dirty="0" err="1"/>
              <a:t>ultricies</a:t>
            </a:r>
            <a:r>
              <a:rPr lang="es-ES" dirty="0"/>
              <a:t> </a:t>
            </a:r>
            <a:r>
              <a:rPr lang="es-ES" dirty="0" err="1"/>
              <a:t>metus</a:t>
            </a:r>
            <a:r>
              <a:rPr lang="es-ES" dirty="0"/>
              <a:t> </a:t>
            </a:r>
            <a:r>
              <a:rPr lang="es-ES" dirty="0" err="1"/>
              <a:t>nisl</a:t>
            </a:r>
            <a:r>
              <a:rPr lang="es-ES" dirty="0"/>
              <a:t>, a </a:t>
            </a:r>
            <a:r>
              <a:rPr lang="es-ES" dirty="0" err="1"/>
              <a:t>sagittis</a:t>
            </a:r>
            <a:r>
              <a:rPr lang="es-ES" dirty="0"/>
              <a:t> </a:t>
            </a:r>
            <a:r>
              <a:rPr lang="es-ES" dirty="0" err="1"/>
              <a:t>metus</a:t>
            </a:r>
            <a:r>
              <a:rPr lang="es-ES" dirty="0"/>
              <a:t> </a:t>
            </a:r>
            <a:r>
              <a:rPr lang="es-ES" dirty="0" err="1"/>
              <a:t>facilisis</a:t>
            </a:r>
            <a:r>
              <a:rPr lang="es-ES" dirty="0"/>
              <a:t> </a:t>
            </a:r>
            <a:r>
              <a:rPr lang="es-ES" dirty="0" err="1"/>
              <a:t>ac</a:t>
            </a:r>
            <a:r>
              <a:rPr lang="es-ES" dirty="0"/>
              <a:t>. </a:t>
            </a:r>
            <a:r>
              <a:rPr lang="es-ES" dirty="0" err="1"/>
              <a:t>Nulla</a:t>
            </a:r>
            <a:r>
              <a:rPr lang="es-ES" dirty="0"/>
              <a:t> </a:t>
            </a:r>
            <a:r>
              <a:rPr lang="es-ES" dirty="0" err="1"/>
              <a:t>vulputate</a:t>
            </a:r>
            <a:r>
              <a:rPr lang="es-ES" dirty="0"/>
              <a:t> eros in </a:t>
            </a:r>
            <a:r>
              <a:rPr lang="es-ES" dirty="0" err="1"/>
              <a:t>commodo</a:t>
            </a:r>
            <a:r>
              <a:rPr lang="es-ES" dirty="0"/>
              <a:t> </a:t>
            </a:r>
            <a:r>
              <a:rPr lang="es-ES" dirty="0" err="1"/>
              <a:t>accumsan</a:t>
            </a:r>
            <a:r>
              <a:rPr lang="es-ES" dirty="0"/>
              <a:t>. </a:t>
            </a:r>
            <a:r>
              <a:rPr lang="es-ES" dirty="0" err="1"/>
              <a:t>Maecenas</a:t>
            </a:r>
            <a:r>
              <a:rPr lang="es-ES" dirty="0"/>
              <a:t> </a:t>
            </a:r>
            <a:r>
              <a:rPr lang="es-ES" dirty="0" err="1"/>
              <a:t>eu</a:t>
            </a:r>
            <a:r>
              <a:rPr lang="es-ES" dirty="0"/>
              <a:t> odio </a:t>
            </a:r>
            <a:r>
              <a:rPr lang="es-ES" dirty="0" err="1"/>
              <a:t>tempor</a:t>
            </a:r>
            <a:r>
              <a:rPr lang="es-ES" dirty="0"/>
              <a:t>, </a:t>
            </a:r>
            <a:r>
              <a:rPr lang="es-ES" dirty="0" err="1"/>
              <a:t>mollis</a:t>
            </a:r>
            <a:r>
              <a:rPr lang="es-ES" dirty="0"/>
              <a:t> </a:t>
            </a:r>
            <a:r>
              <a:rPr lang="es-ES" dirty="0" err="1"/>
              <a:t>purus</a:t>
            </a:r>
            <a:r>
              <a:rPr lang="es-ES" dirty="0"/>
              <a:t> a, </a:t>
            </a:r>
            <a:r>
              <a:rPr lang="es-ES" dirty="0" err="1"/>
              <a:t>sodales</a:t>
            </a:r>
            <a:r>
              <a:rPr lang="es-ES" dirty="0"/>
              <a:t> </a:t>
            </a:r>
            <a:r>
              <a:rPr lang="es-ES" dirty="0" err="1"/>
              <a:t>turpis</a:t>
            </a:r>
            <a:r>
              <a:rPr lang="es-ES" dirty="0"/>
              <a:t>. </a:t>
            </a:r>
            <a:r>
              <a:rPr lang="es-ES" dirty="0" err="1"/>
              <a:t>Cras</a:t>
            </a:r>
            <a:r>
              <a:rPr lang="es-ES" dirty="0"/>
              <a:t> vitae </a:t>
            </a:r>
            <a:r>
              <a:rPr lang="es-ES" dirty="0" err="1"/>
              <a:t>sollicitudin</a:t>
            </a:r>
            <a:r>
              <a:rPr lang="es-ES" dirty="0"/>
              <a:t> magna.</a:t>
            </a:r>
            <a:endParaRPr dirty="0"/>
          </a:p>
        </p:txBody>
      </p:sp>
      <p:pic>
        <p:nvPicPr>
          <p:cNvPr id="6" name="Gráfico 5">
            <a:extLst>
              <a:ext uri="{FF2B5EF4-FFF2-40B4-BE49-F238E27FC236}">
                <a16:creationId xmlns:a16="http://schemas.microsoft.com/office/drawing/2014/main" id="{E42D9E5F-4B4D-4859-A3A3-0C42F1D47B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7" name="Rectángulo 6">
            <a:extLst>
              <a:ext uri="{FF2B5EF4-FFF2-40B4-BE49-F238E27FC236}">
                <a16:creationId xmlns:a16="http://schemas.microsoft.com/office/drawing/2014/main" id="{1FB43B95-5CFA-41E4-A945-2ACFD1F13BBF}"/>
              </a:ext>
            </a:extLst>
          </p:cNvPr>
          <p:cNvSpPr/>
          <p:nvPr userDrawn="1"/>
        </p:nvSpPr>
        <p:spPr>
          <a:xfrm>
            <a:off x="0" y="6564052"/>
            <a:ext cx="12192000" cy="293948"/>
          </a:xfrm>
          <a:prstGeom prst="rect">
            <a:avLst/>
          </a:pr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sp>
        <p:nvSpPr>
          <p:cNvPr id="8" name="Rectángulo 7">
            <a:extLst>
              <a:ext uri="{FF2B5EF4-FFF2-40B4-BE49-F238E27FC236}">
                <a16:creationId xmlns:a16="http://schemas.microsoft.com/office/drawing/2014/main" id="{230AD7D1-3883-4658-9D57-EB66C2B2D1E6}"/>
              </a:ext>
            </a:extLst>
          </p:cNvPr>
          <p:cNvSpPr/>
          <p:nvPr userDrawn="1"/>
        </p:nvSpPr>
        <p:spPr>
          <a:xfrm>
            <a:off x="9605554" y="6228355"/>
            <a:ext cx="2586446" cy="354452"/>
          </a:xfrm>
          <a:prstGeom prst="rect">
            <a:avLst/>
          </a:pr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sp>
        <p:nvSpPr>
          <p:cNvPr id="9" name="Marcador de número de diapositiva 21">
            <a:extLst>
              <a:ext uri="{FF2B5EF4-FFF2-40B4-BE49-F238E27FC236}">
                <a16:creationId xmlns:a16="http://schemas.microsoft.com/office/drawing/2014/main" id="{E0EF7333-652F-4EAC-91AA-CEB0DEA98780}"/>
              </a:ext>
            </a:extLst>
          </p:cNvPr>
          <p:cNvSpPr txBox="1">
            <a:spLocks/>
          </p:cNvSpPr>
          <p:nvPr userDrawn="1"/>
        </p:nvSpPr>
        <p:spPr>
          <a:xfrm>
            <a:off x="9605553" y="6241991"/>
            <a:ext cx="637904"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bg1">
                    <a:lumMod val="8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0D97B6-E32F-4D7D-B839-7C3B51F2640F}" type="slidenum">
              <a:rPr lang="es-ES" smtClean="0">
                <a:solidFill>
                  <a:prstClr val="white">
                    <a:lumMod val="85000"/>
                  </a:prstClr>
                </a:solidFill>
                <a:latin typeface="Arial"/>
              </a:rPr>
              <a:pPr/>
              <a:t>‹Nº›</a:t>
            </a:fld>
            <a:endParaRPr lang="es-ES">
              <a:solidFill>
                <a:prstClr val="white">
                  <a:lumMod val="85000"/>
                </a:prstClr>
              </a:solidFill>
              <a:latin typeface="Arial"/>
            </a:endParaRPr>
          </a:p>
        </p:txBody>
      </p:sp>
      <p:pic>
        <p:nvPicPr>
          <p:cNvPr id="10" name="Imagen 9">
            <a:extLst>
              <a:ext uri="{FF2B5EF4-FFF2-40B4-BE49-F238E27FC236}">
                <a16:creationId xmlns:a16="http://schemas.microsoft.com/office/drawing/2014/main" id="{1F37DF03-9A13-41DB-AF7B-F6737C6EB1A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3432119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Portada">
    <p:spTree>
      <p:nvGrpSpPr>
        <p:cNvPr id="1" name=""/>
        <p:cNvGrpSpPr/>
        <p:nvPr/>
      </p:nvGrpSpPr>
      <p:grpSpPr>
        <a:xfrm>
          <a:off x="0" y="0"/>
          <a:ext cx="0" cy="0"/>
          <a:chOff x="0" y="0"/>
          <a:chExt cx="0" cy="0"/>
        </a:xfrm>
      </p:grpSpPr>
      <p:pic>
        <p:nvPicPr>
          <p:cNvPr id="48" name="Gráfico 47">
            <a:extLst>
              <a:ext uri="{FF2B5EF4-FFF2-40B4-BE49-F238E27FC236}">
                <a16:creationId xmlns:a16="http://schemas.microsoft.com/office/drawing/2014/main" id="{66AC5F87-96B5-43B5-8A1C-3D763ADBF88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1978" y="5727401"/>
            <a:ext cx="1896592" cy="332588"/>
          </a:xfrm>
          <a:prstGeom prst="rect">
            <a:avLst/>
          </a:prstGeom>
        </p:spPr>
      </p:pic>
      <p:sp>
        <p:nvSpPr>
          <p:cNvPr id="63" name="Título 1">
            <a:extLst>
              <a:ext uri="{FF2B5EF4-FFF2-40B4-BE49-F238E27FC236}">
                <a16:creationId xmlns:a16="http://schemas.microsoft.com/office/drawing/2014/main" id="{47E08621-5F9A-4F9A-BD52-0B981B33F72E}"/>
              </a:ext>
            </a:extLst>
          </p:cNvPr>
          <p:cNvSpPr>
            <a:spLocks noGrp="1"/>
          </p:cNvSpPr>
          <p:nvPr>
            <p:ph type="ctrTitle" hasCustomPrompt="1"/>
          </p:nvPr>
        </p:nvSpPr>
        <p:spPr>
          <a:xfrm>
            <a:off x="874145" y="1248885"/>
            <a:ext cx="4937184" cy="1407004"/>
          </a:xfrm>
        </p:spPr>
        <p:txBody>
          <a:bodyPr anchor="t">
            <a:normAutofit/>
          </a:bodyPr>
          <a:lstStyle>
            <a:lvl1pPr algn="l">
              <a:lnSpc>
                <a:spcPct val="90000"/>
              </a:lnSpc>
              <a:defRPr sz="4100">
                <a:solidFill>
                  <a:srgbClr val="EB0000"/>
                </a:solidFill>
              </a:defRPr>
            </a:lvl1pPr>
          </a:lstStyle>
          <a:p>
            <a:r>
              <a:rPr lang="es-ES" dirty="0"/>
              <a:t>título </a:t>
            </a:r>
            <a:br>
              <a:rPr lang="es-ES" dirty="0"/>
            </a:br>
            <a:r>
              <a:rPr lang="es-ES" dirty="0"/>
              <a:t>del patrón</a:t>
            </a:r>
          </a:p>
        </p:txBody>
      </p:sp>
      <p:sp>
        <p:nvSpPr>
          <p:cNvPr id="64" name="Subtítulo 2">
            <a:extLst>
              <a:ext uri="{FF2B5EF4-FFF2-40B4-BE49-F238E27FC236}">
                <a16:creationId xmlns:a16="http://schemas.microsoft.com/office/drawing/2014/main" id="{CBA1108F-BECC-493D-BF76-F3C0A2211762}"/>
              </a:ext>
            </a:extLst>
          </p:cNvPr>
          <p:cNvSpPr>
            <a:spLocks noGrp="1"/>
          </p:cNvSpPr>
          <p:nvPr>
            <p:ph type="subTitle" idx="1" hasCustomPrompt="1"/>
          </p:nvPr>
        </p:nvSpPr>
        <p:spPr>
          <a:xfrm>
            <a:off x="877020" y="28745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Clic para modificar el estilo de subtítulo del patrón</a:t>
            </a:r>
          </a:p>
        </p:txBody>
      </p:sp>
      <p:sp>
        <p:nvSpPr>
          <p:cNvPr id="65" name="Marcador de texto 16">
            <a:extLst>
              <a:ext uri="{FF2B5EF4-FFF2-40B4-BE49-F238E27FC236}">
                <a16:creationId xmlns:a16="http://schemas.microsoft.com/office/drawing/2014/main" id="{0D04846D-9695-43A2-9E6C-4745FFF1E985}"/>
              </a:ext>
            </a:extLst>
          </p:cNvPr>
          <p:cNvSpPr>
            <a:spLocks noGrp="1"/>
          </p:cNvSpPr>
          <p:nvPr>
            <p:ph type="body" sz="quarter" idx="14"/>
          </p:nvPr>
        </p:nvSpPr>
        <p:spPr>
          <a:xfrm>
            <a:off x="862050" y="486051"/>
            <a:ext cx="11177550"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s-ES" dirty="0"/>
              <a:t>Editar los estilos de texto del patrón</a:t>
            </a:r>
          </a:p>
        </p:txBody>
      </p:sp>
      <p:sp>
        <p:nvSpPr>
          <p:cNvPr id="12" name="Forma libre: forma 11">
            <a:extLst>
              <a:ext uri="{FF2B5EF4-FFF2-40B4-BE49-F238E27FC236}">
                <a16:creationId xmlns:a16="http://schemas.microsoft.com/office/drawing/2014/main" id="{76DA30A6-F84E-4086-8C86-9B521BFF02D4}"/>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pic>
        <p:nvPicPr>
          <p:cNvPr id="14" name="Gráfico 13">
            <a:extLst>
              <a:ext uri="{FF2B5EF4-FFF2-40B4-BE49-F238E27FC236}">
                <a16:creationId xmlns:a16="http://schemas.microsoft.com/office/drawing/2014/main" id="{03E10DF1-6448-4999-89A7-F8EAE6B6A4F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1980" y="5727401"/>
            <a:ext cx="1896592" cy="332588"/>
          </a:xfrm>
          <a:prstGeom prst="rect">
            <a:avLst/>
          </a:prstGeom>
        </p:spPr>
      </p:pic>
      <p:pic>
        <p:nvPicPr>
          <p:cNvPr id="15" name="Imagen 14">
            <a:extLst>
              <a:ext uri="{FF2B5EF4-FFF2-40B4-BE49-F238E27FC236}">
                <a16:creationId xmlns:a16="http://schemas.microsoft.com/office/drawing/2014/main" id="{894DDDBE-15AD-4382-B31F-4EF2EF7D6B3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268195" y="5491183"/>
            <a:ext cx="2437890" cy="1105555"/>
          </a:xfrm>
          <a:prstGeom prst="rect">
            <a:avLst/>
          </a:prstGeom>
        </p:spPr>
      </p:pic>
    </p:spTree>
    <p:extLst>
      <p:ext uri="{BB962C8B-B14F-4D97-AF65-F5344CB8AC3E}">
        <p14:creationId xmlns:p14="http://schemas.microsoft.com/office/powerpoint/2010/main" val="785404680"/>
      </p:ext>
    </p:extLst>
  </p:cSld>
  <p:clrMapOvr>
    <a:masterClrMapping/>
  </p:clrMapOvr>
  <p:extLst>
    <p:ext uri="{DCECCB84-F9BA-43D5-87BE-67443E8EF086}">
      <p15:sldGuideLst xmlns:p15="http://schemas.microsoft.com/office/powerpoint/2012/main">
        <p15:guide id="1" orient="horz" pos="2160">
          <p15:clr>
            <a:srgbClr val="FBAE40"/>
          </p15:clr>
        </p15:guide>
        <p15:guide id="2" pos="55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ítulo y objetos">
    <p:spTree>
      <p:nvGrpSpPr>
        <p:cNvPr id="1" name=""/>
        <p:cNvGrpSpPr/>
        <p:nvPr/>
      </p:nvGrpSpPr>
      <p:grpSpPr>
        <a:xfrm>
          <a:off x="0" y="0"/>
          <a:ext cx="0" cy="0"/>
          <a:chOff x="0" y="0"/>
          <a:chExt cx="0" cy="0"/>
        </a:xfrm>
      </p:grpSpPr>
      <p:sp>
        <p:nvSpPr>
          <p:cNvPr id="22" name="Texto del título"/>
          <p:cNvSpPr txBox="1">
            <a:spLocks noGrp="1"/>
          </p:cNvSpPr>
          <p:nvPr>
            <p:ph type="title"/>
          </p:nvPr>
        </p:nvSpPr>
        <p:spPr>
          <a:prstGeom prst="rect">
            <a:avLst/>
          </a:prstGeom>
        </p:spPr>
        <p:txBody>
          <a:bodyPr/>
          <a:lstStyle/>
          <a:p>
            <a:r>
              <a:t>Texto del título</a:t>
            </a:r>
          </a:p>
        </p:txBody>
      </p:sp>
      <p:sp>
        <p:nvSpPr>
          <p:cNvPr id="23" name="Nivel de texto 1…"/>
          <p:cNvSpPr txBox="1">
            <a:spLocks noGrp="1"/>
          </p:cNvSpPr>
          <p:nvPr>
            <p:ph type="body" idx="1"/>
          </p:nvPr>
        </p:nvSpPr>
        <p:spPr>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24"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3093632350"/>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Null_1 borrar">
    <p:spTree>
      <p:nvGrpSpPr>
        <p:cNvPr id="1" name=""/>
        <p:cNvGrpSpPr/>
        <p:nvPr/>
      </p:nvGrpSpPr>
      <p:grpSpPr>
        <a:xfrm>
          <a:off x="0" y="0"/>
          <a:ext cx="0" cy="0"/>
          <a:chOff x="0" y="0"/>
          <a:chExt cx="0" cy="0"/>
        </a:xfrm>
      </p:grpSpPr>
      <p:cxnSp>
        <p:nvCxnSpPr>
          <p:cNvPr id="2" name="Conector recto 1"/>
          <p:cNvCxnSpPr/>
          <p:nvPr userDrawn="1"/>
        </p:nvCxnSpPr>
        <p:spPr>
          <a:xfrm>
            <a:off x="20881" y="508380"/>
            <a:ext cx="11958362"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1 CuadroTexto"/>
          <p:cNvSpPr txBox="1"/>
          <p:nvPr userDrawn="1"/>
        </p:nvSpPr>
        <p:spPr>
          <a:xfrm>
            <a:off x="11471243" y="6305328"/>
            <a:ext cx="508000" cy="246221"/>
          </a:xfrm>
          <a:prstGeom prst="rect">
            <a:avLst/>
          </a:prstGeom>
          <a:noFill/>
        </p:spPr>
        <p:txBody>
          <a:bodyPr wrap="square" rtlCol="0">
            <a:spAutoFit/>
          </a:bodyPr>
          <a:lstStyle/>
          <a:p>
            <a:pPr algn="ctr"/>
            <a:fld id="{BD759F66-99BC-4AB1-83F8-8F582847D04F}" type="slidenum">
              <a:rPr lang="es-ES" sz="1000" smtClean="0">
                <a:solidFill>
                  <a:schemeClr val="bg1"/>
                </a:solidFill>
              </a:rPr>
              <a:pPr algn="ctr"/>
              <a:t>‹Nº›</a:t>
            </a:fld>
            <a:endParaRPr lang="es-ES" sz="1000" dirty="0">
              <a:solidFill>
                <a:schemeClr val="bg1"/>
              </a:solidFill>
            </a:endParaRPr>
          </a:p>
        </p:txBody>
      </p:sp>
      <p:sp>
        <p:nvSpPr>
          <p:cNvPr id="7" name="Rectángulo 6">
            <a:extLst>
              <a:ext uri="{FF2B5EF4-FFF2-40B4-BE49-F238E27FC236}">
                <a16:creationId xmlns:a16="http://schemas.microsoft.com/office/drawing/2014/main" id="{E4BA42A8-06C5-44E8-A432-36B593A837AB}"/>
              </a:ext>
            </a:extLst>
          </p:cNvPr>
          <p:cNvSpPr/>
          <p:nvPr userDrawn="1"/>
        </p:nvSpPr>
        <p:spPr>
          <a:xfrm>
            <a:off x="11525273" y="6289938"/>
            <a:ext cx="453970" cy="276999"/>
          </a:xfrm>
          <a:prstGeom prst="rect">
            <a:avLst/>
          </a:prstGeom>
        </p:spPr>
        <p:txBody>
          <a:bodyPr wrap="none">
            <a:spAutoFit/>
          </a:bodyPr>
          <a:lstStyle/>
          <a:p>
            <a:fld id="{BC0D97B6-E32F-4D7D-B839-7C3B51F2640F}" type="slidenum">
              <a:rPr lang="es-ES" sz="1200" smtClean="0">
                <a:solidFill>
                  <a:srgbClr val="FF0000"/>
                </a:solidFill>
              </a:rPr>
              <a:pPr/>
              <a:t>‹Nº›</a:t>
            </a:fld>
            <a:endParaRPr lang="es-ES" sz="1200" dirty="0">
              <a:solidFill>
                <a:srgbClr val="FF0000"/>
              </a:solidFill>
            </a:endParaRPr>
          </a:p>
        </p:txBody>
      </p:sp>
      <p:pic>
        <p:nvPicPr>
          <p:cNvPr id="9" name="Picture 2" descr="Firma">
            <a:extLst>
              <a:ext uri="{FF2B5EF4-FFF2-40B4-BE49-F238E27FC236}">
                <a16:creationId xmlns:a16="http://schemas.microsoft.com/office/drawing/2014/main" id="{F7C4639F-6E74-452B-99DC-65795D651D8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03" y="6205886"/>
            <a:ext cx="1894620" cy="63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1485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Null_1">
    <p:spTree>
      <p:nvGrpSpPr>
        <p:cNvPr id="1" name=""/>
        <p:cNvGrpSpPr/>
        <p:nvPr/>
      </p:nvGrpSpPr>
      <p:grpSpPr>
        <a:xfrm>
          <a:off x="0" y="0"/>
          <a:ext cx="0" cy="0"/>
          <a:chOff x="0" y="0"/>
          <a:chExt cx="0" cy="0"/>
        </a:xfrm>
      </p:grpSpPr>
      <p:cxnSp>
        <p:nvCxnSpPr>
          <p:cNvPr id="2" name="Conector recto 1"/>
          <p:cNvCxnSpPr/>
          <p:nvPr userDrawn="1"/>
        </p:nvCxnSpPr>
        <p:spPr>
          <a:xfrm>
            <a:off x="20881" y="508380"/>
            <a:ext cx="11958362"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1 CuadroTexto">
            <a:extLst>
              <a:ext uri="{FF2B5EF4-FFF2-40B4-BE49-F238E27FC236}">
                <a16:creationId xmlns:a16="http://schemas.microsoft.com/office/drawing/2014/main" id="{57E733F8-AC9C-4A50-A71F-E71FFD3F47DD}"/>
              </a:ext>
            </a:extLst>
          </p:cNvPr>
          <p:cNvSpPr txBox="1"/>
          <p:nvPr userDrawn="1"/>
        </p:nvSpPr>
        <p:spPr>
          <a:xfrm>
            <a:off x="11684001" y="6608669"/>
            <a:ext cx="508000" cy="246221"/>
          </a:xfrm>
          <a:prstGeom prst="rect">
            <a:avLst/>
          </a:prstGeom>
          <a:noFill/>
        </p:spPr>
        <p:txBody>
          <a:bodyPr wrap="square" rtlCol="0">
            <a:spAutoFit/>
          </a:bodyPr>
          <a:lstStyle/>
          <a:p>
            <a:pPr algn="ctr"/>
            <a:fld id="{BD759F66-99BC-4AB1-83F8-8F582847D04F}" type="slidenum">
              <a:rPr lang="es-ES" sz="1000" smtClean="0">
                <a:solidFill>
                  <a:schemeClr val="bg1"/>
                </a:solidFill>
              </a:rPr>
              <a:pPr algn="ctr"/>
              <a:t>‹Nº›</a:t>
            </a:fld>
            <a:endParaRPr lang="es-ES" sz="1000" dirty="0">
              <a:solidFill>
                <a:schemeClr val="bg1"/>
              </a:solidFill>
            </a:endParaRPr>
          </a:p>
        </p:txBody>
      </p:sp>
      <p:sp>
        <p:nvSpPr>
          <p:cNvPr id="10" name="1 CuadroTexto">
            <a:extLst>
              <a:ext uri="{FF2B5EF4-FFF2-40B4-BE49-F238E27FC236}">
                <a16:creationId xmlns:a16="http://schemas.microsoft.com/office/drawing/2014/main" id="{F02A2B84-4747-4BB1-BA7E-843B01CEDBC9}"/>
              </a:ext>
            </a:extLst>
          </p:cNvPr>
          <p:cNvSpPr txBox="1"/>
          <p:nvPr userDrawn="1"/>
        </p:nvSpPr>
        <p:spPr>
          <a:xfrm>
            <a:off x="9928194" y="5676678"/>
            <a:ext cx="508000" cy="246221"/>
          </a:xfrm>
          <a:prstGeom prst="rect">
            <a:avLst/>
          </a:prstGeom>
          <a:noFill/>
        </p:spPr>
        <p:txBody>
          <a:bodyPr wrap="square" rtlCol="0">
            <a:spAutoFit/>
          </a:bodyPr>
          <a:lstStyle/>
          <a:p>
            <a:pPr algn="ctr"/>
            <a:fld id="{BD759F66-99BC-4AB1-83F8-8F582847D04F}" type="slidenum">
              <a:rPr lang="es-ES" sz="1000" smtClean="0">
                <a:solidFill>
                  <a:schemeClr val="bg1"/>
                </a:solidFill>
              </a:rPr>
              <a:pPr algn="ctr"/>
              <a:t>‹Nº›</a:t>
            </a:fld>
            <a:endParaRPr lang="es-ES" sz="1000" dirty="0">
              <a:solidFill>
                <a:schemeClr val="bg1"/>
              </a:solidFill>
            </a:endParaRPr>
          </a:p>
        </p:txBody>
      </p:sp>
      <p:sp>
        <p:nvSpPr>
          <p:cNvPr id="8" name="Número de diapositiva">
            <a:extLst>
              <a:ext uri="{FF2B5EF4-FFF2-40B4-BE49-F238E27FC236}">
                <a16:creationId xmlns:a16="http://schemas.microsoft.com/office/drawing/2014/main" id="{B5E6C8D5-BD36-4286-AB7F-FEBA52D6097A}"/>
              </a:ext>
            </a:extLst>
          </p:cNvPr>
          <p:cNvSpPr txBox="1">
            <a:spLocks noGrp="1"/>
          </p:cNvSpPr>
          <p:nvPr>
            <p:ph type="sldNum" sz="quarter" idx="2"/>
          </p:nvPr>
        </p:nvSpPr>
        <p:spPr>
          <a:xfrm>
            <a:off x="8398408" y="6224935"/>
            <a:ext cx="339193" cy="262829"/>
          </a:xfrm>
          <a:prstGeom prst="rect">
            <a:avLst/>
          </a:prstGeom>
          <a:ln w="12700">
            <a:miter lim="400000"/>
          </a:ln>
        </p:spPr>
        <p:txBody>
          <a:bodyPr wrap="none" lIns="45719" rIns="45719" anchor="ctr">
            <a:spAutoFit/>
          </a:bodyPr>
          <a:lstStyle>
            <a:lvl1pPr algn="r">
              <a:spcBef>
                <a:spcPts val="185"/>
              </a:spcBef>
              <a:defRPr sz="1108">
                <a:solidFill>
                  <a:srgbClr val="888888"/>
                </a:solidFill>
              </a:defRPr>
            </a:lvl1pPr>
          </a:lstStyle>
          <a:p>
            <a:fld id="{86CB4B4D-7CA3-9044-876B-883B54F8677D}" type="slidenum">
              <a:t>‹Nº›</a:t>
            </a:fld>
            <a:endParaRPr/>
          </a:p>
        </p:txBody>
      </p:sp>
    </p:spTree>
    <p:extLst>
      <p:ext uri="{BB962C8B-B14F-4D97-AF65-F5344CB8AC3E}">
        <p14:creationId xmlns:p14="http://schemas.microsoft.com/office/powerpoint/2010/main" val="834859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ulo y contenido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4" y="1087457"/>
            <a:ext cx="5297557" cy="1606047"/>
          </a:xfrm>
        </p:spPr>
        <p:txBody>
          <a:bodyPr anchor="t">
            <a:normAutofit/>
          </a:bodyPr>
          <a:lstStyle>
            <a:lvl1pPr>
              <a:defRPr sz="3600">
                <a:solidFill>
                  <a:schemeClr val="accent1"/>
                </a:solidFill>
              </a:defRPr>
            </a:lvl1pPr>
          </a:lstStyle>
          <a:p>
            <a:r>
              <a:rPr lang="es-ES" dirty="0"/>
              <a:t>Aquí Haga clic para modificar el estilo de título del patrón</a:t>
            </a:r>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11095836" y="6249550"/>
            <a:ext cx="378209" cy="285226"/>
          </a:xfrm>
        </p:spPr>
        <p:txBody>
          <a:bodyPr/>
          <a:lstStyle>
            <a:lvl1pPr>
              <a:defRPr sz="1300">
                <a:solidFill>
                  <a:schemeClr val="accent1"/>
                </a:solidFill>
              </a:defRPr>
            </a:lvl1pPr>
          </a:lstStyle>
          <a:p>
            <a:fld id="{BC0D97B6-E32F-4D7D-B839-7C3B51F2640F}" type="slidenum">
              <a:rPr lang="es-ES" smtClean="0"/>
              <a:pPr/>
              <a:t>‹Nº›</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198" indent="0">
              <a:buFontTx/>
              <a:buNone/>
              <a:defRPr sz="1100"/>
            </a:lvl2pPr>
            <a:lvl3pPr marL="914395" indent="0">
              <a:buFontTx/>
              <a:buNone/>
              <a:defRPr sz="1050"/>
            </a:lvl3pPr>
            <a:lvl4pPr marL="1371592" indent="0">
              <a:buFontTx/>
              <a:buNone/>
              <a:defRPr sz="1000"/>
            </a:lvl4pPr>
            <a:lvl5pPr marL="1828789" indent="0">
              <a:buFontTx/>
              <a:buNone/>
              <a:defRPr sz="1000"/>
            </a:lvl5pPr>
          </a:lstStyle>
          <a:p>
            <a:pPr lvl="0"/>
            <a:r>
              <a:rPr lang="es-ES" dirty="0"/>
              <a:t>Editar los estilos de texto del patrón</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3"/>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198" indent="0">
              <a:buFontTx/>
              <a:buNone/>
              <a:defRPr lang="es-ES" sz="1200" kern="1200" smtClean="0">
                <a:solidFill>
                  <a:schemeClr val="tx2"/>
                </a:solidFill>
                <a:latin typeface="+mn-lt"/>
                <a:ea typeface="+mn-ea"/>
                <a:cs typeface="+mn-cs"/>
              </a:defRPr>
            </a:lvl2pPr>
            <a:lvl3pPr marL="914395" indent="0">
              <a:buFontTx/>
              <a:buNone/>
              <a:defRPr lang="es-ES" sz="1200" kern="1200" smtClean="0">
                <a:solidFill>
                  <a:schemeClr val="tx2"/>
                </a:solidFill>
                <a:latin typeface="+mn-lt"/>
                <a:ea typeface="+mn-ea"/>
                <a:cs typeface="+mn-cs"/>
              </a:defRPr>
            </a:lvl3pPr>
            <a:lvl4pPr marL="1371592" indent="0">
              <a:buFontTx/>
              <a:buNone/>
              <a:defRPr lang="es-ES" sz="1200" kern="1200" smtClean="0">
                <a:solidFill>
                  <a:schemeClr val="tx2"/>
                </a:solidFill>
                <a:latin typeface="+mn-lt"/>
                <a:ea typeface="+mn-ea"/>
                <a:cs typeface="+mn-cs"/>
              </a:defRPr>
            </a:lvl4pPr>
            <a:lvl5pPr marL="1828789"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2"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198" indent="0">
              <a:buFontTx/>
              <a:buNone/>
              <a:defRPr lang="es-ES" sz="1200" kern="1200" smtClean="0">
                <a:solidFill>
                  <a:schemeClr val="tx2"/>
                </a:solidFill>
                <a:latin typeface="+mn-lt"/>
                <a:ea typeface="+mn-ea"/>
                <a:cs typeface="+mn-cs"/>
              </a:defRPr>
            </a:lvl2pPr>
            <a:lvl3pPr marL="914395" indent="0">
              <a:buFontTx/>
              <a:buNone/>
              <a:defRPr lang="es-ES" sz="1200" kern="1200" smtClean="0">
                <a:solidFill>
                  <a:schemeClr val="tx2"/>
                </a:solidFill>
                <a:latin typeface="+mn-lt"/>
                <a:ea typeface="+mn-ea"/>
                <a:cs typeface="+mn-cs"/>
              </a:defRPr>
            </a:lvl3pPr>
            <a:lvl4pPr marL="1371592" indent="0">
              <a:buFontTx/>
              <a:buNone/>
              <a:defRPr lang="es-ES" sz="1200" kern="1200" smtClean="0">
                <a:solidFill>
                  <a:schemeClr val="tx2"/>
                </a:solidFill>
                <a:latin typeface="+mn-lt"/>
                <a:ea typeface="+mn-ea"/>
                <a:cs typeface="+mn-cs"/>
              </a:defRPr>
            </a:lvl4pPr>
            <a:lvl5pPr marL="1828789"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pic>
        <p:nvPicPr>
          <p:cNvPr id="8" name="Picture 2" descr="Firma">
            <a:extLst>
              <a:ext uri="{FF2B5EF4-FFF2-40B4-BE49-F238E27FC236}">
                <a16:creationId xmlns:a16="http://schemas.microsoft.com/office/drawing/2014/main" id="{945D7920-9E1C-4456-9EA9-02FF0B065F8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22244" y="6269862"/>
            <a:ext cx="162877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3745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ortada blanc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hasCustomPrompt="1"/>
          </p:nvPr>
        </p:nvSpPr>
        <p:spPr>
          <a:xfrm>
            <a:off x="721745" y="1096485"/>
            <a:ext cx="4937184" cy="1407004"/>
          </a:xfrm>
        </p:spPr>
        <p:txBody>
          <a:bodyPr anchor="t">
            <a:normAutofit/>
          </a:bodyPr>
          <a:lstStyle>
            <a:lvl1pPr algn="l">
              <a:lnSpc>
                <a:spcPct val="90000"/>
              </a:lnSpc>
              <a:defRPr sz="4100">
                <a:solidFill>
                  <a:schemeClr val="accent1"/>
                </a:solidFill>
              </a:defRPr>
            </a:lvl1pPr>
          </a:lstStyle>
          <a:p>
            <a:r>
              <a:rPr lang="es-ES" dirty="0"/>
              <a:t>título </a:t>
            </a:r>
            <a:br>
              <a:rPr lang="es-ES" dirty="0"/>
            </a:br>
            <a:r>
              <a:rPr lang="es-ES" dirty="0"/>
              <a:t>del patrón</a:t>
            </a:r>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hasCustomPrompt="1"/>
          </p:nvPr>
        </p:nvSpPr>
        <p:spPr>
          <a:xfrm>
            <a:off x="724620" y="27221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Clic para modificar el estilo de subtítulo del patrón</a:t>
            </a:r>
          </a:p>
        </p:txBody>
      </p:sp>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0"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s-ES" dirty="0"/>
              <a:t>Editar los estilos de texto del patrón</a:t>
            </a:r>
          </a:p>
        </p:txBody>
      </p:sp>
      <p:sp>
        <p:nvSpPr>
          <p:cNvPr id="14" name="Forma libre: forma 13">
            <a:extLst>
              <a:ext uri="{FF2B5EF4-FFF2-40B4-BE49-F238E27FC236}">
                <a16:creationId xmlns:a16="http://schemas.microsoft.com/office/drawing/2014/main" id="{8E2019E8-5E09-4EBA-89EE-63D66DAF195C}"/>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pic>
        <p:nvPicPr>
          <p:cNvPr id="15" name="Gráfico 14">
            <a:extLst>
              <a:ext uri="{FF2B5EF4-FFF2-40B4-BE49-F238E27FC236}">
                <a16:creationId xmlns:a16="http://schemas.microsoft.com/office/drawing/2014/main" id="{5A22BEC5-71E7-4B59-BDFE-58B642C5D0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1980" y="5727401"/>
            <a:ext cx="1896592" cy="332588"/>
          </a:xfrm>
          <a:prstGeom prst="rect">
            <a:avLst/>
          </a:prstGeom>
        </p:spPr>
      </p:pic>
      <p:pic>
        <p:nvPicPr>
          <p:cNvPr id="16" name="Imagen 15">
            <a:extLst>
              <a:ext uri="{FF2B5EF4-FFF2-40B4-BE49-F238E27FC236}">
                <a16:creationId xmlns:a16="http://schemas.microsoft.com/office/drawing/2014/main" id="{62EB6361-76EC-4270-B075-07CC3D71C02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370936" y="5460275"/>
            <a:ext cx="2437890" cy="1105555"/>
          </a:xfrm>
          <a:prstGeom prst="rect">
            <a:avLst/>
          </a:prstGeom>
        </p:spPr>
      </p:pic>
    </p:spTree>
    <p:extLst>
      <p:ext uri="{BB962C8B-B14F-4D97-AF65-F5344CB8AC3E}">
        <p14:creationId xmlns:p14="http://schemas.microsoft.com/office/powerpoint/2010/main" val="2345512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Índice">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‹Nº›</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0" name="CuadroTexto 9">
            <a:extLst>
              <a:ext uri="{FF2B5EF4-FFF2-40B4-BE49-F238E27FC236}">
                <a16:creationId xmlns:a16="http://schemas.microsoft.com/office/drawing/2014/main" id="{B3950534-FF56-4FD6-A098-D625BC54F0FA}"/>
              </a:ext>
            </a:extLst>
          </p:cNvPr>
          <p:cNvSpPr txBox="1"/>
          <p:nvPr userDrawn="1"/>
        </p:nvSpPr>
        <p:spPr>
          <a:xfrm>
            <a:off x="722533" y="312269"/>
            <a:ext cx="1849821" cy="292388"/>
          </a:xfrm>
          <a:prstGeom prst="rect">
            <a:avLst/>
          </a:prstGeom>
          <a:noFill/>
        </p:spPr>
        <p:txBody>
          <a:bodyPr wrap="square" rtlCol="0">
            <a:spAutoFit/>
          </a:bodyPr>
          <a:lstStyle/>
          <a:p>
            <a:r>
              <a:rPr lang="es-ES" sz="1300" dirty="0">
                <a:solidFill>
                  <a:schemeClr val="accent1"/>
                </a:solidFill>
              </a:rPr>
              <a:t>Índice</a:t>
            </a: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p:nvPr>
        </p:nvSpPr>
        <p:spPr>
          <a:xfrm>
            <a:off x="832641" y="1100239"/>
            <a:ext cx="10635843" cy="4906665"/>
          </a:xfrm>
        </p:spPr>
        <p:txBody>
          <a:bodyPr>
            <a:normAutofit/>
          </a:bodyPr>
          <a:lstStyle>
            <a:lvl1pPr marL="432000" indent="-396000">
              <a:buClr>
                <a:schemeClr val="accent1"/>
              </a:buClr>
              <a:buSzPct val="45000"/>
              <a:buFont typeface="+mj-lt"/>
              <a:buAutoNum type="arabicPeriod"/>
              <a:defRPr lang="es-ES" sz="4000" b="1" kern="1200" dirty="0" smtClean="0">
                <a:solidFill>
                  <a:srgbClr val="3C3C3B"/>
                </a:solidFill>
                <a:latin typeface="+mn-lt"/>
                <a:ea typeface="+mn-ea"/>
                <a:cs typeface="+mn-cs"/>
              </a:defRPr>
            </a:lvl1pPr>
            <a:lvl2pPr marL="457200" indent="0">
              <a:buNone/>
              <a:defRPr/>
            </a:lvl2pPr>
          </a:lstStyle>
          <a:p>
            <a:pPr lvl="0"/>
            <a:r>
              <a:rPr lang="es-ES" dirty="0"/>
              <a:t>Editar los estilos de texto del patrón</a:t>
            </a:r>
          </a:p>
        </p:txBody>
      </p:sp>
    </p:spTree>
    <p:extLst>
      <p:ext uri="{BB962C8B-B14F-4D97-AF65-F5344CB8AC3E}">
        <p14:creationId xmlns:p14="http://schemas.microsoft.com/office/powerpoint/2010/main" val="1606915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parador blanco">
    <p:spTree>
      <p:nvGrpSpPr>
        <p:cNvPr id="1" name=""/>
        <p:cNvGrpSpPr/>
        <p:nvPr/>
      </p:nvGrpSpPr>
      <p:grpSpPr>
        <a:xfrm>
          <a:off x="0" y="0"/>
          <a:ext cx="0" cy="0"/>
          <a:chOff x="0" y="0"/>
          <a:chExt cx="0" cy="0"/>
        </a:xfrm>
      </p:grpSpPr>
      <p:sp>
        <p:nvSpPr>
          <p:cNvPr id="7" name="Forma libre: forma 6">
            <a:extLst>
              <a:ext uri="{FF2B5EF4-FFF2-40B4-BE49-F238E27FC236}">
                <a16:creationId xmlns:a16="http://schemas.microsoft.com/office/drawing/2014/main" id="{49C540BB-A189-4361-ABD8-4DA84C6612C3}"/>
              </a:ext>
            </a:extLst>
          </p:cNvPr>
          <p:cNvSpPr/>
          <p:nvPr userDrawn="1"/>
        </p:nvSpPr>
        <p:spPr>
          <a:xfrm>
            <a:off x="8925340" y="0"/>
            <a:ext cx="3266660"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sp>
        <p:nvSpPr>
          <p:cNvPr id="2" name="Título 1">
            <a:extLst>
              <a:ext uri="{FF2B5EF4-FFF2-40B4-BE49-F238E27FC236}">
                <a16:creationId xmlns:a16="http://schemas.microsoft.com/office/drawing/2014/main" id="{B045CB15-1F44-40E1-909E-6233010BC133}"/>
              </a:ext>
            </a:extLst>
          </p:cNvPr>
          <p:cNvSpPr>
            <a:spLocks noGrp="1"/>
          </p:cNvSpPr>
          <p:nvPr>
            <p:ph type="title"/>
          </p:nvPr>
        </p:nvSpPr>
        <p:spPr>
          <a:xfrm>
            <a:off x="722519" y="626373"/>
            <a:ext cx="4386194" cy="2852737"/>
          </a:xfrm>
        </p:spPr>
        <p:txBody>
          <a:bodyPr anchor="t">
            <a:normAutofit/>
          </a:bodyPr>
          <a:lstStyle>
            <a:lvl1pPr>
              <a:lnSpc>
                <a:spcPct val="100000"/>
              </a:lnSpc>
              <a:defRPr sz="4000">
                <a:solidFill>
                  <a:schemeClr val="accent1"/>
                </a:solidFill>
              </a:defRPr>
            </a:lvl1pPr>
          </a:lstStyle>
          <a:p>
            <a:r>
              <a:rPr lang="es-ES" dirty="0"/>
              <a:t>Haga clic para modificar el estilo de título del patrón</a:t>
            </a:r>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6"/>
            <a:ext cx="2958754" cy="2364961"/>
          </a:xfrm>
        </p:spPr>
        <p:txBody>
          <a:bodyPr>
            <a:noAutofit/>
          </a:bodyPr>
          <a:lstStyle>
            <a:lvl1pPr marL="0" indent="0" algn="r">
              <a:buFontTx/>
              <a:buNone/>
              <a:defRPr sz="16600">
                <a:solidFill>
                  <a:schemeClr val="bg1"/>
                </a:solidFill>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s-ES" dirty="0"/>
              <a:t>00</a:t>
            </a:r>
          </a:p>
        </p:txBody>
      </p:sp>
    </p:spTree>
    <p:extLst>
      <p:ext uri="{BB962C8B-B14F-4D97-AF65-F5344CB8AC3E}">
        <p14:creationId xmlns:p14="http://schemas.microsoft.com/office/powerpoint/2010/main" val="180947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ulo y contenido ">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3" name="Rectángulo 2">
            <a:extLst>
              <a:ext uri="{FF2B5EF4-FFF2-40B4-BE49-F238E27FC236}">
                <a16:creationId xmlns:a16="http://schemas.microsoft.com/office/drawing/2014/main" id="{59182B14-6A76-4D02-A7BD-076DF9A94108}"/>
              </a:ext>
            </a:extLst>
          </p:cNvPr>
          <p:cNvSpPr/>
          <p:nvPr userDrawn="1"/>
        </p:nvSpPr>
        <p:spPr>
          <a:xfrm>
            <a:off x="0" y="6564052"/>
            <a:ext cx="12192000" cy="2939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9" name="Rectángulo 8">
            <a:extLst>
              <a:ext uri="{FF2B5EF4-FFF2-40B4-BE49-F238E27FC236}">
                <a16:creationId xmlns:a16="http://schemas.microsoft.com/office/drawing/2014/main" id="{1EDB97D6-DAB5-48F5-80BA-CA57AED21F7C}"/>
              </a:ext>
            </a:extLst>
          </p:cNvPr>
          <p:cNvSpPr/>
          <p:nvPr userDrawn="1"/>
        </p:nvSpPr>
        <p:spPr>
          <a:xfrm>
            <a:off x="9605554" y="6228355"/>
            <a:ext cx="2586446" cy="354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20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22" name="Marcador de número de diapositiva 21">
            <a:extLst>
              <a:ext uri="{FF2B5EF4-FFF2-40B4-BE49-F238E27FC236}">
                <a16:creationId xmlns:a16="http://schemas.microsoft.com/office/drawing/2014/main" id="{1E8AF9DF-0B66-4115-BC89-EE5610813CBA}"/>
              </a:ext>
            </a:extLst>
          </p:cNvPr>
          <p:cNvSpPr>
            <a:spLocks noGrp="1"/>
          </p:cNvSpPr>
          <p:nvPr>
            <p:ph type="sldNum" sz="quarter" idx="17"/>
          </p:nvPr>
        </p:nvSpPr>
        <p:spPr>
          <a:xfrm>
            <a:off x="9605553" y="6241991"/>
            <a:ext cx="637904" cy="365125"/>
          </a:xfrm>
        </p:spPr>
        <p:txBody>
          <a:bodyPr/>
          <a:lstStyle>
            <a:lvl1pPr>
              <a:defRPr>
                <a:solidFill>
                  <a:schemeClr val="bg1">
                    <a:lumMod val="85000"/>
                  </a:schemeClr>
                </a:solidFill>
              </a:defRPr>
            </a:lvl1pPr>
          </a:lstStyle>
          <a:p>
            <a:fld id="{BC0D97B6-E32F-4D7D-B839-7C3B51F2640F}" type="slidenum">
              <a:rPr lang="es-ES" smtClean="0"/>
              <a:pPr/>
              <a:t>‹Nº›</a:t>
            </a:fld>
            <a:endParaRPr lang="es-ES"/>
          </a:p>
        </p:txBody>
      </p:sp>
      <p:pic>
        <p:nvPicPr>
          <p:cNvPr id="18" name="Imagen 17">
            <a:extLst>
              <a:ext uri="{FF2B5EF4-FFF2-40B4-BE49-F238E27FC236}">
                <a16:creationId xmlns:a16="http://schemas.microsoft.com/office/drawing/2014/main" id="{591B7051-469A-42C8-9141-0FF187C0BC7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2027020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ulo y contenido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5297557" cy="1606047"/>
          </a:xfrm>
        </p:spPr>
        <p:txBody>
          <a:bodyPr anchor="t">
            <a:normAutofit/>
          </a:bodyPr>
          <a:lstStyle>
            <a:lvl1pPr>
              <a:defRPr sz="3600">
                <a:solidFill>
                  <a:schemeClr val="accent1"/>
                </a:solidFill>
              </a:defRPr>
            </a:lvl1pPr>
          </a:lstStyle>
          <a:p>
            <a:r>
              <a:rPr lang="es-ES" dirty="0"/>
              <a:t>Aquí Haga clic para modificar el estilo de título del patrón</a:t>
            </a:r>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2"/>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21" name="Rectángulo 20">
            <a:extLst>
              <a:ext uri="{FF2B5EF4-FFF2-40B4-BE49-F238E27FC236}">
                <a16:creationId xmlns:a16="http://schemas.microsoft.com/office/drawing/2014/main" id="{AEE0BD67-BE6F-4609-B941-DF23A309B173}"/>
              </a:ext>
            </a:extLst>
          </p:cNvPr>
          <p:cNvSpPr/>
          <p:nvPr userDrawn="1"/>
        </p:nvSpPr>
        <p:spPr>
          <a:xfrm>
            <a:off x="0" y="6564052"/>
            <a:ext cx="12192000" cy="2939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22" name="Rectángulo 21">
            <a:extLst>
              <a:ext uri="{FF2B5EF4-FFF2-40B4-BE49-F238E27FC236}">
                <a16:creationId xmlns:a16="http://schemas.microsoft.com/office/drawing/2014/main" id="{90FF4B1D-4046-4DE4-9BBF-5201D1B7B716}"/>
              </a:ext>
            </a:extLst>
          </p:cNvPr>
          <p:cNvSpPr/>
          <p:nvPr userDrawn="1"/>
        </p:nvSpPr>
        <p:spPr>
          <a:xfrm>
            <a:off x="9605554" y="6228355"/>
            <a:ext cx="2586446" cy="354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28" name="Marcador de número de diapositiva 21">
            <a:extLst>
              <a:ext uri="{FF2B5EF4-FFF2-40B4-BE49-F238E27FC236}">
                <a16:creationId xmlns:a16="http://schemas.microsoft.com/office/drawing/2014/main" id="{09D0FBD8-5DE6-4CB8-9516-ACA316E9E578}"/>
              </a:ext>
            </a:extLst>
          </p:cNvPr>
          <p:cNvSpPr>
            <a:spLocks noGrp="1"/>
          </p:cNvSpPr>
          <p:nvPr>
            <p:ph type="sldNum" sz="quarter" idx="17"/>
          </p:nvPr>
        </p:nvSpPr>
        <p:spPr>
          <a:xfrm>
            <a:off x="9605553" y="6241991"/>
            <a:ext cx="637903" cy="365125"/>
          </a:xfrm>
        </p:spPr>
        <p:txBody>
          <a:bodyPr/>
          <a:lstStyle>
            <a:lvl1pPr>
              <a:defRPr>
                <a:solidFill>
                  <a:schemeClr val="bg1">
                    <a:lumMod val="85000"/>
                  </a:schemeClr>
                </a:solidFill>
              </a:defRPr>
            </a:lvl1pPr>
          </a:lstStyle>
          <a:p>
            <a:fld id="{BC0D97B6-E32F-4D7D-B839-7C3B51F2640F}" type="slidenum">
              <a:rPr lang="es-ES" smtClean="0"/>
              <a:pPr/>
              <a:t>‹Nº›</a:t>
            </a:fld>
            <a:endParaRPr lang="es-ES"/>
          </a:p>
        </p:txBody>
      </p:sp>
      <p:pic>
        <p:nvPicPr>
          <p:cNvPr id="16" name="Imagen 15">
            <a:extLst>
              <a:ext uri="{FF2B5EF4-FFF2-40B4-BE49-F238E27FC236}">
                <a16:creationId xmlns:a16="http://schemas.microsoft.com/office/drawing/2014/main" id="{48F97435-7CEC-4D62-9974-80C5180A8C3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2987502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ulo y conteni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10758733" cy="1823011"/>
          </a:xfrm>
        </p:spPr>
        <p:txBody>
          <a:bodyPr anchor="t">
            <a:noAutofit/>
          </a:bodyPr>
          <a:lstStyle>
            <a:lvl1pPr>
              <a:defRPr sz="3600">
                <a:solidFill>
                  <a:schemeClr val="accent1"/>
                </a:solidFill>
              </a:defRPr>
            </a:lvl1pPr>
          </a:lstStyle>
          <a:p>
            <a:r>
              <a:rPr lang="es-ES" dirty="0"/>
              <a:t>Aquí Haga clic para modificar el estilo de título del patrón</a:t>
            </a:r>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2"/>
            <a:ext cx="10758733" cy="3083401"/>
          </a:xfrm>
        </p:spPr>
        <p:txBody>
          <a:bodyPr numCol="2" spcCol="72000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7" name="Rectángulo 6">
            <a:extLst>
              <a:ext uri="{FF2B5EF4-FFF2-40B4-BE49-F238E27FC236}">
                <a16:creationId xmlns:a16="http://schemas.microsoft.com/office/drawing/2014/main" id="{FECA4409-BAF2-4998-B27F-D080622A5B7D}"/>
              </a:ext>
            </a:extLst>
          </p:cNvPr>
          <p:cNvSpPr/>
          <p:nvPr userDrawn="1"/>
        </p:nvSpPr>
        <p:spPr>
          <a:xfrm>
            <a:off x="0" y="6564052"/>
            <a:ext cx="12192000" cy="2939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8" name="Rectángulo 7">
            <a:extLst>
              <a:ext uri="{FF2B5EF4-FFF2-40B4-BE49-F238E27FC236}">
                <a16:creationId xmlns:a16="http://schemas.microsoft.com/office/drawing/2014/main" id="{E7447D56-E9D8-4B85-BD58-8FCA8536BEE2}"/>
              </a:ext>
            </a:extLst>
          </p:cNvPr>
          <p:cNvSpPr/>
          <p:nvPr userDrawn="1"/>
        </p:nvSpPr>
        <p:spPr>
          <a:xfrm>
            <a:off x="9605554" y="6228355"/>
            <a:ext cx="2586446" cy="354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18" name="Marcador de número de diapositiva 21">
            <a:extLst>
              <a:ext uri="{FF2B5EF4-FFF2-40B4-BE49-F238E27FC236}">
                <a16:creationId xmlns:a16="http://schemas.microsoft.com/office/drawing/2014/main" id="{CB56DA5D-FD8B-4712-90FA-5886390A3587}"/>
              </a:ext>
            </a:extLst>
          </p:cNvPr>
          <p:cNvSpPr>
            <a:spLocks noGrp="1"/>
          </p:cNvSpPr>
          <p:nvPr>
            <p:ph type="sldNum" sz="quarter" idx="17"/>
          </p:nvPr>
        </p:nvSpPr>
        <p:spPr>
          <a:xfrm>
            <a:off x="9605553" y="6241991"/>
            <a:ext cx="637904" cy="365125"/>
          </a:xfrm>
        </p:spPr>
        <p:txBody>
          <a:bodyPr/>
          <a:lstStyle>
            <a:lvl1pPr>
              <a:defRPr>
                <a:solidFill>
                  <a:schemeClr val="bg1">
                    <a:lumMod val="85000"/>
                  </a:schemeClr>
                </a:solidFill>
              </a:defRPr>
            </a:lvl1pPr>
          </a:lstStyle>
          <a:p>
            <a:fld id="{BC0D97B6-E32F-4D7D-B839-7C3B51F2640F}" type="slidenum">
              <a:rPr lang="es-ES" smtClean="0"/>
              <a:pPr/>
              <a:t>‹Nº›</a:t>
            </a:fld>
            <a:endParaRPr lang="es-ES"/>
          </a:p>
        </p:txBody>
      </p:sp>
      <p:pic>
        <p:nvPicPr>
          <p:cNvPr id="19" name="Imagen 18">
            <a:extLst>
              <a:ext uri="{FF2B5EF4-FFF2-40B4-BE49-F238E27FC236}">
                <a16:creationId xmlns:a16="http://schemas.microsoft.com/office/drawing/2014/main" id="{9489396A-65FA-41A4-9217-1428C544F86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2887770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stac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31970" y="1109759"/>
            <a:ext cx="3801119" cy="5050689"/>
          </a:xfrm>
        </p:spPr>
        <p:txBody>
          <a:bodyPr anchor="t">
            <a:noAutofit/>
          </a:bodyPr>
          <a:lstStyle>
            <a:lvl1pPr>
              <a:defRPr sz="2500" b="1">
                <a:solidFill>
                  <a:schemeClr val="accent3"/>
                </a:solidFill>
              </a:defRPr>
            </a:lvl1pPr>
          </a:lstStyle>
          <a:p>
            <a:r>
              <a:rPr lang="es-ES" dirty="0" err="1"/>
              <a:t>Lorem</a:t>
            </a:r>
            <a:r>
              <a:rPr lang="es-ES" dirty="0"/>
              <a:t> Haga clic para modificar el estilo de título del patrón</a:t>
            </a:r>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2" y="1126274"/>
            <a:ext cx="6697035" cy="5050690"/>
          </a:xfrm>
        </p:spPr>
        <p:txBody>
          <a:bodyPr numCol="1" spcCol="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7" name="Rectángulo 6">
            <a:extLst>
              <a:ext uri="{FF2B5EF4-FFF2-40B4-BE49-F238E27FC236}">
                <a16:creationId xmlns:a16="http://schemas.microsoft.com/office/drawing/2014/main" id="{B5AB81E6-1CEB-4DAC-9256-365E3764CCAB}"/>
              </a:ext>
            </a:extLst>
          </p:cNvPr>
          <p:cNvSpPr/>
          <p:nvPr userDrawn="1"/>
        </p:nvSpPr>
        <p:spPr>
          <a:xfrm>
            <a:off x="0" y="6564052"/>
            <a:ext cx="12192000" cy="2939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8" name="Rectángulo 7">
            <a:extLst>
              <a:ext uri="{FF2B5EF4-FFF2-40B4-BE49-F238E27FC236}">
                <a16:creationId xmlns:a16="http://schemas.microsoft.com/office/drawing/2014/main" id="{7A4309CD-82EC-4297-AAFD-8A4FCC5D393E}"/>
              </a:ext>
            </a:extLst>
          </p:cNvPr>
          <p:cNvSpPr/>
          <p:nvPr userDrawn="1"/>
        </p:nvSpPr>
        <p:spPr>
          <a:xfrm>
            <a:off x="9605554" y="6228355"/>
            <a:ext cx="2586446" cy="354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18" name="Marcador de número de diapositiva 21">
            <a:extLst>
              <a:ext uri="{FF2B5EF4-FFF2-40B4-BE49-F238E27FC236}">
                <a16:creationId xmlns:a16="http://schemas.microsoft.com/office/drawing/2014/main" id="{072BE8AA-42A9-4582-89AE-E5FC0723BE84}"/>
              </a:ext>
            </a:extLst>
          </p:cNvPr>
          <p:cNvSpPr>
            <a:spLocks noGrp="1"/>
          </p:cNvSpPr>
          <p:nvPr>
            <p:ph type="sldNum" sz="quarter" idx="17"/>
          </p:nvPr>
        </p:nvSpPr>
        <p:spPr>
          <a:xfrm>
            <a:off x="9605553" y="6241991"/>
            <a:ext cx="637904" cy="365125"/>
          </a:xfrm>
        </p:spPr>
        <p:txBody>
          <a:bodyPr/>
          <a:lstStyle>
            <a:lvl1pPr>
              <a:defRPr>
                <a:solidFill>
                  <a:schemeClr val="bg1">
                    <a:lumMod val="85000"/>
                  </a:schemeClr>
                </a:solidFill>
              </a:defRPr>
            </a:lvl1pPr>
          </a:lstStyle>
          <a:p>
            <a:fld id="{BC0D97B6-E32F-4D7D-B839-7C3B51F2640F}" type="slidenum">
              <a:rPr lang="es-ES" smtClean="0"/>
              <a:pPr/>
              <a:t>‹Nº›</a:t>
            </a:fld>
            <a:endParaRPr lang="es-ES"/>
          </a:p>
        </p:txBody>
      </p:sp>
      <p:pic>
        <p:nvPicPr>
          <p:cNvPr id="20" name="Imagen 19">
            <a:extLst>
              <a:ext uri="{FF2B5EF4-FFF2-40B4-BE49-F238E27FC236}">
                <a16:creationId xmlns:a16="http://schemas.microsoft.com/office/drawing/2014/main" id="{CB31407A-A594-4E2E-A1A5-E2F6691D8D5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3148307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ido y gráfico ">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hasCustomPrompt="1"/>
          </p:nvPr>
        </p:nvSpPr>
        <p:spPr>
          <a:xfrm>
            <a:off x="722243" y="1087458"/>
            <a:ext cx="3911401" cy="1183132"/>
          </a:xfrm>
        </p:spPr>
        <p:txBody>
          <a:bodyPr anchor="t">
            <a:normAutofit/>
          </a:bodyPr>
          <a:lstStyle>
            <a:lvl1pPr>
              <a:defRPr sz="3600">
                <a:solidFill>
                  <a:schemeClr val="accent1"/>
                </a:solidFill>
              </a:defRPr>
            </a:lvl1pPr>
          </a:lstStyle>
          <a:p>
            <a:r>
              <a:rPr lang="es-ES" dirty="0"/>
              <a:t>Título del patrón</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2517170"/>
            <a:ext cx="3911401" cy="365979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5" y="1087438"/>
            <a:ext cx="6683550" cy="5122862"/>
          </a:xfrm>
        </p:spPr>
        <p:txBody>
          <a:bodyPr>
            <a:normAutofit/>
          </a:bodyPr>
          <a:lstStyle>
            <a:lvl1pPr marL="0" indent="0" algn="ctr">
              <a:buNone/>
              <a:defRPr sz="1600"/>
            </a:lvl1pPr>
          </a:lstStyle>
          <a:p>
            <a:r>
              <a:rPr lang="es-MX" dirty="0"/>
              <a:t>Inserte </a:t>
            </a:r>
            <a:r>
              <a:rPr lang="es-MX" dirty="0" err="1"/>
              <a:t>aqu</a:t>
            </a:r>
            <a:r>
              <a:rPr lang="es-ES" dirty="0"/>
              <a:t>í su gráfico</a:t>
            </a:r>
          </a:p>
        </p:txBody>
      </p:sp>
      <p:sp>
        <p:nvSpPr>
          <p:cNvPr id="8" name="Rectángulo 7">
            <a:extLst>
              <a:ext uri="{FF2B5EF4-FFF2-40B4-BE49-F238E27FC236}">
                <a16:creationId xmlns:a16="http://schemas.microsoft.com/office/drawing/2014/main" id="{037CF5D8-B8B6-4106-9452-E8FCB4212321}"/>
              </a:ext>
            </a:extLst>
          </p:cNvPr>
          <p:cNvSpPr/>
          <p:nvPr userDrawn="1"/>
        </p:nvSpPr>
        <p:spPr>
          <a:xfrm>
            <a:off x="0" y="6564052"/>
            <a:ext cx="12192000" cy="2939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12" name="Rectángulo 11">
            <a:extLst>
              <a:ext uri="{FF2B5EF4-FFF2-40B4-BE49-F238E27FC236}">
                <a16:creationId xmlns:a16="http://schemas.microsoft.com/office/drawing/2014/main" id="{21F9F3BE-6229-47F1-B663-DA843A6A24DF}"/>
              </a:ext>
            </a:extLst>
          </p:cNvPr>
          <p:cNvSpPr/>
          <p:nvPr userDrawn="1"/>
        </p:nvSpPr>
        <p:spPr>
          <a:xfrm>
            <a:off x="9605554" y="6228355"/>
            <a:ext cx="2586446" cy="354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20" name="Marcador de número de diapositiva 21">
            <a:extLst>
              <a:ext uri="{FF2B5EF4-FFF2-40B4-BE49-F238E27FC236}">
                <a16:creationId xmlns:a16="http://schemas.microsoft.com/office/drawing/2014/main" id="{EA8D68A0-CB9D-4A84-B9F6-D2863B8542E2}"/>
              </a:ext>
            </a:extLst>
          </p:cNvPr>
          <p:cNvSpPr>
            <a:spLocks noGrp="1"/>
          </p:cNvSpPr>
          <p:nvPr>
            <p:ph type="sldNum" sz="quarter" idx="18"/>
          </p:nvPr>
        </p:nvSpPr>
        <p:spPr>
          <a:xfrm>
            <a:off x="9605553" y="6241991"/>
            <a:ext cx="637904" cy="365125"/>
          </a:xfrm>
        </p:spPr>
        <p:txBody>
          <a:bodyPr/>
          <a:lstStyle>
            <a:lvl1pPr>
              <a:defRPr>
                <a:solidFill>
                  <a:schemeClr val="bg1">
                    <a:lumMod val="85000"/>
                  </a:schemeClr>
                </a:solidFill>
              </a:defRPr>
            </a:lvl1pPr>
          </a:lstStyle>
          <a:p>
            <a:fld id="{BC0D97B6-E32F-4D7D-B839-7C3B51F2640F}" type="slidenum">
              <a:rPr lang="es-ES" smtClean="0"/>
              <a:pPr/>
              <a:t>‹Nº›</a:t>
            </a:fld>
            <a:endParaRPr lang="es-ES"/>
          </a:p>
        </p:txBody>
      </p:sp>
      <p:pic>
        <p:nvPicPr>
          <p:cNvPr id="21" name="Imagen 20">
            <a:extLst>
              <a:ext uri="{FF2B5EF4-FFF2-40B4-BE49-F238E27FC236}">
                <a16:creationId xmlns:a16="http://schemas.microsoft.com/office/drawing/2014/main" id="{B3C40DBD-CD06-41EC-B11E-82458866C8B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3428648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ido y gráfico 2">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4985162"/>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1200" kern="1200" smtClean="0">
                <a:solidFill>
                  <a:schemeClr val="tx2"/>
                </a:solidFill>
                <a:latin typeface="+mn-lt"/>
                <a:ea typeface="+mn-ea"/>
                <a:cs typeface="+mn-cs"/>
              </a:defRPr>
            </a:lvl1pPr>
          </a:lstStyle>
          <a:p>
            <a:r>
              <a:rPr lang="es-ES" dirty="0"/>
              <a:t>Inserte aquí su tabla</a:t>
            </a:r>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8" name="Rectángulo 7">
            <a:extLst>
              <a:ext uri="{FF2B5EF4-FFF2-40B4-BE49-F238E27FC236}">
                <a16:creationId xmlns:a16="http://schemas.microsoft.com/office/drawing/2014/main" id="{55B713A2-826A-4E82-B201-1ADD3FC8A417}"/>
              </a:ext>
            </a:extLst>
          </p:cNvPr>
          <p:cNvSpPr/>
          <p:nvPr userDrawn="1"/>
        </p:nvSpPr>
        <p:spPr>
          <a:xfrm>
            <a:off x="0" y="6564052"/>
            <a:ext cx="12192000" cy="2939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9" name="Rectángulo 8">
            <a:extLst>
              <a:ext uri="{FF2B5EF4-FFF2-40B4-BE49-F238E27FC236}">
                <a16:creationId xmlns:a16="http://schemas.microsoft.com/office/drawing/2014/main" id="{C21976C2-844C-444B-9147-3D9F98D850A9}"/>
              </a:ext>
            </a:extLst>
          </p:cNvPr>
          <p:cNvSpPr/>
          <p:nvPr userDrawn="1"/>
        </p:nvSpPr>
        <p:spPr>
          <a:xfrm>
            <a:off x="9605554" y="6228355"/>
            <a:ext cx="2586446" cy="354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21" name="Marcador de número de diapositiva 21">
            <a:extLst>
              <a:ext uri="{FF2B5EF4-FFF2-40B4-BE49-F238E27FC236}">
                <a16:creationId xmlns:a16="http://schemas.microsoft.com/office/drawing/2014/main" id="{7A868CEC-DE3C-4772-97CA-6944E56C722F}"/>
              </a:ext>
            </a:extLst>
          </p:cNvPr>
          <p:cNvSpPr>
            <a:spLocks noGrp="1"/>
          </p:cNvSpPr>
          <p:nvPr>
            <p:ph type="sldNum" sz="quarter" idx="17"/>
          </p:nvPr>
        </p:nvSpPr>
        <p:spPr>
          <a:xfrm>
            <a:off x="9605553" y="6241991"/>
            <a:ext cx="637904" cy="365125"/>
          </a:xfrm>
        </p:spPr>
        <p:txBody>
          <a:bodyPr/>
          <a:lstStyle>
            <a:lvl1pPr>
              <a:defRPr>
                <a:solidFill>
                  <a:schemeClr val="bg1">
                    <a:lumMod val="85000"/>
                  </a:schemeClr>
                </a:solidFill>
              </a:defRPr>
            </a:lvl1pPr>
          </a:lstStyle>
          <a:p>
            <a:fld id="{BC0D97B6-E32F-4D7D-B839-7C3B51F2640F}" type="slidenum">
              <a:rPr lang="es-ES" smtClean="0"/>
              <a:pPr/>
              <a:t>‹Nº›</a:t>
            </a:fld>
            <a:endParaRPr lang="es-ES"/>
          </a:p>
        </p:txBody>
      </p:sp>
      <p:pic>
        <p:nvPicPr>
          <p:cNvPr id="22" name="Imagen 21">
            <a:extLst>
              <a:ext uri="{FF2B5EF4-FFF2-40B4-BE49-F238E27FC236}">
                <a16:creationId xmlns:a16="http://schemas.microsoft.com/office/drawing/2014/main" id="{375ED1BF-2FC1-4633-8A14-13686942A4D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2947261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ido y gráfico 3 ">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2" y="1191802"/>
            <a:ext cx="6456737"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400">
                <a:solidFill>
                  <a:schemeClr val="tx2"/>
                </a:solidFill>
              </a:defRPr>
            </a:lvl1pPr>
          </a:lstStyle>
          <a:p>
            <a:r>
              <a:rPr lang="es-ES" dirty="0"/>
              <a:t>Inserte aquí su gráfico</a:t>
            </a:r>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8" cy="3605788"/>
          </a:xfrm>
        </p:spPr>
        <p:txBody>
          <a:bodyPr>
            <a:normAutofit/>
          </a:bodyPr>
          <a:lstStyle>
            <a:lvl1pPr marL="0" indent="0" algn="ctr">
              <a:buFontTx/>
              <a:buNone/>
              <a:defRPr sz="1400">
                <a:solidFill>
                  <a:schemeClr val="tx2"/>
                </a:solidFill>
              </a:defRPr>
            </a:lvl1pPr>
          </a:lstStyle>
          <a:p>
            <a:r>
              <a:rPr lang="es-ES" dirty="0"/>
              <a:t>Inserte aquí su gráfico</a:t>
            </a:r>
          </a:p>
        </p:txBody>
      </p:sp>
      <p:sp>
        <p:nvSpPr>
          <p:cNvPr id="18" name="Forma libre: forma 17">
            <a:extLst>
              <a:ext uri="{FF2B5EF4-FFF2-40B4-BE49-F238E27FC236}">
                <a16:creationId xmlns:a16="http://schemas.microsoft.com/office/drawing/2014/main" id="{AEAA6F10-C407-4622-AF96-B2605139D86B}"/>
              </a:ext>
            </a:extLst>
          </p:cNvPr>
          <p:cNvSpPr/>
          <p:nvPr userDrawn="1"/>
        </p:nvSpPr>
        <p:spPr>
          <a:xfrm>
            <a:off x="4742395" y="3685061"/>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11">
            <a:extLst>
              <a:ext uri="{FF2B5EF4-FFF2-40B4-BE49-F238E27FC236}">
                <a16:creationId xmlns:a16="http://schemas.microsoft.com/office/drawing/2014/main" id="{B329C37B-1C06-4E3B-841B-7D3046A50273}"/>
              </a:ext>
            </a:extLst>
          </p:cNvPr>
          <p:cNvSpPr/>
          <p:nvPr userDrawn="1"/>
        </p:nvSpPr>
        <p:spPr>
          <a:xfrm>
            <a:off x="0" y="6564052"/>
            <a:ext cx="12192000" cy="2939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14" name="Rectángulo 13">
            <a:extLst>
              <a:ext uri="{FF2B5EF4-FFF2-40B4-BE49-F238E27FC236}">
                <a16:creationId xmlns:a16="http://schemas.microsoft.com/office/drawing/2014/main" id="{CBD1B6AC-2664-4B1A-997A-D167A7D0ACE3}"/>
              </a:ext>
            </a:extLst>
          </p:cNvPr>
          <p:cNvSpPr/>
          <p:nvPr userDrawn="1"/>
        </p:nvSpPr>
        <p:spPr>
          <a:xfrm>
            <a:off x="9605554" y="6228355"/>
            <a:ext cx="2586446" cy="354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24" name="Marcador de número de diapositiva 21">
            <a:extLst>
              <a:ext uri="{FF2B5EF4-FFF2-40B4-BE49-F238E27FC236}">
                <a16:creationId xmlns:a16="http://schemas.microsoft.com/office/drawing/2014/main" id="{20268DA5-71D0-4005-9A0F-7C2D16E7C07F}"/>
              </a:ext>
            </a:extLst>
          </p:cNvPr>
          <p:cNvSpPr>
            <a:spLocks noGrp="1"/>
          </p:cNvSpPr>
          <p:nvPr>
            <p:ph type="sldNum" sz="quarter" idx="17"/>
          </p:nvPr>
        </p:nvSpPr>
        <p:spPr>
          <a:xfrm>
            <a:off x="9605553" y="6241991"/>
            <a:ext cx="637904" cy="365125"/>
          </a:xfrm>
        </p:spPr>
        <p:txBody>
          <a:bodyPr/>
          <a:lstStyle>
            <a:lvl1pPr>
              <a:defRPr>
                <a:solidFill>
                  <a:schemeClr val="bg1">
                    <a:lumMod val="85000"/>
                  </a:schemeClr>
                </a:solidFill>
              </a:defRPr>
            </a:lvl1pPr>
          </a:lstStyle>
          <a:p>
            <a:fld id="{BC0D97B6-E32F-4D7D-B839-7C3B51F2640F}" type="slidenum">
              <a:rPr lang="es-ES" smtClean="0"/>
              <a:pPr/>
              <a:t>‹Nº›</a:t>
            </a:fld>
            <a:endParaRPr lang="es-ES"/>
          </a:p>
        </p:txBody>
      </p:sp>
      <p:pic>
        <p:nvPicPr>
          <p:cNvPr id="25" name="Imagen 24">
            <a:extLst>
              <a:ext uri="{FF2B5EF4-FFF2-40B4-BE49-F238E27FC236}">
                <a16:creationId xmlns:a16="http://schemas.microsoft.com/office/drawing/2014/main" id="{3DF21A10-8B0D-463D-ACD9-B875B27FA4A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3805660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ierre y contacto">
    <p:spTree>
      <p:nvGrpSpPr>
        <p:cNvPr id="1" name=""/>
        <p:cNvGrpSpPr/>
        <p:nvPr/>
      </p:nvGrpSpPr>
      <p:grpSpPr>
        <a:xfrm>
          <a:off x="0" y="0"/>
          <a:ext cx="0" cy="0"/>
          <a:chOff x="0" y="0"/>
          <a:chExt cx="0" cy="0"/>
        </a:xfrm>
      </p:grpSpPr>
      <p:sp>
        <p:nvSpPr>
          <p:cNvPr id="23" name="CuadroTexto 22">
            <a:extLst>
              <a:ext uri="{FF2B5EF4-FFF2-40B4-BE49-F238E27FC236}">
                <a16:creationId xmlns:a16="http://schemas.microsoft.com/office/drawing/2014/main" id="{B163354C-97AE-4FC8-BF01-B7FCA9B2C7C0}"/>
              </a:ext>
            </a:extLst>
          </p:cNvPr>
          <p:cNvSpPr txBox="1"/>
          <p:nvPr userDrawn="1"/>
        </p:nvSpPr>
        <p:spPr>
          <a:xfrm>
            <a:off x="719288" y="1945649"/>
            <a:ext cx="3365478" cy="1169551"/>
          </a:xfrm>
          <a:prstGeom prst="rect">
            <a:avLst/>
          </a:prstGeom>
          <a:noFill/>
        </p:spPr>
        <p:txBody>
          <a:bodyPr wrap="square" rtlCol="0">
            <a:spAutoFit/>
          </a:bodyPr>
          <a:lstStyle/>
          <a:p>
            <a:r>
              <a:rPr lang="es-ES" sz="1400" dirty="0">
                <a:solidFill>
                  <a:schemeClr val="tx2"/>
                </a:solidFill>
              </a:rPr>
              <a:t>Nuestro propósito es ayudar a personas y empresas a prosperar.</a:t>
            </a:r>
          </a:p>
          <a:p>
            <a:endParaRPr lang="es-ES" sz="1400" dirty="0">
              <a:solidFill>
                <a:schemeClr val="tx2"/>
              </a:solidFill>
            </a:endParaRPr>
          </a:p>
          <a:p>
            <a:r>
              <a:rPr lang="es-ES" sz="1400" dirty="0">
                <a:solidFill>
                  <a:schemeClr val="tx2"/>
                </a:solidFill>
              </a:rPr>
              <a:t>Nuestra cultura se basa en la creencia de que todo lo que hacemos debe ser</a:t>
            </a:r>
          </a:p>
        </p:txBody>
      </p:sp>
      <p:pic>
        <p:nvPicPr>
          <p:cNvPr id="25" name="Gráfico 24">
            <a:extLst>
              <a:ext uri="{FF2B5EF4-FFF2-40B4-BE49-F238E27FC236}">
                <a16:creationId xmlns:a16="http://schemas.microsoft.com/office/drawing/2014/main" id="{B0E05CB1-1BF0-48C0-9240-26433BD0868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9150" y="3461863"/>
            <a:ext cx="2790825" cy="202298"/>
          </a:xfrm>
          <a:prstGeom prst="rect">
            <a:avLst/>
          </a:prstGeom>
        </p:spPr>
      </p:pic>
      <p:sp>
        <p:nvSpPr>
          <p:cNvPr id="28" name="CuadroTexto 27">
            <a:extLst>
              <a:ext uri="{FF2B5EF4-FFF2-40B4-BE49-F238E27FC236}">
                <a16:creationId xmlns:a16="http://schemas.microsoft.com/office/drawing/2014/main" id="{68E35268-345F-47C7-ADB2-CE92421E8EED}"/>
              </a:ext>
            </a:extLst>
          </p:cNvPr>
          <p:cNvSpPr txBox="1"/>
          <p:nvPr userDrawn="1"/>
        </p:nvSpPr>
        <p:spPr>
          <a:xfrm>
            <a:off x="721506" y="628193"/>
            <a:ext cx="3365478" cy="707886"/>
          </a:xfrm>
          <a:prstGeom prst="rect">
            <a:avLst/>
          </a:prstGeom>
          <a:noFill/>
        </p:spPr>
        <p:txBody>
          <a:bodyPr wrap="square" rtlCol="0">
            <a:spAutoFit/>
          </a:bodyPr>
          <a:lstStyle/>
          <a:p>
            <a:r>
              <a:rPr lang="es-ES" sz="4000" dirty="0">
                <a:solidFill>
                  <a:schemeClr val="accent1"/>
                </a:solidFill>
              </a:rPr>
              <a:t>Gracias.</a:t>
            </a:r>
          </a:p>
        </p:txBody>
      </p:sp>
      <p:sp>
        <p:nvSpPr>
          <p:cNvPr id="26" name="Forma libre: forma 25">
            <a:extLst>
              <a:ext uri="{FF2B5EF4-FFF2-40B4-BE49-F238E27FC236}">
                <a16:creationId xmlns:a16="http://schemas.microsoft.com/office/drawing/2014/main" id="{0BB74D91-4BBB-4BA5-8174-C7E35E5961C9}"/>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7" name="Gráfico 26">
            <a:extLst>
              <a:ext uri="{FF2B5EF4-FFF2-40B4-BE49-F238E27FC236}">
                <a16:creationId xmlns:a16="http://schemas.microsoft.com/office/drawing/2014/main" id="{453C94BF-7264-43A7-A285-3A79527C0FB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21978" y="5727401"/>
            <a:ext cx="1896592" cy="332588"/>
          </a:xfrm>
          <a:prstGeom prst="rect">
            <a:avLst/>
          </a:prstGeom>
        </p:spPr>
      </p:pic>
      <p:pic>
        <p:nvPicPr>
          <p:cNvPr id="29" name="Picture 2" descr="Resultado de imagen de DJSI Member Log">
            <a:extLst>
              <a:ext uri="{FF2B5EF4-FFF2-40B4-BE49-F238E27FC236}">
                <a16:creationId xmlns:a16="http://schemas.microsoft.com/office/drawing/2014/main" id="{68EE0471-3230-4495-9C15-4D531B9107E8}"/>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5796918" y="5573143"/>
            <a:ext cx="1347482"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30" name="Grupo 29">
            <a:extLst>
              <a:ext uri="{FF2B5EF4-FFF2-40B4-BE49-F238E27FC236}">
                <a16:creationId xmlns:a16="http://schemas.microsoft.com/office/drawing/2014/main" id="{D62E46C0-9602-463B-AC58-4C1569F300B6}"/>
              </a:ext>
            </a:extLst>
          </p:cNvPr>
          <p:cNvGrpSpPr/>
          <p:nvPr userDrawn="1"/>
        </p:nvGrpSpPr>
        <p:grpSpPr>
          <a:xfrm>
            <a:off x="7612559" y="5573576"/>
            <a:ext cx="578707" cy="455017"/>
            <a:chOff x="2203451" y="-4230356"/>
            <a:chExt cx="6896100" cy="5422158"/>
          </a:xfrm>
        </p:grpSpPr>
        <p:pic>
          <p:nvPicPr>
            <p:cNvPr id="32" name="Imagen 31" descr="Imagen relacionada">
              <a:extLst>
                <a:ext uri="{FF2B5EF4-FFF2-40B4-BE49-F238E27FC236}">
                  <a16:creationId xmlns:a16="http://schemas.microsoft.com/office/drawing/2014/main" id="{DA0EEF74-467A-4782-B609-7489F80D3EB5}"/>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l="22544" t="3352" r="22378" b="28229"/>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33" name="Imagen 32" descr="Imagen relacionada">
              <a:extLst>
                <a:ext uri="{FF2B5EF4-FFF2-40B4-BE49-F238E27FC236}">
                  <a16:creationId xmlns:a16="http://schemas.microsoft.com/office/drawing/2014/main" id="{0B868B31-2647-4055-889B-D4DBD9C79F04}"/>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t="78757"/>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34" name="Forma libre: forma 33">
            <a:extLst>
              <a:ext uri="{FF2B5EF4-FFF2-40B4-BE49-F238E27FC236}">
                <a16:creationId xmlns:a16="http://schemas.microsoft.com/office/drawing/2014/main" id="{74E24BE0-5011-4D14-A921-84A0D68DF3C0}"/>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sp>
        <p:nvSpPr>
          <p:cNvPr id="35" name="Marcador de número de diapositiva 20">
            <a:extLst>
              <a:ext uri="{FF2B5EF4-FFF2-40B4-BE49-F238E27FC236}">
                <a16:creationId xmlns:a16="http://schemas.microsoft.com/office/drawing/2014/main" id="{C89DCEB1-7503-4C8F-BD92-9D17F45BAD8F}"/>
              </a:ext>
            </a:extLst>
          </p:cNvPr>
          <p:cNvSpPr>
            <a:spLocks noGrp="1"/>
          </p:cNvSpPr>
          <p:nvPr>
            <p:ph type="sldNum" sz="quarter" idx="17"/>
          </p:nvPr>
        </p:nvSpPr>
        <p:spPr>
          <a:xfrm>
            <a:off x="7500257" y="6241991"/>
            <a:ext cx="2743200" cy="365125"/>
          </a:xfrm>
        </p:spPr>
        <p:txBody>
          <a:bodyPr/>
          <a:lstStyle/>
          <a:p>
            <a:fld id="{BC0D97B6-E32F-4D7D-B839-7C3B51F2640F}" type="slidenum">
              <a:rPr lang="es-ES" smtClean="0"/>
              <a:t>‹Nº›</a:t>
            </a:fld>
            <a:endParaRPr lang="es-ES"/>
          </a:p>
        </p:txBody>
      </p:sp>
      <p:pic>
        <p:nvPicPr>
          <p:cNvPr id="36" name="Imagen 35">
            <a:extLst>
              <a:ext uri="{FF2B5EF4-FFF2-40B4-BE49-F238E27FC236}">
                <a16:creationId xmlns:a16="http://schemas.microsoft.com/office/drawing/2014/main" id="{13FF58FC-DBDC-45DD-8B2A-9B8F03329BBF}"/>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370936" y="5460275"/>
            <a:ext cx="2437890" cy="1105555"/>
          </a:xfrm>
          <a:prstGeom prst="rect">
            <a:avLst/>
          </a:prstGeom>
        </p:spPr>
      </p:pic>
    </p:spTree>
    <p:extLst>
      <p:ext uri="{BB962C8B-B14F-4D97-AF65-F5344CB8AC3E}">
        <p14:creationId xmlns:p14="http://schemas.microsoft.com/office/powerpoint/2010/main" val="2817619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Índice">
    <p:spTree>
      <p:nvGrpSpPr>
        <p:cNvPr id="1" name=""/>
        <p:cNvGrpSpPr/>
        <p:nvPr/>
      </p:nvGrpSpPr>
      <p:grpSpPr>
        <a:xfrm>
          <a:off x="0" y="0"/>
          <a:ext cx="0" cy="0"/>
          <a:chOff x="0" y="0"/>
          <a:chExt cx="0" cy="0"/>
        </a:xfrm>
      </p:grpSpPr>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pic>
        <p:nvPicPr>
          <p:cNvPr id="5" name="Imagen 4">
            <a:extLst>
              <a:ext uri="{FF2B5EF4-FFF2-40B4-BE49-F238E27FC236}">
                <a16:creationId xmlns:a16="http://schemas.microsoft.com/office/drawing/2014/main" id="{BED12A1D-2539-46EE-A31E-B7035AE1F30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32425" y="6204642"/>
            <a:ext cx="1442162" cy="653358"/>
          </a:xfrm>
          <a:prstGeom prst="rect">
            <a:avLst/>
          </a:prstGeom>
        </p:spPr>
      </p:pic>
    </p:spTree>
    <p:extLst>
      <p:ext uri="{BB962C8B-B14F-4D97-AF65-F5344CB8AC3E}">
        <p14:creationId xmlns:p14="http://schemas.microsoft.com/office/powerpoint/2010/main" val="3206557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Null_2">
    <p:spTree>
      <p:nvGrpSpPr>
        <p:cNvPr id="1" name=""/>
        <p:cNvGrpSpPr/>
        <p:nvPr/>
      </p:nvGrpSpPr>
      <p:grpSpPr>
        <a:xfrm>
          <a:off x="0" y="0"/>
          <a:ext cx="0" cy="0"/>
          <a:chOff x="0" y="0"/>
          <a:chExt cx="0" cy="0"/>
        </a:xfrm>
      </p:grpSpPr>
      <p:sp>
        <p:nvSpPr>
          <p:cNvPr id="2" name="Marcador de texto 3"/>
          <p:cNvSpPr>
            <a:spLocks noGrp="1"/>
          </p:cNvSpPr>
          <p:nvPr>
            <p:ph type="body" sz="quarter" idx="12" hasCustomPrompt="1"/>
          </p:nvPr>
        </p:nvSpPr>
        <p:spPr>
          <a:xfrm>
            <a:off x="653142" y="328774"/>
            <a:ext cx="10833365" cy="318498"/>
          </a:xfrm>
          <a:prstGeom prst="rect">
            <a:avLst/>
          </a:prstGeom>
        </p:spPr>
        <p:txBody>
          <a:bodyPr>
            <a:normAutofit/>
          </a:bodyPr>
          <a:lstStyle>
            <a:lvl1pPr marL="0" indent="0">
              <a:buFontTx/>
              <a:buNone/>
              <a:defRPr sz="1300" b="1" baseline="0">
                <a:solidFill>
                  <a:srgbClr val="EB0000"/>
                </a:solidFill>
                <a:latin typeface="Arial cuerpo"/>
                <a:ea typeface="Segoe UI" panose="020B0502040204020203" pitchFamily="34" charset="0"/>
                <a:cs typeface="Segoe UI" panose="020B0502040204020203" pitchFamily="34" charset="0"/>
              </a:defRPr>
            </a:lvl1pPr>
            <a:lvl2pPr marL="457200" indent="0">
              <a:buFontTx/>
              <a:buNone/>
              <a:defRPr sz="3200">
                <a:solidFill>
                  <a:srgbClr val="FF0000"/>
                </a:solidFill>
              </a:defRPr>
            </a:lvl2pPr>
            <a:lvl3pPr marL="914400" indent="0">
              <a:buFontTx/>
              <a:buNone/>
              <a:defRPr sz="3200">
                <a:solidFill>
                  <a:srgbClr val="FF0000"/>
                </a:solidFill>
              </a:defRPr>
            </a:lvl3pPr>
            <a:lvl4pPr marL="1371600" indent="0">
              <a:buFontTx/>
              <a:buNone/>
              <a:defRPr sz="3200">
                <a:solidFill>
                  <a:srgbClr val="FF0000"/>
                </a:solidFill>
              </a:defRPr>
            </a:lvl4pPr>
            <a:lvl5pPr marL="1828800" indent="0">
              <a:buFontTx/>
              <a:buNone/>
              <a:defRPr sz="3200">
                <a:solidFill>
                  <a:srgbClr val="FF0000"/>
                </a:solidFill>
              </a:defRPr>
            </a:lvl5pPr>
          </a:lstStyle>
          <a:p>
            <a:pPr lvl="0"/>
            <a:r>
              <a:rPr lang="es-ES" dirty="0"/>
              <a:t>Clic para editar el título</a:t>
            </a:r>
          </a:p>
        </p:txBody>
      </p:sp>
      <p:sp>
        <p:nvSpPr>
          <p:cNvPr id="4" name="Text Placeholder 2"/>
          <p:cNvSpPr>
            <a:spLocks noGrp="1"/>
          </p:cNvSpPr>
          <p:nvPr>
            <p:ph type="body" idx="13"/>
          </p:nvPr>
        </p:nvSpPr>
        <p:spPr>
          <a:xfrm>
            <a:off x="653141" y="740515"/>
            <a:ext cx="10833365" cy="276627"/>
          </a:xfrm>
          <a:prstGeom prst="rect">
            <a:avLst/>
          </a:prstGeom>
        </p:spPr>
        <p:txBody>
          <a:bodyPr anchor="t" anchorCtr="0">
            <a:normAutofit/>
          </a:bodyPr>
          <a:lstStyle>
            <a:lvl1pPr marL="0" indent="0">
              <a:buFontTx/>
              <a:buNone/>
              <a:defRPr lang="es-ES" sz="1200" i="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182563" lvl="0" indent="-182563">
              <a:lnSpc>
                <a:spcPct val="100000"/>
              </a:lnSpc>
              <a:spcBef>
                <a:spcPts val="1800"/>
              </a:spcBef>
              <a:buClr>
                <a:srgbClr val="FF0000"/>
              </a:buClr>
            </a:pPr>
            <a:r>
              <a:rPr lang="es-ES" dirty="0"/>
              <a:t>Clic para modificar el </a:t>
            </a:r>
            <a:r>
              <a:rPr lang="es-ES" dirty="0" err="1"/>
              <a:t>subt</a:t>
            </a:r>
            <a:r>
              <a:rPr lang="es-ES_tradnl" dirty="0" err="1"/>
              <a:t>ítulo</a:t>
            </a:r>
            <a:endParaRPr lang="es-ES" dirty="0"/>
          </a:p>
        </p:txBody>
      </p:sp>
      <p:sp>
        <p:nvSpPr>
          <p:cNvPr id="5" name="Shape 172"/>
          <p:cNvSpPr>
            <a:spLocks noGrp="1"/>
          </p:cNvSpPr>
          <p:nvPr>
            <p:ph type="body" sz="quarter" idx="1" hasCustomPrompt="1"/>
          </p:nvPr>
        </p:nvSpPr>
        <p:spPr>
          <a:xfrm>
            <a:off x="653143" y="1266092"/>
            <a:ext cx="10833363" cy="4682532"/>
          </a:xfrm>
          <a:prstGeom prst="rect">
            <a:avLst/>
          </a:prstGeom>
        </p:spPr>
        <p:txBody>
          <a:bodyPr>
            <a:normAutofit/>
          </a:bodyPr>
          <a:lstStyle>
            <a:lvl1pPr marL="0" marR="0" indent="0" algn="just" defTabSz="868680" rtl="0" eaLnBrk="1" fontAlgn="auto" latinLnBrk="0" hangingPunct="1">
              <a:lnSpc>
                <a:spcPct val="110000"/>
              </a:lnSpc>
              <a:spcBef>
                <a:spcPts val="900"/>
              </a:spcBef>
              <a:spcAft>
                <a:spcPts val="0"/>
              </a:spcAft>
              <a:buClrTx/>
              <a:buSzTx/>
              <a:buFont typeface="Arial" panose="020B0604020202020204" pitchFamily="34" charset="0"/>
              <a:buNone/>
              <a:tabLst/>
              <a:defRPr sz="1200" baseline="0">
                <a:solidFill>
                  <a:schemeClr val="tx1">
                    <a:lumMod val="50000"/>
                    <a:lumOff val="50000"/>
                  </a:schemeClr>
                </a:solidFill>
                <a:latin typeface="Arial cuerpo"/>
              </a:defRPr>
            </a:lvl1pPr>
          </a:lstStyle>
          <a:p>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Suspendisse</a:t>
            </a:r>
            <a:r>
              <a:rPr lang="es-ES" dirty="0"/>
              <a:t> </a:t>
            </a:r>
            <a:r>
              <a:rPr lang="es-ES" dirty="0" err="1"/>
              <a:t>eleifend</a:t>
            </a:r>
            <a:r>
              <a:rPr lang="es-ES" dirty="0"/>
              <a:t> leo ut </a:t>
            </a:r>
            <a:r>
              <a:rPr lang="es-ES" dirty="0" err="1"/>
              <a:t>lectus</a:t>
            </a:r>
            <a:r>
              <a:rPr lang="es-ES" dirty="0"/>
              <a:t> </a:t>
            </a:r>
            <a:r>
              <a:rPr lang="es-ES" dirty="0" err="1"/>
              <a:t>rhoncus</a:t>
            </a:r>
            <a:r>
              <a:rPr lang="es-ES" dirty="0"/>
              <a:t> </a:t>
            </a:r>
            <a:r>
              <a:rPr lang="es-ES" dirty="0" err="1"/>
              <a:t>posuere</a:t>
            </a:r>
            <a:r>
              <a:rPr lang="es-ES" dirty="0"/>
              <a:t>. </a:t>
            </a:r>
            <a:r>
              <a:rPr lang="es-ES" dirty="0" err="1"/>
              <a:t>Cras</a:t>
            </a:r>
            <a:r>
              <a:rPr lang="es-ES" dirty="0"/>
              <a:t> </a:t>
            </a:r>
            <a:r>
              <a:rPr lang="es-ES" dirty="0" err="1"/>
              <a:t>ac</a:t>
            </a:r>
            <a:r>
              <a:rPr lang="es-ES" dirty="0"/>
              <a:t> </a:t>
            </a:r>
            <a:r>
              <a:rPr lang="es-ES" dirty="0" err="1"/>
              <a:t>accumsan</a:t>
            </a:r>
            <a:r>
              <a:rPr lang="es-ES" dirty="0"/>
              <a:t> dolor. </a:t>
            </a:r>
            <a:r>
              <a:rPr lang="es-ES" dirty="0" err="1"/>
              <a:t>Etiam</a:t>
            </a:r>
            <a:r>
              <a:rPr lang="es-ES" dirty="0"/>
              <a:t> </a:t>
            </a:r>
            <a:r>
              <a:rPr lang="es-ES" dirty="0" err="1"/>
              <a:t>consectetur</a:t>
            </a:r>
            <a:r>
              <a:rPr lang="es-ES" dirty="0"/>
              <a:t>, </a:t>
            </a:r>
            <a:r>
              <a:rPr lang="es-ES" dirty="0" err="1"/>
              <a:t>nibh</a:t>
            </a:r>
            <a:r>
              <a:rPr lang="es-ES" dirty="0"/>
              <a:t> non vehicula </a:t>
            </a:r>
            <a:r>
              <a:rPr lang="es-ES" dirty="0" err="1"/>
              <a:t>blandit</a:t>
            </a:r>
            <a:r>
              <a:rPr lang="es-ES" dirty="0"/>
              <a:t>, </a:t>
            </a:r>
            <a:r>
              <a:rPr lang="es-ES" dirty="0" err="1"/>
              <a:t>neque</a:t>
            </a:r>
            <a:r>
              <a:rPr lang="es-ES" dirty="0"/>
              <a:t> </a:t>
            </a:r>
            <a:r>
              <a:rPr lang="es-ES" dirty="0" err="1"/>
              <a:t>ipsum</a:t>
            </a:r>
            <a:r>
              <a:rPr lang="es-ES" dirty="0"/>
              <a:t> </a:t>
            </a:r>
            <a:r>
              <a:rPr lang="es-ES" dirty="0" err="1"/>
              <a:t>imperdiet</a:t>
            </a:r>
            <a:r>
              <a:rPr lang="es-ES" dirty="0"/>
              <a:t> </a:t>
            </a:r>
            <a:r>
              <a:rPr lang="es-ES" dirty="0" err="1"/>
              <a:t>est</a:t>
            </a:r>
            <a:r>
              <a:rPr lang="es-ES" dirty="0"/>
              <a:t>, ut </a:t>
            </a:r>
            <a:r>
              <a:rPr lang="es-ES" dirty="0" err="1"/>
              <a:t>euismod</a:t>
            </a:r>
            <a:r>
              <a:rPr lang="es-ES" dirty="0"/>
              <a:t> </a:t>
            </a:r>
            <a:r>
              <a:rPr lang="es-ES" dirty="0" err="1"/>
              <a:t>purus</a:t>
            </a:r>
            <a:r>
              <a:rPr lang="es-ES" dirty="0"/>
              <a:t> </a:t>
            </a:r>
            <a:r>
              <a:rPr lang="es-ES" dirty="0" err="1"/>
              <a:t>est</a:t>
            </a:r>
            <a:r>
              <a:rPr lang="es-ES" dirty="0"/>
              <a:t> sed </a:t>
            </a:r>
            <a:r>
              <a:rPr lang="es-ES" dirty="0" err="1"/>
              <a:t>lacus</a:t>
            </a:r>
            <a:r>
              <a:rPr lang="es-ES" dirty="0"/>
              <a:t>. </a:t>
            </a:r>
            <a:r>
              <a:rPr lang="es-ES" dirty="0" err="1"/>
              <a:t>Fusce</a:t>
            </a:r>
            <a:r>
              <a:rPr lang="es-ES" dirty="0"/>
              <a:t> </a:t>
            </a:r>
            <a:r>
              <a:rPr lang="es-ES" dirty="0" err="1"/>
              <a:t>ultricies</a:t>
            </a:r>
            <a:r>
              <a:rPr lang="es-ES" dirty="0"/>
              <a:t> </a:t>
            </a:r>
            <a:r>
              <a:rPr lang="es-ES" dirty="0" err="1"/>
              <a:t>metus</a:t>
            </a:r>
            <a:r>
              <a:rPr lang="es-ES" dirty="0"/>
              <a:t> </a:t>
            </a:r>
            <a:r>
              <a:rPr lang="es-ES" dirty="0" err="1"/>
              <a:t>nisl</a:t>
            </a:r>
            <a:r>
              <a:rPr lang="es-ES" dirty="0"/>
              <a:t>, a </a:t>
            </a:r>
            <a:r>
              <a:rPr lang="es-ES" dirty="0" err="1"/>
              <a:t>sagittis</a:t>
            </a:r>
            <a:r>
              <a:rPr lang="es-ES" dirty="0"/>
              <a:t> </a:t>
            </a:r>
            <a:r>
              <a:rPr lang="es-ES" dirty="0" err="1"/>
              <a:t>metus</a:t>
            </a:r>
            <a:r>
              <a:rPr lang="es-ES" dirty="0"/>
              <a:t> </a:t>
            </a:r>
            <a:r>
              <a:rPr lang="es-ES" dirty="0" err="1"/>
              <a:t>facilisis</a:t>
            </a:r>
            <a:r>
              <a:rPr lang="es-ES" dirty="0"/>
              <a:t> </a:t>
            </a:r>
            <a:r>
              <a:rPr lang="es-ES" dirty="0" err="1"/>
              <a:t>ac</a:t>
            </a:r>
            <a:r>
              <a:rPr lang="es-ES" dirty="0"/>
              <a:t>. </a:t>
            </a:r>
            <a:r>
              <a:rPr lang="es-ES" dirty="0" err="1"/>
              <a:t>Nulla</a:t>
            </a:r>
            <a:r>
              <a:rPr lang="es-ES" dirty="0"/>
              <a:t> </a:t>
            </a:r>
            <a:r>
              <a:rPr lang="es-ES" dirty="0" err="1"/>
              <a:t>vulputate</a:t>
            </a:r>
            <a:r>
              <a:rPr lang="es-ES" dirty="0"/>
              <a:t> eros in </a:t>
            </a:r>
            <a:r>
              <a:rPr lang="es-ES" dirty="0" err="1"/>
              <a:t>commodo</a:t>
            </a:r>
            <a:r>
              <a:rPr lang="es-ES" dirty="0"/>
              <a:t> </a:t>
            </a:r>
            <a:r>
              <a:rPr lang="es-ES" dirty="0" err="1"/>
              <a:t>accumsan</a:t>
            </a:r>
            <a:r>
              <a:rPr lang="es-ES" dirty="0"/>
              <a:t>. </a:t>
            </a:r>
            <a:r>
              <a:rPr lang="es-ES" dirty="0" err="1"/>
              <a:t>Maecenas</a:t>
            </a:r>
            <a:r>
              <a:rPr lang="es-ES" dirty="0"/>
              <a:t> </a:t>
            </a:r>
            <a:r>
              <a:rPr lang="es-ES" dirty="0" err="1"/>
              <a:t>eu</a:t>
            </a:r>
            <a:r>
              <a:rPr lang="es-ES" dirty="0"/>
              <a:t> odio </a:t>
            </a:r>
            <a:r>
              <a:rPr lang="es-ES" dirty="0" err="1"/>
              <a:t>tempor</a:t>
            </a:r>
            <a:r>
              <a:rPr lang="es-ES" dirty="0"/>
              <a:t>, </a:t>
            </a:r>
            <a:r>
              <a:rPr lang="es-ES" dirty="0" err="1"/>
              <a:t>mollis</a:t>
            </a:r>
            <a:r>
              <a:rPr lang="es-ES" dirty="0"/>
              <a:t> </a:t>
            </a:r>
            <a:r>
              <a:rPr lang="es-ES" dirty="0" err="1"/>
              <a:t>purus</a:t>
            </a:r>
            <a:r>
              <a:rPr lang="es-ES" dirty="0"/>
              <a:t> a, </a:t>
            </a:r>
            <a:r>
              <a:rPr lang="es-ES" dirty="0" err="1"/>
              <a:t>sodales</a:t>
            </a:r>
            <a:r>
              <a:rPr lang="es-ES" dirty="0"/>
              <a:t> </a:t>
            </a:r>
            <a:r>
              <a:rPr lang="es-ES" dirty="0" err="1"/>
              <a:t>turpis</a:t>
            </a:r>
            <a:r>
              <a:rPr lang="es-ES" dirty="0"/>
              <a:t>. </a:t>
            </a:r>
            <a:r>
              <a:rPr lang="es-ES" dirty="0" err="1"/>
              <a:t>Cras</a:t>
            </a:r>
            <a:r>
              <a:rPr lang="es-ES" dirty="0"/>
              <a:t> vitae </a:t>
            </a:r>
            <a:r>
              <a:rPr lang="es-ES" dirty="0" err="1"/>
              <a:t>sollicitudin</a:t>
            </a:r>
            <a:r>
              <a:rPr lang="es-ES" dirty="0"/>
              <a:t> magna.</a:t>
            </a:r>
            <a:endParaRPr dirty="0"/>
          </a:p>
        </p:txBody>
      </p:sp>
      <p:pic>
        <p:nvPicPr>
          <p:cNvPr id="6" name="Gráfico 5">
            <a:extLst>
              <a:ext uri="{FF2B5EF4-FFF2-40B4-BE49-F238E27FC236}">
                <a16:creationId xmlns:a16="http://schemas.microsoft.com/office/drawing/2014/main" id="{E42D9E5F-4B4D-4859-A3A3-0C42F1D47B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7" name="Rectángulo 6">
            <a:extLst>
              <a:ext uri="{FF2B5EF4-FFF2-40B4-BE49-F238E27FC236}">
                <a16:creationId xmlns:a16="http://schemas.microsoft.com/office/drawing/2014/main" id="{1FB43B95-5CFA-41E4-A945-2ACFD1F13BBF}"/>
              </a:ext>
            </a:extLst>
          </p:cNvPr>
          <p:cNvSpPr/>
          <p:nvPr userDrawn="1"/>
        </p:nvSpPr>
        <p:spPr>
          <a:xfrm>
            <a:off x="0" y="6564052"/>
            <a:ext cx="12192000" cy="293948"/>
          </a:xfrm>
          <a:prstGeom prst="rect">
            <a:avLst/>
          </a:pr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sp>
        <p:nvSpPr>
          <p:cNvPr id="8" name="Rectángulo 7">
            <a:extLst>
              <a:ext uri="{FF2B5EF4-FFF2-40B4-BE49-F238E27FC236}">
                <a16:creationId xmlns:a16="http://schemas.microsoft.com/office/drawing/2014/main" id="{230AD7D1-3883-4658-9D57-EB66C2B2D1E6}"/>
              </a:ext>
            </a:extLst>
          </p:cNvPr>
          <p:cNvSpPr/>
          <p:nvPr userDrawn="1"/>
        </p:nvSpPr>
        <p:spPr>
          <a:xfrm>
            <a:off x="9605554" y="6228355"/>
            <a:ext cx="2586446" cy="354452"/>
          </a:xfrm>
          <a:prstGeom prst="rect">
            <a:avLst/>
          </a:pr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sp>
        <p:nvSpPr>
          <p:cNvPr id="9" name="Marcador de número de diapositiva 21">
            <a:extLst>
              <a:ext uri="{FF2B5EF4-FFF2-40B4-BE49-F238E27FC236}">
                <a16:creationId xmlns:a16="http://schemas.microsoft.com/office/drawing/2014/main" id="{E0EF7333-652F-4EAC-91AA-CEB0DEA98780}"/>
              </a:ext>
            </a:extLst>
          </p:cNvPr>
          <p:cNvSpPr txBox="1">
            <a:spLocks/>
          </p:cNvSpPr>
          <p:nvPr userDrawn="1"/>
        </p:nvSpPr>
        <p:spPr>
          <a:xfrm>
            <a:off x="9605553" y="6241991"/>
            <a:ext cx="637904"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bg1">
                    <a:lumMod val="8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0D97B6-E32F-4D7D-B839-7C3B51F2640F}" type="slidenum">
              <a:rPr lang="es-ES" smtClean="0">
                <a:solidFill>
                  <a:prstClr val="white">
                    <a:lumMod val="85000"/>
                  </a:prstClr>
                </a:solidFill>
                <a:latin typeface="Arial"/>
              </a:rPr>
              <a:pPr/>
              <a:t>‹Nº›</a:t>
            </a:fld>
            <a:endParaRPr lang="es-ES">
              <a:solidFill>
                <a:prstClr val="white">
                  <a:lumMod val="85000"/>
                </a:prstClr>
              </a:solidFill>
              <a:latin typeface="Arial"/>
            </a:endParaRPr>
          </a:p>
        </p:txBody>
      </p:sp>
      <p:pic>
        <p:nvPicPr>
          <p:cNvPr id="10" name="Imagen 9">
            <a:extLst>
              <a:ext uri="{FF2B5EF4-FFF2-40B4-BE49-F238E27FC236}">
                <a16:creationId xmlns:a16="http://schemas.microsoft.com/office/drawing/2014/main" id="{1F37DF03-9A13-41DB-AF7B-F6737C6EB1A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1931096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25" name="Marcador de número de diapositiva 21">
            <a:extLst>
              <a:ext uri="{FF2B5EF4-FFF2-40B4-BE49-F238E27FC236}">
                <a16:creationId xmlns:a16="http://schemas.microsoft.com/office/drawing/2014/main" id="{FE60F559-F9A2-4161-8BCF-36A8545EEA4A}"/>
              </a:ext>
            </a:extLst>
          </p:cNvPr>
          <p:cNvSpPr txBox="1">
            <a:spLocks/>
          </p:cNvSpPr>
          <p:nvPr userDrawn="1"/>
        </p:nvSpPr>
        <p:spPr>
          <a:xfrm>
            <a:off x="9605553" y="6241991"/>
            <a:ext cx="637904"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bg1">
                    <a:lumMod val="8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0D97B6-E32F-4D7D-B839-7C3B51F2640F}" type="slidenum">
              <a:rPr lang="es-ES" smtClean="0">
                <a:solidFill>
                  <a:prstClr val="white">
                    <a:lumMod val="85000"/>
                  </a:prstClr>
                </a:solidFill>
                <a:latin typeface="Arial"/>
              </a:rPr>
              <a:pPr/>
              <a:t>‹Nº›</a:t>
            </a:fld>
            <a:endParaRPr lang="es-ES">
              <a:solidFill>
                <a:prstClr val="white">
                  <a:lumMod val="85000"/>
                </a:prstClr>
              </a:solidFill>
              <a:latin typeface="Arial"/>
            </a:endParaRPr>
          </a:p>
        </p:txBody>
      </p:sp>
      <p:pic>
        <p:nvPicPr>
          <p:cNvPr id="27" name="Imagen 26">
            <a:extLst>
              <a:ext uri="{FF2B5EF4-FFF2-40B4-BE49-F238E27FC236}">
                <a16:creationId xmlns:a16="http://schemas.microsoft.com/office/drawing/2014/main" id="{D6F810C4-0100-4422-9FFF-9C7F02DEE07D}"/>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9370936" y="5460275"/>
            <a:ext cx="2437890" cy="1105555"/>
          </a:xfrm>
          <a:prstGeom prst="rect">
            <a:avLst/>
          </a:prstGeom>
        </p:spPr>
      </p:pic>
    </p:spTree>
    <p:extLst>
      <p:ext uri="{BB962C8B-B14F-4D97-AF65-F5344CB8AC3E}">
        <p14:creationId xmlns:p14="http://schemas.microsoft.com/office/powerpoint/2010/main" val="4161578133"/>
      </p:ext>
    </p:extLst>
  </p:cSld>
  <p:clrMap bg1="lt1" tx1="dk1" bg2="lt2" tx2="dk2" accent1="accent1" accent2="accent2" accent3="accent3" accent4="accent4" accent5="accent5" accent6="accent6" hlink="hlink" folHlink="folHlink"/>
  <p:sldLayoutIdLst>
    <p:sldLayoutId id="2147483692" r:id="rId1"/>
    <p:sldLayoutId id="2147483681" r:id="rId2"/>
    <p:sldLayoutId id="2147483687" r:id="rId3"/>
    <p:sldLayoutId id="2147483691" r:id="rId4"/>
    <p:sldLayoutId id="2147483707" r:id="rId5"/>
    <p:sldLayoutId id="2147483709" r:id="rId6"/>
    <p:sldLayoutId id="2147483710" r:id="rId7"/>
    <p:sldLayoutId id="2147483711" r:id="rId8"/>
  </p:sldLayoutIdLst>
  <p:hf sldNum="0" hdr="0" dt="0"/>
  <p:txStyles>
    <p:titleStyle>
      <a:lvl1pPr algn="l" defTabSz="914400" rtl="0" eaLnBrk="1" latinLnBrk="0" hangingPunct="1">
        <a:lnSpc>
          <a:spcPct val="90000"/>
        </a:lnSpc>
        <a:spcBef>
          <a:spcPct val="0"/>
        </a:spcBef>
        <a:buNone/>
        <a:defRPr sz="4400" kern="1200">
          <a:solidFill>
            <a:schemeClr val="tx1"/>
          </a:solidFill>
          <a:latin typeface="Arial cuerpo"/>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508141E-100E-4635-9FC3-353399DFC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p>
        </p:txBody>
      </p:sp>
      <p:sp>
        <p:nvSpPr>
          <p:cNvPr id="3" name="Marcador de texto 2">
            <a:extLst>
              <a:ext uri="{FF2B5EF4-FFF2-40B4-BE49-F238E27FC236}">
                <a16:creationId xmlns:a16="http://schemas.microsoft.com/office/drawing/2014/main" id="{70BD3726-4CCC-4808-AF74-D4FC34B77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a:extLst>
              <a:ext uri="{FF2B5EF4-FFF2-40B4-BE49-F238E27FC236}">
                <a16:creationId xmlns:a16="http://schemas.microsoft.com/office/drawing/2014/main" id="{289DA10A-F167-488F-8E2B-A0FE565022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
          </a:p>
        </p:txBody>
      </p:sp>
      <p:sp>
        <p:nvSpPr>
          <p:cNvPr id="5" name="Marcador de pie de página 4">
            <a:extLst>
              <a:ext uri="{FF2B5EF4-FFF2-40B4-BE49-F238E27FC236}">
                <a16:creationId xmlns:a16="http://schemas.microsoft.com/office/drawing/2014/main" id="{0C937220-A8C8-4E71-8BA2-4260C5636D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2D5E98D6-3F4E-4F5E-9BFB-DDFD9AC1E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0D97B6-E32F-4D7D-B839-7C3B51F2640F}" type="slidenum">
              <a:rPr lang="es-ES" smtClean="0"/>
              <a:t>‹Nº›</a:t>
            </a:fld>
            <a:endParaRPr lang="es-ES"/>
          </a:p>
        </p:txBody>
      </p:sp>
    </p:spTree>
    <p:extLst>
      <p:ext uri="{BB962C8B-B14F-4D97-AF65-F5344CB8AC3E}">
        <p14:creationId xmlns:p14="http://schemas.microsoft.com/office/powerpoint/2010/main" val="317722470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8"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tiff"/><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tiff"/><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slide" Target="slide8.xml"/><Relationship Id="rId26" Type="http://schemas.microsoft.com/office/2007/relationships/hdphoto" Target="../media/hdphoto1.wdp"/><Relationship Id="rId3" Type="http://schemas.openxmlformats.org/officeDocument/2006/relationships/image" Target="../media/image20.png"/><Relationship Id="rId21" Type="http://schemas.openxmlformats.org/officeDocument/2006/relationships/image" Target="../media/image37.jpe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5" Type="http://schemas.openxmlformats.org/officeDocument/2006/relationships/image" Target="../media/image40.png"/><Relationship Id="rId2" Type="http://schemas.openxmlformats.org/officeDocument/2006/relationships/notesSlide" Target="../notesSlides/notesSlide2.xml"/><Relationship Id="rId16" Type="http://schemas.openxmlformats.org/officeDocument/2006/relationships/image" Target="../media/image33.jpeg"/><Relationship Id="rId20" Type="http://schemas.openxmlformats.org/officeDocument/2006/relationships/image" Target="../media/image36.png"/><Relationship Id="rId29" Type="http://schemas.openxmlformats.org/officeDocument/2006/relationships/image" Target="../media/image43.png"/><Relationship Id="rId1" Type="http://schemas.openxmlformats.org/officeDocument/2006/relationships/slideLayout" Target="../slideLayouts/slideLayout3.xml"/><Relationship Id="rId6" Type="http://schemas.openxmlformats.org/officeDocument/2006/relationships/image" Target="../media/image23.jpeg"/><Relationship Id="rId11" Type="http://schemas.openxmlformats.org/officeDocument/2006/relationships/image" Target="../media/image28.png"/><Relationship Id="rId24" Type="http://schemas.openxmlformats.org/officeDocument/2006/relationships/image" Target="../media/image39.png"/><Relationship Id="rId32" Type="http://schemas.openxmlformats.org/officeDocument/2006/relationships/image" Target="../media/image46.png"/><Relationship Id="rId5" Type="http://schemas.openxmlformats.org/officeDocument/2006/relationships/image" Target="../media/image22.png"/><Relationship Id="rId15" Type="http://schemas.openxmlformats.org/officeDocument/2006/relationships/image" Target="../media/image32.png"/><Relationship Id="rId23" Type="http://schemas.openxmlformats.org/officeDocument/2006/relationships/image" Target="../media/image38.png"/><Relationship Id="rId28" Type="http://schemas.openxmlformats.org/officeDocument/2006/relationships/image" Target="../media/image42.png"/><Relationship Id="rId10" Type="http://schemas.openxmlformats.org/officeDocument/2006/relationships/image" Target="../media/image27.png"/><Relationship Id="rId19" Type="http://schemas.openxmlformats.org/officeDocument/2006/relationships/image" Target="../media/image35.jpeg"/><Relationship Id="rId31" Type="http://schemas.openxmlformats.org/officeDocument/2006/relationships/image" Target="../media/image45.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jpeg"/><Relationship Id="rId22" Type="http://schemas.openxmlformats.org/officeDocument/2006/relationships/image" Target="../media/image12.wmf"/><Relationship Id="rId27" Type="http://schemas.openxmlformats.org/officeDocument/2006/relationships/image" Target="../media/image41.jpeg"/><Relationship Id="rId30" Type="http://schemas.openxmlformats.org/officeDocument/2006/relationships/image" Target="../media/image4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12.wmf"/><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20.png"/><Relationship Id="rId5" Type="http://schemas.openxmlformats.org/officeDocument/2006/relationships/image" Target="../media/image49.png"/><Relationship Id="rId10" Type="http://schemas.openxmlformats.org/officeDocument/2006/relationships/image" Target="../media/image53.jpeg"/><Relationship Id="rId4" Type="http://schemas.openxmlformats.org/officeDocument/2006/relationships/image" Target="../media/image48.png"/><Relationship Id="rId9" Type="http://schemas.openxmlformats.org/officeDocument/2006/relationships/hyperlink" Target="http://www.google.es/url?url=http://www.freepik.es/fotos-vectores-gratis/servidores-publicos&amp;rct=j&amp;frm=1&amp;q=&amp;esrc=s&amp;sa=U&amp;ei=12yAVKW6BuWS7Abn9YGwDA&amp;ved=0CBgQ9QEwAQ&amp;usg=AFQjCNHdTFU0IK-Tm4BmvjyyaR3j7c-D4g"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20.png"/><Relationship Id="rId5" Type="http://schemas.openxmlformats.org/officeDocument/2006/relationships/image" Target="../media/image49.png"/><Relationship Id="rId10" Type="http://schemas.openxmlformats.org/officeDocument/2006/relationships/image" Target="../media/image53.jpeg"/><Relationship Id="rId4" Type="http://schemas.openxmlformats.org/officeDocument/2006/relationships/image" Target="../media/image48.png"/><Relationship Id="rId9" Type="http://schemas.openxmlformats.org/officeDocument/2006/relationships/hyperlink" Target="http://www.google.es/url?url=http://www.freepik.es/fotos-vectores-gratis/servidores-publicos&amp;rct=j&amp;frm=1&amp;q=&amp;esrc=s&amp;sa=U&amp;ei=12yAVKW6BuWS7Abn9YGwDA&amp;ved=0CBgQ9QEwAQ&amp;usg=AFQjCNHdTFU0IK-Tm4BmvjyyaR3j7c-D4g"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20.png"/><Relationship Id="rId5" Type="http://schemas.openxmlformats.org/officeDocument/2006/relationships/image" Target="../media/image49.png"/><Relationship Id="rId10" Type="http://schemas.openxmlformats.org/officeDocument/2006/relationships/image" Target="../media/image53.jpeg"/><Relationship Id="rId4" Type="http://schemas.openxmlformats.org/officeDocument/2006/relationships/image" Target="../media/image48.png"/><Relationship Id="rId9" Type="http://schemas.openxmlformats.org/officeDocument/2006/relationships/hyperlink" Target="http://www.google.es/url?url=http://www.freepik.es/fotos-vectores-gratis/servidores-publicos&amp;rct=j&amp;frm=1&amp;q=&amp;esrc=s&amp;sa=U&amp;ei=12yAVKW6BuWS7Abn9YGwDA&amp;ved=0CBgQ9QEwAQ&amp;usg=AFQjCNHdTFU0IK-Tm4BmvjyyaR3j7c-D4g"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20.png"/><Relationship Id="rId3" Type="http://schemas.openxmlformats.org/officeDocument/2006/relationships/tags" Target="../tags/tag3.xml"/><Relationship Id="rId7" Type="http://schemas.openxmlformats.org/officeDocument/2006/relationships/image" Target="../media/image48.png"/><Relationship Id="rId12" Type="http://schemas.openxmlformats.org/officeDocument/2006/relationships/image" Target="../media/image55.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notesSlide" Target="../notesSlides/notesSlide9.xml"/><Relationship Id="rId10" Type="http://schemas.openxmlformats.org/officeDocument/2006/relationships/image" Target="../media/image51.png"/><Relationship Id="rId4" Type="http://schemas.openxmlformats.org/officeDocument/2006/relationships/slideLayout" Target="../slideLayouts/slideLayout7.xml"/><Relationship Id="rId9" Type="http://schemas.openxmlformats.org/officeDocument/2006/relationships/image" Target="../media/image5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7.png"/><Relationship Id="rId7"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25.png"/><Relationship Id="rId4" Type="http://schemas.openxmlformats.org/officeDocument/2006/relationships/image" Target="../media/image56.png"/><Relationship Id="rId9" Type="http://schemas.openxmlformats.org/officeDocument/2006/relationships/image" Target="../media/image5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58.png"/></Relationships>
</file>

<file path=ppt/slides/_rels/slide5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58.png"/></Relationships>
</file>

<file path=ppt/slides/_rels/slide58.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hyperlink" Target="https://sanes.atlassian.net/wiki/download/attachments/9293693432/20210410%20ASW%20IMACC-DT-Supernet%20-%20Tramitaci%C3%B3n%20H%C3%A1gase%20Cliente-V4.3.pptx?api=v2" TargetMode="External"/><Relationship Id="rId7" Type="http://schemas.openxmlformats.org/officeDocument/2006/relationships/image" Target="../media/image60.wmf"/><Relationship Id="rId2" Type="http://schemas.openxmlformats.org/officeDocument/2006/relationships/hyperlink" Target="https://sanes.atlassian.net/wiki/download/attachments/9293693432/20210410%20TCA%20DI%20Tramitaci%C3%B3n%20-%20H%C3%A1gase%20Cliente%20Santander%20Espa%C3%B1a%20ES%20V.5.2.pptx?api=v2" TargetMode="External"/><Relationship Id="rId1" Type="http://schemas.openxmlformats.org/officeDocument/2006/relationships/slideLayout" Target="../slideLayouts/slideLayout3.xml"/><Relationship Id="rId6" Type="http://schemas.openxmlformats.org/officeDocument/2006/relationships/package" Target="../embeddings/Microsoft_PowerPoint_Presentation.pptx"/><Relationship Id="rId5" Type="http://schemas.openxmlformats.org/officeDocument/2006/relationships/hyperlink" Target="https://www.inbenta.com/en/compliance/sla/" TargetMode="External"/><Relationship Id="rId4" Type="http://schemas.openxmlformats.org/officeDocument/2006/relationships/hyperlink" Target="https://www.inbenta.com/en/security/" TargetMode="External"/></Relationships>
</file>

<file path=ppt/slides/_rels/slide63.xml.rels><?xml version="1.0" encoding="UTF-8" standalone="yes"?>
<Relationships xmlns="http://schemas.openxmlformats.org/package/2006/relationships"><Relationship Id="rId8" Type="http://schemas.openxmlformats.org/officeDocument/2006/relationships/package" Target="../embeddings/Microsoft_PowerPoint_Presentation1.pptx"/><Relationship Id="rId3" Type="http://schemas.openxmlformats.org/officeDocument/2006/relationships/hyperlink" Target="https://confluence.ci.gsnet.corp/display/STSERVARQ/DTI+Planes+de+Servicios" TargetMode="External"/><Relationship Id="rId7" Type="http://schemas.openxmlformats.org/officeDocument/2006/relationships/hyperlink" Target="https://sanes.atlassian.net/wiki/spaces/STSERVARQ/pages/23924211793/DS+Broker+OCR+v2.0.0" TargetMode="External"/><Relationship Id="rId2" Type="http://schemas.openxmlformats.org/officeDocument/2006/relationships/hyperlink" Target="https://sanes.atlassian.net/wiki/spaces/SANFIRMA/overview" TargetMode="External"/><Relationship Id="rId1" Type="http://schemas.openxmlformats.org/officeDocument/2006/relationships/slideLayout" Target="../slideLayouts/slideLayout3.xml"/><Relationship Id="rId6" Type="http://schemas.openxmlformats.org/officeDocument/2006/relationships/hyperlink" Target="https://sanes.atlassian.net/wiki/spaces/SANACLOUD/pages/23909531969/UDS" TargetMode="External"/><Relationship Id="rId5" Type="http://schemas.openxmlformats.org/officeDocument/2006/relationships/hyperlink" Target="https://sanes.atlassian.net/wiki/spaces/NARQREF/pages/14677940143/7.3.1.8.-+SAS" TargetMode="External"/><Relationship Id="rId4" Type="http://schemas.openxmlformats.org/officeDocument/2006/relationships/hyperlink" Target="https://confluence.alm.europe.cloudcenter.corp/pages/viewpage.action?pageId=44820208" TargetMode="External"/><Relationship Id="rId9" Type="http://schemas.openxmlformats.org/officeDocument/2006/relationships/image" Target="../media/image61.e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hyperlink" Target="mailto:Manuel.gonzalezlopez@servexternos.gruposantander.es" TargetMode="External"/><Relationship Id="rId2" Type="http://schemas.openxmlformats.org/officeDocument/2006/relationships/hyperlink" Target="mailto:JUANAN.PLAZA@servexternos.gruposantander.es" TargetMode="Externa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3BA286-C2DF-4336-8DB7-0A9EC9DB83CA}"/>
              </a:ext>
            </a:extLst>
          </p:cNvPr>
          <p:cNvSpPr>
            <a:spLocks noGrp="1"/>
          </p:cNvSpPr>
          <p:nvPr>
            <p:ph type="ctrTitle"/>
          </p:nvPr>
        </p:nvSpPr>
        <p:spPr>
          <a:xfrm>
            <a:off x="874145" y="1248885"/>
            <a:ext cx="11049150" cy="1407004"/>
          </a:xfrm>
        </p:spPr>
        <p:txBody>
          <a:bodyPr>
            <a:normAutofit/>
          </a:bodyPr>
          <a:lstStyle/>
          <a:p>
            <a:pPr fontAlgn="base"/>
            <a:r>
              <a:rPr lang="es-ES" dirty="0"/>
              <a:t>DS Hágase Cliente 2.0</a:t>
            </a:r>
          </a:p>
        </p:txBody>
      </p:sp>
      <p:sp>
        <p:nvSpPr>
          <p:cNvPr id="3" name="Subtítulo 2">
            <a:extLst>
              <a:ext uri="{FF2B5EF4-FFF2-40B4-BE49-F238E27FC236}">
                <a16:creationId xmlns:a16="http://schemas.microsoft.com/office/drawing/2014/main" id="{4E8B2039-F922-4BB3-84B2-765139F662EB}"/>
              </a:ext>
            </a:extLst>
          </p:cNvPr>
          <p:cNvSpPr>
            <a:spLocks noGrp="1"/>
          </p:cNvSpPr>
          <p:nvPr>
            <p:ph type="subTitle" idx="1"/>
          </p:nvPr>
        </p:nvSpPr>
        <p:spPr>
          <a:xfrm>
            <a:off x="877020" y="2874542"/>
            <a:ext cx="6113327" cy="446174"/>
          </a:xfrm>
        </p:spPr>
        <p:txBody>
          <a:bodyPr/>
          <a:lstStyle/>
          <a:p>
            <a:r>
              <a:rPr lang="es-ES" dirty="0"/>
              <a:t>Diseño de Solución(DS)</a:t>
            </a:r>
          </a:p>
          <a:p>
            <a:endParaRPr lang="es-ES" dirty="0"/>
          </a:p>
        </p:txBody>
      </p:sp>
      <p:sp>
        <p:nvSpPr>
          <p:cNvPr id="4" name="Marcador de texto 3">
            <a:extLst>
              <a:ext uri="{FF2B5EF4-FFF2-40B4-BE49-F238E27FC236}">
                <a16:creationId xmlns:a16="http://schemas.microsoft.com/office/drawing/2014/main" id="{D7D02CB2-5D46-4A6C-B679-821C32FBC299}"/>
              </a:ext>
            </a:extLst>
          </p:cNvPr>
          <p:cNvSpPr>
            <a:spLocks noGrp="1"/>
          </p:cNvSpPr>
          <p:nvPr>
            <p:ph type="body" sz="quarter" idx="14"/>
          </p:nvPr>
        </p:nvSpPr>
        <p:spPr/>
        <p:txBody>
          <a:bodyPr/>
          <a:lstStyle/>
          <a:p>
            <a:r>
              <a:rPr lang="es-ES" dirty="0"/>
              <a:t>Madrid, Junio de 2023</a:t>
            </a:r>
          </a:p>
        </p:txBody>
      </p:sp>
    </p:spTree>
    <p:extLst>
      <p:ext uri="{BB962C8B-B14F-4D97-AF65-F5344CB8AC3E}">
        <p14:creationId xmlns:p14="http://schemas.microsoft.com/office/powerpoint/2010/main" val="2052189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739035" y="1340285"/>
            <a:ext cx="10747331" cy="4613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3307" tIns="36655" rIns="73307" bIns="36655">
            <a:spAutoFit/>
          </a:bodyPr>
          <a:lstStyle/>
          <a:p>
            <a:pPr algn="just" defTabSz="733443">
              <a:spcBef>
                <a:spcPts val="300"/>
              </a:spcBef>
              <a:buClr>
                <a:schemeClr val="accent2"/>
              </a:buClr>
              <a:tabLst>
                <a:tab pos="6056861" algn="l"/>
              </a:tabLst>
            </a:pPr>
            <a:r>
              <a:rPr lang="es-ES" sz="1000" dirty="0">
                <a:latin typeface="Arial" panose="020B0604020202020204" pitchFamily="34" charset="0"/>
                <a:ea typeface="Lucida Grande" pitchFamily="2" charset="0"/>
                <a:cs typeface="Arial" panose="020B0604020202020204" pitchFamily="34" charset="0"/>
              </a:rPr>
              <a:t>Todo el contenido de este documento/presentación está protegido por derechos de autor y/o de propiedad intelectual a menos que se indique lo contrario. Todos los derechos están reservados y son propiedad de Santander Tecnología o Grupo Santander.</a:t>
            </a:r>
          </a:p>
          <a:p>
            <a:pPr algn="just" defTabSz="733443">
              <a:spcBef>
                <a:spcPts val="300"/>
              </a:spcBef>
              <a:buClr>
                <a:schemeClr val="accent2"/>
              </a:buClr>
              <a:tabLst>
                <a:tab pos="6056861" algn="l"/>
              </a:tabLst>
            </a:pPr>
            <a:endParaRPr lang="es-ES" sz="1000" dirty="0">
              <a:latin typeface="Arial" panose="020B0604020202020204" pitchFamily="34" charset="0"/>
              <a:ea typeface="Lucida Grande" pitchFamily="2" charset="0"/>
              <a:cs typeface="Arial" panose="020B0604020202020204" pitchFamily="34" charset="0"/>
            </a:endParaRPr>
          </a:p>
          <a:p>
            <a:pPr algn="just" defTabSz="733443">
              <a:spcBef>
                <a:spcPts val="300"/>
              </a:spcBef>
              <a:buClr>
                <a:schemeClr val="accent2"/>
              </a:buClr>
              <a:tabLst>
                <a:tab pos="6056861" algn="l"/>
              </a:tabLst>
            </a:pPr>
            <a:r>
              <a:rPr lang="es-ES" sz="1000" dirty="0">
                <a:latin typeface="Arial" panose="020B0604020202020204" pitchFamily="34" charset="0"/>
                <a:ea typeface="Lucida Grande" pitchFamily="2" charset="0"/>
                <a:cs typeface="Arial" panose="020B0604020202020204" pitchFamily="34" charset="0"/>
              </a:rPr>
              <a:t>Ninguna reproducción ni distribución puede hacerse de todo o parte de este documento sin antes recibir la autorización escrita de Santander Tecnología. Sólo a los exclusivos efectos por los cuales es Vd. Destinatario de este documento/presentación le estará permitido realizar una copia o impresión del mismo, siempre que no se realicen cambios en su contenido y se incluya esta nota para que los derechos queden acreditados e incorporados en la reproducción. Cualquier uso comercial está totalmente prohibido.</a:t>
            </a:r>
          </a:p>
          <a:p>
            <a:pPr algn="just" defTabSz="733443">
              <a:spcBef>
                <a:spcPts val="300"/>
              </a:spcBef>
              <a:buClr>
                <a:schemeClr val="accent2"/>
              </a:buClr>
              <a:tabLst>
                <a:tab pos="6056861" algn="l"/>
              </a:tabLst>
            </a:pPr>
            <a:endParaRPr lang="es-ES" sz="1000" dirty="0">
              <a:latin typeface="Arial" panose="020B0604020202020204" pitchFamily="34" charset="0"/>
              <a:ea typeface="Lucida Grande" pitchFamily="2" charset="0"/>
              <a:cs typeface="Arial" panose="020B0604020202020204" pitchFamily="34" charset="0"/>
            </a:endParaRPr>
          </a:p>
          <a:p>
            <a:pPr algn="just" defTabSz="733443">
              <a:spcBef>
                <a:spcPts val="300"/>
              </a:spcBef>
              <a:buClr>
                <a:schemeClr val="accent2"/>
              </a:buClr>
              <a:tabLst>
                <a:tab pos="6056861" algn="l"/>
              </a:tabLst>
            </a:pPr>
            <a:r>
              <a:rPr lang="es-ES" sz="1000" dirty="0">
                <a:latin typeface="Arial" panose="020B0604020202020204" pitchFamily="34" charset="0"/>
                <a:ea typeface="Lucida Grande" pitchFamily="2" charset="0"/>
                <a:cs typeface="Arial" panose="020B0604020202020204" pitchFamily="34" charset="0"/>
              </a:rPr>
              <a:t>Santander Tecnología es el propietario, titular de los derechos de propiedad intelectual e industrial o usuario autorizado y legítimo de todo el contenido y aspectos del presente documento /presentación incluyendo marcas, información, texto, fotografías y diseño, salvo indicación en contrario.</a:t>
            </a:r>
          </a:p>
          <a:p>
            <a:pPr algn="just" defTabSz="733443">
              <a:spcBef>
                <a:spcPts val="300"/>
              </a:spcBef>
              <a:buClr>
                <a:schemeClr val="accent2"/>
              </a:buClr>
              <a:tabLst>
                <a:tab pos="6056861" algn="l"/>
              </a:tabLst>
            </a:pPr>
            <a:endParaRPr lang="es-ES" sz="1000" dirty="0">
              <a:latin typeface="Arial" panose="020B0604020202020204" pitchFamily="34" charset="0"/>
              <a:ea typeface="Lucida Grande" pitchFamily="2" charset="0"/>
              <a:cs typeface="Arial" panose="020B0604020202020204" pitchFamily="34" charset="0"/>
            </a:endParaRPr>
          </a:p>
          <a:p>
            <a:pPr algn="just" defTabSz="733443">
              <a:spcBef>
                <a:spcPts val="300"/>
              </a:spcBef>
              <a:buClr>
                <a:schemeClr val="accent2"/>
              </a:buClr>
              <a:tabLst>
                <a:tab pos="6056861" algn="l"/>
              </a:tabLst>
            </a:pPr>
            <a:r>
              <a:rPr lang="es-ES" sz="1000" dirty="0">
                <a:latin typeface="Arial" panose="020B0604020202020204" pitchFamily="34" charset="0"/>
                <a:ea typeface="Lucida Grande" pitchFamily="2" charset="0"/>
                <a:cs typeface="Arial" panose="020B0604020202020204" pitchFamily="34" charset="0"/>
              </a:rPr>
              <a:t>Si bien se han realizado todos los esfuerzos para suministrar información precisa, los errores y omisiones pueden ocurrir. En consecuencia, Santander Tecnología no acepta ninguna responsabilidad por cualquier pérdida o daño que puedan, directa o indirectamente, el resultado de ningún consejo, opinión, información, representación u omisión, ya sea por negligencia o de otra índole, a datos o información que figura en este documento/presentación. </a:t>
            </a:r>
          </a:p>
          <a:p>
            <a:pPr algn="just" defTabSz="733443">
              <a:spcBef>
                <a:spcPts val="300"/>
              </a:spcBef>
              <a:buClr>
                <a:schemeClr val="accent2"/>
              </a:buClr>
              <a:tabLst>
                <a:tab pos="6056861" algn="l"/>
              </a:tabLst>
            </a:pPr>
            <a:endParaRPr lang="es-ES" sz="1000" dirty="0">
              <a:latin typeface="Arial" panose="020B0604020202020204" pitchFamily="34" charset="0"/>
              <a:ea typeface="Lucida Grande" pitchFamily="2" charset="0"/>
              <a:cs typeface="Arial" panose="020B0604020202020204" pitchFamily="34" charset="0"/>
            </a:endParaRPr>
          </a:p>
          <a:p>
            <a:pPr algn="just" defTabSz="733443">
              <a:spcBef>
                <a:spcPts val="300"/>
              </a:spcBef>
              <a:buClr>
                <a:schemeClr val="accent2"/>
              </a:buClr>
              <a:tabLst>
                <a:tab pos="6056861" algn="l"/>
              </a:tabLst>
            </a:pPr>
            <a:r>
              <a:rPr lang="es-ES" sz="1000" dirty="0">
                <a:solidFill>
                  <a:srgbClr val="EB0000"/>
                </a:solidFill>
                <a:latin typeface="Arial" panose="020B0604020202020204" pitchFamily="34" charset="0"/>
                <a:ea typeface="Lucida Grande" pitchFamily="2" charset="0"/>
                <a:cs typeface="Arial" panose="020B0604020202020204" pitchFamily="34" charset="0"/>
              </a:rPr>
              <a:t>Everything </a:t>
            </a:r>
            <a:r>
              <a:rPr lang="es-ES" sz="1000" dirty="0" err="1">
                <a:solidFill>
                  <a:srgbClr val="EB0000"/>
                </a:solidFill>
                <a:latin typeface="Arial" panose="020B0604020202020204" pitchFamily="34" charset="0"/>
                <a:ea typeface="Lucida Grande" pitchFamily="2" charset="0"/>
                <a:cs typeface="Arial" panose="020B0604020202020204" pitchFamily="34" charset="0"/>
              </a:rPr>
              <a:t>on</a:t>
            </a:r>
            <a:r>
              <a:rPr lang="es-ES" sz="1000" dirty="0">
                <a:solidFill>
                  <a:srgbClr val="EB0000"/>
                </a:solidFill>
                <a:latin typeface="Arial" panose="020B0604020202020204" pitchFamily="34" charset="0"/>
                <a:ea typeface="Lucida Grande" pitchFamily="2" charset="0"/>
                <a:cs typeface="Arial" panose="020B0604020202020204" pitchFamily="34" charset="0"/>
              </a:rPr>
              <a:t> this paper/presentation is copyrighted unless otherwise noted. All rights are reserved and remain the exclusive property of Santander Tecnología and Grupo Santander.</a:t>
            </a:r>
          </a:p>
          <a:p>
            <a:pPr algn="just" defTabSz="733443">
              <a:spcBef>
                <a:spcPts val="300"/>
              </a:spcBef>
              <a:buClr>
                <a:schemeClr val="accent2"/>
              </a:buClr>
              <a:tabLst>
                <a:tab pos="6056861" algn="l"/>
              </a:tabLst>
            </a:pPr>
            <a:endParaRPr lang="es-ES" sz="1000" dirty="0">
              <a:solidFill>
                <a:srgbClr val="EB0000"/>
              </a:solidFill>
              <a:latin typeface="Arial" panose="020B0604020202020204" pitchFamily="34" charset="0"/>
              <a:ea typeface="Lucida Grande" pitchFamily="2" charset="0"/>
              <a:cs typeface="Arial" panose="020B0604020202020204" pitchFamily="34" charset="0"/>
            </a:endParaRPr>
          </a:p>
          <a:p>
            <a:pPr algn="just" defTabSz="733443">
              <a:spcBef>
                <a:spcPts val="300"/>
              </a:spcBef>
              <a:buClr>
                <a:schemeClr val="accent2"/>
              </a:buClr>
              <a:tabLst>
                <a:tab pos="6056861" algn="l"/>
              </a:tabLst>
            </a:pPr>
            <a:r>
              <a:rPr lang="es-ES" sz="1000" dirty="0">
                <a:solidFill>
                  <a:srgbClr val="EB0000"/>
                </a:solidFill>
                <a:latin typeface="Arial" panose="020B0604020202020204" pitchFamily="34" charset="0"/>
                <a:ea typeface="Lucida Grande" pitchFamily="2" charset="0"/>
                <a:cs typeface="Arial" panose="020B0604020202020204" pitchFamily="34" charset="0"/>
              </a:rPr>
              <a:t>No reproduction or distribution may be made of any part of the paper/presentation for any reason without first receiving written permission </a:t>
            </a:r>
            <a:r>
              <a:rPr lang="es-ES" sz="1000" dirty="0" err="1">
                <a:solidFill>
                  <a:srgbClr val="EB0000"/>
                </a:solidFill>
                <a:latin typeface="Arial" panose="020B0604020202020204" pitchFamily="34" charset="0"/>
                <a:ea typeface="Lucida Grande" pitchFamily="2" charset="0"/>
                <a:cs typeface="Arial" panose="020B0604020202020204" pitchFamily="34" charset="0"/>
              </a:rPr>
              <a:t>from</a:t>
            </a:r>
            <a:r>
              <a:rPr lang="es-ES" sz="1000" dirty="0">
                <a:solidFill>
                  <a:srgbClr val="EB0000"/>
                </a:solidFill>
                <a:latin typeface="Arial" panose="020B0604020202020204" pitchFamily="34" charset="0"/>
                <a:ea typeface="Lucida Grande" pitchFamily="2" charset="0"/>
                <a:cs typeface="Arial" panose="020B0604020202020204" pitchFamily="34" charset="0"/>
              </a:rPr>
              <a:t> Santander Tecnología. Only for the intended purpose for which you are receiving this paper/presentation you would be allowed to make a single copy of print it, provided that no changes are made to the content and provided that a copyright notice accrediting the content is attached to the reproduction. Beyond that, no further copies may be made or distributed without written authorization. All commercial use is expressly forbidden.</a:t>
            </a:r>
          </a:p>
          <a:p>
            <a:pPr algn="just" defTabSz="733443">
              <a:spcBef>
                <a:spcPts val="300"/>
              </a:spcBef>
              <a:buClr>
                <a:schemeClr val="accent2"/>
              </a:buClr>
              <a:tabLst>
                <a:tab pos="6056861" algn="l"/>
              </a:tabLst>
            </a:pPr>
            <a:endParaRPr lang="es-ES" sz="1000" dirty="0">
              <a:solidFill>
                <a:srgbClr val="EB0000"/>
              </a:solidFill>
              <a:latin typeface="Arial" panose="020B0604020202020204" pitchFamily="34" charset="0"/>
              <a:ea typeface="Lucida Grande" pitchFamily="2" charset="0"/>
              <a:cs typeface="Arial" panose="020B0604020202020204" pitchFamily="34" charset="0"/>
            </a:endParaRPr>
          </a:p>
          <a:p>
            <a:pPr algn="just" defTabSz="733443">
              <a:spcBef>
                <a:spcPts val="300"/>
              </a:spcBef>
              <a:buClr>
                <a:schemeClr val="accent2"/>
              </a:buClr>
              <a:tabLst>
                <a:tab pos="6056861" algn="l"/>
              </a:tabLst>
            </a:pPr>
            <a:r>
              <a:rPr lang="es-ES" sz="1000" dirty="0">
                <a:solidFill>
                  <a:srgbClr val="EB0000"/>
                </a:solidFill>
                <a:latin typeface="Arial" panose="020B0604020202020204" pitchFamily="34" charset="0"/>
                <a:ea typeface="Lucida Grande" pitchFamily="2" charset="0"/>
                <a:cs typeface="Arial" panose="020B0604020202020204" pitchFamily="34" charset="0"/>
              </a:rPr>
              <a:t>Santander Tecnología </a:t>
            </a:r>
            <a:r>
              <a:rPr lang="es-ES" sz="1000" dirty="0" err="1">
                <a:solidFill>
                  <a:srgbClr val="EB0000"/>
                </a:solidFill>
                <a:latin typeface="Arial" panose="020B0604020202020204" pitchFamily="34" charset="0"/>
                <a:ea typeface="Lucida Grande" pitchFamily="2" charset="0"/>
                <a:cs typeface="Arial" panose="020B0604020202020204" pitchFamily="34" charset="0"/>
              </a:rPr>
              <a:t>is</a:t>
            </a:r>
            <a:r>
              <a:rPr lang="es-ES" sz="1000" dirty="0">
                <a:solidFill>
                  <a:srgbClr val="EB0000"/>
                </a:solidFill>
                <a:latin typeface="Arial" panose="020B0604020202020204" pitchFamily="34" charset="0"/>
                <a:ea typeface="Lucida Grande" pitchFamily="2" charset="0"/>
                <a:cs typeface="Arial" panose="020B0604020202020204" pitchFamily="34" charset="0"/>
              </a:rPr>
              <a:t> the owner, copyright owner or authorized user for all other aspects and content of this paper/presentation including trademark, information, text, photographs and design unless otherwise stated.</a:t>
            </a:r>
          </a:p>
          <a:p>
            <a:pPr algn="just" defTabSz="733443">
              <a:spcBef>
                <a:spcPts val="300"/>
              </a:spcBef>
              <a:buClr>
                <a:schemeClr val="accent2"/>
              </a:buClr>
              <a:tabLst>
                <a:tab pos="6056861" algn="l"/>
              </a:tabLst>
            </a:pPr>
            <a:endParaRPr lang="es-ES" sz="1000" dirty="0">
              <a:solidFill>
                <a:srgbClr val="EB0000"/>
              </a:solidFill>
              <a:latin typeface="Arial" panose="020B0604020202020204" pitchFamily="34" charset="0"/>
              <a:ea typeface="Lucida Grande" pitchFamily="2" charset="0"/>
              <a:cs typeface="Arial" panose="020B0604020202020204" pitchFamily="34" charset="0"/>
            </a:endParaRPr>
          </a:p>
          <a:p>
            <a:pPr algn="just" defTabSz="733443">
              <a:spcBef>
                <a:spcPts val="300"/>
              </a:spcBef>
              <a:buClr>
                <a:schemeClr val="accent2"/>
              </a:buClr>
              <a:tabLst>
                <a:tab pos="6056861" algn="l"/>
              </a:tabLst>
            </a:pPr>
            <a:r>
              <a:rPr lang="es-ES" sz="1000" dirty="0">
                <a:solidFill>
                  <a:srgbClr val="EB0000"/>
                </a:solidFill>
                <a:latin typeface="Arial" panose="020B0604020202020204" pitchFamily="34" charset="0"/>
                <a:ea typeface="Lucida Grande" pitchFamily="2" charset="0"/>
                <a:cs typeface="Arial" panose="020B0604020202020204" pitchFamily="34" charset="0"/>
              </a:rPr>
              <a:t>While every endeavour has been made to supply accurate information, errors and omissions may occur. Accordingly, Santander Tecnología </a:t>
            </a:r>
            <a:r>
              <a:rPr lang="es-ES" sz="1000" dirty="0" err="1">
                <a:solidFill>
                  <a:srgbClr val="EB0000"/>
                </a:solidFill>
                <a:latin typeface="Arial" panose="020B0604020202020204" pitchFamily="34" charset="0"/>
                <a:ea typeface="Lucida Grande" pitchFamily="2" charset="0"/>
                <a:cs typeface="Arial" panose="020B0604020202020204" pitchFamily="34" charset="0"/>
              </a:rPr>
              <a:t>does</a:t>
            </a:r>
            <a:r>
              <a:rPr lang="es-ES" sz="1000" dirty="0">
                <a:solidFill>
                  <a:srgbClr val="EB0000"/>
                </a:solidFill>
                <a:latin typeface="Arial" panose="020B0604020202020204" pitchFamily="34" charset="0"/>
                <a:ea typeface="Lucida Grande" pitchFamily="2" charset="0"/>
                <a:cs typeface="Arial" panose="020B0604020202020204" pitchFamily="34" charset="0"/>
              </a:rPr>
              <a:t> not accept any liability for any loss or damage which may directly or indirectly result from any advice, opinion, information, representation or omission, whether negligent or otherwise, contained </a:t>
            </a:r>
            <a:r>
              <a:rPr lang="es-ES" sz="1000" dirty="0" err="1">
                <a:solidFill>
                  <a:srgbClr val="EB0000"/>
                </a:solidFill>
                <a:latin typeface="Arial" panose="020B0604020202020204" pitchFamily="34" charset="0"/>
                <a:ea typeface="Lucida Grande" pitchFamily="2" charset="0"/>
                <a:cs typeface="Arial" panose="020B0604020202020204" pitchFamily="34" charset="0"/>
              </a:rPr>
              <a:t>on</a:t>
            </a:r>
            <a:r>
              <a:rPr lang="es-ES" sz="1000" dirty="0">
                <a:solidFill>
                  <a:srgbClr val="EB0000"/>
                </a:solidFill>
                <a:latin typeface="Arial" panose="020B0604020202020204" pitchFamily="34" charset="0"/>
                <a:ea typeface="Lucida Grande" pitchFamily="2" charset="0"/>
                <a:cs typeface="Arial" panose="020B0604020202020204" pitchFamily="34" charset="0"/>
              </a:rPr>
              <a:t> this site.</a:t>
            </a:r>
          </a:p>
        </p:txBody>
      </p:sp>
      <p:sp>
        <p:nvSpPr>
          <p:cNvPr id="3" name="Rectangle 26"/>
          <p:cNvSpPr>
            <a:spLocks/>
          </p:cNvSpPr>
          <p:nvPr/>
        </p:nvSpPr>
        <p:spPr bwMode="auto">
          <a:xfrm>
            <a:off x="876822" y="662536"/>
            <a:ext cx="9753600" cy="333375"/>
          </a:xfrm>
          <a:prstGeom prst="rect">
            <a:avLst/>
          </a:prstGeom>
          <a:noFill/>
          <a:ln w="9525">
            <a:noFill/>
            <a:round/>
            <a:headEnd/>
            <a:tailEnd/>
          </a:ln>
        </p:spPr>
        <p:txBody>
          <a:bodyPr lIns="0" tIns="0" rIns="0" bIns="0" anchor="ctr"/>
          <a:lstStyle/>
          <a:p>
            <a:pPr eaLnBrk="0" hangingPunct="0">
              <a:defRPr/>
            </a:pPr>
            <a:r>
              <a:rPr lang="es-ES" sz="2100" kern="0" dirty="0">
                <a:solidFill>
                  <a:schemeClr val="tx1">
                    <a:lumMod val="65000"/>
                    <a:lumOff val="35000"/>
                  </a:schemeClr>
                </a:solidFill>
                <a:latin typeface="+mj-lt"/>
                <a:ea typeface="ヒラギノ角ゴ ProN W3"/>
                <a:cs typeface="+mj-cs"/>
              </a:rPr>
              <a:t>Copyright, IP Rights, Propietary Information</a:t>
            </a:r>
          </a:p>
        </p:txBody>
      </p:sp>
    </p:spTree>
    <p:extLst>
      <p:ext uri="{BB962C8B-B14F-4D97-AF65-F5344CB8AC3E}">
        <p14:creationId xmlns:p14="http://schemas.microsoft.com/office/powerpoint/2010/main" val="631735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6 Grupo">
            <a:extLst>
              <a:ext uri="{FF2B5EF4-FFF2-40B4-BE49-F238E27FC236}">
                <a16:creationId xmlns:a16="http://schemas.microsoft.com/office/drawing/2014/main" id="{5B7D8D5B-1DDE-443E-A6DD-543CDC429B4A}"/>
              </a:ext>
            </a:extLst>
          </p:cNvPr>
          <p:cNvGrpSpPr/>
          <p:nvPr/>
        </p:nvGrpSpPr>
        <p:grpSpPr>
          <a:xfrm>
            <a:off x="2806481" y="4999783"/>
            <a:ext cx="6480719" cy="1051218"/>
            <a:chOff x="1331641" y="4941168"/>
            <a:chExt cx="6480719" cy="1051218"/>
          </a:xfrm>
        </p:grpSpPr>
        <p:graphicFrame>
          <p:nvGraphicFramePr>
            <p:cNvPr id="5" name="Tabla iconos">
              <a:extLst>
                <a:ext uri="{FF2B5EF4-FFF2-40B4-BE49-F238E27FC236}">
                  <a16:creationId xmlns:a16="http://schemas.microsoft.com/office/drawing/2014/main" id="{7A77657A-2C1F-4554-A30E-8830D206B133}"/>
                </a:ext>
              </a:extLst>
            </p:cNvPr>
            <p:cNvGraphicFramePr>
              <a:graphicFrameLocks/>
            </p:cNvGraphicFramePr>
            <p:nvPr>
              <p:extLst>
                <p:ext uri="{D42A27DB-BD31-4B8C-83A1-F6EECF244321}">
                  <p14:modId xmlns:p14="http://schemas.microsoft.com/office/powerpoint/2010/main" val="2569626113"/>
                </p:ext>
              </p:extLst>
            </p:nvPr>
          </p:nvGraphicFramePr>
          <p:xfrm>
            <a:off x="1331641" y="4941168"/>
            <a:ext cx="6480719" cy="1051218"/>
          </p:xfrm>
          <a:graphic>
            <a:graphicData uri="http://schemas.openxmlformats.org/drawingml/2006/table">
              <a:tbl>
                <a:tblPr firstRow="1" bandRow="1">
                  <a:tableStyleId>{21E4AEA4-8DFA-4A89-87EB-49C32662AFE0}</a:tableStyleId>
                </a:tblPr>
                <a:tblGrid>
                  <a:gridCol w="953047">
                    <a:extLst>
                      <a:ext uri="{9D8B030D-6E8A-4147-A177-3AD203B41FA5}">
                        <a16:colId xmlns:a16="http://schemas.microsoft.com/office/drawing/2014/main" val="20000"/>
                      </a:ext>
                    </a:extLst>
                  </a:gridCol>
                  <a:gridCol w="5527672">
                    <a:extLst>
                      <a:ext uri="{9D8B030D-6E8A-4147-A177-3AD203B41FA5}">
                        <a16:colId xmlns:a16="http://schemas.microsoft.com/office/drawing/2014/main" val="20001"/>
                      </a:ext>
                    </a:extLst>
                  </a:gridCol>
                </a:tblGrid>
                <a:tr h="259025">
                  <a:tc>
                    <a:txBody>
                      <a:bodyPr/>
                      <a:lstStyle/>
                      <a:p>
                        <a:pPr marL="0" marR="0" lvl="0" indent="0" algn="ctr" defTabSz="914400" rtl="0" eaLnBrk="1" fontAlgn="base" latinLnBrk="0" hangingPunct="1">
                          <a:lnSpc>
                            <a:spcPct val="100000"/>
                          </a:lnSpc>
                          <a:spcBef>
                            <a:spcPts val="600"/>
                          </a:spcBef>
                          <a:spcAft>
                            <a:spcPct val="0"/>
                          </a:spcAft>
                          <a:buClrTx/>
                          <a:buSzTx/>
                          <a:buFont typeface="Wingdings" pitchFamily="2" charset="2"/>
                          <a:buNone/>
                          <a:tabLst/>
                        </a:pPr>
                        <a:r>
                          <a:rPr kumimoji="0" lang="es-ES_tradnl" sz="1200" u="none" strike="noStrike" kern="1200" cap="none" normalizeH="0" baseline="0" dirty="0">
                            <a:ln>
                              <a:noFill/>
                            </a:ln>
                            <a:effectLst/>
                            <a:latin typeface="Arial" panose="020B0604020202020204" pitchFamily="34" charset="0"/>
                            <a:cs typeface="Arial" panose="020B0604020202020204" pitchFamily="34" charset="0"/>
                          </a:rPr>
                          <a:t>ICONO</a:t>
                        </a:r>
                        <a:endParaRPr kumimoji="0" lang="es-ES_tradnl" sz="1200" b="1" i="0" u="none" strike="noStrike" kern="1200" cap="none" normalizeH="0" baseline="0" dirty="0">
                          <a:ln>
                            <a:noFill/>
                          </a:ln>
                          <a:solidFill>
                            <a:schemeClr val="bg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B0000"/>
                      </a:solidFill>
                    </a:tcPr>
                  </a:tc>
                  <a:tc>
                    <a:txBody>
                      <a:bodyPr/>
                      <a:lstStyle/>
                      <a:p>
                        <a:pPr marL="0" marR="0" lvl="0" indent="0" algn="ctr" defTabSz="914400" rtl="0" eaLnBrk="1" fontAlgn="base" latinLnBrk="0" hangingPunct="1">
                          <a:lnSpc>
                            <a:spcPct val="100000"/>
                          </a:lnSpc>
                          <a:spcBef>
                            <a:spcPts val="600"/>
                          </a:spcBef>
                          <a:spcAft>
                            <a:spcPct val="0"/>
                          </a:spcAft>
                          <a:buClrTx/>
                          <a:buSzTx/>
                          <a:buFont typeface="Wingdings" pitchFamily="2" charset="2"/>
                          <a:buNone/>
                          <a:tabLst/>
                        </a:pPr>
                        <a:r>
                          <a:rPr kumimoji="0" lang="es-ES_tradnl" sz="1200" u="none" strike="noStrike" kern="1200" cap="none" normalizeH="0" baseline="0" dirty="0">
                            <a:ln>
                              <a:noFill/>
                            </a:ln>
                            <a:effectLst/>
                            <a:latin typeface="Arial" panose="020B0604020202020204" pitchFamily="34" charset="0"/>
                            <a:cs typeface="Arial" panose="020B0604020202020204" pitchFamily="34" charset="0"/>
                          </a:rPr>
                          <a:t>Significado</a:t>
                        </a:r>
                        <a:endParaRPr kumimoji="0" lang="es-ES_tradnl" sz="1200" b="1" i="0" u="none" strike="noStrike" kern="1200" cap="none" normalizeH="0" baseline="0" dirty="0">
                          <a:ln>
                            <a:noFill/>
                          </a:ln>
                          <a:solidFill>
                            <a:schemeClr val="bg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B0000"/>
                      </a:solidFill>
                    </a:tcPr>
                  </a:tc>
                  <a:extLst>
                    <a:ext uri="{0D108BD9-81ED-4DB2-BD59-A6C34878D82A}">
                      <a16:rowId xmlns:a16="http://schemas.microsoft.com/office/drawing/2014/main" val="10000"/>
                    </a:ext>
                  </a:extLst>
                </a:tr>
                <a:tr h="403655">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endParaRPr kumimoji="0" lang="es-ES" sz="1100" b="0" i="0" u="none" strike="noStrike" kern="1200" cap="none" normalizeH="0" baseline="0" dirty="0">
                          <a:ln>
                            <a:noFill/>
                          </a:ln>
                          <a:solidFill>
                            <a:schemeClr val="tx1"/>
                          </a:solidFill>
                          <a:effectLst/>
                          <a:latin typeface="Arial" charset="0"/>
                          <a:ea typeface="+mn-ea"/>
                          <a:cs typeface="+mn-cs"/>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defRPr/>
                        </a:pPr>
                        <a:r>
                          <a:rPr kumimoji="0" lang="es-ES" sz="1000" u="none" strike="noStrike" kern="1200" cap="none" normalizeH="0" baseline="0" dirty="0">
                            <a:ln>
                              <a:noFill/>
                            </a:ln>
                            <a:effectLst/>
                            <a:latin typeface="+mn-lt"/>
                          </a:rPr>
                          <a:t>Llama la atención sobre algo que es nuevo o ha sido modificado en esta versión del DI</a:t>
                        </a:r>
                        <a:endParaRPr kumimoji="0" lang="es-ES" sz="1000" b="0" i="0" u="none" strike="noStrike" kern="1200" cap="none" normalizeH="0" baseline="0" dirty="0">
                          <a:ln>
                            <a:noFill/>
                          </a:ln>
                          <a:solidFill>
                            <a:schemeClr val="tx1"/>
                          </a:solidFill>
                          <a:effectLst/>
                          <a:latin typeface="+mn-lt"/>
                          <a:ea typeface="+mn-ea"/>
                          <a:cs typeface="+mn-cs"/>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88538">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endParaRPr kumimoji="0" lang="es-ES" sz="1100" b="0" i="0" u="none" strike="noStrike" kern="1200" cap="none" normalizeH="0" baseline="0" dirty="0">
                          <a:ln>
                            <a:noFill/>
                          </a:ln>
                          <a:solidFill>
                            <a:schemeClr val="tx1"/>
                          </a:solidFill>
                          <a:effectLst/>
                          <a:latin typeface="Arial" charset="0"/>
                          <a:ea typeface="+mn-ea"/>
                          <a:cs typeface="+mn-cs"/>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000" b="0" i="0" u="none" strike="noStrike" kern="1200" cap="none" normalizeH="0" baseline="0" dirty="0">
                            <a:ln>
                              <a:noFill/>
                            </a:ln>
                            <a:solidFill>
                              <a:schemeClr val="tx1"/>
                            </a:solidFill>
                            <a:effectLst/>
                            <a:latin typeface="+mn-lt"/>
                            <a:ea typeface="+mn-ea"/>
                            <a:cs typeface="+mn-cs"/>
                          </a:rPr>
                          <a:t>Punto clave dentro del diseño al que habría que prestar especial atención</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pic>
          <p:nvPicPr>
            <p:cNvPr id="6" name="Picture 662" descr="MC900434391[1]">
              <a:extLst>
                <a:ext uri="{FF2B5EF4-FFF2-40B4-BE49-F238E27FC236}">
                  <a16:creationId xmlns:a16="http://schemas.microsoft.com/office/drawing/2014/main" id="{07B6DC14-E7A8-4B55-B1D8-E6DC786083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8404" y="5229200"/>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Ojo" descr="MCj04377970000[1]">
              <a:hlinkClick r:id="" action="ppaction://noaction"/>
              <a:extLst>
                <a:ext uri="{FF2B5EF4-FFF2-40B4-BE49-F238E27FC236}">
                  <a16:creationId xmlns:a16="http://schemas.microsoft.com/office/drawing/2014/main" id="{F82A7F08-C087-415E-8D0C-7E5735909C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07923" y="5648463"/>
              <a:ext cx="360920" cy="324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8" name="Group 64">
            <a:extLst>
              <a:ext uri="{FF2B5EF4-FFF2-40B4-BE49-F238E27FC236}">
                <a16:creationId xmlns:a16="http://schemas.microsoft.com/office/drawing/2014/main" id="{B5EDAD54-E7F6-4603-95FB-40A4C25DE9B9}"/>
              </a:ext>
            </a:extLst>
          </p:cNvPr>
          <p:cNvGraphicFramePr>
            <a:graphicFrameLocks noGrp="1"/>
          </p:cNvGraphicFramePr>
          <p:nvPr>
            <p:extLst>
              <p:ext uri="{D42A27DB-BD31-4B8C-83A1-F6EECF244321}">
                <p14:modId xmlns:p14="http://schemas.microsoft.com/office/powerpoint/2010/main" val="1247387490"/>
              </p:ext>
            </p:extLst>
          </p:nvPr>
        </p:nvGraphicFramePr>
        <p:xfrm>
          <a:off x="701127" y="978654"/>
          <a:ext cx="10691426" cy="3952440"/>
        </p:xfrm>
        <a:graphic>
          <a:graphicData uri="http://schemas.openxmlformats.org/drawingml/2006/table">
            <a:tbl>
              <a:tblPr/>
              <a:tblGrid>
                <a:gridCol w="885870">
                  <a:extLst>
                    <a:ext uri="{9D8B030D-6E8A-4147-A177-3AD203B41FA5}">
                      <a16:colId xmlns:a16="http://schemas.microsoft.com/office/drawing/2014/main" val="20000"/>
                    </a:ext>
                  </a:extLst>
                </a:gridCol>
                <a:gridCol w="935420">
                  <a:extLst>
                    <a:ext uri="{9D8B030D-6E8A-4147-A177-3AD203B41FA5}">
                      <a16:colId xmlns:a16="http://schemas.microsoft.com/office/drawing/2014/main" val="20001"/>
                    </a:ext>
                  </a:extLst>
                </a:gridCol>
                <a:gridCol w="6705600">
                  <a:extLst>
                    <a:ext uri="{9D8B030D-6E8A-4147-A177-3AD203B41FA5}">
                      <a16:colId xmlns:a16="http://schemas.microsoft.com/office/drawing/2014/main" val="20002"/>
                    </a:ext>
                  </a:extLst>
                </a:gridCol>
                <a:gridCol w="2164536">
                  <a:extLst>
                    <a:ext uri="{9D8B030D-6E8A-4147-A177-3AD203B41FA5}">
                      <a16:colId xmlns:a16="http://schemas.microsoft.com/office/drawing/2014/main" val="20003"/>
                    </a:ext>
                  </a:extLst>
                </a:gridCol>
              </a:tblGrid>
              <a:tr h="352927">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400" b="1" i="0" u="none" strike="noStrike" cap="none" normalizeH="0" baseline="0" dirty="0" err="1">
                          <a:ln>
                            <a:noFill/>
                          </a:ln>
                          <a:solidFill>
                            <a:schemeClr val="bg1"/>
                          </a:solidFill>
                          <a:effectLst/>
                          <a:latin typeface="Arial" charset="0"/>
                        </a:rPr>
                        <a:t>Versi</a:t>
                      </a:r>
                      <a:r>
                        <a:rPr kumimoji="0" lang="es-ES_tradnl" sz="1400" b="1" i="0" u="none" strike="noStrike" cap="none" normalizeH="0" baseline="0" dirty="0">
                          <a:ln>
                            <a:noFill/>
                          </a:ln>
                          <a:solidFill>
                            <a:schemeClr val="bg1"/>
                          </a:solidFill>
                          <a:effectLst/>
                          <a:latin typeface="Arial" charset="0"/>
                        </a:rPr>
                        <a:t>ó</a:t>
                      </a:r>
                      <a:r>
                        <a:rPr kumimoji="0" lang="en-GB" sz="1400" b="1" i="0" u="none" strike="noStrike" cap="none" normalizeH="0" baseline="0" dirty="0">
                          <a:ln>
                            <a:noFill/>
                          </a:ln>
                          <a:solidFill>
                            <a:schemeClr val="bg1"/>
                          </a:solidFill>
                          <a:effectLst/>
                          <a:latin typeface="Arial" charset="0"/>
                        </a:rPr>
                        <a:t>n</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400" b="1" i="0" u="none" strike="noStrike" cap="none" normalizeH="0" baseline="0" dirty="0" err="1">
                          <a:ln>
                            <a:noFill/>
                          </a:ln>
                          <a:solidFill>
                            <a:schemeClr val="bg1"/>
                          </a:solidFill>
                          <a:effectLst/>
                          <a:latin typeface="Arial" charset="0"/>
                        </a:rPr>
                        <a:t>Fecha</a:t>
                      </a:r>
                      <a:endParaRPr kumimoji="0" lang="en-GB" sz="1400" b="1" i="0" u="none" strike="noStrike" cap="none" normalizeH="0" baseline="0" dirty="0">
                        <a:ln>
                          <a:noFill/>
                        </a:ln>
                        <a:solidFill>
                          <a:schemeClr val="bg1"/>
                        </a:solidFill>
                        <a:effectLst/>
                        <a:latin typeface="Arial" charset="0"/>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400" b="1" i="0" u="none" strike="noStrike" cap="none" normalizeH="0" baseline="0">
                          <a:ln>
                            <a:noFill/>
                          </a:ln>
                          <a:solidFill>
                            <a:schemeClr val="bg1"/>
                          </a:solidFill>
                          <a:effectLst/>
                          <a:latin typeface="Arial" charset="0"/>
                        </a:rPr>
                        <a:t>Descripción del Cambio</a:t>
                      </a:r>
                    </a:p>
                  </a:txBody>
                  <a:tcPr marL="72000" marR="72000" marT="71975" marB="7197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400" b="1" i="0" u="none" strike="noStrike" cap="none" normalizeH="0" baseline="0" dirty="0">
                          <a:ln>
                            <a:noFill/>
                          </a:ln>
                          <a:solidFill>
                            <a:schemeClr val="bg1"/>
                          </a:solidFill>
                          <a:effectLst/>
                          <a:latin typeface="Arial" charset="0"/>
                        </a:rPr>
                        <a:t>Autor/</a:t>
                      </a:r>
                      <a:r>
                        <a:rPr kumimoji="0" lang="en-GB" sz="1400" b="1" i="0" u="none" strike="noStrike" cap="none" normalizeH="0" baseline="0" dirty="0" err="1">
                          <a:ln>
                            <a:noFill/>
                          </a:ln>
                          <a:solidFill>
                            <a:schemeClr val="bg1"/>
                          </a:solidFill>
                          <a:effectLst/>
                          <a:latin typeface="Arial" charset="0"/>
                        </a:rPr>
                        <a:t>Departamento</a:t>
                      </a:r>
                      <a:endParaRPr kumimoji="0" lang="en-GB" sz="1400" b="1" i="0" u="none" strike="noStrike" cap="none" normalizeH="0" baseline="0" dirty="0">
                        <a:ln>
                          <a:noFill/>
                        </a:ln>
                        <a:solidFill>
                          <a:schemeClr val="bg1"/>
                        </a:solidFill>
                        <a:effectLst/>
                        <a:latin typeface="Arial" charset="0"/>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1.0.0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17/05/2021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lang="es-ES" sz="1100" b="0" i="0" u="none" strike="noStrike" dirty="0">
                          <a:solidFill>
                            <a:schemeClr val="tx1">
                              <a:lumMod val="85000"/>
                              <a:lumOff val="15000"/>
                            </a:schemeClr>
                          </a:solidFill>
                          <a:effectLst/>
                          <a:latin typeface="Arial" panose="020B0604020202020204" pitchFamily="34" charset="0"/>
                          <a:cs typeface="Arial" panose="020B0604020202020204" pitchFamily="34" charset="0"/>
                        </a:rPr>
                        <a:t>Versión Inicial </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2.0.0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22/06/2021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Modificación a un solo PaaS (internet). Pg:14,15, 35, 44, 49, 50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2.1.0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26/07/2021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Integración </a:t>
                      </a:r>
                      <a:r>
                        <a:rPr kumimoji="0" lang="es-ES" sz="1100" b="0" i="0" u="none" strike="noStrike" cap="none" normalizeH="0" baseline="0" dirty="0" err="1">
                          <a:ln>
                            <a:noFill/>
                          </a:ln>
                          <a:solidFill>
                            <a:schemeClr val="tx1">
                              <a:lumMod val="85000"/>
                              <a:lumOff val="15000"/>
                            </a:schemeClr>
                          </a:solidFill>
                          <a:effectLst/>
                          <a:latin typeface="Arial" panose="020B0604020202020204" pitchFamily="34" charset="0"/>
                          <a:cs typeface="Arial" panose="020B0604020202020204" pitchFamily="34" charset="0"/>
                        </a:rPr>
                        <a:t>Chatbot</a:t>
                      </a: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 </a:t>
                      </a:r>
                      <a:r>
                        <a:rPr kumimoji="0" lang="es-ES" sz="1100" b="0" i="0" u="none" strike="noStrike" cap="none" normalizeH="0" baseline="0" dirty="0" err="1">
                          <a:ln>
                            <a:noFill/>
                          </a:ln>
                          <a:solidFill>
                            <a:schemeClr val="tx1">
                              <a:lumMod val="85000"/>
                              <a:lumOff val="15000"/>
                            </a:schemeClr>
                          </a:solidFill>
                          <a:effectLst/>
                          <a:latin typeface="Arial" panose="020B0604020202020204" pitchFamily="34" charset="0"/>
                          <a:cs typeface="Arial" panose="020B0604020202020204" pitchFamily="34" charset="0"/>
                        </a:rPr>
                        <a:t>Inbentia</a:t>
                      </a:r>
                      <a:endPar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50628545"/>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2.2.0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02/09/2021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Acceso AAD Credentials a Blob Storage</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61413773"/>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2.3.0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20/10/2021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Integración con procesos estructurales  </a:t>
                      </a:r>
                      <a:r>
                        <a:rPr kumimoji="0" lang="es-ES" sz="1100" b="0" i="0" u="none" strike="noStrike" cap="none" normalizeH="0" baseline="0" dirty="0" err="1">
                          <a:ln>
                            <a:noFill/>
                          </a:ln>
                          <a:solidFill>
                            <a:schemeClr val="tx1">
                              <a:lumMod val="85000"/>
                              <a:lumOff val="15000"/>
                            </a:schemeClr>
                          </a:solidFill>
                          <a:effectLst/>
                          <a:latin typeface="Arial" panose="020B0604020202020204" pitchFamily="34" charset="0"/>
                          <a:cs typeface="Arial" panose="020B0604020202020204" pitchFamily="34" charset="0"/>
                        </a:rPr>
                        <a:t>Pg</a:t>
                      </a: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 10,13,16,19,20,57</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24510729"/>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2.4.0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20/10/2021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Sustitución de Azure Blob Storage por S3 OHE</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73487447"/>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2.4.1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20/10/2021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Correcciones versión anterior</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11699096"/>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a:ln>
                            <a:noFill/>
                          </a:ln>
                          <a:solidFill>
                            <a:schemeClr val="tx1">
                              <a:lumMod val="85000"/>
                              <a:lumOff val="15000"/>
                            </a:schemeClr>
                          </a:solidFill>
                          <a:effectLst/>
                          <a:latin typeface="Arial" panose="020B0604020202020204" pitchFamily="34" charset="0"/>
                          <a:cs typeface="Arial" panose="020B0604020202020204" pitchFamily="34" charset="0"/>
                        </a:rPr>
                        <a:t>2.5.1</a:t>
                      </a:r>
                      <a:endPar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24/06/2022</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Incorporación del motor de procesos Appian. </a:t>
                      </a:r>
                      <a:r>
                        <a:rPr kumimoji="0" lang="es-ES" sz="1100" b="0" i="0" u="none" strike="noStrike" cap="none" normalizeH="0" baseline="0" dirty="0" err="1">
                          <a:ln>
                            <a:noFill/>
                          </a:ln>
                          <a:solidFill>
                            <a:schemeClr val="tx1">
                              <a:lumMod val="85000"/>
                              <a:lumOff val="15000"/>
                            </a:schemeClr>
                          </a:solidFill>
                          <a:effectLst/>
                          <a:latin typeface="Arial" panose="020B0604020202020204" pitchFamily="34" charset="0"/>
                          <a:cs typeface="Arial" panose="020B0604020202020204" pitchFamily="34" charset="0"/>
                        </a:rPr>
                        <a:t>Pg</a:t>
                      </a: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 17, 22, </a:t>
                      </a:r>
                      <a:r>
                        <a:rPr kumimoji="0" lang="es-ES" sz="1100" b="0" i="0" u="none" strike="noStrike" cap="none" normalizeH="0" baseline="0">
                          <a:ln>
                            <a:noFill/>
                          </a:ln>
                          <a:solidFill>
                            <a:schemeClr val="tx1">
                              <a:lumMod val="85000"/>
                              <a:lumOff val="15000"/>
                            </a:schemeClr>
                          </a:solidFill>
                          <a:effectLst/>
                          <a:latin typeface="Arial" panose="020B0604020202020204" pitchFamily="34" charset="0"/>
                          <a:cs typeface="Arial" panose="020B0604020202020204" pitchFamily="34" charset="0"/>
                        </a:rPr>
                        <a:t>33 , 38 y 50</a:t>
                      </a:r>
                      <a:endPar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6996325"/>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2.6.0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05/05/2023</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Incorporación de la llamada a bloqueos de cuenta por clientes UCAR. </a:t>
                      </a:r>
                      <a:r>
                        <a:rPr kumimoji="0" lang="es-ES" sz="1100" b="0" i="0" u="none" strike="noStrike" cap="none" normalizeH="0" baseline="0" dirty="0" err="1">
                          <a:ln>
                            <a:noFill/>
                          </a:ln>
                          <a:solidFill>
                            <a:schemeClr val="tx1">
                              <a:lumMod val="85000"/>
                              <a:lumOff val="15000"/>
                            </a:schemeClr>
                          </a:solidFill>
                          <a:effectLst/>
                          <a:latin typeface="Arial" panose="020B0604020202020204" pitchFamily="34" charset="0"/>
                          <a:cs typeface="Arial" panose="020B0604020202020204" pitchFamily="34" charset="0"/>
                        </a:rPr>
                        <a:t>Pg</a:t>
                      </a: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 17</a:t>
                      </a:r>
                      <a:r>
                        <a:rPr kumimoji="0" lang="es-ES" sz="1100" b="0" i="0" u="none" strike="noStrike" cap="none" normalizeH="0" baseline="0">
                          <a:ln>
                            <a:noFill/>
                          </a:ln>
                          <a:solidFill>
                            <a:schemeClr val="tx1">
                              <a:lumMod val="85000"/>
                              <a:lumOff val="15000"/>
                            </a:schemeClr>
                          </a:solidFill>
                          <a:effectLst/>
                          <a:latin typeface="Arial" panose="020B0604020202020204" pitchFamily="34" charset="0"/>
                          <a:cs typeface="Arial" panose="020B0604020202020204" pitchFamily="34" charset="0"/>
                        </a:rPr>
                        <a:t>, 22 </a:t>
                      </a: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y 50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08755521"/>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2.7.1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06/06/2023</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Incorporación de la llamada a PagoNxt para la Autenticación de Identidad vía transferencia entrante. </a:t>
                      </a:r>
                      <a:r>
                        <a:rPr kumimoji="0" lang="es-ES" sz="1100" b="0" i="0" u="none" strike="noStrike" cap="none" normalizeH="0" baseline="0" dirty="0" err="1">
                          <a:ln>
                            <a:noFill/>
                          </a:ln>
                          <a:solidFill>
                            <a:schemeClr val="tx1">
                              <a:lumMod val="85000"/>
                              <a:lumOff val="15000"/>
                            </a:schemeClr>
                          </a:solidFill>
                          <a:effectLst/>
                          <a:latin typeface="Arial" panose="020B0604020202020204" pitchFamily="34" charset="0"/>
                          <a:cs typeface="Arial" panose="020B0604020202020204" pitchFamily="34" charset="0"/>
                        </a:rPr>
                        <a:t>Pg</a:t>
                      </a:r>
                      <a:r>
                        <a:rPr kumimoji="0" lang="es-ES" sz="1100" b="0" i="0" u="none" strike="noStrike" cap="none" normalizeH="0" baseline="0">
                          <a:ln>
                            <a:noFill/>
                          </a:ln>
                          <a:solidFill>
                            <a:schemeClr val="tx1">
                              <a:lumMod val="85000"/>
                              <a:lumOff val="15000"/>
                            </a:schemeClr>
                          </a:solidFill>
                          <a:effectLst/>
                          <a:latin typeface="Arial" panose="020B0604020202020204" pitchFamily="34" charset="0"/>
                          <a:cs typeface="Arial" panose="020B0604020202020204" pitchFamily="34" charset="0"/>
                        </a:rPr>
                        <a:t>: 10, 17</a:t>
                      </a: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 22 y 50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62238277"/>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2.8.0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23/06/2023</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Incorporación de nuevo almacenamiento temporal para sustituir al S3. </a:t>
                      </a:r>
                      <a:r>
                        <a:rPr kumimoji="0" lang="es-ES" sz="1100" b="0" i="0" u="none" strike="noStrike" cap="none" normalizeH="0" baseline="0" dirty="0" err="1">
                          <a:ln>
                            <a:noFill/>
                          </a:ln>
                          <a:solidFill>
                            <a:schemeClr val="tx1">
                              <a:lumMod val="85000"/>
                              <a:lumOff val="15000"/>
                            </a:schemeClr>
                          </a:solidFill>
                          <a:effectLst/>
                          <a:latin typeface="Arial" panose="020B0604020202020204" pitchFamily="34" charset="0"/>
                          <a:cs typeface="Arial" panose="020B0604020202020204" pitchFamily="34" charset="0"/>
                        </a:rPr>
                        <a:t>Pg</a:t>
                      </a: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 17, 22 </a:t>
                      </a:r>
                      <a:r>
                        <a:rPr kumimoji="0" lang="es-ES" sz="1100" b="0" i="0" u="none" strike="noStrike" cap="none" normalizeH="0" baseline="0">
                          <a:ln>
                            <a:noFill/>
                          </a:ln>
                          <a:solidFill>
                            <a:schemeClr val="tx1">
                              <a:lumMod val="85000"/>
                              <a:lumOff val="15000"/>
                            </a:schemeClr>
                          </a:solidFill>
                          <a:effectLst/>
                          <a:latin typeface="Arial" panose="020B0604020202020204" pitchFamily="34" charset="0"/>
                          <a:cs typeface="Arial" panose="020B0604020202020204" pitchFamily="34" charset="0"/>
                        </a:rPr>
                        <a:t>y 60</a:t>
                      </a:r>
                      <a:endPar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58648185"/>
                  </a:ext>
                </a:extLst>
              </a:tr>
            </a:tbl>
          </a:graphicData>
        </a:graphic>
      </p:graphicFrame>
      <p:sp>
        <p:nvSpPr>
          <p:cNvPr id="9" name="Marcador de texto 1">
            <a:extLst>
              <a:ext uri="{FF2B5EF4-FFF2-40B4-BE49-F238E27FC236}">
                <a16:creationId xmlns:a16="http://schemas.microsoft.com/office/drawing/2014/main" id="{F9D2A28D-1309-4ED6-ACDD-573A77AE08BE}"/>
              </a:ext>
            </a:extLst>
          </p:cNvPr>
          <p:cNvSpPr>
            <a:spLocks noGrp="1"/>
          </p:cNvSpPr>
          <p:nvPr>
            <p:ph type="body" sz="quarter" idx="12"/>
          </p:nvPr>
        </p:nvSpPr>
        <p:spPr>
          <a:xfrm>
            <a:off x="653142" y="328774"/>
            <a:ext cx="10833365" cy="318498"/>
          </a:xfrm>
        </p:spPr>
        <p:txBody>
          <a:bodyPr>
            <a:noAutofit/>
          </a:bodyPr>
          <a:lstStyle/>
          <a:p>
            <a:r>
              <a:rPr lang="es-ES" sz="1800" dirty="0">
                <a:solidFill>
                  <a:srgbClr val="EB0000"/>
                </a:solidFill>
              </a:rPr>
              <a:t>Control de cambios</a:t>
            </a:r>
          </a:p>
        </p:txBody>
      </p:sp>
    </p:spTree>
    <p:extLst>
      <p:ext uri="{BB962C8B-B14F-4D97-AF65-F5344CB8AC3E}">
        <p14:creationId xmlns:p14="http://schemas.microsoft.com/office/powerpoint/2010/main" val="2486106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B85452-975F-4F0D-B3CC-55C1B3C85287}"/>
              </a:ext>
            </a:extLst>
          </p:cNvPr>
          <p:cNvSpPr>
            <a:spLocks noGrp="1"/>
          </p:cNvSpPr>
          <p:nvPr>
            <p:ph type="body" sz="quarter" idx="12"/>
          </p:nvPr>
        </p:nvSpPr>
        <p:spPr/>
        <p:txBody>
          <a:bodyPr>
            <a:noAutofit/>
          </a:bodyPr>
          <a:lstStyle/>
          <a:p>
            <a:r>
              <a:rPr lang="es-ES" sz="1800" dirty="0">
                <a:solidFill>
                  <a:srgbClr val="EB0000"/>
                </a:solidFill>
              </a:rPr>
              <a:t>Glosario de términos</a:t>
            </a:r>
          </a:p>
        </p:txBody>
      </p:sp>
      <p:graphicFrame>
        <p:nvGraphicFramePr>
          <p:cNvPr id="10" name="Group 64">
            <a:extLst>
              <a:ext uri="{FF2B5EF4-FFF2-40B4-BE49-F238E27FC236}">
                <a16:creationId xmlns:a16="http://schemas.microsoft.com/office/drawing/2014/main" id="{E459626D-ED73-43C8-B5ED-618D941D9E37}"/>
              </a:ext>
            </a:extLst>
          </p:cNvPr>
          <p:cNvGraphicFramePr>
            <a:graphicFrameLocks noGrp="1"/>
          </p:cNvGraphicFramePr>
          <p:nvPr>
            <p:extLst>
              <p:ext uri="{D42A27DB-BD31-4B8C-83A1-F6EECF244321}">
                <p14:modId xmlns:p14="http://schemas.microsoft.com/office/powerpoint/2010/main" val="590465334"/>
              </p:ext>
            </p:extLst>
          </p:nvPr>
        </p:nvGraphicFramePr>
        <p:xfrm>
          <a:off x="773718" y="676387"/>
          <a:ext cx="5004079" cy="4953961"/>
        </p:xfrm>
        <a:graphic>
          <a:graphicData uri="http://schemas.openxmlformats.org/drawingml/2006/table">
            <a:tbl>
              <a:tblPr/>
              <a:tblGrid>
                <a:gridCol w="954593">
                  <a:extLst>
                    <a:ext uri="{9D8B030D-6E8A-4147-A177-3AD203B41FA5}">
                      <a16:colId xmlns:a16="http://schemas.microsoft.com/office/drawing/2014/main" val="20000"/>
                    </a:ext>
                  </a:extLst>
                </a:gridCol>
                <a:gridCol w="4049486">
                  <a:extLst>
                    <a:ext uri="{9D8B030D-6E8A-4147-A177-3AD203B41FA5}">
                      <a16:colId xmlns:a16="http://schemas.microsoft.com/office/drawing/2014/main" val="20002"/>
                    </a:ext>
                  </a:extLst>
                </a:gridCol>
              </a:tblGrid>
              <a:tr h="241929">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s-ES" sz="1400" b="1" i="0" u="none" strike="noStrike" kern="1200" cap="none" normalizeH="0" baseline="0" dirty="0">
                          <a:ln>
                            <a:noFill/>
                          </a:ln>
                          <a:solidFill>
                            <a:schemeClr val="bg1"/>
                          </a:solidFill>
                          <a:effectLst/>
                          <a:latin typeface="Arial" charset="0"/>
                          <a:ea typeface="+mn-ea"/>
                          <a:cs typeface="+mn-cs"/>
                        </a:rPr>
                        <a:t>SIGLA</a:t>
                      </a:r>
                      <a:endParaRPr kumimoji="0" lang="en-GB" sz="1400" b="1" i="0" u="none" strike="noStrike" kern="1200" cap="none" normalizeH="0" baseline="0" dirty="0">
                        <a:ln>
                          <a:noFill/>
                        </a:ln>
                        <a:solidFill>
                          <a:schemeClr val="bg1"/>
                        </a:solidFill>
                        <a:effectLst/>
                        <a:latin typeface="Arial" charset="0"/>
                        <a:ea typeface="+mn-ea"/>
                        <a:cs typeface="+mn-cs"/>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400" b="1" i="0" u="none" strike="noStrike" kern="1200" cap="none" normalizeH="0" baseline="0" dirty="0" err="1">
                          <a:ln>
                            <a:noFill/>
                          </a:ln>
                          <a:solidFill>
                            <a:schemeClr val="bg1"/>
                          </a:solidFill>
                          <a:effectLst/>
                          <a:latin typeface="Arial" charset="0"/>
                          <a:ea typeface="+mn-ea"/>
                          <a:cs typeface="+mn-cs"/>
                        </a:rPr>
                        <a:t>Significado</a:t>
                      </a:r>
                      <a:endParaRPr kumimoji="0" lang="en-GB" sz="1400" b="1" i="0" u="none" strike="noStrike" kern="1200" cap="none" normalizeH="0" baseline="0" dirty="0">
                        <a:ln>
                          <a:noFill/>
                        </a:ln>
                        <a:solidFill>
                          <a:schemeClr val="bg1"/>
                        </a:solidFill>
                        <a:effectLst/>
                        <a:latin typeface="Arial" charset="0"/>
                        <a:ea typeface="+mn-ea"/>
                        <a:cs typeface="+mn-cs"/>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647138706"/>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APP</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Alhambra Process Platform</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81735054"/>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ASW</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Arquitectura del Software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43430505"/>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BBDD</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Bases de Datos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74106314"/>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BDP</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Base de Datos de Personas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0590299"/>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Banca Electrónica</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07162169"/>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BFF</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Backend For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Frontend</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0637779"/>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BKS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BankSphere</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8521532"/>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CCPP</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Cuentas Personales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87051580"/>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CD</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IBM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Sterling</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Connect:Direct</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7974338"/>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CM</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Content Manager</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75624012"/>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CMC</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Contrato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MultiCanal</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32842429"/>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CRS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Common</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Reporting</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Standard</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2188256"/>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CSV</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Código Seguro de Verificación</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7531488"/>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DS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Dominio de Servicio</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DTI</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Diseño Técnico y de Infraestructura</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46660906"/>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FIOC</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Formulario de Información Obligatoria de Cliente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6897506"/>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HDFS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defRPr/>
                      </a:pPr>
                      <a:r>
                        <a:rPr kumimoji="0" lang="es-ES" sz="1200" u="none" strike="noStrike" kern="1200" cap="none" normalizeH="0" baseline="0" dirty="0">
                          <a:ln>
                            <a:noFill/>
                          </a:ln>
                          <a:solidFill>
                            <a:schemeClr val="dk1"/>
                          </a:solidFill>
                          <a:effectLst/>
                          <a:latin typeface="+mn-lt"/>
                          <a:ea typeface="+mn-ea"/>
                          <a:cs typeface="+mn-cs"/>
                        </a:rPr>
                        <a:t>Hadoop </a:t>
                      </a:r>
                      <a:r>
                        <a:rPr kumimoji="0" lang="es-ES" sz="1200" u="none" strike="noStrike" kern="1200" cap="none" normalizeH="0" baseline="0" dirty="0" err="1">
                          <a:ln>
                            <a:noFill/>
                          </a:ln>
                          <a:solidFill>
                            <a:schemeClr val="dk1"/>
                          </a:solidFill>
                          <a:effectLst/>
                          <a:latin typeface="+mn-lt"/>
                          <a:ea typeface="+mn-ea"/>
                          <a:cs typeface="+mn-cs"/>
                        </a:rPr>
                        <a:t>Distributed</a:t>
                      </a:r>
                      <a:r>
                        <a:rPr kumimoji="0" lang="es-ES" sz="1200" u="none" strike="noStrike" kern="1200" cap="none" normalizeH="0" baseline="0" dirty="0">
                          <a:ln>
                            <a:noFill/>
                          </a:ln>
                          <a:solidFill>
                            <a:schemeClr val="dk1"/>
                          </a:solidFill>
                          <a:effectLst/>
                          <a:latin typeface="+mn-lt"/>
                          <a:ea typeface="+mn-ea"/>
                          <a:cs typeface="+mn-cs"/>
                        </a:rPr>
                        <a:t> File System</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51912599"/>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HTTP/S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HyperText</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Transfer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Protocol</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Secure</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97955869"/>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ICED</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Información y Control del Estado de Documentos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61280860"/>
                  </a:ext>
                </a:extLst>
              </a:tr>
            </a:tbl>
          </a:graphicData>
        </a:graphic>
      </p:graphicFrame>
      <p:graphicFrame>
        <p:nvGraphicFramePr>
          <p:cNvPr id="11" name="Group 64">
            <a:extLst>
              <a:ext uri="{FF2B5EF4-FFF2-40B4-BE49-F238E27FC236}">
                <a16:creationId xmlns:a16="http://schemas.microsoft.com/office/drawing/2014/main" id="{E489474E-A2F6-491F-B60A-99EC6182E427}"/>
              </a:ext>
            </a:extLst>
          </p:cNvPr>
          <p:cNvGraphicFramePr>
            <a:graphicFrameLocks noGrp="1"/>
          </p:cNvGraphicFramePr>
          <p:nvPr>
            <p:extLst>
              <p:ext uri="{D42A27DB-BD31-4B8C-83A1-F6EECF244321}">
                <p14:modId xmlns:p14="http://schemas.microsoft.com/office/powerpoint/2010/main" val="3431306942"/>
              </p:ext>
            </p:extLst>
          </p:nvPr>
        </p:nvGraphicFramePr>
        <p:xfrm>
          <a:off x="6241111" y="676387"/>
          <a:ext cx="5004079" cy="4953961"/>
        </p:xfrm>
        <a:graphic>
          <a:graphicData uri="http://schemas.openxmlformats.org/drawingml/2006/table">
            <a:tbl>
              <a:tblPr/>
              <a:tblGrid>
                <a:gridCol w="954593">
                  <a:extLst>
                    <a:ext uri="{9D8B030D-6E8A-4147-A177-3AD203B41FA5}">
                      <a16:colId xmlns:a16="http://schemas.microsoft.com/office/drawing/2014/main" val="20000"/>
                    </a:ext>
                  </a:extLst>
                </a:gridCol>
                <a:gridCol w="4049486">
                  <a:extLst>
                    <a:ext uri="{9D8B030D-6E8A-4147-A177-3AD203B41FA5}">
                      <a16:colId xmlns:a16="http://schemas.microsoft.com/office/drawing/2014/main" val="20002"/>
                    </a:ext>
                  </a:extLst>
                </a:gridCol>
              </a:tblGrid>
              <a:tr h="241929">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s-ES" sz="1400" b="1" i="0" u="none" strike="noStrike" kern="1200" cap="none" normalizeH="0" baseline="0" dirty="0">
                          <a:ln>
                            <a:noFill/>
                          </a:ln>
                          <a:solidFill>
                            <a:schemeClr val="bg1"/>
                          </a:solidFill>
                          <a:effectLst/>
                          <a:latin typeface="Arial" charset="0"/>
                          <a:ea typeface="+mn-ea"/>
                          <a:cs typeface="+mn-cs"/>
                        </a:rPr>
                        <a:t>SIGLA</a:t>
                      </a:r>
                      <a:endParaRPr kumimoji="0" lang="en-GB" sz="1400" b="1" i="0" u="none" strike="noStrike" kern="1200" cap="none" normalizeH="0" baseline="0" dirty="0">
                        <a:ln>
                          <a:noFill/>
                        </a:ln>
                        <a:solidFill>
                          <a:schemeClr val="bg1"/>
                        </a:solidFill>
                        <a:effectLst/>
                        <a:latin typeface="Arial" charset="0"/>
                        <a:ea typeface="+mn-ea"/>
                        <a:cs typeface="+mn-cs"/>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400" b="1" i="0" u="none" strike="noStrike" kern="1200" cap="none" normalizeH="0" baseline="0" dirty="0" err="1">
                          <a:ln>
                            <a:noFill/>
                          </a:ln>
                          <a:solidFill>
                            <a:schemeClr val="bg1"/>
                          </a:solidFill>
                          <a:effectLst/>
                          <a:latin typeface="Arial" charset="0"/>
                          <a:ea typeface="+mn-ea"/>
                          <a:cs typeface="+mn-cs"/>
                        </a:rPr>
                        <a:t>Significado</a:t>
                      </a:r>
                      <a:endParaRPr kumimoji="0" lang="en-GB" sz="1400" b="1" i="0" u="none" strike="noStrike" kern="1200" cap="none" normalizeH="0" baseline="0" dirty="0">
                        <a:ln>
                          <a:noFill/>
                        </a:ln>
                        <a:solidFill>
                          <a:schemeClr val="bg1"/>
                        </a:solidFill>
                        <a:effectLst/>
                        <a:latin typeface="Arial" charset="0"/>
                        <a:ea typeface="+mn-ea"/>
                        <a:cs typeface="+mn-cs"/>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647138706"/>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JDBC</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Java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DataBase</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Conectivity</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83950748"/>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JSON</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JavaScript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Object</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Notation</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43430505"/>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JWT</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lang="es-ES" sz="1200" dirty="0">
                          <a:effectLst/>
                        </a:rPr>
                        <a:t>JSON </a:t>
                      </a:r>
                      <a:r>
                        <a:rPr lang="es-ES" sz="1200">
                          <a:effectLst/>
                        </a:rPr>
                        <a:t>Web Token</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74106314"/>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LDAP</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Lightweight</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Directory</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Access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Protocol</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87051580"/>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MMDD</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Modelos de Datos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32174180"/>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NHB</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Nueva Home Banking</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66225660"/>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NWE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Nueva Web de Empresas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75624012"/>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PaaS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Platform as a Service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9201769"/>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PI</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Plataforma de Impresión</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52707738"/>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PKM</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Public</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Key Manager</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32842429"/>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REST</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Representational</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State</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Transfer </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52213961"/>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SCC</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Security Corporate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Credentials</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Services</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58790493"/>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SDD</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Sistema de Distribución de Documentos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73316596"/>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SOAP</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Simple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Object</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Access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Protocol</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66100269"/>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SPA</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Single-Page Application</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45146008"/>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STS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Security Token Service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04178718"/>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TCP/IP</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Transmission</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Control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Protocol</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/Internet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Protocol</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32432241"/>
                  </a:ext>
                </a:extLst>
              </a:tr>
              <a:tr h="241929">
                <a:tc>
                  <a:txBody>
                    <a:bodyPr/>
                    <a:lstStyle/>
                    <a:p>
                      <a:pPr marL="0" marR="0" lvl="0" indent="0" algn="ctr" defTabSz="914400" rtl="0" eaLnBrk="1" fontAlgn="base" latinLnBrk="0" hangingPunct="1">
                        <a:lnSpc>
                          <a:spcPts val="2000"/>
                        </a:lnSpc>
                        <a:spcBef>
                          <a:spcPct val="0"/>
                        </a:spcBef>
                        <a:spcAft>
                          <a:spcPct val="0"/>
                        </a:spcAft>
                        <a:buClrTx/>
                        <a:buSzTx/>
                        <a:buFont typeface="Wingdings" pitchFamily="2" charset="2"/>
                        <a:buNone/>
                        <a:tabLst/>
                      </a:pPr>
                      <a:r>
                        <a:rPr kumimoji="0" lang="en-U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UDS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000"/>
                        </a:lnSpc>
                        <a:spcBef>
                          <a:spcPct val="0"/>
                        </a:spcBef>
                        <a:spcAft>
                          <a:spcPct val="0"/>
                        </a:spcAft>
                        <a:buClr>
                          <a:srgbClr val="CC3300"/>
                        </a:buClr>
                        <a:buSzTx/>
                        <a:buFont typeface="Wingdings" pitchFamily="2" charset="2"/>
                        <a:buNone/>
                        <a:tabLst/>
                      </a:pPr>
                      <a:r>
                        <a:rPr kumimoji="0" lang="en-U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User Data Service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15718283"/>
                  </a:ext>
                </a:extLst>
              </a:tr>
              <a:tr h="241929">
                <a:tc>
                  <a:txBody>
                    <a:bodyPr/>
                    <a:lstStyle/>
                    <a:p>
                      <a:pPr marL="0" marR="0" lvl="0" indent="0" algn="ctr" defTabSz="914400" rtl="0" eaLnBrk="1" fontAlgn="base" latinLnBrk="0" hangingPunct="1">
                        <a:lnSpc>
                          <a:spcPts val="2000"/>
                        </a:lnSpc>
                        <a:spcBef>
                          <a:spcPct val="0"/>
                        </a:spcBef>
                        <a:spcAft>
                          <a:spcPct val="0"/>
                        </a:spcAft>
                        <a:buClrTx/>
                        <a:buSzTx/>
                        <a:buFont typeface="Wingdings" pitchFamily="2" charset="2"/>
                        <a:buNone/>
                        <a:tabLst/>
                      </a:pPr>
                      <a:r>
                        <a:rPr kumimoji="0" lang="en-U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WS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000"/>
                        </a:lnSpc>
                        <a:spcBef>
                          <a:spcPct val="0"/>
                        </a:spcBef>
                        <a:spcAft>
                          <a:spcPct val="0"/>
                        </a:spcAft>
                        <a:buClr>
                          <a:srgbClr val="CC3300"/>
                        </a:buClr>
                        <a:buSzTx/>
                        <a:buFont typeface="Wingdings" pitchFamily="2" charset="2"/>
                        <a:buNone/>
                        <a:tabLst/>
                      </a:pPr>
                      <a:r>
                        <a:rPr kumimoji="0" lang="en-U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Web Service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7547304"/>
                  </a:ext>
                </a:extLst>
              </a:tr>
            </a:tbl>
          </a:graphicData>
        </a:graphic>
      </p:graphicFrame>
    </p:spTree>
    <p:extLst>
      <p:ext uri="{BB962C8B-B14F-4D97-AF65-F5344CB8AC3E}">
        <p14:creationId xmlns:p14="http://schemas.microsoft.com/office/powerpoint/2010/main" val="627132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a:xfrm>
            <a:off x="364713" y="122795"/>
            <a:ext cx="9508159" cy="738601"/>
          </a:xfrm>
        </p:spPr>
        <p:txBody>
          <a:bodyPr/>
          <a:lstStyle/>
          <a:p>
            <a:pPr algn="r"/>
            <a:r>
              <a:rPr lang="es-ES" dirty="0"/>
              <a:t>Contenido</a:t>
            </a:r>
          </a:p>
        </p:txBody>
      </p:sp>
      <p:sp>
        <p:nvSpPr>
          <p:cNvPr id="6" name="Rectángulo 5">
            <a:extLst>
              <a:ext uri="{FF2B5EF4-FFF2-40B4-BE49-F238E27FC236}">
                <a16:creationId xmlns:a16="http://schemas.microsoft.com/office/drawing/2014/main" id="{58F3B9D6-77E5-460C-842B-B171D662ED06}"/>
              </a:ext>
            </a:extLst>
          </p:cNvPr>
          <p:cNvSpPr/>
          <p:nvPr/>
        </p:nvSpPr>
        <p:spPr>
          <a:xfrm>
            <a:off x="463827" y="1316184"/>
            <a:ext cx="7951304" cy="2585323"/>
          </a:xfrm>
          <a:prstGeom prst="rect">
            <a:avLst/>
          </a:prstGeom>
        </p:spPr>
        <p:txBody>
          <a:bodyPr wrap="square">
            <a:spAutoFit/>
          </a:bodyPr>
          <a:lstStyle/>
          <a:p>
            <a:pPr marL="342900" lvl="0" indent="-342900">
              <a:buFont typeface="+mj-lt"/>
              <a:buAutoNum type="arabicPeriod"/>
            </a:pPr>
            <a:r>
              <a:rPr lang="es-ES" dirty="0">
                <a:solidFill>
                  <a:srgbClr val="C00000"/>
                </a:solidFill>
                <a:latin typeface="Gadugi" panose="020B0502040204020203" pitchFamily="34" charset="0"/>
              </a:rPr>
              <a:t>Necesidades y propuesta de solución</a:t>
            </a:r>
          </a:p>
          <a:p>
            <a:pPr marL="342900" lvl="0" indent="-342900">
              <a:buFont typeface="+mj-lt"/>
              <a:buAutoNum type="arabicPeriod"/>
            </a:pPr>
            <a:r>
              <a:rPr lang="es-ES" dirty="0">
                <a:solidFill>
                  <a:srgbClr val="C00000"/>
                </a:solidFill>
                <a:latin typeface="Gadugi" panose="020B0502040204020203" pitchFamily="34" charset="0"/>
              </a:rPr>
              <a:t>Solución técnica</a:t>
            </a:r>
          </a:p>
          <a:p>
            <a:pPr marL="342900" lvl="0" indent="-342900">
              <a:buFont typeface="+mj-lt"/>
              <a:buAutoNum type="arabicPeriod"/>
            </a:pPr>
            <a:r>
              <a:rPr lang="es-ES" dirty="0">
                <a:solidFill>
                  <a:srgbClr val="C00000"/>
                </a:solidFill>
                <a:latin typeface="Gadugi" panose="020B0502040204020203" pitchFamily="34" charset="0"/>
              </a:rPr>
              <a:t>Seguridad</a:t>
            </a:r>
          </a:p>
          <a:p>
            <a:pPr marL="342900" lvl="0" indent="-342900">
              <a:buFont typeface="+mj-lt"/>
              <a:buAutoNum type="arabicPeriod"/>
            </a:pPr>
            <a:r>
              <a:rPr lang="es-ES" dirty="0">
                <a:solidFill>
                  <a:srgbClr val="C00000"/>
                </a:solidFill>
                <a:latin typeface="Gadugi" panose="020B0502040204020203" pitchFamily="34" charset="0"/>
              </a:rPr>
              <a:t>Componentes de infraestructura</a:t>
            </a:r>
          </a:p>
          <a:p>
            <a:pPr marL="342900" lvl="0" indent="-342900">
              <a:buFont typeface="+mj-lt"/>
              <a:buAutoNum type="arabicPeriod"/>
            </a:pPr>
            <a:r>
              <a:rPr lang="es-ES" dirty="0">
                <a:solidFill>
                  <a:srgbClr val="C00000"/>
                </a:solidFill>
                <a:latin typeface="Gadugi" panose="020B0502040204020203" pitchFamily="34" charset="0"/>
              </a:rPr>
              <a:t>Modelo de servicio y criterios de despliegue</a:t>
            </a:r>
          </a:p>
          <a:p>
            <a:pPr marL="342900" lvl="0" indent="-342900">
              <a:buFont typeface="+mj-lt"/>
              <a:buAutoNum type="arabicPeriod"/>
            </a:pPr>
            <a:r>
              <a:rPr lang="es-ES" dirty="0">
                <a:solidFill>
                  <a:srgbClr val="C00000"/>
                </a:solidFill>
                <a:latin typeface="Gadugi" panose="020B0502040204020203" pitchFamily="34" charset="0"/>
              </a:rPr>
              <a:t>Explotación, Planificación y Monitorización</a:t>
            </a:r>
          </a:p>
          <a:p>
            <a:pPr marL="342900" indent="-342900">
              <a:buFont typeface="+mj-lt"/>
              <a:buAutoNum type="arabicPeriod"/>
            </a:pPr>
            <a:r>
              <a:rPr lang="es-ES" dirty="0">
                <a:solidFill>
                  <a:srgbClr val="C00000"/>
                </a:solidFill>
                <a:latin typeface="Gadugi" panose="020B0502040204020203" pitchFamily="34" charset="0"/>
              </a:rPr>
              <a:t>Volumetrías y criterios de dimensionamiento</a:t>
            </a:r>
          </a:p>
          <a:p>
            <a:pPr marL="342900" lvl="0" indent="-342900">
              <a:buFont typeface="+mj-lt"/>
              <a:buAutoNum type="arabicPeriod"/>
            </a:pPr>
            <a:r>
              <a:rPr lang="es-ES" dirty="0">
                <a:solidFill>
                  <a:srgbClr val="C00000"/>
                </a:solidFill>
                <a:latin typeface="Gadugi" panose="020B0502040204020203" pitchFamily="34" charset="0"/>
              </a:rPr>
              <a:t>Referencias</a:t>
            </a:r>
          </a:p>
          <a:p>
            <a:pPr marL="342900" lvl="0" indent="-342900">
              <a:buFont typeface="+mj-lt"/>
              <a:buAutoNum type="arabicPeriod"/>
            </a:pPr>
            <a:r>
              <a:rPr lang="es-ES" dirty="0">
                <a:solidFill>
                  <a:srgbClr val="C00000"/>
                </a:solidFill>
                <a:latin typeface="Gadugi" panose="020B0502040204020203" pitchFamily="34" charset="0"/>
              </a:rPr>
              <a:t>Contactos</a:t>
            </a:r>
          </a:p>
        </p:txBody>
      </p:sp>
    </p:spTree>
    <p:extLst>
      <p:ext uri="{BB962C8B-B14F-4D97-AF65-F5344CB8AC3E}">
        <p14:creationId xmlns:p14="http://schemas.microsoft.com/office/powerpoint/2010/main" val="3854918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t>Necesidades y propuesta de solución</a:t>
            </a:r>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01</a:t>
            </a:r>
          </a:p>
        </p:txBody>
      </p:sp>
    </p:spTree>
    <p:extLst>
      <p:ext uri="{BB962C8B-B14F-4D97-AF65-F5344CB8AC3E}">
        <p14:creationId xmlns:p14="http://schemas.microsoft.com/office/powerpoint/2010/main" val="68669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4294967295"/>
          </p:nvPr>
        </p:nvSpPr>
        <p:spPr>
          <a:xfrm>
            <a:off x="653140" y="406116"/>
            <a:ext cx="10833365" cy="341135"/>
          </a:xfrm>
        </p:spPr>
        <p:txBody>
          <a:bodyPr vert="horz" lIns="91440" tIns="45720" rIns="91440" bIns="45720" rtlCol="0">
            <a:noAutofit/>
          </a:bodyPr>
          <a:lstStyle/>
          <a:p>
            <a:pPr marL="0" indent="0">
              <a:spcBef>
                <a:spcPts val="300"/>
              </a:spcBef>
              <a:buNone/>
            </a:pPr>
            <a:r>
              <a:rPr lang="es-ES" sz="1300"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None/>
            </a:pPr>
            <a:r>
              <a:rPr lang="es-ES" sz="1800" b="1" dirty="0">
                <a:solidFill>
                  <a:srgbClr val="EB0000"/>
                </a:solidFill>
                <a:ea typeface="Segoe UI" panose="020B0502040204020203" pitchFamily="34" charset="0"/>
                <a:cs typeface="Segoe UI" panose="020B0502040204020203" pitchFamily="34" charset="0"/>
              </a:rPr>
              <a:t>Principios (1/2)</a:t>
            </a:r>
          </a:p>
          <a:p>
            <a:pPr marL="0" indent="0">
              <a:spcBef>
                <a:spcPts val="600"/>
              </a:spcBef>
              <a:buNone/>
            </a:pPr>
            <a:endParaRPr lang="es-ES" sz="1800" b="1" dirty="0">
              <a:solidFill>
                <a:srgbClr val="EB0000"/>
              </a:solidFill>
              <a:ea typeface="Segoe UI" panose="020B0502040204020203" pitchFamily="34" charset="0"/>
              <a:cs typeface="Segoe UI" panose="020B0502040204020203" pitchFamily="34" charset="0"/>
            </a:endParaRPr>
          </a:p>
          <a:p>
            <a:pPr marL="0" indent="0">
              <a:spcBef>
                <a:spcPts val="600"/>
              </a:spcBef>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4" name="Marcador de texto 3"/>
          <p:cNvSpPr>
            <a:spLocks noGrp="1"/>
          </p:cNvSpPr>
          <p:nvPr>
            <p:ph type="body" sz="quarter" idx="1"/>
          </p:nvPr>
        </p:nvSpPr>
        <p:spPr>
          <a:xfrm>
            <a:off x="653143" y="1266092"/>
            <a:ext cx="10833363" cy="341135"/>
          </a:xfrm>
        </p:spPr>
        <p:txBody>
          <a:bodyPr/>
          <a:lstStyle/>
          <a:p>
            <a:r>
              <a:rPr lang="es-ES" dirty="0"/>
              <a:t>&lt;Breve descripción de los principios, requisitos y decisiones que deban respetarse o aplicarse en el diseño de la solución aportada&gt;</a:t>
            </a:r>
          </a:p>
          <a:p>
            <a:endParaRPr lang="es-ES" dirty="0"/>
          </a:p>
        </p:txBody>
      </p:sp>
      <p:graphicFrame>
        <p:nvGraphicFramePr>
          <p:cNvPr id="12" name="Group 3">
            <a:extLst>
              <a:ext uri="{FF2B5EF4-FFF2-40B4-BE49-F238E27FC236}">
                <a16:creationId xmlns:a16="http://schemas.microsoft.com/office/drawing/2014/main" id="{AFE41B04-3DBB-4DDB-8D69-C6B1D3DC1DD9}"/>
              </a:ext>
            </a:extLst>
          </p:cNvPr>
          <p:cNvGraphicFramePr>
            <a:graphicFrameLocks/>
          </p:cNvGraphicFramePr>
          <p:nvPr>
            <p:extLst>
              <p:ext uri="{D42A27DB-BD31-4B8C-83A1-F6EECF244321}">
                <p14:modId xmlns:p14="http://schemas.microsoft.com/office/powerpoint/2010/main" val="2833731869"/>
              </p:ext>
            </p:extLst>
          </p:nvPr>
        </p:nvGraphicFramePr>
        <p:xfrm>
          <a:off x="1878099" y="1904036"/>
          <a:ext cx="8208962" cy="858662"/>
        </p:xfrm>
        <a:graphic>
          <a:graphicData uri="http://schemas.openxmlformats.org/drawingml/2006/table">
            <a:tbl>
              <a:tblPr/>
              <a:tblGrid>
                <a:gridCol w="1655762">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07829">
                <a:tc>
                  <a:txBody>
                    <a:body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Requisito/Prioridad</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0" i="0" u="none" strike="noStrike" cap="none" normalizeH="0" baseline="0" dirty="0">
                          <a:ln>
                            <a:noFill/>
                          </a:ln>
                          <a:solidFill>
                            <a:schemeClr val="tx1"/>
                          </a:solidFill>
                          <a:effectLst/>
                          <a:latin typeface="Arial" charset="0"/>
                        </a:rPr>
                        <a:t>La </a:t>
                      </a:r>
                      <a:r>
                        <a:rPr kumimoji="0" lang="es-ES" sz="1200" b="0" i="0" u="none" strike="noStrike" kern="1200" cap="none" normalizeH="0" baseline="0" dirty="0">
                          <a:ln>
                            <a:noFill/>
                          </a:ln>
                          <a:solidFill>
                            <a:schemeClr val="tx1"/>
                          </a:solidFill>
                          <a:effectLst/>
                          <a:latin typeface="Arial" charset="0"/>
                          <a:ea typeface="+mn-ea"/>
                          <a:cs typeface="+mn-cs"/>
                        </a:rPr>
                        <a:t>aplicación</a:t>
                      </a:r>
                      <a:r>
                        <a:rPr kumimoji="0" lang="es-ES" sz="1200" b="0" i="0" u="none" strike="noStrike" cap="none" normalizeH="0" baseline="0" dirty="0">
                          <a:ln>
                            <a:noFill/>
                          </a:ln>
                          <a:solidFill>
                            <a:schemeClr val="tx1"/>
                          </a:solidFill>
                          <a:effectLst/>
                          <a:latin typeface="Arial" charset="0"/>
                        </a:rPr>
                        <a:t> ha de ser </a:t>
                      </a:r>
                      <a:r>
                        <a:rPr kumimoji="0" lang="es-ES" sz="1200" b="0" i="0" u="none" strike="noStrike" cap="none" normalizeH="0" baseline="0" dirty="0" err="1">
                          <a:ln>
                            <a:noFill/>
                          </a:ln>
                          <a:solidFill>
                            <a:srgbClr val="FF0000"/>
                          </a:solidFill>
                          <a:effectLst/>
                          <a:latin typeface="Arial" charset="0"/>
                        </a:rPr>
                        <a:t>multiempresa</a:t>
                      </a:r>
                      <a:endParaRPr kumimoji="0" lang="es-ES" sz="1200" b="0" i="0" u="none" strike="noStrike" cap="none" normalizeH="0" baseline="0" dirty="0">
                        <a:ln>
                          <a:noFill/>
                        </a:ln>
                        <a:solidFill>
                          <a:srgbClr val="FF0000"/>
                        </a:solidFill>
                        <a:effectLst/>
                        <a:latin typeface="Arial" charset="0"/>
                      </a:endParaRP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50833">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GB" sz="1200" b="1" i="0" u="none" strike="noStrike" cap="none" normalizeH="0" baseline="0">
                          <a:ln>
                            <a:noFill/>
                          </a:ln>
                          <a:solidFill>
                            <a:schemeClr val="bg1"/>
                          </a:solidFill>
                          <a:effectLst/>
                          <a:latin typeface="Arial" charset="0"/>
                        </a:rPr>
                        <a:t>Descripción</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No aplica</a:t>
                      </a:r>
                      <a:endParaRPr kumimoji="0" lang="en-GB" sz="1200" b="0" i="0" u="none" strike="noStrike" kern="1200" cap="none" normalizeH="0" baseline="0" dirty="0">
                        <a:ln>
                          <a:noFill/>
                        </a:ln>
                        <a:solidFill>
                          <a:schemeClr val="tx1"/>
                        </a:solidFill>
                        <a:effectLst/>
                        <a:latin typeface="Arial" charset="0"/>
                        <a:ea typeface="+mn-ea"/>
                        <a:cs typeface="+mn-cs"/>
                      </a:endParaRP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3" name="Group 16">
            <a:extLst>
              <a:ext uri="{FF2B5EF4-FFF2-40B4-BE49-F238E27FC236}">
                <a16:creationId xmlns:a16="http://schemas.microsoft.com/office/drawing/2014/main" id="{52CF66F5-5CF8-459B-AA7D-B965272D9DD6}"/>
              </a:ext>
            </a:extLst>
          </p:cNvPr>
          <p:cNvGraphicFramePr>
            <a:graphicFrameLocks/>
          </p:cNvGraphicFramePr>
          <p:nvPr>
            <p:extLst>
              <p:ext uri="{D42A27DB-BD31-4B8C-83A1-F6EECF244321}">
                <p14:modId xmlns:p14="http://schemas.microsoft.com/office/powerpoint/2010/main" val="2283861685"/>
              </p:ext>
            </p:extLst>
          </p:nvPr>
        </p:nvGraphicFramePr>
        <p:xfrm>
          <a:off x="1878099" y="3001223"/>
          <a:ext cx="8208962" cy="892317"/>
        </p:xfrm>
        <a:graphic>
          <a:graphicData uri="http://schemas.openxmlformats.org/drawingml/2006/table">
            <a:tbl>
              <a:tblPr/>
              <a:tblGrid>
                <a:gridCol w="1655762">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35105">
                <a:tc>
                  <a:txBody>
                    <a:body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Requisito/Prioridad</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La aplicación ha de ser </a:t>
                      </a:r>
                      <a:r>
                        <a:rPr kumimoji="0" lang="es-ES" sz="1200" b="0" i="0" u="none" strike="noStrike" cap="none" normalizeH="0" baseline="0" dirty="0" err="1">
                          <a:ln>
                            <a:noFill/>
                          </a:ln>
                          <a:solidFill>
                            <a:srgbClr val="FF0000"/>
                          </a:solidFill>
                          <a:effectLst/>
                          <a:latin typeface="Arial" charset="0"/>
                        </a:rPr>
                        <a:t>multidivisa</a:t>
                      </a:r>
                      <a:r>
                        <a:rPr kumimoji="0" lang="es-ES" sz="1200" b="1" i="0" u="none" strike="noStrike" cap="none" normalizeH="0" baseline="0" dirty="0">
                          <a:ln>
                            <a:noFill/>
                          </a:ln>
                          <a:solidFill>
                            <a:srgbClr val="FF0000"/>
                          </a:solidFill>
                          <a:effectLst/>
                          <a:latin typeface="Arial" charset="0"/>
                        </a:rPr>
                        <a:t> </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57212">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GB" sz="1200" b="1" i="0" u="none" strike="noStrike" cap="none" normalizeH="0" baseline="0">
                          <a:ln>
                            <a:noFill/>
                          </a:ln>
                          <a:solidFill>
                            <a:schemeClr val="bg1"/>
                          </a:solidFill>
                          <a:effectLst/>
                          <a:latin typeface="Arial" charset="0"/>
                        </a:rPr>
                        <a:t>Descripción</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No aplica</a:t>
                      </a:r>
                      <a:endParaRPr kumimoji="0" lang="en-GB" sz="1200" b="0" i="0" u="none" strike="noStrike" kern="1200" cap="none" normalizeH="0" baseline="0" dirty="0">
                        <a:ln>
                          <a:noFill/>
                        </a:ln>
                        <a:solidFill>
                          <a:schemeClr val="tx1"/>
                        </a:solidFill>
                        <a:effectLst/>
                        <a:latin typeface="Arial" charset="0"/>
                        <a:ea typeface="+mn-ea"/>
                        <a:cs typeface="+mn-cs"/>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4" name="Group 27">
            <a:extLst>
              <a:ext uri="{FF2B5EF4-FFF2-40B4-BE49-F238E27FC236}">
                <a16:creationId xmlns:a16="http://schemas.microsoft.com/office/drawing/2014/main" id="{9A4EA4C3-77DA-4B06-B228-7AA072567303}"/>
              </a:ext>
            </a:extLst>
          </p:cNvPr>
          <p:cNvGraphicFramePr>
            <a:graphicFrameLocks noGrp="1"/>
          </p:cNvGraphicFramePr>
          <p:nvPr>
            <p:extLst>
              <p:ext uri="{D42A27DB-BD31-4B8C-83A1-F6EECF244321}">
                <p14:modId xmlns:p14="http://schemas.microsoft.com/office/powerpoint/2010/main" val="269560081"/>
              </p:ext>
            </p:extLst>
          </p:nvPr>
        </p:nvGraphicFramePr>
        <p:xfrm>
          <a:off x="1878099" y="4134395"/>
          <a:ext cx="8208962" cy="956284"/>
        </p:xfrm>
        <a:graphic>
          <a:graphicData uri="http://schemas.openxmlformats.org/drawingml/2006/table">
            <a:tbl>
              <a:tblPr/>
              <a:tblGrid>
                <a:gridCol w="1655762">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14038">
                <a:tc>
                  <a:txBody>
                    <a:body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a:ln>
                            <a:noFill/>
                          </a:ln>
                          <a:solidFill>
                            <a:schemeClr val="bg1"/>
                          </a:solidFill>
                          <a:effectLst/>
                          <a:latin typeface="Arial" charset="0"/>
                        </a:rPr>
                        <a:t>Requisito/Prioridad</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El análisis de la lógica de negocio de la aplicación </a:t>
                      </a:r>
                      <a:r>
                        <a:rPr kumimoji="0" lang="es-ES" sz="1200" b="0" i="0" u="none" strike="noStrike" cap="none" normalizeH="0" baseline="0" dirty="0">
                          <a:ln>
                            <a:noFill/>
                          </a:ln>
                          <a:solidFill>
                            <a:srgbClr val="FF0000"/>
                          </a:solidFill>
                          <a:effectLst/>
                          <a:latin typeface="Arial" charset="0"/>
                        </a:rPr>
                        <a:t>independiente del canal</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50833">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GB" sz="1200" b="1" i="0" u="none" strike="noStrike" cap="none" normalizeH="0" baseline="0">
                          <a:ln>
                            <a:noFill/>
                          </a:ln>
                          <a:solidFill>
                            <a:schemeClr val="bg1"/>
                          </a:solidFill>
                          <a:effectLst/>
                          <a:latin typeface="Arial" charset="0"/>
                        </a:rPr>
                        <a:t>Descripción</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El análisis de la lógica de negocio de la aplicación ha de ser independiente del canal por el que se haga su presentación, de forma que dicho estudio sea válido para cualquier canal de presentación. </a:t>
                      </a:r>
                      <a:endParaRPr kumimoji="0" lang="en-GB" sz="1200" b="0" i="0" u="none" strike="noStrike" kern="1200" cap="none" normalizeH="0" baseline="0" dirty="0">
                        <a:ln>
                          <a:noFill/>
                        </a:ln>
                        <a:solidFill>
                          <a:schemeClr val="tx1"/>
                        </a:solidFill>
                        <a:effectLst/>
                        <a:latin typeface="Arial" charset="0"/>
                        <a:ea typeface="+mn-ea"/>
                        <a:cs typeface="+mn-cs"/>
                      </a:endParaRP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5" name="Group 38">
            <a:extLst>
              <a:ext uri="{FF2B5EF4-FFF2-40B4-BE49-F238E27FC236}">
                <a16:creationId xmlns:a16="http://schemas.microsoft.com/office/drawing/2014/main" id="{32559447-3F93-4E97-878E-781398ECE919}"/>
              </a:ext>
            </a:extLst>
          </p:cNvPr>
          <p:cNvGraphicFramePr>
            <a:graphicFrameLocks noGrp="1"/>
          </p:cNvGraphicFramePr>
          <p:nvPr>
            <p:extLst>
              <p:ext uri="{D42A27DB-BD31-4B8C-83A1-F6EECF244321}">
                <p14:modId xmlns:p14="http://schemas.microsoft.com/office/powerpoint/2010/main" val="2886307587"/>
              </p:ext>
            </p:extLst>
          </p:nvPr>
        </p:nvGraphicFramePr>
        <p:xfrm>
          <a:off x="1878099" y="5245557"/>
          <a:ext cx="8208962" cy="632825"/>
        </p:xfrm>
        <a:graphic>
          <a:graphicData uri="http://schemas.openxmlformats.org/drawingml/2006/table">
            <a:tbl>
              <a:tblPr/>
              <a:tblGrid>
                <a:gridCol w="1655762">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02625">
                <a:tc>
                  <a:txBody>
                    <a:body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Requisito/Prioridad</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La aplicación ha de ser </a:t>
                      </a:r>
                      <a:r>
                        <a:rPr kumimoji="0" lang="es-ES" sz="1200" b="0" i="0" u="none" strike="noStrike" cap="none" normalizeH="0" baseline="0" dirty="0" err="1">
                          <a:ln>
                            <a:noFill/>
                          </a:ln>
                          <a:solidFill>
                            <a:srgbClr val="FF0000"/>
                          </a:solidFill>
                          <a:effectLst/>
                          <a:latin typeface="Arial" charset="0"/>
                        </a:rPr>
                        <a:t>multilengua</a:t>
                      </a:r>
                      <a:r>
                        <a:rPr kumimoji="0" lang="es-ES" sz="1200" b="1" i="0" u="none" strike="noStrike" cap="none" normalizeH="0" baseline="0" dirty="0">
                          <a:ln>
                            <a:noFill/>
                          </a:ln>
                          <a:solidFill>
                            <a:srgbClr val="FF0000"/>
                          </a:solidFill>
                          <a:effectLst/>
                          <a:latin typeface="Arial" charset="0"/>
                        </a:rPr>
                        <a:t> </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0200">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GB" sz="1200" b="1" i="0" u="none" strike="noStrike" cap="none" normalizeH="0" baseline="0">
                          <a:ln>
                            <a:noFill/>
                          </a:ln>
                          <a:solidFill>
                            <a:schemeClr val="bg1"/>
                          </a:solidFill>
                          <a:effectLst/>
                          <a:latin typeface="Arial" charset="0"/>
                        </a:rPr>
                        <a:t>Descripción</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No aplica</a:t>
                      </a:r>
                      <a:endParaRPr kumimoji="0" lang="en-GB" sz="1200" b="0" i="0" u="none" strike="noStrike" kern="1200" cap="none" normalizeH="0" baseline="0" dirty="0">
                        <a:ln>
                          <a:noFill/>
                        </a:ln>
                        <a:solidFill>
                          <a:schemeClr val="tx1"/>
                        </a:solidFill>
                        <a:effectLst/>
                        <a:latin typeface="Arial" charset="0"/>
                        <a:ea typeface="+mn-ea"/>
                        <a:cs typeface="+mn-cs"/>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77202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4294967295"/>
          </p:nvPr>
        </p:nvSpPr>
        <p:spPr>
          <a:xfrm>
            <a:off x="653140" y="406116"/>
            <a:ext cx="10833365" cy="341135"/>
          </a:xfrm>
        </p:spPr>
        <p:txBody>
          <a:bodyPr vert="horz" lIns="91440" tIns="45720" rIns="91440" bIns="45720" rtlCol="0">
            <a:noAutofit/>
          </a:bodyPr>
          <a:lstStyle/>
          <a:p>
            <a:pPr marL="0" indent="0">
              <a:spcBef>
                <a:spcPts val="300"/>
              </a:spcBef>
              <a:buNone/>
            </a:pPr>
            <a:r>
              <a:rPr lang="es-ES" sz="1300"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None/>
            </a:pPr>
            <a:r>
              <a:rPr lang="es-ES" sz="1800" b="1" dirty="0">
                <a:solidFill>
                  <a:srgbClr val="EB0000"/>
                </a:solidFill>
                <a:ea typeface="Segoe UI" panose="020B0502040204020203" pitchFamily="34" charset="0"/>
                <a:cs typeface="Segoe UI" panose="020B0502040204020203" pitchFamily="34" charset="0"/>
              </a:rPr>
              <a:t>Principios (2/2)</a:t>
            </a:r>
          </a:p>
          <a:p>
            <a:pPr marL="0" indent="0">
              <a:buNone/>
            </a:pPr>
            <a:endParaRPr lang="es-ES" sz="1800" b="1" dirty="0">
              <a:solidFill>
                <a:srgbClr val="EB0000"/>
              </a:solidFill>
              <a:ea typeface="Segoe UI" panose="020B0502040204020203" pitchFamily="34" charset="0"/>
              <a:cs typeface="Segoe UI" panose="020B0502040204020203" pitchFamily="34" charset="0"/>
            </a:endParaRPr>
          </a:p>
          <a:p>
            <a:pPr marL="0" indent="0">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4" name="Marcador de texto 3"/>
          <p:cNvSpPr>
            <a:spLocks noGrp="1"/>
          </p:cNvSpPr>
          <p:nvPr>
            <p:ph type="body" sz="quarter" idx="1"/>
          </p:nvPr>
        </p:nvSpPr>
        <p:spPr>
          <a:xfrm>
            <a:off x="653143" y="1266092"/>
            <a:ext cx="10833363" cy="341135"/>
          </a:xfrm>
        </p:spPr>
        <p:txBody>
          <a:bodyPr/>
          <a:lstStyle/>
          <a:p>
            <a:r>
              <a:rPr lang="es-ES" dirty="0"/>
              <a:t>&lt;Breve descripción de los principios, requisitos y decisiones que deban respetarse o aplicarse en el diseño de la solución aportada&gt;</a:t>
            </a:r>
          </a:p>
          <a:p>
            <a:endParaRPr lang="es-ES" dirty="0"/>
          </a:p>
        </p:txBody>
      </p:sp>
      <p:graphicFrame>
        <p:nvGraphicFramePr>
          <p:cNvPr id="8" name="Group 4">
            <a:extLst>
              <a:ext uri="{FF2B5EF4-FFF2-40B4-BE49-F238E27FC236}">
                <a16:creationId xmlns:a16="http://schemas.microsoft.com/office/drawing/2014/main" id="{416A9D69-0964-43F6-A50B-0DC0F18AF16B}"/>
              </a:ext>
            </a:extLst>
          </p:cNvPr>
          <p:cNvGraphicFramePr>
            <a:graphicFrameLocks noGrp="1"/>
          </p:cNvGraphicFramePr>
          <p:nvPr>
            <p:extLst>
              <p:ext uri="{D42A27DB-BD31-4B8C-83A1-F6EECF244321}">
                <p14:modId xmlns:p14="http://schemas.microsoft.com/office/powerpoint/2010/main" val="1795664214"/>
              </p:ext>
            </p:extLst>
          </p:nvPr>
        </p:nvGraphicFramePr>
        <p:xfrm>
          <a:off x="1878099" y="1957811"/>
          <a:ext cx="8208962" cy="970433"/>
        </p:xfrm>
        <a:graphic>
          <a:graphicData uri="http://schemas.openxmlformats.org/drawingml/2006/table">
            <a:tbl>
              <a:tblPr/>
              <a:tblGrid>
                <a:gridCol w="1655762">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28193">
                <a:tc>
                  <a:txBody>
                    <a:body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Requisito/Prioridad</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La aplicación ha de ser </a:t>
                      </a:r>
                      <a:r>
                        <a:rPr kumimoji="0" lang="es-ES" sz="1200" b="0" i="0" u="none" strike="noStrike" cap="none" normalizeH="0" baseline="0" dirty="0">
                          <a:ln>
                            <a:noFill/>
                          </a:ln>
                          <a:solidFill>
                            <a:srgbClr val="FF0000"/>
                          </a:solidFill>
                          <a:effectLst/>
                          <a:latin typeface="Arial" charset="0"/>
                        </a:rPr>
                        <a:t>24 horas</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8418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GB" sz="1200" b="1" i="0" u="none" strike="noStrike" cap="none" normalizeH="0" baseline="0">
                          <a:ln>
                            <a:noFill/>
                          </a:ln>
                          <a:solidFill>
                            <a:schemeClr val="bg1"/>
                          </a:solidFill>
                          <a:effectLst/>
                          <a:latin typeface="Arial" charset="0"/>
                        </a:rPr>
                        <a:t>Descripción</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La aplicación tiene que soportar operativa ininterrumpida para que los usuarios puedan acceder en cualquier momento. Pueden existir distintos niveles de operatividad : recogida de peticiones, ejecución,.. </a:t>
                      </a:r>
                      <a:endParaRPr kumimoji="0" lang="en-GB" sz="1200" b="0" i="0" u="none" strike="noStrike" kern="1200" cap="none" normalizeH="0" baseline="0" dirty="0">
                        <a:ln>
                          <a:noFill/>
                        </a:ln>
                        <a:solidFill>
                          <a:schemeClr val="tx1"/>
                        </a:solidFill>
                        <a:effectLst/>
                        <a:latin typeface="Arial" charset="0"/>
                        <a:ea typeface="+mn-ea"/>
                        <a:cs typeface="+mn-cs"/>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9" name="Group 15">
            <a:extLst>
              <a:ext uri="{FF2B5EF4-FFF2-40B4-BE49-F238E27FC236}">
                <a16:creationId xmlns:a16="http://schemas.microsoft.com/office/drawing/2014/main" id="{7161D7F1-D9C6-427A-98F2-F2DF9CA766D4}"/>
              </a:ext>
            </a:extLst>
          </p:cNvPr>
          <p:cNvGraphicFramePr>
            <a:graphicFrameLocks/>
          </p:cNvGraphicFramePr>
          <p:nvPr>
            <p:extLst>
              <p:ext uri="{D42A27DB-BD31-4B8C-83A1-F6EECF244321}">
                <p14:modId xmlns:p14="http://schemas.microsoft.com/office/powerpoint/2010/main" val="3116972243"/>
              </p:ext>
            </p:extLst>
          </p:nvPr>
        </p:nvGraphicFramePr>
        <p:xfrm>
          <a:off x="1878099" y="3058204"/>
          <a:ext cx="8208962" cy="1286128"/>
        </p:xfrm>
        <a:graphic>
          <a:graphicData uri="http://schemas.openxmlformats.org/drawingml/2006/table">
            <a:tbl>
              <a:tblPr/>
              <a:tblGrid>
                <a:gridCol w="1655762">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278122">
                <a:tc>
                  <a:txBody>
                    <a:body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Requisito/Prioridad</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0" i="0" u="none" strike="noStrike" cap="none" normalizeH="0" baseline="0" dirty="0">
                          <a:ln>
                            <a:noFill/>
                          </a:ln>
                          <a:solidFill>
                            <a:srgbClr val="FF0000"/>
                          </a:solidFill>
                          <a:effectLst/>
                          <a:latin typeface="Arial" charset="0"/>
                        </a:rPr>
                        <a:t>Integración en los sistemas corporativos del banco</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70323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GB" sz="1200" b="1" i="0" u="none" strike="noStrike" cap="none" normalizeH="0" baseline="0">
                          <a:ln>
                            <a:noFill/>
                          </a:ln>
                          <a:solidFill>
                            <a:schemeClr val="bg1"/>
                          </a:solidFill>
                          <a:effectLst/>
                          <a:latin typeface="Arial" charset="0"/>
                        </a:rPr>
                        <a:t>Descripción</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La aplicación se integrará y utilizará todos los recursos que puedan ofrecerle las aplicaciones corporativas del Banco (Personas, Catálogo de Productos y Servicios, Tablas Generales,...), y de igual manera y en caso de que la operativa de la aplicación lo requiera, deberá incorporarse a los procesos corporativos de Consolidación y Conciliación, Cambio y peticiones de divisa, Adicionales,.... </a:t>
                      </a:r>
                      <a:endParaRPr kumimoji="0" lang="en-GB" sz="1200" b="0" i="0" u="none" strike="noStrike" kern="1200" cap="none" normalizeH="0" baseline="0" dirty="0">
                        <a:ln>
                          <a:noFill/>
                        </a:ln>
                        <a:solidFill>
                          <a:schemeClr val="tx1"/>
                        </a:solidFill>
                        <a:effectLst/>
                        <a:latin typeface="Arial" charset="0"/>
                        <a:ea typeface="+mn-ea"/>
                        <a:cs typeface="+mn-cs"/>
                      </a:endParaRP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0" name="Group 26">
            <a:extLst>
              <a:ext uri="{FF2B5EF4-FFF2-40B4-BE49-F238E27FC236}">
                <a16:creationId xmlns:a16="http://schemas.microsoft.com/office/drawing/2014/main" id="{D42922D0-5727-4BA8-A3E2-C2A8B88CCCC7}"/>
              </a:ext>
            </a:extLst>
          </p:cNvPr>
          <p:cNvGraphicFramePr>
            <a:graphicFrameLocks noGrp="1"/>
          </p:cNvGraphicFramePr>
          <p:nvPr>
            <p:extLst>
              <p:ext uri="{D42A27DB-BD31-4B8C-83A1-F6EECF244321}">
                <p14:modId xmlns:p14="http://schemas.microsoft.com/office/powerpoint/2010/main" val="882357071"/>
              </p:ext>
            </p:extLst>
          </p:nvPr>
        </p:nvGraphicFramePr>
        <p:xfrm>
          <a:off x="1878099" y="4476057"/>
          <a:ext cx="8208962" cy="765368"/>
        </p:xfrm>
        <a:graphic>
          <a:graphicData uri="http://schemas.openxmlformats.org/drawingml/2006/table">
            <a:tbl>
              <a:tblPr/>
              <a:tblGrid>
                <a:gridCol w="1655762">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06008">
                <a:tc>
                  <a:txBody>
                    <a:body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a:ln>
                            <a:noFill/>
                          </a:ln>
                          <a:solidFill>
                            <a:schemeClr val="bg1"/>
                          </a:solidFill>
                          <a:effectLst/>
                          <a:latin typeface="Arial" charset="0"/>
                        </a:rPr>
                        <a:t>Requisito/Prioridad</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0" i="0" u="none" strike="noStrike" cap="none" normalizeH="0" baseline="0">
                          <a:ln>
                            <a:noFill/>
                          </a:ln>
                          <a:solidFill>
                            <a:srgbClr val="FF0000"/>
                          </a:solidFill>
                          <a:effectLst/>
                          <a:latin typeface="Arial" charset="0"/>
                        </a:rPr>
                        <a:t>Compatibilidad de navegadores en aplicaciones de Internet </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3225">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GB" sz="1200" b="1" i="0" u="none" strike="noStrike" cap="none" normalizeH="0" baseline="0">
                          <a:ln>
                            <a:noFill/>
                          </a:ln>
                          <a:solidFill>
                            <a:schemeClr val="bg1"/>
                          </a:solidFill>
                          <a:effectLst/>
                          <a:latin typeface="Arial" charset="0"/>
                        </a:rPr>
                        <a:t>Descripción</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Toda aplicación Internet debe ser compatible en los siguientes navegadores: </a:t>
                      </a:r>
                      <a:r>
                        <a:rPr kumimoji="0" lang="es-ES" sz="1200" b="0" i="0" u="none" strike="noStrike" kern="1200" cap="none" normalizeH="0" baseline="0">
                          <a:ln>
                            <a:noFill/>
                          </a:ln>
                          <a:solidFill>
                            <a:schemeClr val="tx1"/>
                          </a:solidFill>
                          <a:effectLst/>
                          <a:latin typeface="Arial" charset="0"/>
                          <a:ea typeface="+mn-ea"/>
                          <a:cs typeface="+mn-cs"/>
                        </a:rPr>
                        <a:t>Internet Explorer</a:t>
                      </a:r>
                      <a:r>
                        <a:rPr kumimoji="0" lang="es-ES" sz="1200" b="0" i="0" u="none" strike="noStrike" cap="none" normalizeH="0" baseline="0">
                          <a:ln>
                            <a:noFill/>
                          </a:ln>
                          <a:solidFill>
                            <a:schemeClr val="tx1"/>
                          </a:solidFill>
                          <a:effectLst/>
                          <a:latin typeface="Arial" charset="0"/>
                        </a:rPr>
                        <a:t>, Chrome</a:t>
                      </a:r>
                      <a:r>
                        <a:rPr kumimoji="0" lang="es-ES" sz="1200" b="0" i="0" u="none" strike="noStrike" kern="1200" cap="none" normalizeH="0" baseline="0">
                          <a:ln>
                            <a:noFill/>
                          </a:ln>
                          <a:solidFill>
                            <a:schemeClr val="tx1"/>
                          </a:solidFill>
                          <a:effectLst/>
                          <a:latin typeface="Arial" charset="0"/>
                          <a:ea typeface="+mn-ea"/>
                          <a:cs typeface="+mn-cs"/>
                        </a:rPr>
                        <a:t>, </a:t>
                      </a:r>
                      <a:r>
                        <a:rPr kumimoji="0" lang="es-ES" sz="1200" b="0" i="0" u="none" strike="noStrike" kern="1200" cap="none" normalizeH="0" baseline="0" dirty="0">
                          <a:ln>
                            <a:noFill/>
                          </a:ln>
                          <a:solidFill>
                            <a:schemeClr val="tx1"/>
                          </a:solidFill>
                          <a:effectLst/>
                          <a:latin typeface="Arial" charset="0"/>
                          <a:ea typeface="+mn-ea"/>
                          <a:cs typeface="+mn-cs"/>
                        </a:rPr>
                        <a:t>Firefox y Opera </a:t>
                      </a:r>
                      <a:endParaRPr kumimoji="0" lang="en-GB" sz="1200" b="0" i="0" u="none" strike="noStrike" kern="1200" cap="none" normalizeH="0" baseline="0" dirty="0">
                        <a:ln>
                          <a:noFill/>
                        </a:ln>
                        <a:solidFill>
                          <a:schemeClr val="tx1"/>
                        </a:solidFill>
                        <a:effectLst/>
                        <a:latin typeface="Arial" charset="0"/>
                        <a:ea typeface="+mn-ea"/>
                        <a:cs typeface="+mn-cs"/>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42687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1">
            <a:extLst>
              <a:ext uri="{FF2B5EF4-FFF2-40B4-BE49-F238E27FC236}">
                <a16:creationId xmlns:a16="http://schemas.microsoft.com/office/drawing/2014/main" id="{E168AEED-C089-4E6D-A4BB-4DD9A8850132}"/>
              </a:ext>
            </a:extLst>
          </p:cNvPr>
          <p:cNvSpPr txBox="1">
            <a:spLocks/>
          </p:cNvSpPr>
          <p:nvPr/>
        </p:nvSpPr>
        <p:spPr>
          <a:xfrm>
            <a:off x="653140" y="406116"/>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300"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Situación actual (TO BE)</a:t>
            </a:r>
          </a:p>
        </p:txBody>
      </p:sp>
      <p:sp>
        <p:nvSpPr>
          <p:cNvPr id="7" name="Marcador de texto 6">
            <a:extLst>
              <a:ext uri="{FF2B5EF4-FFF2-40B4-BE49-F238E27FC236}">
                <a16:creationId xmlns:a16="http://schemas.microsoft.com/office/drawing/2014/main" id="{BBE1EE0D-4E5A-44DF-BAB8-10165D5E4AF6}"/>
              </a:ext>
            </a:extLst>
          </p:cNvPr>
          <p:cNvSpPr txBox="1">
            <a:spLocks/>
          </p:cNvSpPr>
          <p:nvPr/>
        </p:nvSpPr>
        <p:spPr>
          <a:xfrm>
            <a:off x="0" y="922026"/>
            <a:ext cx="11486505" cy="541756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r>
              <a:rPr lang="es-ES" dirty="0"/>
              <a:t>El proyecto Santander </a:t>
            </a:r>
            <a:r>
              <a:rPr lang="es-ES" dirty="0" err="1"/>
              <a:t>Hagase</a:t>
            </a:r>
            <a:r>
              <a:rPr lang="es-ES" dirty="0"/>
              <a:t> Cliente 2.0 es una migración del proyecto Onboarding Client que ya existe en OnPremise e implementado en tecnologías heredadas (Phoenix y BKS). El objetivo de este proyecto es presentar una herramienta de procesamiento que cubra las siguientes funcionalidades: </a:t>
            </a:r>
            <a:r>
              <a:rPr lang="es-ES" dirty="0" err="1"/>
              <a:t>onboarding</a:t>
            </a:r>
            <a:r>
              <a:rPr lang="es-ES" dirty="0"/>
              <a:t> de clientes y gestión de procesos.</a:t>
            </a:r>
          </a:p>
          <a:p>
            <a:pPr marL="457200" lvl="1" indent="0">
              <a:buNone/>
            </a:pPr>
            <a:endParaRPr lang="es-ES" dirty="0"/>
          </a:p>
          <a:p>
            <a:pPr marL="742950" lvl="1" indent="-285750"/>
            <a:r>
              <a:rPr lang="es-ES" dirty="0"/>
              <a:t>La solución se integra con otros bloques de negocios del banco como servicios de procesamiento, servicios publicados en BankSphere y en Partenon. También presenta procesos backend en modo </a:t>
            </a:r>
            <a:r>
              <a:rPr lang="es-ES" dirty="0" err="1"/>
              <a:t>batch</a:t>
            </a:r>
            <a:r>
              <a:rPr lang="es-ES" dirty="0"/>
              <a:t> para diferentes funcionalidades.</a:t>
            </a:r>
          </a:p>
          <a:p>
            <a:pPr marL="457200" lvl="1" indent="0">
              <a:buNone/>
            </a:pPr>
            <a:endParaRPr lang="es-ES" dirty="0"/>
          </a:p>
          <a:p>
            <a:pPr marL="742950" lvl="1" indent="-285750"/>
            <a:r>
              <a:rPr lang="es-ES" dirty="0"/>
              <a:t>El objetivo de este documento es representar la migración de proyecto a tecnología PaaS en OHE y dejarlo preparado para su posterior migración al CLOUD corporativo (Azure) de esta tecnología </a:t>
            </a:r>
            <a:r>
              <a:rPr lang="es-ES" dirty="0" err="1"/>
              <a:t>legacy</a:t>
            </a:r>
            <a:r>
              <a:rPr lang="es-ES" dirty="0"/>
              <a:t> y para ello se refleja el estudio de los elementos que serán impactados por dicha migración.</a:t>
            </a:r>
          </a:p>
          <a:p>
            <a:pPr marL="342900" lvl="1" indent="-285750" algn="just">
              <a:spcBef>
                <a:spcPct val="20000"/>
              </a:spcBef>
              <a:buClr>
                <a:srgbClr val="FF0000"/>
              </a:buClr>
              <a:buSzPct val="100000"/>
              <a:tabLst>
                <a:tab pos="990600" algn="l"/>
                <a:tab pos="3225800" algn="l"/>
                <a:tab pos="4127500" algn="l"/>
              </a:tabLst>
              <a:defRPr/>
            </a:pPr>
            <a:endParaRPr lang="es-ES" dirty="0"/>
          </a:p>
          <a:p>
            <a:pPr marL="342900" lvl="1" indent="-285750" algn="just">
              <a:spcBef>
                <a:spcPct val="20000"/>
              </a:spcBef>
              <a:buClr>
                <a:srgbClr val="FF0000"/>
              </a:buClr>
              <a:buSzPct val="100000"/>
              <a:tabLst>
                <a:tab pos="990600" algn="l"/>
                <a:tab pos="3225800" algn="l"/>
                <a:tab pos="4127500" algn="l"/>
              </a:tabLst>
              <a:defRPr/>
            </a:pPr>
            <a:endParaRPr lang="es-ES" sz="1600" dirty="0"/>
          </a:p>
          <a:p>
            <a:pPr marL="342900" lvl="1" indent="-285750" algn="just">
              <a:spcBef>
                <a:spcPct val="20000"/>
              </a:spcBef>
              <a:buClr>
                <a:srgbClr val="FF0000"/>
              </a:buClr>
              <a:buSzPct val="100000"/>
              <a:tabLst>
                <a:tab pos="990600" algn="l"/>
                <a:tab pos="3225800" algn="l"/>
                <a:tab pos="4127500" algn="l"/>
              </a:tabLst>
              <a:defRPr/>
            </a:pPr>
            <a:endParaRPr lang="en-US" sz="1600" b="1" dirty="0">
              <a:highlight>
                <a:srgbClr val="FFFF00"/>
              </a:highlight>
              <a:latin typeface="Arial" pitchFamily="34" charset="0"/>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p:txBody>
      </p:sp>
    </p:spTree>
    <p:extLst>
      <p:ext uri="{BB962C8B-B14F-4D97-AF65-F5344CB8AC3E}">
        <p14:creationId xmlns:p14="http://schemas.microsoft.com/office/powerpoint/2010/main" val="1196931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1">
            <a:extLst>
              <a:ext uri="{FF2B5EF4-FFF2-40B4-BE49-F238E27FC236}">
                <a16:creationId xmlns:a16="http://schemas.microsoft.com/office/drawing/2014/main" id="{E168AEED-C089-4E6D-A4BB-4DD9A8850132}"/>
              </a:ext>
            </a:extLst>
          </p:cNvPr>
          <p:cNvSpPr txBox="1">
            <a:spLocks/>
          </p:cNvSpPr>
          <p:nvPr/>
        </p:nvSpPr>
        <p:spPr>
          <a:xfrm>
            <a:off x="653140" y="406116"/>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30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Font typeface="Arial" panose="020B0604020202020204" pitchFamily="34" charset="0"/>
              <a:buNone/>
            </a:pPr>
            <a:r>
              <a:rPr lang="es-ES" sz="1800" b="1">
                <a:solidFill>
                  <a:srgbClr val="EB0000"/>
                </a:solidFill>
                <a:ea typeface="Segoe UI" panose="020B0502040204020203" pitchFamily="34" charset="0"/>
                <a:cs typeface="Segoe UI" panose="020B0502040204020203" pitchFamily="34" charset="0"/>
              </a:rPr>
              <a:t>Situación actual (TO BE)</a:t>
            </a:r>
            <a:endParaRPr lang="es-ES" sz="1800" b="1" dirty="0">
              <a:solidFill>
                <a:srgbClr val="EB0000"/>
              </a:solidFill>
              <a:ea typeface="Segoe UI" panose="020B0502040204020203" pitchFamily="34" charset="0"/>
              <a:cs typeface="Segoe UI" panose="020B0502040204020203" pitchFamily="34" charset="0"/>
            </a:endParaRPr>
          </a:p>
        </p:txBody>
      </p:sp>
      <p:sp>
        <p:nvSpPr>
          <p:cNvPr id="7" name="Marcador de texto 6">
            <a:extLst>
              <a:ext uri="{FF2B5EF4-FFF2-40B4-BE49-F238E27FC236}">
                <a16:creationId xmlns:a16="http://schemas.microsoft.com/office/drawing/2014/main" id="{BBE1EE0D-4E5A-44DF-BAB8-10165D5E4AF6}"/>
              </a:ext>
            </a:extLst>
          </p:cNvPr>
          <p:cNvSpPr txBox="1">
            <a:spLocks/>
          </p:cNvSpPr>
          <p:nvPr/>
        </p:nvSpPr>
        <p:spPr>
          <a:xfrm>
            <a:off x="0" y="922026"/>
            <a:ext cx="11486505" cy="541756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r>
              <a:rPr lang="es-ES" sz="2000" dirty="0"/>
              <a:t>En la versión 2.3.0 se modifica el producto para indicar como se debe integrar el flujo de Onboarding de HC2.0 con el resto de estructurales en diferentes operativas tales como la firma digital, generación de documentación  o guardado de información a través de la integración con la gestión documental. El objetivo es abrir este flujo que está orientado al canal Digital al resto de canales presenciales como oficina para ello se indica utilizar las piezas estructurales que son omnicanal.</a:t>
            </a:r>
          </a:p>
          <a:p>
            <a:pPr marL="742950" lvl="1" indent="-285750"/>
            <a:r>
              <a:rPr lang="es-ES" sz="2000" dirty="0"/>
              <a:t>En la versión 2.4.0 y 2.4.1 se modifica el almacenamiento , pasa de ser Azure Blob Storage por S3 OHE de SGT.</a:t>
            </a:r>
          </a:p>
          <a:p>
            <a:pPr marL="742950" lvl="1" indent="-285750"/>
            <a:r>
              <a:rPr lang="es-ES" sz="2000" dirty="0"/>
              <a:t>La versión 2.5.0 se libera con el objeto de incorporar la infraestructura Appian al proceso de HC 2.0.</a:t>
            </a:r>
          </a:p>
          <a:p>
            <a:pPr marL="742950" lvl="1" indent="-285750"/>
            <a:r>
              <a:rPr lang="es-ES" sz="2000" dirty="0"/>
              <a:t>La versión 2.7.0 se libera para sustituir el método de autenticación de identidad con Pagos, por otro distinto llamando a PagoNxt, según el nuevo procedimiento publicado por el SEBLAC. El DS elaborado por los arquitectos de canal se retoma en el equipo de Corebanking estrictamente para incorporar esta evolución por regulatorio.</a:t>
            </a:r>
          </a:p>
          <a:p>
            <a:pPr marL="457200" lvl="1" indent="0">
              <a:buNone/>
            </a:pPr>
            <a:r>
              <a:rPr lang="es-ES" sz="2000" dirty="0"/>
              <a:t>IMPORTANTE: Los nuevos desarrollos que sea necesarios reflejar en DS deberán incluirse ya en el nuevo DS de la Plataforma de Captación de Clientes que se está llevando a cabo para cumplir con los patrones de arquitectura funcional respondiendo a la visión TOBE propuesta por el equipo de arquitectura en la tesis ya publicada en Marzo 2022 </a:t>
            </a:r>
            <a:r>
              <a:rPr kumimoji="0" lang="en-US" sz="2000" b="1" i="0" u="none" strike="noStrike" kern="1200" cap="none" normalizeH="0" baseline="0" dirty="0">
                <a:ln>
                  <a:noFill/>
                </a:ln>
                <a:solidFill>
                  <a:schemeClr val="tx1"/>
                </a:solidFill>
                <a:effectLst/>
                <a:latin typeface="Arial" pitchFamily="34" charset="0"/>
                <a:ea typeface="+mn-ea"/>
                <a:cs typeface="+mn-cs"/>
              </a:rPr>
              <a:t>[REF – 13].</a:t>
            </a:r>
          </a:p>
          <a:p>
            <a:pPr marL="742950" lvl="1" indent="-285750"/>
            <a:r>
              <a:rPr lang="es-ES" dirty="0"/>
              <a:t> </a:t>
            </a:r>
          </a:p>
          <a:p>
            <a:pPr marL="457200" lvl="1" indent="0">
              <a:buNone/>
            </a:pPr>
            <a:endParaRPr lang="es-ES" dirty="0"/>
          </a:p>
          <a:p>
            <a:pPr marL="457200" lvl="1" indent="0">
              <a:buNone/>
            </a:pPr>
            <a:endParaRPr lang="es-ES" dirty="0"/>
          </a:p>
          <a:p>
            <a:pPr marL="342900" lvl="1" indent="-285750" algn="just">
              <a:spcBef>
                <a:spcPct val="20000"/>
              </a:spcBef>
              <a:buClr>
                <a:srgbClr val="FF0000"/>
              </a:buClr>
              <a:buSzPct val="100000"/>
              <a:tabLst>
                <a:tab pos="990600" algn="l"/>
                <a:tab pos="3225800" algn="l"/>
                <a:tab pos="4127500" algn="l"/>
              </a:tabLst>
              <a:defRPr/>
            </a:pPr>
            <a:endParaRPr lang="es-ES" sz="1600" dirty="0"/>
          </a:p>
          <a:p>
            <a:pPr marL="342900" lvl="1" indent="-285750" algn="just">
              <a:spcBef>
                <a:spcPct val="20000"/>
              </a:spcBef>
              <a:buClr>
                <a:srgbClr val="FF0000"/>
              </a:buClr>
              <a:buSzPct val="100000"/>
              <a:tabLst>
                <a:tab pos="990600" algn="l"/>
                <a:tab pos="3225800" algn="l"/>
                <a:tab pos="4127500" algn="l"/>
              </a:tabLst>
              <a:defRPr/>
            </a:pPr>
            <a:endParaRPr lang="en-US" sz="1600" b="1" dirty="0">
              <a:highlight>
                <a:srgbClr val="FFFF00"/>
              </a:highlight>
              <a:latin typeface="Arial" pitchFamily="34" charset="0"/>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p:txBody>
      </p:sp>
      <p:pic>
        <p:nvPicPr>
          <p:cNvPr id="9" name="Ojo" descr="MCj04377970000[1]">
            <a:hlinkClick r:id="" action="ppaction://noaction"/>
            <a:extLst>
              <a:ext uri="{FF2B5EF4-FFF2-40B4-BE49-F238E27FC236}">
                <a16:creationId xmlns:a16="http://schemas.microsoft.com/office/drawing/2014/main" id="{25121150-33AC-430E-BC4B-75E954D6C8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9224" y="5170490"/>
            <a:ext cx="360920" cy="324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772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1">
            <a:extLst>
              <a:ext uri="{FF2B5EF4-FFF2-40B4-BE49-F238E27FC236}">
                <a16:creationId xmlns:a16="http://schemas.microsoft.com/office/drawing/2014/main" id="{42494091-FDE6-4890-9BAB-5947AE9C2281}"/>
              </a:ext>
            </a:extLst>
          </p:cNvPr>
          <p:cNvSpPr txBox="1">
            <a:spLocks/>
          </p:cNvSpPr>
          <p:nvPr/>
        </p:nvSpPr>
        <p:spPr>
          <a:xfrm>
            <a:off x="1023393" y="374588"/>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300"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None/>
            </a:pPr>
            <a:r>
              <a:rPr lang="es-ES" sz="1800" b="1" dirty="0">
                <a:solidFill>
                  <a:srgbClr val="EB0000"/>
                </a:solidFill>
                <a:ea typeface="Segoe UI" panose="020B0502040204020203" pitchFamily="34" charset="0"/>
                <a:cs typeface="Segoe UI" panose="020B0502040204020203" pitchFamily="34" charset="0"/>
              </a:rPr>
              <a:t>Objetivos, solución propuesta  </a:t>
            </a:r>
            <a:r>
              <a:rPr lang="es-ES" sz="1800" dirty="0">
                <a:solidFill>
                  <a:schemeClr val="tx1">
                    <a:lumMod val="50000"/>
                    <a:lumOff val="50000"/>
                  </a:schemeClr>
                </a:solidFill>
              </a:rPr>
              <a:t>(</a:t>
            </a:r>
            <a:r>
              <a:rPr lang="en-GB" sz="1800" dirty="0">
                <a:solidFill>
                  <a:schemeClr val="tx1">
                    <a:lumMod val="50000"/>
                    <a:lumOff val="50000"/>
                  </a:schemeClr>
                </a:solidFill>
              </a:rPr>
              <a:t>Onboarding de personas </a:t>
            </a:r>
            <a:r>
              <a:rPr lang="en-GB" sz="1800" dirty="0" err="1">
                <a:solidFill>
                  <a:schemeClr val="tx1">
                    <a:lumMod val="50000"/>
                    <a:lumOff val="50000"/>
                  </a:schemeClr>
                </a:solidFill>
              </a:rPr>
              <a:t>físicas</a:t>
            </a:r>
            <a:r>
              <a:rPr lang="en-GB" sz="1800" dirty="0">
                <a:solidFill>
                  <a:schemeClr val="tx1">
                    <a:lumMod val="50000"/>
                    <a:lumOff val="50000"/>
                  </a:schemeClr>
                </a:solidFill>
              </a:rPr>
              <a:t>)</a:t>
            </a:r>
            <a:endParaRPr lang="es-ES" sz="1800" b="1" dirty="0">
              <a:solidFill>
                <a:srgbClr val="EB0000"/>
              </a:solidFill>
              <a:ea typeface="Segoe UI" panose="020B0502040204020203" pitchFamily="34" charset="0"/>
              <a:cs typeface="Segoe UI" panose="020B0502040204020203" pitchFamily="34" charset="0"/>
            </a:endParaRPr>
          </a:p>
        </p:txBody>
      </p:sp>
      <p:pic>
        <p:nvPicPr>
          <p:cNvPr id="7" name="Picture 4">
            <a:extLst>
              <a:ext uri="{FF2B5EF4-FFF2-40B4-BE49-F238E27FC236}">
                <a16:creationId xmlns:a16="http://schemas.microsoft.com/office/drawing/2014/main" id="{3D6D2468-E7B1-4814-8E50-D91ADB37A673}"/>
              </a:ext>
            </a:extLst>
          </p:cNvPr>
          <p:cNvPicPr>
            <a:picLocks noChangeAspect="1"/>
          </p:cNvPicPr>
          <p:nvPr/>
        </p:nvPicPr>
        <p:blipFill>
          <a:blip r:embed="rId2" cstate="print">
            <a:duotone>
              <a:srgbClr val="FFC7C7">
                <a:shade val="45000"/>
                <a:satMod val="135000"/>
              </a:srgbClr>
              <a:prstClr val="white"/>
            </a:duotone>
            <a:extLst>
              <a:ext uri="{28A0092B-C50C-407E-A947-70E740481C1C}">
                <a14:useLocalDpi xmlns:a14="http://schemas.microsoft.com/office/drawing/2010/main"/>
              </a:ext>
            </a:extLst>
          </a:blip>
          <a:stretch>
            <a:fillRect/>
          </a:stretch>
        </p:blipFill>
        <p:spPr>
          <a:xfrm>
            <a:off x="1446867" y="1933870"/>
            <a:ext cx="492399" cy="492399"/>
          </a:xfrm>
          <a:prstGeom prst="rect">
            <a:avLst/>
          </a:prstGeom>
        </p:spPr>
      </p:pic>
      <p:sp>
        <p:nvSpPr>
          <p:cNvPr id="8" name="TextBox 7">
            <a:extLst>
              <a:ext uri="{FF2B5EF4-FFF2-40B4-BE49-F238E27FC236}">
                <a16:creationId xmlns:a16="http://schemas.microsoft.com/office/drawing/2014/main" id="{F4A068C0-8F36-4E8B-8B36-FDD2EBAFF8B0}"/>
              </a:ext>
            </a:extLst>
          </p:cNvPr>
          <p:cNvSpPr txBox="1"/>
          <p:nvPr/>
        </p:nvSpPr>
        <p:spPr>
          <a:xfrm>
            <a:off x="85167" y="3720554"/>
            <a:ext cx="4112364" cy="2400657"/>
          </a:xfrm>
          <a:prstGeom prst="rect">
            <a:avLst/>
          </a:prstGeom>
          <a:noFill/>
        </p:spPr>
        <p:txBody>
          <a:bodyPr wrap="square" rtlCol="0">
            <a:spAutoFit/>
          </a:bodyPr>
          <a:lstStyle/>
          <a:p>
            <a:pPr lvl="0" hangingPunct="0">
              <a:spcBef>
                <a:spcPts val="600"/>
              </a:spcBef>
              <a:spcAft>
                <a:spcPts val="600"/>
              </a:spcAft>
              <a:buClr>
                <a:srgbClr val="E75353">
                  <a:lumMod val="50000"/>
                </a:srgbClr>
              </a:buClr>
              <a:defRPr/>
            </a:pPr>
            <a:r>
              <a:rPr lang="en-US" sz="1300" kern="0" dirty="0">
                <a:solidFill>
                  <a:srgbClr val="FF0000"/>
                </a:solidFill>
                <a:latin typeface="Santander Text" panose="020B0504020201020104" pitchFamily="34" charset="77"/>
                <a:ea typeface="Verdana" panose="020B0604030504040204" pitchFamily="34" charset="0"/>
                <a:cs typeface="Verdana" panose="020B0604030504040204" pitchFamily="34" charset="0"/>
                <a:sym typeface="Arial"/>
              </a:rPr>
              <a:t>1)</a:t>
            </a:r>
            <a:r>
              <a:rPr lang="es-ES" sz="1300" kern="0" dirty="0">
                <a:solidFill>
                  <a:srgbClr val="FF0000"/>
                </a:solidFill>
                <a:latin typeface="Santander Text" panose="020B0504020201020104" pitchFamily="34" charset="77"/>
                <a:ea typeface="Verdana" panose="020B0604030504040204" pitchFamily="34" charset="0"/>
                <a:cs typeface="Verdana" panose="020B0604030504040204" pitchFamily="34" charset="0"/>
                <a:sym typeface="Arial"/>
              </a:rPr>
              <a:t> </a:t>
            </a:r>
            <a:r>
              <a:rPr lang="es-ES" sz="1300" kern="0" dirty="0">
                <a:solidFill>
                  <a:srgbClr val="000000">
                    <a:lumMod val="65000"/>
                    <a:lumOff val="35000"/>
                  </a:srgbClr>
                </a:solidFill>
                <a:latin typeface="Santander Text" panose="020B0504020201020104" pitchFamily="34" charset="77"/>
                <a:ea typeface="Verdana" panose="020B0604030504040204" pitchFamily="34" charset="0"/>
                <a:sym typeface="Arial"/>
              </a:rPr>
              <a:t>El cliente accederá a la aplicación a través de la web comercial o desde la aplicación.</a:t>
            </a:r>
          </a:p>
          <a:p>
            <a:pPr lvl="0" hangingPunct="0">
              <a:spcBef>
                <a:spcPts val="600"/>
              </a:spcBef>
              <a:spcAft>
                <a:spcPts val="600"/>
              </a:spcAft>
              <a:buClr>
                <a:srgbClr val="E75353">
                  <a:lumMod val="50000"/>
                </a:srgbClr>
              </a:buClr>
              <a:defRPr/>
            </a:pPr>
            <a:r>
              <a:rPr lang="es-ES" sz="1300" kern="0" dirty="0">
                <a:solidFill>
                  <a:srgbClr val="000000">
                    <a:lumMod val="65000"/>
                    <a:lumOff val="35000"/>
                  </a:srgbClr>
                </a:solidFill>
                <a:latin typeface="Santander Text" panose="020B0504020201020104" pitchFamily="34" charset="77"/>
                <a:ea typeface="Verdana" panose="020B0604030504040204" pitchFamily="34" charset="0"/>
                <a:sym typeface="Arial"/>
              </a:rPr>
              <a:t>Una vez dentro, deberás indicar tus datos de contacto, aportar copia del documento de identificación, datos personales, datos de actividad, informar al FIOC, realizar la identificación (mediante videollamada, con un IBAN externo o mediante certificado digital), aportar la documentación requerida , seleccione una contraseña de acceso y firme contratos.</a:t>
            </a:r>
          </a:p>
          <a:p>
            <a:pPr lvl="0" hangingPunct="0">
              <a:spcBef>
                <a:spcPts val="600"/>
              </a:spcBef>
              <a:spcAft>
                <a:spcPts val="600"/>
              </a:spcAft>
              <a:buClr>
                <a:srgbClr val="E75353">
                  <a:lumMod val="50000"/>
                </a:srgbClr>
              </a:buClr>
              <a:defRPr/>
            </a:pPr>
            <a:r>
              <a:rPr lang="es-ES" sz="1300" kern="0" dirty="0">
                <a:solidFill>
                  <a:srgbClr val="000000">
                    <a:lumMod val="65000"/>
                    <a:lumOff val="35000"/>
                  </a:srgbClr>
                </a:solidFill>
                <a:latin typeface="Santander Text" panose="020B0504020201020104" pitchFamily="34" charset="77"/>
                <a:ea typeface="Verdana" panose="020B0604030504040204" pitchFamily="34" charset="0"/>
                <a:sym typeface="Arial"/>
              </a:rPr>
              <a:t>Para el mismo archivo, puede haber varios titulares</a:t>
            </a:r>
            <a:r>
              <a:rPr lang="es-ES" sz="1300" kern="0" dirty="0">
                <a:solidFill>
                  <a:srgbClr val="FF0000"/>
                </a:solidFill>
                <a:latin typeface="Santander Text" panose="020B0504020201020104" pitchFamily="34" charset="77"/>
                <a:ea typeface="Verdana" panose="020B0604030504040204" pitchFamily="34" charset="0"/>
                <a:cs typeface="Verdana" panose="020B0604030504040204" pitchFamily="34" charset="0"/>
                <a:sym typeface="Arial"/>
              </a:rPr>
              <a:t>.</a:t>
            </a:r>
            <a:endPar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endParaRPr>
          </a:p>
        </p:txBody>
      </p:sp>
      <p:sp>
        <p:nvSpPr>
          <p:cNvPr id="9" name="Rounded Rectangle 11">
            <a:extLst>
              <a:ext uri="{FF2B5EF4-FFF2-40B4-BE49-F238E27FC236}">
                <a16:creationId xmlns:a16="http://schemas.microsoft.com/office/drawing/2014/main" id="{7779E0F1-FE43-4EBE-ACFC-2F9A86094181}"/>
              </a:ext>
            </a:extLst>
          </p:cNvPr>
          <p:cNvSpPr/>
          <p:nvPr/>
        </p:nvSpPr>
        <p:spPr>
          <a:xfrm>
            <a:off x="3937194" y="1756624"/>
            <a:ext cx="1797804" cy="991892"/>
          </a:xfrm>
          <a:prstGeom prst="roundRect">
            <a:avLst/>
          </a:prstGeom>
          <a:solidFill>
            <a:srgbClr val="8F8F8F">
              <a:lumOff val="44000"/>
            </a:srgbClr>
          </a:solidFill>
          <a:ln w="25400" cap="flat">
            <a:solidFill>
              <a:srgbClr val="E75353">
                <a:lumMod val="50000"/>
              </a:srgbClr>
            </a:solidFill>
            <a:prstDash val="solid"/>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lang="en-GB" sz="1500" kern="0" dirty="0">
                <a:solidFill>
                  <a:srgbClr val="E75353">
                    <a:lumMod val="50000"/>
                  </a:srgbClr>
                </a:solidFill>
                <a:latin typeface="Santander Text" panose="020B0504020201020104" pitchFamily="34" charset="77"/>
                <a:ea typeface="Arial"/>
                <a:cs typeface="Arial"/>
                <a:sym typeface="Arial"/>
              </a:rPr>
              <a:t>PaaS </a:t>
            </a:r>
            <a:r>
              <a:rPr lang="en-GB" sz="1500" kern="0" dirty="0" err="1">
                <a:solidFill>
                  <a:srgbClr val="E75353">
                    <a:lumMod val="50000"/>
                  </a:srgbClr>
                </a:solidFill>
                <a:latin typeface="Santander Text" panose="020B0504020201020104" pitchFamily="34" charset="77"/>
                <a:ea typeface="Arial"/>
                <a:cs typeface="Arial"/>
                <a:sym typeface="Arial"/>
              </a:rPr>
              <a:t>Hagase</a:t>
            </a:r>
            <a:r>
              <a:rPr lang="en-GB" sz="1500" kern="0" dirty="0">
                <a:solidFill>
                  <a:srgbClr val="E75353">
                    <a:lumMod val="50000"/>
                  </a:srgbClr>
                </a:solidFill>
                <a:latin typeface="Santander Text" panose="020B0504020201020104" pitchFamily="34" charset="77"/>
                <a:ea typeface="Arial"/>
                <a:cs typeface="Arial"/>
                <a:sym typeface="Arial"/>
              </a:rPr>
              <a:t> Cliente</a:t>
            </a:r>
            <a:endParaRPr kumimoji="0" lang="en-GB" sz="15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endParaRPr>
          </a:p>
        </p:txBody>
      </p:sp>
      <p:sp>
        <p:nvSpPr>
          <p:cNvPr id="10" name="Rounded Rectangle 29">
            <a:extLst>
              <a:ext uri="{FF2B5EF4-FFF2-40B4-BE49-F238E27FC236}">
                <a16:creationId xmlns:a16="http://schemas.microsoft.com/office/drawing/2014/main" id="{6F5F14A8-EFC5-4F3A-9810-29D5D3FAAA0B}"/>
              </a:ext>
            </a:extLst>
          </p:cNvPr>
          <p:cNvSpPr/>
          <p:nvPr/>
        </p:nvSpPr>
        <p:spPr>
          <a:xfrm>
            <a:off x="3241804" y="1323778"/>
            <a:ext cx="5161967" cy="2070689"/>
          </a:xfrm>
          <a:prstGeom prst="roundRect">
            <a:avLst>
              <a:gd name="adj" fmla="val 7308"/>
            </a:avLst>
          </a:prstGeom>
          <a:noFill/>
          <a:ln w="3175" cap="flat">
            <a:solidFill>
              <a:srgbClr val="E75353">
                <a:lumMod val="50000"/>
              </a:srgbClr>
            </a:solidFill>
            <a:prstDash val="dash"/>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500"/>
              </a:spcBef>
              <a:spcAft>
                <a:spcPts val="0"/>
              </a:spcAft>
              <a:buClrTx/>
              <a:buSzTx/>
              <a:buFontTx/>
              <a:buNone/>
              <a:tabLst/>
              <a:defRPr/>
            </a:pPr>
            <a:endParaRPr kumimoji="0" lang="en-GB" sz="1400" b="0" i="0" u="none" strike="noStrike" kern="0" cap="none" spc="0" normalizeH="0" baseline="0" noProof="0" dirty="0">
              <a:ln>
                <a:noFill/>
              </a:ln>
              <a:solidFill>
                <a:srgbClr val="E75353">
                  <a:lumMod val="50000"/>
                </a:srgbClr>
              </a:solidFill>
              <a:effectLst/>
              <a:uLnTx/>
              <a:uFillTx/>
              <a:latin typeface="Arial"/>
              <a:ea typeface="Arial"/>
              <a:cs typeface="Arial"/>
              <a:sym typeface="Arial"/>
            </a:endParaRPr>
          </a:p>
        </p:txBody>
      </p:sp>
      <p:sp>
        <p:nvSpPr>
          <p:cNvPr id="11" name="TextBox 35">
            <a:extLst>
              <a:ext uri="{FF2B5EF4-FFF2-40B4-BE49-F238E27FC236}">
                <a16:creationId xmlns:a16="http://schemas.microsoft.com/office/drawing/2014/main" id="{1C839B1D-26A7-403B-970F-E0625143749C}"/>
              </a:ext>
            </a:extLst>
          </p:cNvPr>
          <p:cNvSpPr txBox="1"/>
          <p:nvPr/>
        </p:nvSpPr>
        <p:spPr>
          <a:xfrm>
            <a:off x="4296900" y="3720553"/>
            <a:ext cx="3401477" cy="1692771"/>
          </a:xfrm>
          <a:prstGeom prst="rect">
            <a:avLst/>
          </a:prstGeom>
          <a:noFill/>
        </p:spPr>
        <p:txBody>
          <a:bodyPr wrap="square" rtlCol="0">
            <a:spAutoFit/>
          </a:bodyPr>
          <a:lstStyle/>
          <a:p>
            <a:pPr marL="228600" lvl="0" indent="-228600" hangingPunct="0">
              <a:spcBef>
                <a:spcPts val="600"/>
              </a:spcBef>
              <a:spcAft>
                <a:spcPts val="600"/>
              </a:spcAft>
              <a:buClr>
                <a:srgbClr val="E75353">
                  <a:lumMod val="50000"/>
                </a:srgbClr>
              </a:buClr>
              <a:buFont typeface="+mj-lt"/>
              <a:buAutoNum type="arabicParenR" startAt="2"/>
              <a:defRPr/>
            </a:pP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Para cubrir la funcionalidad de la aplicación, se expondrá un </a:t>
            </a:r>
            <a:r>
              <a:rPr lang="es-ES" sz="1300" kern="0" dirty="0" err="1">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gateway</a:t>
            </a: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 web en PaaS que cubrirá todos los servicios utilizados desde la aplicación. Estos servicios pueden estar en los microservicios de la aplicación o en la puerta de enlace web de otras aplicaciones.</a:t>
            </a:r>
            <a:endParaRPr kumimoji="0" lang="en-GB" sz="1300" b="0" i="0" u="none" strike="noStrike" kern="0" cap="none" spc="0" normalizeH="0" baseline="0" noProof="0" dirty="0">
              <a:ln>
                <a:noFill/>
              </a:ln>
              <a:solidFill>
                <a:srgbClr val="000000">
                  <a:lumMod val="65000"/>
                  <a:lumOff val="35000"/>
                </a:srgbClr>
              </a:solidFill>
              <a:effectLst/>
              <a:uLnTx/>
              <a:uFillTx/>
              <a:latin typeface="Santander Text" panose="020B0504020201020104" pitchFamily="34" charset="77"/>
              <a:ea typeface="Verdana" panose="020B0604030504040204" pitchFamily="34" charset="0"/>
              <a:cs typeface="Verdana" panose="020B0604030504040204" pitchFamily="34" charset="0"/>
              <a:sym typeface="Arial"/>
            </a:endParaRPr>
          </a:p>
        </p:txBody>
      </p:sp>
      <p:sp>
        <p:nvSpPr>
          <p:cNvPr id="12" name="TextBox 53">
            <a:extLst>
              <a:ext uri="{FF2B5EF4-FFF2-40B4-BE49-F238E27FC236}">
                <a16:creationId xmlns:a16="http://schemas.microsoft.com/office/drawing/2014/main" id="{052E2E29-51E8-4F67-8428-67C151D28E88}"/>
              </a:ext>
            </a:extLst>
          </p:cNvPr>
          <p:cNvSpPr txBox="1"/>
          <p:nvPr/>
        </p:nvSpPr>
        <p:spPr>
          <a:xfrm>
            <a:off x="7957716" y="3436316"/>
            <a:ext cx="4234284" cy="2693045"/>
          </a:xfrm>
          <a:prstGeom prst="rect">
            <a:avLst/>
          </a:prstGeom>
          <a:noFill/>
        </p:spPr>
        <p:txBody>
          <a:bodyPr wrap="square" rtlCol="0">
            <a:spAutoFit/>
          </a:bodyPr>
          <a:lstStyle/>
          <a:p>
            <a:pPr marL="228600" lvl="0" indent="-228600" hangingPunct="0">
              <a:spcBef>
                <a:spcPts val="600"/>
              </a:spcBef>
              <a:spcAft>
                <a:spcPts val="600"/>
              </a:spcAft>
              <a:buClr>
                <a:srgbClr val="E75353">
                  <a:lumMod val="50000"/>
                </a:srgbClr>
              </a:buClr>
              <a:buFont typeface="+mj-lt"/>
              <a:buAutoNum type="arabicParenR" startAt="3"/>
              <a:defRPr/>
            </a:pP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La aplicación se comunicará con otras aplicaciones internas como PAGOS (para identificación confiable con IBAN), VIDEO CALL (para identificación por identificación de video), envío de SMS, envío de correos electrónicos, consentimientos (para registrar los consentimientos del nuevo cliente), BDP (para registrar un nuevo cliente), LDAP (para seguridad por token de usuario de la aplicación), PI (generación de documentos), banca electrónica (consultar y registrar </a:t>
            </a:r>
            <a:r>
              <a:rPr lang="es-ES" sz="1300" kern="0" dirty="0" err="1">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cmc</a:t>
            </a: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 e Hipoteca Digital (informar registro de cliente). Se comunicará a través de Internet con el servicio de localización de oficinas, una aplicación de OCR externa y Google (para obtener ayuda con la dirección de casa).</a:t>
            </a:r>
            <a:endParaRPr kumimoji="0" lang="en-GB" sz="1300" b="0" i="0" u="none" strike="noStrike" kern="0" cap="none" spc="0" normalizeH="0" baseline="0" noProof="0" dirty="0">
              <a:ln>
                <a:noFill/>
              </a:ln>
              <a:solidFill>
                <a:srgbClr val="000000">
                  <a:lumMod val="65000"/>
                  <a:lumOff val="35000"/>
                </a:srgbClr>
              </a:solidFill>
              <a:effectLst/>
              <a:uLnTx/>
              <a:uFillTx/>
              <a:latin typeface="Santander Text" panose="020B0504020201020104" pitchFamily="34" charset="77"/>
              <a:ea typeface="Verdana" panose="020B0604030504040204" pitchFamily="34" charset="0"/>
              <a:cs typeface="Verdana" panose="020B0604030504040204" pitchFamily="34" charset="0"/>
              <a:sym typeface="Arial"/>
            </a:endParaRPr>
          </a:p>
        </p:txBody>
      </p:sp>
      <p:cxnSp>
        <p:nvCxnSpPr>
          <p:cNvPr id="13" name="Straight Arrow Connector 32">
            <a:extLst>
              <a:ext uri="{FF2B5EF4-FFF2-40B4-BE49-F238E27FC236}">
                <a16:creationId xmlns:a16="http://schemas.microsoft.com/office/drawing/2014/main" id="{A6DC220E-D4A4-4ACB-94AB-7C9D3112E4F3}"/>
              </a:ext>
            </a:extLst>
          </p:cNvPr>
          <p:cNvCxnSpPr>
            <a:cxnSpLocks/>
            <a:stCxn id="9" idx="3"/>
            <a:endCxn id="14" idx="1"/>
          </p:cNvCxnSpPr>
          <p:nvPr/>
        </p:nvCxnSpPr>
        <p:spPr>
          <a:xfrm flipV="1">
            <a:off x="5734998" y="2243517"/>
            <a:ext cx="3346451" cy="9053"/>
          </a:xfrm>
          <a:prstGeom prst="straightConnector1">
            <a:avLst/>
          </a:prstGeom>
          <a:noFill/>
          <a:ln w="25400" cap="flat">
            <a:solidFill>
              <a:srgbClr val="E75353">
                <a:lumMod val="50000"/>
              </a:srgbClr>
            </a:solidFill>
            <a:prstDash val="solid"/>
            <a:round/>
            <a:tailEnd type="triangle"/>
          </a:ln>
          <a:effectLst/>
          <a:sp3d/>
        </p:spPr>
      </p:cxnSp>
      <p:sp>
        <p:nvSpPr>
          <p:cNvPr id="14" name="Rounded Rectangle 11">
            <a:extLst>
              <a:ext uri="{FF2B5EF4-FFF2-40B4-BE49-F238E27FC236}">
                <a16:creationId xmlns:a16="http://schemas.microsoft.com/office/drawing/2014/main" id="{5F121258-89D4-4AF5-9498-CC0409C52FD3}"/>
              </a:ext>
            </a:extLst>
          </p:cNvPr>
          <p:cNvSpPr/>
          <p:nvPr/>
        </p:nvSpPr>
        <p:spPr>
          <a:xfrm>
            <a:off x="9081449" y="1883517"/>
            <a:ext cx="2340000" cy="720000"/>
          </a:xfrm>
          <a:prstGeom prst="roundRect">
            <a:avLst/>
          </a:prstGeom>
          <a:solidFill>
            <a:srgbClr val="8F8F8F">
              <a:lumOff val="44000"/>
            </a:srgbClr>
          </a:solidFill>
          <a:ln w="25400" cap="flat">
            <a:solidFill>
              <a:srgbClr val="E75353">
                <a:lumMod val="50000"/>
              </a:srgbClr>
            </a:solidFill>
            <a:prstDash val="solid"/>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kumimoji="0" lang="en-GB" sz="15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rPr>
              <a:t>OCR / google / Servicio </a:t>
            </a:r>
            <a:r>
              <a:rPr kumimoji="0" lang="en-GB" sz="1500" b="0" i="0" u="none" strike="noStrike" kern="0" cap="none" spc="0" normalizeH="0" baseline="0" noProof="0" dirty="0" err="1">
                <a:ln>
                  <a:noFill/>
                </a:ln>
                <a:solidFill>
                  <a:srgbClr val="E75353">
                    <a:lumMod val="50000"/>
                  </a:srgbClr>
                </a:solidFill>
                <a:effectLst/>
                <a:uLnTx/>
                <a:uFillTx/>
                <a:latin typeface="Santander Text" panose="020B0504020201020104" pitchFamily="34" charset="77"/>
                <a:ea typeface="Arial"/>
                <a:cs typeface="Arial"/>
                <a:sym typeface="Arial"/>
              </a:rPr>
              <a:t>localizador</a:t>
            </a:r>
            <a:r>
              <a:rPr kumimoji="0" lang="en-GB" sz="15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rPr>
              <a:t> de </a:t>
            </a:r>
            <a:r>
              <a:rPr kumimoji="0" lang="en-GB" sz="1500" b="0" i="0" u="none" strike="noStrike" kern="0" cap="none" spc="0" normalizeH="0" baseline="0" noProof="0" dirty="0" err="1">
                <a:ln>
                  <a:noFill/>
                </a:ln>
                <a:solidFill>
                  <a:srgbClr val="E75353">
                    <a:lumMod val="50000"/>
                  </a:srgbClr>
                </a:solidFill>
                <a:effectLst/>
                <a:uLnTx/>
                <a:uFillTx/>
                <a:latin typeface="Santander Text" panose="020B0504020201020104" pitchFamily="34" charset="77"/>
                <a:ea typeface="Arial"/>
                <a:cs typeface="Arial"/>
                <a:sym typeface="Arial"/>
              </a:rPr>
              <a:t>oficinas</a:t>
            </a:r>
            <a:endParaRPr kumimoji="0" lang="en-GB" sz="15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endParaRPr>
          </a:p>
        </p:txBody>
      </p:sp>
      <p:cxnSp>
        <p:nvCxnSpPr>
          <p:cNvPr id="15" name="Straight Arrow Connector 32">
            <a:extLst>
              <a:ext uri="{FF2B5EF4-FFF2-40B4-BE49-F238E27FC236}">
                <a16:creationId xmlns:a16="http://schemas.microsoft.com/office/drawing/2014/main" id="{25DCE63E-B285-4FD4-B93C-1AF86E4B9973}"/>
              </a:ext>
            </a:extLst>
          </p:cNvPr>
          <p:cNvCxnSpPr>
            <a:cxnSpLocks/>
            <a:endCxn id="9" idx="1"/>
          </p:cNvCxnSpPr>
          <p:nvPr/>
        </p:nvCxnSpPr>
        <p:spPr>
          <a:xfrm>
            <a:off x="2256423" y="2252570"/>
            <a:ext cx="1680771" cy="0"/>
          </a:xfrm>
          <a:prstGeom prst="straightConnector1">
            <a:avLst/>
          </a:prstGeom>
          <a:noFill/>
          <a:ln w="25400" cap="flat">
            <a:solidFill>
              <a:srgbClr val="E75353">
                <a:lumMod val="50000"/>
              </a:srgbClr>
            </a:solidFill>
            <a:prstDash val="solid"/>
            <a:round/>
            <a:tailEnd type="triangle"/>
          </a:ln>
          <a:effectLst/>
          <a:sp3d/>
        </p:spPr>
      </p:cxnSp>
      <p:sp>
        <p:nvSpPr>
          <p:cNvPr id="16" name="Rectángulo 15">
            <a:extLst>
              <a:ext uri="{FF2B5EF4-FFF2-40B4-BE49-F238E27FC236}">
                <a16:creationId xmlns:a16="http://schemas.microsoft.com/office/drawing/2014/main" id="{EC272A85-CCAA-4F77-854A-21562C2EEDAA}"/>
              </a:ext>
            </a:extLst>
          </p:cNvPr>
          <p:cNvSpPr/>
          <p:nvPr/>
        </p:nvSpPr>
        <p:spPr>
          <a:xfrm>
            <a:off x="754638" y="1651545"/>
            <a:ext cx="1523584" cy="1057051"/>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E717343D-A8B2-432B-AB04-DE9D11347C47}"/>
              </a:ext>
            </a:extLst>
          </p:cNvPr>
          <p:cNvSpPr txBox="1"/>
          <p:nvPr/>
        </p:nvSpPr>
        <p:spPr>
          <a:xfrm>
            <a:off x="1417732" y="1305675"/>
            <a:ext cx="838691"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Internet</a:t>
            </a:r>
          </a:p>
        </p:txBody>
      </p:sp>
      <p:sp>
        <p:nvSpPr>
          <p:cNvPr id="18" name="CuadroTexto 17">
            <a:extLst>
              <a:ext uri="{FF2B5EF4-FFF2-40B4-BE49-F238E27FC236}">
                <a16:creationId xmlns:a16="http://schemas.microsoft.com/office/drawing/2014/main" id="{BB64ADE5-81B6-407E-A8D0-B35A542E98AC}"/>
              </a:ext>
            </a:extLst>
          </p:cNvPr>
          <p:cNvSpPr txBox="1"/>
          <p:nvPr/>
        </p:nvSpPr>
        <p:spPr>
          <a:xfrm>
            <a:off x="9690317" y="1434282"/>
            <a:ext cx="838691"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Internet</a:t>
            </a:r>
          </a:p>
        </p:txBody>
      </p:sp>
      <p:sp>
        <p:nvSpPr>
          <p:cNvPr id="19" name="Rectángulo 18">
            <a:extLst>
              <a:ext uri="{FF2B5EF4-FFF2-40B4-BE49-F238E27FC236}">
                <a16:creationId xmlns:a16="http://schemas.microsoft.com/office/drawing/2014/main" id="{3E39286E-AC70-439F-9B72-70F118947387}"/>
              </a:ext>
            </a:extLst>
          </p:cNvPr>
          <p:cNvSpPr/>
          <p:nvPr/>
        </p:nvSpPr>
        <p:spPr>
          <a:xfrm>
            <a:off x="1023393" y="2738577"/>
            <a:ext cx="1233030" cy="369332"/>
          </a:xfrm>
          <a:prstGeom prst="rect">
            <a:avLst/>
          </a:prstGeom>
        </p:spPr>
        <p:txBody>
          <a:bodyPr wrap="none">
            <a:spAutoFit/>
          </a:bodyPr>
          <a:lstStyle/>
          <a:p>
            <a:r>
              <a:rPr lang="it-IT"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Customers</a:t>
            </a:r>
            <a:endParaRPr lang="es-ES" dirty="0"/>
          </a:p>
        </p:txBody>
      </p:sp>
      <p:sp>
        <p:nvSpPr>
          <p:cNvPr id="20" name="Rounded Rectangle 11">
            <a:extLst>
              <a:ext uri="{FF2B5EF4-FFF2-40B4-BE49-F238E27FC236}">
                <a16:creationId xmlns:a16="http://schemas.microsoft.com/office/drawing/2014/main" id="{658CE3D5-0CAB-4DF9-9D2C-2238FEE39626}"/>
              </a:ext>
            </a:extLst>
          </p:cNvPr>
          <p:cNvSpPr/>
          <p:nvPr/>
        </p:nvSpPr>
        <p:spPr>
          <a:xfrm>
            <a:off x="9081449" y="583794"/>
            <a:ext cx="2340000" cy="720000"/>
          </a:xfrm>
          <a:prstGeom prst="roundRect">
            <a:avLst/>
          </a:prstGeom>
          <a:solidFill>
            <a:srgbClr val="8F8F8F">
              <a:lumOff val="44000"/>
            </a:srgbClr>
          </a:solidFill>
          <a:ln w="25400" cap="flat">
            <a:solidFill>
              <a:srgbClr val="E75353">
                <a:lumMod val="50000"/>
              </a:srgbClr>
            </a:solidFill>
            <a:prstDash val="solid"/>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rPr>
              <a:t>PAGOS / VIDEO </a:t>
            </a:r>
            <a:r>
              <a:rPr lang="en-GB" sz="1100" kern="0" dirty="0">
                <a:solidFill>
                  <a:srgbClr val="E75353">
                    <a:lumMod val="50000"/>
                  </a:srgbClr>
                </a:solidFill>
                <a:latin typeface="Santander Text" panose="020B0504020201020104" pitchFamily="34" charset="77"/>
                <a:ea typeface="Arial"/>
                <a:cs typeface="Arial"/>
                <a:sym typeface="Arial"/>
              </a:rPr>
              <a:t>L</a:t>
            </a:r>
            <a:r>
              <a:rPr kumimoji="0" lang="en-GB" sz="11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rPr>
              <a:t>LAMADA/ SMS / email /Consentimientos / BDP / LDAP / PI / </a:t>
            </a:r>
            <a:r>
              <a:rPr kumimoji="0" lang="en-GB" sz="1100" b="0" i="0" u="none" strike="noStrike" kern="0" cap="none" spc="0" normalizeH="0" baseline="0" noProof="0" dirty="0" err="1">
                <a:ln>
                  <a:noFill/>
                </a:ln>
                <a:solidFill>
                  <a:srgbClr val="E75353">
                    <a:lumMod val="50000"/>
                  </a:srgbClr>
                </a:solidFill>
                <a:effectLst/>
                <a:uLnTx/>
                <a:uFillTx/>
                <a:latin typeface="Santander Text" panose="020B0504020201020104" pitchFamily="34" charset="77"/>
                <a:ea typeface="Arial"/>
                <a:cs typeface="Arial"/>
                <a:sym typeface="Arial"/>
              </a:rPr>
              <a:t>Hipoteca</a:t>
            </a:r>
            <a:r>
              <a:rPr kumimoji="0" lang="en-GB" sz="11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rPr>
              <a:t> Digital </a:t>
            </a:r>
          </a:p>
        </p:txBody>
      </p:sp>
      <p:sp>
        <p:nvSpPr>
          <p:cNvPr id="21" name="CuadroTexto 20">
            <a:extLst>
              <a:ext uri="{FF2B5EF4-FFF2-40B4-BE49-F238E27FC236}">
                <a16:creationId xmlns:a16="http://schemas.microsoft.com/office/drawing/2014/main" id="{D39E14F5-BDEC-4E49-B7A4-7CA6212BB7EA}"/>
              </a:ext>
            </a:extLst>
          </p:cNvPr>
          <p:cNvSpPr txBox="1"/>
          <p:nvPr/>
        </p:nvSpPr>
        <p:spPr>
          <a:xfrm>
            <a:off x="9710982" y="221991"/>
            <a:ext cx="1083951"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OnPremise</a:t>
            </a:r>
          </a:p>
        </p:txBody>
      </p:sp>
      <p:grpSp>
        <p:nvGrpSpPr>
          <p:cNvPr id="22" name="Grupo 21">
            <a:extLst>
              <a:ext uri="{FF2B5EF4-FFF2-40B4-BE49-F238E27FC236}">
                <a16:creationId xmlns:a16="http://schemas.microsoft.com/office/drawing/2014/main" id="{B13CBF2A-734D-4C74-8AAA-85CB4FD5D7D4}"/>
              </a:ext>
            </a:extLst>
          </p:cNvPr>
          <p:cNvGrpSpPr/>
          <p:nvPr/>
        </p:nvGrpSpPr>
        <p:grpSpPr>
          <a:xfrm>
            <a:off x="1025317" y="1892551"/>
            <a:ext cx="526776" cy="531504"/>
            <a:chOff x="462817" y="1815774"/>
            <a:chExt cx="804892" cy="727689"/>
          </a:xfrm>
        </p:grpSpPr>
        <p:pic>
          <p:nvPicPr>
            <p:cNvPr id="23" name="Picture 84">
              <a:extLst>
                <a:ext uri="{FF2B5EF4-FFF2-40B4-BE49-F238E27FC236}">
                  <a16:creationId xmlns:a16="http://schemas.microsoft.com/office/drawing/2014/main" id="{DB2DD9DD-2BE6-475C-92E7-1F09492804B7}"/>
                </a:ext>
              </a:extLst>
            </p:cNvPr>
            <p:cNvPicPr>
              <a:picLocks noChangeAspect="1"/>
            </p:cNvPicPr>
            <p:nvPr/>
          </p:nvPicPr>
          <p:blipFill>
            <a:blip r:embed="rId3"/>
            <a:stretch>
              <a:fillRect/>
            </a:stretch>
          </p:blipFill>
          <p:spPr>
            <a:xfrm>
              <a:off x="462817" y="1815774"/>
              <a:ext cx="804892" cy="727689"/>
            </a:xfrm>
            <a:prstGeom prst="rect">
              <a:avLst/>
            </a:prstGeom>
          </p:spPr>
        </p:pic>
        <p:pic>
          <p:nvPicPr>
            <p:cNvPr id="24" name="Imagen 23">
              <a:extLst>
                <a:ext uri="{FF2B5EF4-FFF2-40B4-BE49-F238E27FC236}">
                  <a16:creationId xmlns:a16="http://schemas.microsoft.com/office/drawing/2014/main" id="{45905B7F-165D-4A1A-848D-12B8A175C39E}"/>
                </a:ext>
              </a:extLst>
            </p:cNvPr>
            <p:cNvPicPr>
              <a:picLocks noChangeAspect="1"/>
            </p:cNvPicPr>
            <p:nvPr/>
          </p:nvPicPr>
          <p:blipFill>
            <a:blip r:embed="rId4"/>
            <a:stretch>
              <a:fillRect/>
            </a:stretch>
          </p:blipFill>
          <p:spPr>
            <a:xfrm>
              <a:off x="749699" y="1995541"/>
              <a:ext cx="257114" cy="252603"/>
            </a:xfrm>
            <a:prstGeom prst="rect">
              <a:avLst/>
            </a:prstGeom>
          </p:spPr>
        </p:pic>
      </p:grpSp>
      <p:pic>
        <p:nvPicPr>
          <p:cNvPr id="25" name="Imagen 24">
            <a:extLst>
              <a:ext uri="{FF2B5EF4-FFF2-40B4-BE49-F238E27FC236}">
                <a16:creationId xmlns:a16="http://schemas.microsoft.com/office/drawing/2014/main" id="{DD64C2EF-362B-4FF7-A8AA-A089893533E6}"/>
              </a:ext>
            </a:extLst>
          </p:cNvPr>
          <p:cNvPicPr>
            <a:picLocks noChangeAspect="1"/>
          </p:cNvPicPr>
          <p:nvPr/>
        </p:nvPicPr>
        <p:blipFill>
          <a:blip r:embed="rId5"/>
          <a:stretch>
            <a:fillRect/>
          </a:stretch>
        </p:blipFill>
        <p:spPr>
          <a:xfrm>
            <a:off x="1171840" y="1980550"/>
            <a:ext cx="233731" cy="236000"/>
          </a:xfrm>
          <a:prstGeom prst="rect">
            <a:avLst/>
          </a:prstGeom>
        </p:spPr>
      </p:pic>
      <p:sp>
        <p:nvSpPr>
          <p:cNvPr id="26" name="CuadroTexto 25">
            <a:extLst>
              <a:ext uri="{FF2B5EF4-FFF2-40B4-BE49-F238E27FC236}">
                <a16:creationId xmlns:a16="http://schemas.microsoft.com/office/drawing/2014/main" id="{1A20E16F-BFB1-44BD-95AD-321BB51CBA33}"/>
              </a:ext>
            </a:extLst>
          </p:cNvPr>
          <p:cNvSpPr txBox="1"/>
          <p:nvPr/>
        </p:nvSpPr>
        <p:spPr>
          <a:xfrm>
            <a:off x="5158947" y="973589"/>
            <a:ext cx="987771"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PaaS OHE</a:t>
            </a:r>
          </a:p>
        </p:txBody>
      </p:sp>
      <p:cxnSp>
        <p:nvCxnSpPr>
          <p:cNvPr id="27" name="Straight Arrow Connector 32">
            <a:extLst>
              <a:ext uri="{FF2B5EF4-FFF2-40B4-BE49-F238E27FC236}">
                <a16:creationId xmlns:a16="http://schemas.microsoft.com/office/drawing/2014/main" id="{5258E9DF-BE83-4E19-904B-0A0DD763DAF2}"/>
              </a:ext>
            </a:extLst>
          </p:cNvPr>
          <p:cNvCxnSpPr>
            <a:cxnSpLocks/>
            <a:endCxn id="20" idx="1"/>
          </p:cNvCxnSpPr>
          <p:nvPr/>
        </p:nvCxnSpPr>
        <p:spPr>
          <a:xfrm flipV="1">
            <a:off x="5734997" y="943794"/>
            <a:ext cx="3346452" cy="1020758"/>
          </a:xfrm>
          <a:prstGeom prst="straightConnector1">
            <a:avLst/>
          </a:prstGeom>
          <a:noFill/>
          <a:ln w="25400" cap="flat">
            <a:solidFill>
              <a:srgbClr val="E75353">
                <a:lumMod val="50000"/>
              </a:srgbClr>
            </a:solidFill>
            <a:prstDash val="solid"/>
            <a:round/>
            <a:tailEnd type="triangle"/>
          </a:ln>
          <a:effectLst/>
          <a:sp3d/>
        </p:spPr>
      </p:cxnSp>
    </p:spTree>
    <p:extLst>
      <p:ext uri="{BB962C8B-B14F-4D97-AF65-F5344CB8AC3E}">
        <p14:creationId xmlns:p14="http://schemas.microsoft.com/office/powerpoint/2010/main" val="2525326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1">
            <a:extLst>
              <a:ext uri="{FF2B5EF4-FFF2-40B4-BE49-F238E27FC236}">
                <a16:creationId xmlns:a16="http://schemas.microsoft.com/office/drawing/2014/main" id="{42494091-FDE6-4890-9BAB-5947AE9C2281}"/>
              </a:ext>
            </a:extLst>
          </p:cNvPr>
          <p:cNvSpPr txBox="1">
            <a:spLocks/>
          </p:cNvSpPr>
          <p:nvPr/>
        </p:nvSpPr>
        <p:spPr>
          <a:xfrm>
            <a:off x="204886" y="84727"/>
            <a:ext cx="10895891" cy="20920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300"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None/>
            </a:pPr>
            <a:r>
              <a:rPr lang="es-ES" sz="1800" b="1" dirty="0">
                <a:solidFill>
                  <a:srgbClr val="EB0000"/>
                </a:solidFill>
                <a:ea typeface="Segoe UI" panose="020B0502040204020203" pitchFamily="34" charset="0"/>
                <a:cs typeface="Segoe UI" panose="020B0502040204020203" pitchFamily="34" charset="0"/>
              </a:rPr>
              <a:t>Objetivos, solución propuesta  </a:t>
            </a:r>
            <a:r>
              <a:rPr lang="es-ES" sz="1800" dirty="0">
                <a:solidFill>
                  <a:schemeClr val="tx1">
                    <a:lumMod val="50000"/>
                    <a:lumOff val="50000"/>
                  </a:schemeClr>
                </a:solidFill>
              </a:rPr>
              <a:t>(</a:t>
            </a:r>
            <a:r>
              <a:rPr lang="en-GB" sz="1800" dirty="0" err="1">
                <a:solidFill>
                  <a:schemeClr val="tx1">
                    <a:lumMod val="50000"/>
                    <a:lumOff val="50000"/>
                  </a:schemeClr>
                </a:solidFill>
              </a:rPr>
              <a:t>Tramitación</a:t>
            </a:r>
            <a:r>
              <a:rPr lang="en-GB" sz="1800" dirty="0">
                <a:solidFill>
                  <a:schemeClr val="tx1">
                    <a:lumMod val="50000"/>
                    <a:lumOff val="50000"/>
                  </a:schemeClr>
                </a:solidFill>
              </a:rPr>
              <a:t> de </a:t>
            </a:r>
            <a:r>
              <a:rPr lang="en-GB" sz="1800" dirty="0" err="1">
                <a:solidFill>
                  <a:schemeClr val="tx1">
                    <a:lumMod val="50000"/>
                    <a:lumOff val="50000"/>
                  </a:schemeClr>
                </a:solidFill>
              </a:rPr>
              <a:t>expedientes</a:t>
            </a:r>
            <a:r>
              <a:rPr lang="en-GB" sz="1800" dirty="0">
                <a:solidFill>
                  <a:schemeClr val="tx1">
                    <a:lumMod val="50000"/>
                    <a:lumOff val="50000"/>
                  </a:schemeClr>
                </a:solidFill>
              </a:rPr>
              <a:t> y Procesos </a:t>
            </a:r>
            <a:r>
              <a:rPr lang="en-GB" sz="1800" dirty="0" err="1">
                <a:solidFill>
                  <a:schemeClr val="tx1">
                    <a:lumMod val="50000"/>
                    <a:lumOff val="50000"/>
                  </a:schemeClr>
                </a:solidFill>
              </a:rPr>
              <a:t>planificados</a:t>
            </a:r>
            <a:r>
              <a:rPr lang="en-GB" sz="1800" dirty="0">
                <a:solidFill>
                  <a:schemeClr val="tx1">
                    <a:lumMod val="50000"/>
                    <a:lumOff val="50000"/>
                  </a:schemeClr>
                </a:solidFill>
              </a:rPr>
              <a:t>)</a:t>
            </a:r>
            <a:endParaRPr lang="es-ES" sz="1800" b="1" dirty="0">
              <a:solidFill>
                <a:srgbClr val="EB0000"/>
              </a:solidFill>
              <a:ea typeface="Segoe UI" panose="020B0502040204020203" pitchFamily="34" charset="0"/>
              <a:cs typeface="Segoe UI" panose="020B0502040204020203" pitchFamily="34" charset="0"/>
            </a:endParaRPr>
          </a:p>
        </p:txBody>
      </p:sp>
      <p:pic>
        <p:nvPicPr>
          <p:cNvPr id="7" name="Picture 4">
            <a:extLst>
              <a:ext uri="{FF2B5EF4-FFF2-40B4-BE49-F238E27FC236}">
                <a16:creationId xmlns:a16="http://schemas.microsoft.com/office/drawing/2014/main" id="{3D6D2468-E7B1-4814-8E50-D91ADB37A673}"/>
              </a:ext>
            </a:extLst>
          </p:cNvPr>
          <p:cNvPicPr>
            <a:picLocks noChangeAspect="1"/>
          </p:cNvPicPr>
          <p:nvPr/>
        </p:nvPicPr>
        <p:blipFill>
          <a:blip r:embed="rId2" cstate="print">
            <a:duotone>
              <a:srgbClr val="FFC7C7">
                <a:shade val="45000"/>
                <a:satMod val="135000"/>
              </a:srgbClr>
              <a:prstClr val="white"/>
            </a:duotone>
            <a:extLst>
              <a:ext uri="{28A0092B-C50C-407E-A947-70E740481C1C}">
                <a14:useLocalDpi xmlns:a14="http://schemas.microsoft.com/office/drawing/2010/main"/>
              </a:ext>
            </a:extLst>
          </a:blip>
          <a:stretch>
            <a:fillRect/>
          </a:stretch>
        </p:blipFill>
        <p:spPr>
          <a:xfrm>
            <a:off x="1446867" y="1933870"/>
            <a:ext cx="492399" cy="492399"/>
          </a:xfrm>
          <a:prstGeom prst="rect">
            <a:avLst/>
          </a:prstGeom>
        </p:spPr>
      </p:pic>
      <p:sp>
        <p:nvSpPr>
          <p:cNvPr id="8" name="TextBox 7">
            <a:extLst>
              <a:ext uri="{FF2B5EF4-FFF2-40B4-BE49-F238E27FC236}">
                <a16:creationId xmlns:a16="http://schemas.microsoft.com/office/drawing/2014/main" id="{F4A068C0-8F36-4E8B-8B36-FDD2EBAFF8B0}"/>
              </a:ext>
            </a:extLst>
          </p:cNvPr>
          <p:cNvSpPr txBox="1"/>
          <p:nvPr/>
        </p:nvSpPr>
        <p:spPr>
          <a:xfrm>
            <a:off x="85167" y="3720554"/>
            <a:ext cx="4112364" cy="1292662"/>
          </a:xfrm>
          <a:prstGeom prst="rect">
            <a:avLst/>
          </a:prstGeom>
          <a:noFill/>
        </p:spPr>
        <p:txBody>
          <a:bodyPr wrap="square" rtlCol="0">
            <a:spAutoFit/>
          </a:bodyPr>
          <a:lstStyle/>
          <a:p>
            <a:pPr lvl="0" hangingPunct="0">
              <a:spcBef>
                <a:spcPts val="600"/>
              </a:spcBef>
              <a:spcAft>
                <a:spcPts val="600"/>
              </a:spcAft>
              <a:buClr>
                <a:srgbClr val="E75353">
                  <a:lumMod val="50000"/>
                </a:srgbClr>
              </a:buClr>
              <a:defRPr/>
            </a:pPr>
            <a:r>
              <a:rPr lang="en-US" sz="1300" kern="0" dirty="0">
                <a:solidFill>
                  <a:srgbClr val="FF0000"/>
                </a:solidFill>
                <a:latin typeface="Santander Text" panose="020B0504020201020104" pitchFamily="34" charset="77"/>
                <a:ea typeface="Verdana" panose="020B0604030504040204" pitchFamily="34" charset="0"/>
                <a:cs typeface="Verdana" panose="020B0604030504040204" pitchFamily="34" charset="0"/>
                <a:sym typeface="Arial"/>
              </a:rPr>
              <a:t>1)</a:t>
            </a:r>
            <a:r>
              <a:rPr lang="es-ES" sz="1300" kern="0" dirty="0">
                <a:solidFill>
                  <a:srgbClr val="FF0000"/>
                </a:solidFill>
                <a:latin typeface="Santander Text" panose="020B0504020201020104" pitchFamily="34" charset="77"/>
                <a:ea typeface="Verdana" panose="020B0604030504040204" pitchFamily="34" charset="0"/>
                <a:cs typeface="Verdana" panose="020B0604030504040204" pitchFamily="34" charset="0"/>
                <a:sym typeface="Arial"/>
              </a:rPr>
              <a:t> </a:t>
            </a: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El administrador accederá a la aplicación directamente con la URL de la aplicación. Una vez dentro, podrá consultar y gestionar los archivos de registro abiertos por los clientes. La aplicación también tiene servicios que están programados en control-m para ejecutarse periódicamente</a:t>
            </a:r>
          </a:p>
        </p:txBody>
      </p:sp>
      <p:sp>
        <p:nvSpPr>
          <p:cNvPr id="9" name="Rounded Rectangle 11">
            <a:extLst>
              <a:ext uri="{FF2B5EF4-FFF2-40B4-BE49-F238E27FC236}">
                <a16:creationId xmlns:a16="http://schemas.microsoft.com/office/drawing/2014/main" id="{7779E0F1-FE43-4EBE-ACFC-2F9A86094181}"/>
              </a:ext>
            </a:extLst>
          </p:cNvPr>
          <p:cNvSpPr/>
          <p:nvPr/>
        </p:nvSpPr>
        <p:spPr>
          <a:xfrm>
            <a:off x="3937194" y="1756624"/>
            <a:ext cx="1797804" cy="991892"/>
          </a:xfrm>
          <a:prstGeom prst="roundRect">
            <a:avLst/>
          </a:prstGeom>
          <a:solidFill>
            <a:srgbClr val="8F8F8F">
              <a:lumOff val="44000"/>
            </a:srgbClr>
          </a:solidFill>
          <a:ln w="25400" cap="flat">
            <a:solidFill>
              <a:srgbClr val="E75353">
                <a:lumMod val="50000"/>
              </a:srgbClr>
            </a:solidFill>
            <a:prstDash val="solid"/>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lang="en-GB" sz="1500" kern="0" dirty="0">
                <a:solidFill>
                  <a:srgbClr val="E75353">
                    <a:lumMod val="50000"/>
                  </a:srgbClr>
                </a:solidFill>
                <a:latin typeface="Santander Text" panose="020B0504020201020104" pitchFamily="34" charset="77"/>
                <a:ea typeface="Arial"/>
                <a:cs typeface="Arial"/>
                <a:sym typeface="Arial"/>
              </a:rPr>
              <a:t>PaaS </a:t>
            </a:r>
            <a:r>
              <a:rPr lang="en-GB" sz="1500" kern="0" dirty="0" err="1">
                <a:solidFill>
                  <a:srgbClr val="E75353">
                    <a:lumMod val="50000"/>
                  </a:srgbClr>
                </a:solidFill>
                <a:latin typeface="Santander Text" panose="020B0504020201020104" pitchFamily="34" charset="77"/>
                <a:ea typeface="Arial"/>
                <a:cs typeface="Arial"/>
                <a:sym typeface="Arial"/>
              </a:rPr>
              <a:t>Hagase</a:t>
            </a:r>
            <a:r>
              <a:rPr lang="en-GB" sz="1500" kern="0" dirty="0">
                <a:solidFill>
                  <a:srgbClr val="E75353">
                    <a:lumMod val="50000"/>
                  </a:srgbClr>
                </a:solidFill>
                <a:latin typeface="Santander Text" panose="020B0504020201020104" pitchFamily="34" charset="77"/>
                <a:ea typeface="Arial"/>
                <a:cs typeface="Arial"/>
                <a:sym typeface="Arial"/>
              </a:rPr>
              <a:t> Cliente</a:t>
            </a:r>
            <a:endParaRPr kumimoji="0" lang="en-GB" sz="15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endParaRPr>
          </a:p>
        </p:txBody>
      </p:sp>
      <p:sp>
        <p:nvSpPr>
          <p:cNvPr id="10" name="Rounded Rectangle 29">
            <a:extLst>
              <a:ext uri="{FF2B5EF4-FFF2-40B4-BE49-F238E27FC236}">
                <a16:creationId xmlns:a16="http://schemas.microsoft.com/office/drawing/2014/main" id="{6F5F14A8-EFC5-4F3A-9810-29D5D3FAAA0B}"/>
              </a:ext>
            </a:extLst>
          </p:cNvPr>
          <p:cNvSpPr/>
          <p:nvPr/>
        </p:nvSpPr>
        <p:spPr>
          <a:xfrm>
            <a:off x="3241804" y="1323778"/>
            <a:ext cx="5161967" cy="2070689"/>
          </a:xfrm>
          <a:prstGeom prst="roundRect">
            <a:avLst>
              <a:gd name="adj" fmla="val 7308"/>
            </a:avLst>
          </a:prstGeom>
          <a:noFill/>
          <a:ln w="3175" cap="flat">
            <a:solidFill>
              <a:srgbClr val="E75353">
                <a:lumMod val="50000"/>
              </a:srgbClr>
            </a:solidFill>
            <a:prstDash val="dash"/>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500"/>
              </a:spcBef>
              <a:spcAft>
                <a:spcPts val="0"/>
              </a:spcAft>
              <a:buClrTx/>
              <a:buSzTx/>
              <a:buFontTx/>
              <a:buNone/>
              <a:tabLst/>
              <a:defRPr/>
            </a:pPr>
            <a:endParaRPr kumimoji="0" lang="en-GB" sz="1400" b="0" i="0" u="none" strike="noStrike" kern="0" cap="none" spc="0" normalizeH="0" baseline="0" noProof="0" dirty="0">
              <a:ln>
                <a:noFill/>
              </a:ln>
              <a:solidFill>
                <a:srgbClr val="E75353">
                  <a:lumMod val="50000"/>
                </a:srgbClr>
              </a:solidFill>
              <a:effectLst/>
              <a:uLnTx/>
              <a:uFillTx/>
              <a:latin typeface="Arial"/>
              <a:ea typeface="Arial"/>
              <a:cs typeface="Arial"/>
              <a:sym typeface="Arial"/>
            </a:endParaRPr>
          </a:p>
        </p:txBody>
      </p:sp>
      <p:sp>
        <p:nvSpPr>
          <p:cNvPr id="11" name="TextBox 35">
            <a:extLst>
              <a:ext uri="{FF2B5EF4-FFF2-40B4-BE49-F238E27FC236}">
                <a16:creationId xmlns:a16="http://schemas.microsoft.com/office/drawing/2014/main" id="{1C839B1D-26A7-403B-970F-E0625143749C}"/>
              </a:ext>
            </a:extLst>
          </p:cNvPr>
          <p:cNvSpPr txBox="1"/>
          <p:nvPr/>
        </p:nvSpPr>
        <p:spPr>
          <a:xfrm>
            <a:off x="4296900" y="3720553"/>
            <a:ext cx="3401477" cy="1692771"/>
          </a:xfrm>
          <a:prstGeom prst="rect">
            <a:avLst/>
          </a:prstGeom>
          <a:noFill/>
        </p:spPr>
        <p:txBody>
          <a:bodyPr wrap="square" rtlCol="0">
            <a:spAutoFit/>
          </a:bodyPr>
          <a:lstStyle/>
          <a:p>
            <a:pPr marL="228600" lvl="0" indent="-228600" hangingPunct="0">
              <a:spcBef>
                <a:spcPts val="600"/>
              </a:spcBef>
              <a:spcAft>
                <a:spcPts val="600"/>
              </a:spcAft>
              <a:buClr>
                <a:srgbClr val="E75353">
                  <a:lumMod val="50000"/>
                </a:srgbClr>
              </a:buClr>
              <a:buFont typeface="+mj-lt"/>
              <a:buAutoNum type="arabicParenR" startAt="2"/>
              <a:defRPr/>
            </a:pP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Para cubrir la funcionalidad de la aplicación, se expondrá un </a:t>
            </a:r>
            <a:r>
              <a:rPr lang="es-ES" sz="1300" kern="0" dirty="0" err="1">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gateway</a:t>
            </a: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 web en PaaS que cubrirá todos los servicios utilizados desde la aplicación. Estos servicios pueden estar en los microservicios de la aplicación o en la puerta de enlace web de otras aplicaciones.</a:t>
            </a:r>
            <a:endParaRPr kumimoji="0" lang="en-GB" sz="1300" b="0" i="0" u="none" strike="noStrike" kern="0" cap="none" spc="0" normalizeH="0" baseline="0" noProof="0" dirty="0">
              <a:ln>
                <a:noFill/>
              </a:ln>
              <a:solidFill>
                <a:srgbClr val="000000">
                  <a:lumMod val="65000"/>
                  <a:lumOff val="35000"/>
                </a:srgbClr>
              </a:solidFill>
              <a:effectLst/>
              <a:uLnTx/>
              <a:uFillTx/>
              <a:latin typeface="Santander Text" panose="020B0504020201020104" pitchFamily="34" charset="77"/>
              <a:ea typeface="Verdana" panose="020B0604030504040204" pitchFamily="34" charset="0"/>
              <a:cs typeface="Verdana" panose="020B0604030504040204" pitchFamily="34" charset="0"/>
              <a:sym typeface="Arial"/>
            </a:endParaRPr>
          </a:p>
        </p:txBody>
      </p:sp>
      <p:sp>
        <p:nvSpPr>
          <p:cNvPr id="12" name="TextBox 53">
            <a:extLst>
              <a:ext uri="{FF2B5EF4-FFF2-40B4-BE49-F238E27FC236}">
                <a16:creationId xmlns:a16="http://schemas.microsoft.com/office/drawing/2014/main" id="{052E2E29-51E8-4F67-8428-67C151D28E88}"/>
              </a:ext>
            </a:extLst>
          </p:cNvPr>
          <p:cNvSpPr txBox="1"/>
          <p:nvPr/>
        </p:nvSpPr>
        <p:spPr>
          <a:xfrm>
            <a:off x="7957716" y="3436316"/>
            <a:ext cx="4234284" cy="2492990"/>
          </a:xfrm>
          <a:prstGeom prst="rect">
            <a:avLst/>
          </a:prstGeom>
          <a:noFill/>
        </p:spPr>
        <p:txBody>
          <a:bodyPr wrap="square" rtlCol="0">
            <a:spAutoFit/>
          </a:bodyPr>
          <a:lstStyle/>
          <a:p>
            <a:pPr marL="228600" lvl="0" indent="-228600" hangingPunct="0">
              <a:spcBef>
                <a:spcPts val="600"/>
              </a:spcBef>
              <a:spcAft>
                <a:spcPts val="600"/>
              </a:spcAft>
              <a:buClr>
                <a:srgbClr val="E75353">
                  <a:lumMod val="50000"/>
                </a:srgbClr>
              </a:buClr>
              <a:buFont typeface="+mj-lt"/>
              <a:buAutoNum type="arabicParenR" startAt="3"/>
              <a:defRPr/>
            </a:pP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La aplicación se comunicará con otras aplicaciones como BDP (para consulta, registro, modificación o cancelación de nuevas personas), PCAS (para registro de tarjeta), envío de SMS, envío de correos electrónicos, LDAP (por seguridad por aplicación de token de usuario y usuario registrado en el aplicación, Hipoteca Digital (informar al cliente y registro de cuenta), ADN360 (para consultar las cuentas de un cliente), banca electrónica (para consulta, registro y cancelación de </a:t>
            </a:r>
            <a:r>
              <a:rPr lang="es-ES" sz="1300" kern="0" dirty="0" err="1">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cmc</a:t>
            </a: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 .Se comunicará vía internet con un servicio expuesto por la empresa Confirma y con el servicio de localización de oficinas.</a:t>
            </a:r>
            <a:endParaRPr kumimoji="0" lang="en-GB" sz="1300" b="0" i="0" u="none" strike="noStrike" kern="0" cap="none" spc="0" normalizeH="0" baseline="0" noProof="0" dirty="0">
              <a:ln>
                <a:noFill/>
              </a:ln>
              <a:solidFill>
                <a:srgbClr val="000000">
                  <a:lumMod val="65000"/>
                  <a:lumOff val="35000"/>
                </a:srgbClr>
              </a:solidFill>
              <a:effectLst/>
              <a:uLnTx/>
              <a:uFillTx/>
              <a:latin typeface="Santander Text" panose="020B0504020201020104" pitchFamily="34" charset="77"/>
              <a:ea typeface="Verdana" panose="020B0604030504040204" pitchFamily="34" charset="0"/>
              <a:cs typeface="Verdana" panose="020B0604030504040204" pitchFamily="34" charset="0"/>
              <a:sym typeface="Arial"/>
            </a:endParaRPr>
          </a:p>
        </p:txBody>
      </p:sp>
      <p:cxnSp>
        <p:nvCxnSpPr>
          <p:cNvPr id="13" name="Straight Arrow Connector 32">
            <a:extLst>
              <a:ext uri="{FF2B5EF4-FFF2-40B4-BE49-F238E27FC236}">
                <a16:creationId xmlns:a16="http://schemas.microsoft.com/office/drawing/2014/main" id="{A6DC220E-D4A4-4ACB-94AB-7C9D3112E4F3}"/>
              </a:ext>
            </a:extLst>
          </p:cNvPr>
          <p:cNvCxnSpPr>
            <a:cxnSpLocks/>
            <a:stCxn id="9" idx="3"/>
          </p:cNvCxnSpPr>
          <p:nvPr/>
        </p:nvCxnSpPr>
        <p:spPr>
          <a:xfrm flipV="1">
            <a:off x="5734998" y="2243517"/>
            <a:ext cx="3346451" cy="9053"/>
          </a:xfrm>
          <a:prstGeom prst="straightConnector1">
            <a:avLst/>
          </a:prstGeom>
          <a:noFill/>
          <a:ln w="25400" cap="flat">
            <a:solidFill>
              <a:srgbClr val="E75353">
                <a:lumMod val="50000"/>
              </a:srgbClr>
            </a:solidFill>
            <a:prstDash val="solid"/>
            <a:round/>
            <a:tailEnd type="triangle"/>
          </a:ln>
          <a:effectLst/>
          <a:sp3d/>
        </p:spPr>
      </p:cxnSp>
      <p:cxnSp>
        <p:nvCxnSpPr>
          <p:cNvPr id="15" name="Straight Arrow Connector 32">
            <a:extLst>
              <a:ext uri="{FF2B5EF4-FFF2-40B4-BE49-F238E27FC236}">
                <a16:creationId xmlns:a16="http://schemas.microsoft.com/office/drawing/2014/main" id="{25DCE63E-B285-4FD4-B93C-1AF86E4B9973}"/>
              </a:ext>
            </a:extLst>
          </p:cNvPr>
          <p:cNvCxnSpPr>
            <a:cxnSpLocks/>
            <a:endCxn id="9" idx="1"/>
          </p:cNvCxnSpPr>
          <p:nvPr/>
        </p:nvCxnSpPr>
        <p:spPr>
          <a:xfrm>
            <a:off x="2256423" y="2252570"/>
            <a:ext cx="1680771" cy="0"/>
          </a:xfrm>
          <a:prstGeom prst="straightConnector1">
            <a:avLst/>
          </a:prstGeom>
          <a:noFill/>
          <a:ln w="25400" cap="flat">
            <a:solidFill>
              <a:srgbClr val="E75353">
                <a:lumMod val="50000"/>
              </a:srgbClr>
            </a:solidFill>
            <a:prstDash val="solid"/>
            <a:round/>
            <a:tailEnd type="triangle"/>
          </a:ln>
          <a:effectLst/>
          <a:sp3d/>
        </p:spPr>
      </p:cxnSp>
      <p:sp>
        <p:nvSpPr>
          <p:cNvPr id="16" name="Rectángulo 15">
            <a:extLst>
              <a:ext uri="{FF2B5EF4-FFF2-40B4-BE49-F238E27FC236}">
                <a16:creationId xmlns:a16="http://schemas.microsoft.com/office/drawing/2014/main" id="{EC272A85-CCAA-4F77-854A-21562C2EEDAA}"/>
              </a:ext>
            </a:extLst>
          </p:cNvPr>
          <p:cNvSpPr/>
          <p:nvPr/>
        </p:nvSpPr>
        <p:spPr>
          <a:xfrm>
            <a:off x="754638" y="1651545"/>
            <a:ext cx="1523584" cy="1057051"/>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18">
            <a:extLst>
              <a:ext uri="{FF2B5EF4-FFF2-40B4-BE49-F238E27FC236}">
                <a16:creationId xmlns:a16="http://schemas.microsoft.com/office/drawing/2014/main" id="{3E39286E-AC70-439F-9B72-70F118947387}"/>
              </a:ext>
            </a:extLst>
          </p:cNvPr>
          <p:cNvSpPr/>
          <p:nvPr/>
        </p:nvSpPr>
        <p:spPr>
          <a:xfrm>
            <a:off x="601122" y="2769194"/>
            <a:ext cx="1691489" cy="369332"/>
          </a:xfrm>
          <a:prstGeom prst="rect">
            <a:avLst/>
          </a:prstGeom>
        </p:spPr>
        <p:txBody>
          <a:bodyPr wrap="none">
            <a:spAutoFit/>
          </a:bodyPr>
          <a:lstStyle/>
          <a:p>
            <a:r>
              <a:rPr lang="it-IT"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Backoffice User</a:t>
            </a:r>
            <a:endParaRPr lang="es-ES" dirty="0"/>
          </a:p>
        </p:txBody>
      </p:sp>
      <p:sp>
        <p:nvSpPr>
          <p:cNvPr id="21" name="CuadroTexto 20">
            <a:extLst>
              <a:ext uri="{FF2B5EF4-FFF2-40B4-BE49-F238E27FC236}">
                <a16:creationId xmlns:a16="http://schemas.microsoft.com/office/drawing/2014/main" id="{D39E14F5-BDEC-4E49-B7A4-7CA6212BB7EA}"/>
              </a:ext>
            </a:extLst>
          </p:cNvPr>
          <p:cNvSpPr txBox="1"/>
          <p:nvPr/>
        </p:nvSpPr>
        <p:spPr>
          <a:xfrm>
            <a:off x="9710982" y="221991"/>
            <a:ext cx="1083951"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OnPremise</a:t>
            </a:r>
          </a:p>
        </p:txBody>
      </p:sp>
      <p:grpSp>
        <p:nvGrpSpPr>
          <p:cNvPr id="22" name="Grupo 21">
            <a:extLst>
              <a:ext uri="{FF2B5EF4-FFF2-40B4-BE49-F238E27FC236}">
                <a16:creationId xmlns:a16="http://schemas.microsoft.com/office/drawing/2014/main" id="{B13CBF2A-734D-4C74-8AAA-85CB4FD5D7D4}"/>
              </a:ext>
            </a:extLst>
          </p:cNvPr>
          <p:cNvGrpSpPr/>
          <p:nvPr/>
        </p:nvGrpSpPr>
        <p:grpSpPr>
          <a:xfrm>
            <a:off x="1025317" y="1892551"/>
            <a:ext cx="526776" cy="531504"/>
            <a:chOff x="462817" y="1815774"/>
            <a:chExt cx="804892" cy="727689"/>
          </a:xfrm>
        </p:grpSpPr>
        <p:pic>
          <p:nvPicPr>
            <p:cNvPr id="23" name="Picture 84">
              <a:extLst>
                <a:ext uri="{FF2B5EF4-FFF2-40B4-BE49-F238E27FC236}">
                  <a16:creationId xmlns:a16="http://schemas.microsoft.com/office/drawing/2014/main" id="{DB2DD9DD-2BE6-475C-92E7-1F09492804B7}"/>
                </a:ext>
              </a:extLst>
            </p:cNvPr>
            <p:cNvPicPr>
              <a:picLocks noChangeAspect="1"/>
            </p:cNvPicPr>
            <p:nvPr/>
          </p:nvPicPr>
          <p:blipFill>
            <a:blip r:embed="rId3"/>
            <a:stretch>
              <a:fillRect/>
            </a:stretch>
          </p:blipFill>
          <p:spPr>
            <a:xfrm>
              <a:off x="462817" y="1815774"/>
              <a:ext cx="804892" cy="727689"/>
            </a:xfrm>
            <a:prstGeom prst="rect">
              <a:avLst/>
            </a:prstGeom>
          </p:spPr>
        </p:pic>
        <p:pic>
          <p:nvPicPr>
            <p:cNvPr id="24" name="Imagen 23">
              <a:extLst>
                <a:ext uri="{FF2B5EF4-FFF2-40B4-BE49-F238E27FC236}">
                  <a16:creationId xmlns:a16="http://schemas.microsoft.com/office/drawing/2014/main" id="{45905B7F-165D-4A1A-848D-12B8A175C39E}"/>
                </a:ext>
              </a:extLst>
            </p:cNvPr>
            <p:cNvPicPr>
              <a:picLocks noChangeAspect="1"/>
            </p:cNvPicPr>
            <p:nvPr/>
          </p:nvPicPr>
          <p:blipFill>
            <a:blip r:embed="rId4"/>
            <a:stretch>
              <a:fillRect/>
            </a:stretch>
          </p:blipFill>
          <p:spPr>
            <a:xfrm>
              <a:off x="749699" y="1995541"/>
              <a:ext cx="257114" cy="252603"/>
            </a:xfrm>
            <a:prstGeom prst="rect">
              <a:avLst/>
            </a:prstGeom>
          </p:spPr>
        </p:pic>
      </p:grpSp>
      <p:pic>
        <p:nvPicPr>
          <p:cNvPr id="25" name="Imagen 24">
            <a:extLst>
              <a:ext uri="{FF2B5EF4-FFF2-40B4-BE49-F238E27FC236}">
                <a16:creationId xmlns:a16="http://schemas.microsoft.com/office/drawing/2014/main" id="{DD64C2EF-362B-4FF7-A8AA-A089893533E6}"/>
              </a:ext>
            </a:extLst>
          </p:cNvPr>
          <p:cNvPicPr>
            <a:picLocks noChangeAspect="1"/>
          </p:cNvPicPr>
          <p:nvPr/>
        </p:nvPicPr>
        <p:blipFill>
          <a:blip r:embed="rId5"/>
          <a:stretch>
            <a:fillRect/>
          </a:stretch>
        </p:blipFill>
        <p:spPr>
          <a:xfrm>
            <a:off x="1171840" y="1980550"/>
            <a:ext cx="233731" cy="236000"/>
          </a:xfrm>
          <a:prstGeom prst="rect">
            <a:avLst/>
          </a:prstGeom>
        </p:spPr>
      </p:pic>
      <p:sp>
        <p:nvSpPr>
          <p:cNvPr id="26" name="CuadroTexto 25">
            <a:extLst>
              <a:ext uri="{FF2B5EF4-FFF2-40B4-BE49-F238E27FC236}">
                <a16:creationId xmlns:a16="http://schemas.microsoft.com/office/drawing/2014/main" id="{1A20E16F-BFB1-44BD-95AD-321BB51CBA33}"/>
              </a:ext>
            </a:extLst>
          </p:cNvPr>
          <p:cNvSpPr txBox="1"/>
          <p:nvPr/>
        </p:nvSpPr>
        <p:spPr>
          <a:xfrm>
            <a:off x="5158947" y="973589"/>
            <a:ext cx="987771"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PaaS OHE</a:t>
            </a:r>
          </a:p>
        </p:txBody>
      </p:sp>
      <p:cxnSp>
        <p:nvCxnSpPr>
          <p:cNvPr id="27" name="Straight Arrow Connector 32">
            <a:extLst>
              <a:ext uri="{FF2B5EF4-FFF2-40B4-BE49-F238E27FC236}">
                <a16:creationId xmlns:a16="http://schemas.microsoft.com/office/drawing/2014/main" id="{5258E9DF-BE83-4E19-904B-0A0DD763DAF2}"/>
              </a:ext>
            </a:extLst>
          </p:cNvPr>
          <p:cNvCxnSpPr>
            <a:cxnSpLocks/>
            <a:endCxn id="28" idx="1"/>
          </p:cNvCxnSpPr>
          <p:nvPr/>
        </p:nvCxnSpPr>
        <p:spPr>
          <a:xfrm flipV="1">
            <a:off x="5734997" y="1011247"/>
            <a:ext cx="3499645" cy="953306"/>
          </a:xfrm>
          <a:prstGeom prst="straightConnector1">
            <a:avLst/>
          </a:prstGeom>
          <a:noFill/>
          <a:ln w="25400" cap="flat">
            <a:solidFill>
              <a:srgbClr val="E75353">
                <a:lumMod val="50000"/>
              </a:srgbClr>
            </a:solidFill>
            <a:prstDash val="solid"/>
            <a:round/>
            <a:tailEnd type="triangle"/>
          </a:ln>
          <a:effectLst/>
          <a:sp3d/>
        </p:spPr>
      </p:cxnSp>
      <p:sp>
        <p:nvSpPr>
          <p:cNvPr id="28" name="Rounded Rectangle 11">
            <a:extLst>
              <a:ext uri="{FF2B5EF4-FFF2-40B4-BE49-F238E27FC236}">
                <a16:creationId xmlns:a16="http://schemas.microsoft.com/office/drawing/2014/main" id="{F78BB2D8-A886-48EE-B822-FBF6295B6041}"/>
              </a:ext>
            </a:extLst>
          </p:cNvPr>
          <p:cNvSpPr/>
          <p:nvPr/>
        </p:nvSpPr>
        <p:spPr>
          <a:xfrm>
            <a:off x="9234642" y="651247"/>
            <a:ext cx="2340000" cy="720000"/>
          </a:xfrm>
          <a:prstGeom prst="roundRect">
            <a:avLst/>
          </a:prstGeom>
          <a:solidFill>
            <a:srgbClr val="8F8F8F">
              <a:lumOff val="44000"/>
            </a:srgbClr>
          </a:solidFill>
          <a:ln w="25400" cap="flat">
            <a:solidFill>
              <a:srgbClr val="E75353">
                <a:lumMod val="50000"/>
              </a:srgbClr>
            </a:solidFill>
            <a:prstDash val="solid"/>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kumimoji="0" lang="en-GB" sz="1100" b="0" i="0" u="none" strike="noStrike" kern="0" cap="none" spc="0" normalizeH="0" baseline="0" noProof="0" dirty="0" err="1">
                <a:ln>
                  <a:noFill/>
                </a:ln>
                <a:solidFill>
                  <a:srgbClr val="E75353">
                    <a:lumMod val="50000"/>
                  </a:srgbClr>
                </a:solidFill>
                <a:effectLst/>
                <a:uLnTx/>
                <a:uFillTx/>
                <a:latin typeface="Santander Text" panose="020B0504020201020104" pitchFamily="34" charset="77"/>
                <a:ea typeface="Arial"/>
                <a:cs typeface="Arial"/>
                <a:sym typeface="Arial"/>
              </a:rPr>
              <a:t>Estructurales</a:t>
            </a:r>
            <a:r>
              <a:rPr kumimoji="0" lang="en-GB" sz="11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rPr>
              <a:t> (BDP / PCAS / SMS / emails / LDAP / </a:t>
            </a:r>
            <a:r>
              <a:rPr kumimoji="0" lang="en-GB" sz="1100" b="0" i="0" u="none" strike="noStrike" kern="0" cap="none" spc="0" normalizeH="0" baseline="0" noProof="0" dirty="0" err="1">
                <a:ln>
                  <a:noFill/>
                </a:ln>
                <a:solidFill>
                  <a:srgbClr val="E75353">
                    <a:lumMod val="50000"/>
                  </a:srgbClr>
                </a:solidFill>
                <a:effectLst/>
                <a:uLnTx/>
                <a:uFillTx/>
                <a:latin typeface="Santander Text" panose="020B0504020201020104" pitchFamily="34" charset="77"/>
                <a:ea typeface="Arial"/>
                <a:cs typeface="Arial"/>
                <a:sym typeface="Arial"/>
              </a:rPr>
              <a:t>Hipoteca</a:t>
            </a:r>
            <a:r>
              <a:rPr kumimoji="0" lang="en-GB" sz="11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rPr>
              <a:t> Digital / ADN360 /  Banca electronica </a:t>
            </a:r>
          </a:p>
        </p:txBody>
      </p:sp>
      <p:sp>
        <p:nvSpPr>
          <p:cNvPr id="29" name="Rounded Rectangle 11">
            <a:extLst>
              <a:ext uri="{FF2B5EF4-FFF2-40B4-BE49-F238E27FC236}">
                <a16:creationId xmlns:a16="http://schemas.microsoft.com/office/drawing/2014/main" id="{52E6619B-376F-4BF5-90EB-340BFFAA31E9}"/>
              </a:ext>
            </a:extLst>
          </p:cNvPr>
          <p:cNvSpPr/>
          <p:nvPr/>
        </p:nvSpPr>
        <p:spPr>
          <a:xfrm>
            <a:off x="9081449" y="1883517"/>
            <a:ext cx="2340000" cy="720000"/>
          </a:xfrm>
          <a:prstGeom prst="roundRect">
            <a:avLst/>
          </a:prstGeom>
          <a:solidFill>
            <a:srgbClr val="8F8F8F">
              <a:lumOff val="44000"/>
            </a:srgbClr>
          </a:solidFill>
          <a:ln w="25400" cap="flat">
            <a:solidFill>
              <a:srgbClr val="E75353">
                <a:lumMod val="50000"/>
              </a:srgbClr>
            </a:solidFill>
            <a:prstDash val="solid"/>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lang="en-GB" sz="1500" kern="0" dirty="0" err="1">
                <a:solidFill>
                  <a:srgbClr val="E75353">
                    <a:lumMod val="50000"/>
                  </a:srgbClr>
                </a:solidFill>
                <a:latin typeface="Santander Text" panose="020B0504020201020104" pitchFamily="34" charset="77"/>
                <a:ea typeface="Arial"/>
                <a:cs typeface="Arial"/>
                <a:sym typeface="Arial"/>
              </a:rPr>
              <a:t>Confirma</a:t>
            </a:r>
            <a:r>
              <a:rPr lang="en-GB" sz="1500" kern="0" dirty="0">
                <a:solidFill>
                  <a:srgbClr val="E75353">
                    <a:lumMod val="50000"/>
                  </a:srgbClr>
                </a:solidFill>
                <a:latin typeface="Santander Text" panose="020B0504020201020104" pitchFamily="34" charset="77"/>
                <a:ea typeface="Arial"/>
                <a:cs typeface="Arial"/>
                <a:sym typeface="Arial"/>
              </a:rPr>
              <a:t> / Servicio </a:t>
            </a:r>
            <a:r>
              <a:rPr lang="en-GB" sz="1500" kern="0" dirty="0" err="1">
                <a:solidFill>
                  <a:srgbClr val="E75353">
                    <a:lumMod val="50000"/>
                  </a:srgbClr>
                </a:solidFill>
                <a:latin typeface="Santander Text" panose="020B0504020201020104" pitchFamily="34" charset="77"/>
                <a:ea typeface="Arial"/>
                <a:cs typeface="Arial"/>
                <a:sym typeface="Arial"/>
              </a:rPr>
              <a:t>localizador</a:t>
            </a:r>
            <a:r>
              <a:rPr lang="en-GB" sz="1500" kern="0" dirty="0">
                <a:solidFill>
                  <a:srgbClr val="E75353">
                    <a:lumMod val="50000"/>
                  </a:srgbClr>
                </a:solidFill>
                <a:latin typeface="Santander Text" panose="020B0504020201020104" pitchFamily="34" charset="77"/>
                <a:ea typeface="Arial"/>
                <a:cs typeface="Arial"/>
                <a:sym typeface="Arial"/>
              </a:rPr>
              <a:t> de </a:t>
            </a:r>
            <a:r>
              <a:rPr lang="en-GB" sz="1500" kern="0" dirty="0" err="1">
                <a:solidFill>
                  <a:srgbClr val="E75353">
                    <a:lumMod val="50000"/>
                  </a:srgbClr>
                </a:solidFill>
                <a:latin typeface="Santander Text" panose="020B0504020201020104" pitchFamily="34" charset="77"/>
                <a:ea typeface="Arial"/>
                <a:cs typeface="Arial"/>
                <a:sym typeface="Arial"/>
              </a:rPr>
              <a:t>oficinas</a:t>
            </a:r>
            <a:endParaRPr kumimoji="0" lang="en-GB" sz="15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endParaRPr>
          </a:p>
        </p:txBody>
      </p:sp>
      <p:sp>
        <p:nvSpPr>
          <p:cNvPr id="30" name="CuadroTexto 29">
            <a:extLst>
              <a:ext uri="{FF2B5EF4-FFF2-40B4-BE49-F238E27FC236}">
                <a16:creationId xmlns:a16="http://schemas.microsoft.com/office/drawing/2014/main" id="{464B298D-C527-41C8-A097-1CCED116DEA3}"/>
              </a:ext>
            </a:extLst>
          </p:cNvPr>
          <p:cNvSpPr txBox="1"/>
          <p:nvPr/>
        </p:nvSpPr>
        <p:spPr>
          <a:xfrm>
            <a:off x="9690317" y="1434282"/>
            <a:ext cx="838691"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Internet</a:t>
            </a:r>
          </a:p>
        </p:txBody>
      </p:sp>
      <p:sp>
        <p:nvSpPr>
          <p:cNvPr id="31" name="CuadroTexto 30">
            <a:extLst>
              <a:ext uri="{FF2B5EF4-FFF2-40B4-BE49-F238E27FC236}">
                <a16:creationId xmlns:a16="http://schemas.microsoft.com/office/drawing/2014/main" id="{CDD2E659-FFEC-4C83-99AB-BB98654E0147}"/>
              </a:ext>
            </a:extLst>
          </p:cNvPr>
          <p:cNvSpPr txBox="1"/>
          <p:nvPr/>
        </p:nvSpPr>
        <p:spPr>
          <a:xfrm>
            <a:off x="1171840" y="1321225"/>
            <a:ext cx="837089"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Intranet</a:t>
            </a:r>
          </a:p>
        </p:txBody>
      </p:sp>
    </p:spTree>
    <p:extLst>
      <p:ext uri="{BB962C8B-B14F-4D97-AF65-F5344CB8AC3E}">
        <p14:creationId xmlns:p14="http://schemas.microsoft.com/office/powerpoint/2010/main" val="2618461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1">
            <a:extLst>
              <a:ext uri="{FF2B5EF4-FFF2-40B4-BE49-F238E27FC236}">
                <a16:creationId xmlns:a16="http://schemas.microsoft.com/office/drawing/2014/main" id="{2CB16042-784F-4E4B-913D-87F8DD5D73DE}"/>
              </a:ext>
            </a:extLst>
          </p:cNvPr>
          <p:cNvSpPr txBox="1">
            <a:spLocks/>
          </p:cNvSpPr>
          <p:nvPr/>
        </p:nvSpPr>
        <p:spPr>
          <a:xfrm>
            <a:off x="556887" y="181527"/>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Descripción funcional proceso HC2.0 (1/2)</a:t>
            </a:r>
          </a:p>
        </p:txBody>
      </p:sp>
      <p:sp>
        <p:nvSpPr>
          <p:cNvPr id="87" name="CuadroTexto 86">
            <a:extLst>
              <a:ext uri="{FF2B5EF4-FFF2-40B4-BE49-F238E27FC236}">
                <a16:creationId xmlns:a16="http://schemas.microsoft.com/office/drawing/2014/main" id="{583969E6-27C4-454C-B7F2-41D8BE2D969B}"/>
              </a:ext>
            </a:extLst>
          </p:cNvPr>
          <p:cNvSpPr txBox="1"/>
          <p:nvPr/>
        </p:nvSpPr>
        <p:spPr>
          <a:xfrm>
            <a:off x="2539940" y="6262753"/>
            <a:ext cx="6571975" cy="307777"/>
          </a:xfrm>
          <a:prstGeom prst="rect">
            <a:avLst/>
          </a:prstGeom>
          <a:noFill/>
        </p:spPr>
        <p:txBody>
          <a:bodyPr wrap="square">
            <a:spAutoFit/>
          </a:bodyPr>
          <a:lstStyle/>
          <a:p>
            <a:r>
              <a:rPr lang="es-ES" sz="14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Se describe todo el proceso funcional  de Onboarding en REF 5  </a:t>
            </a:r>
            <a:endParaRPr lang="es-ES" sz="1400" dirty="0"/>
          </a:p>
        </p:txBody>
      </p:sp>
      <p:pic>
        <p:nvPicPr>
          <p:cNvPr id="3" name="Imagen 2">
            <a:extLst>
              <a:ext uri="{FF2B5EF4-FFF2-40B4-BE49-F238E27FC236}">
                <a16:creationId xmlns:a16="http://schemas.microsoft.com/office/drawing/2014/main" id="{3B419775-BED3-4166-9A96-2A16AEBB90DB}"/>
              </a:ext>
            </a:extLst>
          </p:cNvPr>
          <p:cNvPicPr>
            <a:picLocks noChangeAspect="1"/>
          </p:cNvPicPr>
          <p:nvPr/>
        </p:nvPicPr>
        <p:blipFill>
          <a:blip r:embed="rId2"/>
          <a:stretch>
            <a:fillRect/>
          </a:stretch>
        </p:blipFill>
        <p:spPr>
          <a:xfrm>
            <a:off x="0" y="898358"/>
            <a:ext cx="12040213" cy="5364394"/>
          </a:xfrm>
          <a:prstGeom prst="rect">
            <a:avLst/>
          </a:prstGeom>
        </p:spPr>
      </p:pic>
    </p:spTree>
    <p:extLst>
      <p:ext uri="{BB962C8B-B14F-4D97-AF65-F5344CB8AC3E}">
        <p14:creationId xmlns:p14="http://schemas.microsoft.com/office/powerpoint/2010/main" val="1924239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1">
            <a:extLst>
              <a:ext uri="{FF2B5EF4-FFF2-40B4-BE49-F238E27FC236}">
                <a16:creationId xmlns:a16="http://schemas.microsoft.com/office/drawing/2014/main" id="{2CB16042-784F-4E4B-913D-87F8DD5D73DE}"/>
              </a:ext>
            </a:extLst>
          </p:cNvPr>
          <p:cNvSpPr txBox="1">
            <a:spLocks/>
          </p:cNvSpPr>
          <p:nvPr/>
        </p:nvSpPr>
        <p:spPr>
          <a:xfrm>
            <a:off x="556887" y="181527"/>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Descripción funcional proceso HC2.0 (1/2)</a:t>
            </a:r>
          </a:p>
        </p:txBody>
      </p:sp>
      <p:sp>
        <p:nvSpPr>
          <p:cNvPr id="87" name="CuadroTexto 86">
            <a:extLst>
              <a:ext uri="{FF2B5EF4-FFF2-40B4-BE49-F238E27FC236}">
                <a16:creationId xmlns:a16="http://schemas.microsoft.com/office/drawing/2014/main" id="{583969E6-27C4-454C-B7F2-41D8BE2D969B}"/>
              </a:ext>
            </a:extLst>
          </p:cNvPr>
          <p:cNvSpPr txBox="1"/>
          <p:nvPr/>
        </p:nvSpPr>
        <p:spPr>
          <a:xfrm>
            <a:off x="2539940" y="6262753"/>
            <a:ext cx="6571975" cy="307777"/>
          </a:xfrm>
          <a:prstGeom prst="rect">
            <a:avLst/>
          </a:prstGeom>
          <a:noFill/>
        </p:spPr>
        <p:txBody>
          <a:bodyPr wrap="square">
            <a:spAutoFit/>
          </a:bodyPr>
          <a:lstStyle/>
          <a:p>
            <a:r>
              <a:rPr lang="es-ES" sz="14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Se describe todo el proceso funcional  de Onboarding en REF 5  </a:t>
            </a:r>
            <a:endParaRPr lang="es-ES" sz="1400" dirty="0"/>
          </a:p>
        </p:txBody>
      </p:sp>
      <p:pic>
        <p:nvPicPr>
          <p:cNvPr id="4" name="Imagen 3">
            <a:extLst>
              <a:ext uri="{FF2B5EF4-FFF2-40B4-BE49-F238E27FC236}">
                <a16:creationId xmlns:a16="http://schemas.microsoft.com/office/drawing/2014/main" id="{50F95827-940F-49F1-8704-3BB4FBFDF86D}"/>
              </a:ext>
            </a:extLst>
          </p:cNvPr>
          <p:cNvPicPr>
            <a:picLocks noChangeAspect="1"/>
          </p:cNvPicPr>
          <p:nvPr/>
        </p:nvPicPr>
        <p:blipFill>
          <a:blip r:embed="rId2"/>
          <a:stretch>
            <a:fillRect/>
          </a:stretch>
        </p:blipFill>
        <p:spPr>
          <a:xfrm>
            <a:off x="272716" y="461963"/>
            <a:ext cx="11767498" cy="5682164"/>
          </a:xfrm>
          <a:prstGeom prst="rect">
            <a:avLst/>
          </a:prstGeom>
        </p:spPr>
      </p:pic>
      <p:sp>
        <p:nvSpPr>
          <p:cNvPr id="9" name="CuadroTexto 8">
            <a:extLst>
              <a:ext uri="{FF2B5EF4-FFF2-40B4-BE49-F238E27FC236}">
                <a16:creationId xmlns:a16="http://schemas.microsoft.com/office/drawing/2014/main" id="{172C81BE-B24E-45D9-AA81-EBE8E9506657}"/>
              </a:ext>
            </a:extLst>
          </p:cNvPr>
          <p:cNvSpPr txBox="1"/>
          <p:nvPr/>
        </p:nvSpPr>
        <p:spPr>
          <a:xfrm>
            <a:off x="556887" y="337996"/>
            <a:ext cx="6096000" cy="369332"/>
          </a:xfrm>
          <a:prstGeom prst="rect">
            <a:avLst/>
          </a:prstGeom>
          <a:noFill/>
        </p:spPr>
        <p:txBody>
          <a:bodyPr wrap="square">
            <a:spAutoFit/>
          </a:bodyPr>
          <a:lstStyle/>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Descripción funcional proceso HC2.0 (2/2)</a:t>
            </a:r>
          </a:p>
        </p:txBody>
      </p:sp>
    </p:spTree>
    <p:extLst>
      <p:ext uri="{BB962C8B-B14F-4D97-AF65-F5344CB8AC3E}">
        <p14:creationId xmlns:p14="http://schemas.microsoft.com/office/powerpoint/2010/main" val="978346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1">
            <a:extLst>
              <a:ext uri="{FF2B5EF4-FFF2-40B4-BE49-F238E27FC236}">
                <a16:creationId xmlns:a16="http://schemas.microsoft.com/office/drawing/2014/main" id="{2CB16042-784F-4E4B-913D-87F8DD5D73DE}"/>
              </a:ext>
            </a:extLst>
          </p:cNvPr>
          <p:cNvSpPr txBox="1">
            <a:spLocks/>
          </p:cNvSpPr>
          <p:nvPr/>
        </p:nvSpPr>
        <p:spPr>
          <a:xfrm>
            <a:off x="653140" y="406116"/>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Planificación, datos del proyecto</a:t>
            </a:r>
          </a:p>
        </p:txBody>
      </p:sp>
      <p:sp>
        <p:nvSpPr>
          <p:cNvPr id="6" name="Marcador de texto 6">
            <a:extLst>
              <a:ext uri="{FF2B5EF4-FFF2-40B4-BE49-F238E27FC236}">
                <a16:creationId xmlns:a16="http://schemas.microsoft.com/office/drawing/2014/main" id="{580999CC-B2B1-4DFA-816E-1E283D243147}"/>
              </a:ext>
            </a:extLst>
          </p:cNvPr>
          <p:cNvSpPr txBox="1">
            <a:spLocks/>
          </p:cNvSpPr>
          <p:nvPr/>
        </p:nvSpPr>
        <p:spPr>
          <a:xfrm>
            <a:off x="761628" y="1514197"/>
            <a:ext cx="10068594" cy="432555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Nombre: </a:t>
            </a:r>
            <a:r>
              <a:rPr lang="es-ES" sz="1800" dirty="0">
                <a:solidFill>
                  <a:schemeClr val="bg1">
                    <a:lumMod val="50000"/>
                  </a:schemeClr>
                </a:solidFill>
              </a:rPr>
              <a:t>Nuevo </a:t>
            </a:r>
            <a:r>
              <a:rPr lang="es-ES" sz="1800" dirty="0" err="1">
                <a:solidFill>
                  <a:schemeClr val="bg1">
                    <a:lumMod val="50000"/>
                  </a:schemeClr>
                </a:solidFill>
              </a:rPr>
              <a:t>onboarding</a:t>
            </a:r>
            <a:r>
              <a:rPr lang="es-ES" sz="1800" dirty="0">
                <a:solidFill>
                  <a:schemeClr val="bg1">
                    <a:lumMod val="50000"/>
                  </a:schemeClr>
                </a:solidFill>
              </a:rPr>
              <a:t> digital PF – Hazte cliente 2.0</a:t>
            </a: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Metodología / Alcance: </a:t>
            </a:r>
            <a:r>
              <a:rPr lang="es-ES" sz="1800" dirty="0">
                <a:solidFill>
                  <a:schemeClr val="bg1">
                    <a:lumMod val="50000"/>
                  </a:schemeClr>
                </a:solidFill>
              </a:rPr>
              <a:t>Agile</a:t>
            </a: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WXS: </a:t>
            </a:r>
            <a:r>
              <a:rPr lang="es-ES" sz="1800" dirty="0">
                <a:solidFill>
                  <a:schemeClr val="bg1">
                    <a:lumMod val="50000"/>
                  </a:schemeClr>
                </a:solidFill>
              </a:rPr>
              <a:t>https://sanes.atlassian.net/browse/ESPONBOAPF-24</a:t>
            </a: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Iniciativa:  </a:t>
            </a:r>
            <a:r>
              <a:rPr lang="es-ES" sz="1800" dirty="0">
                <a:solidFill>
                  <a:schemeClr val="bg1">
                    <a:lumMod val="50000"/>
                  </a:schemeClr>
                </a:solidFill>
              </a:rPr>
              <a:t>PR - 2021 - Onboarding Digital 2.0 - Hazte cliente</a:t>
            </a: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Área Peticionaria: </a:t>
            </a:r>
            <a:r>
              <a:rPr lang="es-ES" sz="1800" dirty="0">
                <a:solidFill>
                  <a:schemeClr val="bg1">
                    <a:lumMod val="50000"/>
                  </a:schemeClr>
                </a:solidFill>
              </a:rPr>
              <a:t>29120 - Internet y Ventas Digitales</a:t>
            </a: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Dominio: </a:t>
            </a:r>
            <a:r>
              <a:rPr lang="es-ES" sz="1800" dirty="0">
                <a:solidFill>
                  <a:schemeClr val="bg1">
                    <a:lumMod val="50000"/>
                  </a:schemeClr>
                </a:solidFill>
              </a:rPr>
              <a:t>29123 - V. Digitales + </a:t>
            </a:r>
            <a:r>
              <a:rPr lang="es-ES" sz="1800" dirty="0" err="1">
                <a:solidFill>
                  <a:schemeClr val="bg1">
                    <a:lumMod val="50000"/>
                  </a:schemeClr>
                </a:solidFill>
              </a:rPr>
              <a:t>W.Pub</a:t>
            </a:r>
            <a:r>
              <a:rPr lang="es-ES" sz="1800" dirty="0">
                <a:solidFill>
                  <a:schemeClr val="bg1">
                    <a:lumMod val="50000"/>
                  </a:schemeClr>
                </a:solidFill>
              </a:rPr>
              <a:t> + SOFIA</a:t>
            </a: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Responsable Dominio: </a:t>
            </a:r>
            <a:r>
              <a:rPr lang="es-ES" sz="1800" dirty="0">
                <a:solidFill>
                  <a:schemeClr val="bg1">
                    <a:lumMod val="50000"/>
                  </a:schemeClr>
                </a:solidFill>
              </a:rPr>
              <a:t>Cristina </a:t>
            </a:r>
            <a:r>
              <a:rPr lang="es-ES" sz="1800" dirty="0" err="1">
                <a:solidFill>
                  <a:schemeClr val="bg1">
                    <a:lumMod val="50000"/>
                  </a:schemeClr>
                </a:solidFill>
              </a:rPr>
              <a:t>Doñoro</a:t>
            </a:r>
            <a:endParaRPr lang="es-ES" sz="1800" dirty="0">
              <a:solidFill>
                <a:schemeClr val="bg1">
                  <a:lumMod val="50000"/>
                </a:schemeClr>
              </a:solidFill>
            </a:endParaRP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Planificación PRE:  </a:t>
            </a:r>
            <a:r>
              <a:rPr lang="es-ES" sz="1800" dirty="0">
                <a:solidFill>
                  <a:schemeClr val="bg1">
                    <a:lumMod val="50000"/>
                  </a:schemeClr>
                </a:solidFill>
              </a:rPr>
              <a:t>30/09/2021</a:t>
            </a: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Planificación PRO:  </a:t>
            </a:r>
            <a:r>
              <a:rPr lang="es-ES" sz="1800" dirty="0">
                <a:solidFill>
                  <a:schemeClr val="bg1">
                    <a:lumMod val="50000"/>
                  </a:schemeClr>
                </a:solidFill>
              </a:rPr>
              <a:t>30/12/2021</a:t>
            </a:r>
          </a:p>
          <a:p>
            <a:pPr marL="285750" lvl="1" algn="just">
              <a:lnSpc>
                <a:spcPct val="100000"/>
              </a:lnSpc>
              <a:spcBef>
                <a:spcPts val="800"/>
              </a:spcBef>
              <a:buClr>
                <a:srgbClr val="FF0000"/>
              </a:buClr>
              <a:buSzPct val="100000"/>
              <a:tabLst>
                <a:tab pos="990600" algn="l"/>
                <a:tab pos="3225800" algn="l"/>
                <a:tab pos="4127500" algn="l"/>
              </a:tabLst>
              <a:defRPr/>
            </a:pPr>
            <a:endParaRPr lang="es-ES" sz="1800" dirty="0">
              <a:solidFill>
                <a:schemeClr val="bg1">
                  <a:lumMod val="50000"/>
                </a:schemeClr>
              </a:solidFill>
            </a:endParaRPr>
          </a:p>
        </p:txBody>
      </p:sp>
    </p:spTree>
    <p:extLst>
      <p:ext uri="{BB962C8B-B14F-4D97-AF65-F5344CB8AC3E}">
        <p14:creationId xmlns:p14="http://schemas.microsoft.com/office/powerpoint/2010/main" val="3908751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t>Solución técnica</a:t>
            </a:r>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02</a:t>
            </a:r>
          </a:p>
        </p:txBody>
      </p:sp>
    </p:spTree>
    <p:extLst>
      <p:ext uri="{BB962C8B-B14F-4D97-AF65-F5344CB8AC3E}">
        <p14:creationId xmlns:p14="http://schemas.microsoft.com/office/powerpoint/2010/main" val="3049192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esquinas redondeadas 8">
            <a:extLst>
              <a:ext uri="{FF2B5EF4-FFF2-40B4-BE49-F238E27FC236}">
                <a16:creationId xmlns:a16="http://schemas.microsoft.com/office/drawing/2014/main" id="{26E320FC-0F5D-53C8-1A93-98210EA8683E}"/>
              </a:ext>
            </a:extLst>
          </p:cNvPr>
          <p:cNvSpPr/>
          <p:nvPr/>
        </p:nvSpPr>
        <p:spPr>
          <a:xfrm>
            <a:off x="9153958" y="4804035"/>
            <a:ext cx="865013" cy="561565"/>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sp>
        <p:nvSpPr>
          <p:cNvPr id="240" name="Rectángulo: esquinas redondeadas 239">
            <a:extLst>
              <a:ext uri="{FF2B5EF4-FFF2-40B4-BE49-F238E27FC236}">
                <a16:creationId xmlns:a16="http://schemas.microsoft.com/office/drawing/2014/main" id="{1E1ECA8E-3D6A-4876-B2C7-38258C21E2BE}"/>
              </a:ext>
            </a:extLst>
          </p:cNvPr>
          <p:cNvSpPr/>
          <p:nvPr/>
        </p:nvSpPr>
        <p:spPr>
          <a:xfrm>
            <a:off x="6753739" y="6164844"/>
            <a:ext cx="1375989" cy="399068"/>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sp>
        <p:nvSpPr>
          <p:cNvPr id="290" name="Rectángulo: esquinas redondeadas 289">
            <a:extLst>
              <a:ext uri="{FF2B5EF4-FFF2-40B4-BE49-F238E27FC236}">
                <a16:creationId xmlns:a16="http://schemas.microsoft.com/office/drawing/2014/main" id="{F5307F1C-915B-47AB-9B94-B29629F268F5}"/>
              </a:ext>
            </a:extLst>
          </p:cNvPr>
          <p:cNvSpPr/>
          <p:nvPr/>
        </p:nvSpPr>
        <p:spPr>
          <a:xfrm>
            <a:off x="6299819" y="5486669"/>
            <a:ext cx="736947" cy="696591"/>
          </a:xfrm>
          <a:prstGeom prst="roundRect">
            <a:avLst/>
          </a:prstGeom>
          <a:solidFill>
            <a:schemeClr val="bg1"/>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534" dirty="0"/>
          </a:p>
        </p:txBody>
      </p:sp>
      <p:sp>
        <p:nvSpPr>
          <p:cNvPr id="241" name="48 Rectángulo">
            <a:extLst>
              <a:ext uri="{FF2B5EF4-FFF2-40B4-BE49-F238E27FC236}">
                <a16:creationId xmlns:a16="http://schemas.microsoft.com/office/drawing/2014/main" id="{5870BF37-BABB-4029-BFEA-BFF7E8362A46}"/>
              </a:ext>
            </a:extLst>
          </p:cNvPr>
          <p:cNvSpPr/>
          <p:nvPr/>
        </p:nvSpPr>
        <p:spPr>
          <a:xfrm rot="5400000">
            <a:off x="3012602" y="2194113"/>
            <a:ext cx="5106871" cy="2506970"/>
          </a:xfrm>
          <a:prstGeom prst="rect">
            <a:avLst/>
          </a:prstGeom>
          <a:solidFill>
            <a:schemeClr val="bg1">
              <a:lumMod val="95000"/>
            </a:schemeClr>
          </a:solidFill>
          <a:ln w="952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lstStyle/>
          <a:p>
            <a:pPr algn="ctr" eaLnBrk="1" hangingPunct="1">
              <a:defRPr/>
            </a:pPr>
            <a:endParaRPr lang="es-ES" sz="1000" b="1" i="1" dirty="0">
              <a:solidFill>
                <a:srgbClr val="FF0000"/>
              </a:solidFill>
            </a:endParaRPr>
          </a:p>
          <a:p>
            <a:pPr algn="ctr" eaLnBrk="1" hangingPunct="1">
              <a:defRPr/>
            </a:pPr>
            <a:endParaRPr lang="es-ES" sz="1000" dirty="0">
              <a:solidFill>
                <a:schemeClr val="tx1"/>
              </a:solidFill>
            </a:endParaRPr>
          </a:p>
        </p:txBody>
      </p:sp>
      <p:sp>
        <p:nvSpPr>
          <p:cNvPr id="278" name="Rectángulo: esquinas redondeadas 277">
            <a:extLst>
              <a:ext uri="{FF2B5EF4-FFF2-40B4-BE49-F238E27FC236}">
                <a16:creationId xmlns:a16="http://schemas.microsoft.com/office/drawing/2014/main" id="{CBE770E3-446C-4FA4-976C-225885A8A2A4}"/>
              </a:ext>
            </a:extLst>
          </p:cNvPr>
          <p:cNvSpPr/>
          <p:nvPr/>
        </p:nvSpPr>
        <p:spPr>
          <a:xfrm>
            <a:off x="7230626" y="4700639"/>
            <a:ext cx="4723354" cy="1517165"/>
          </a:xfrm>
          <a:prstGeom prst="roundRect">
            <a:avLst/>
          </a:prstGeom>
          <a:solidFill>
            <a:schemeClr val="bg1"/>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534" dirty="0"/>
          </a:p>
        </p:txBody>
      </p:sp>
      <p:sp>
        <p:nvSpPr>
          <p:cNvPr id="308" name="Rectángulo: esquinas redondeadas 307">
            <a:extLst>
              <a:ext uri="{FF2B5EF4-FFF2-40B4-BE49-F238E27FC236}">
                <a16:creationId xmlns:a16="http://schemas.microsoft.com/office/drawing/2014/main" id="{19DE6055-ED52-4704-BABC-1728D25DDA2C}"/>
              </a:ext>
            </a:extLst>
          </p:cNvPr>
          <p:cNvSpPr/>
          <p:nvPr/>
        </p:nvSpPr>
        <p:spPr>
          <a:xfrm>
            <a:off x="10037753" y="4749465"/>
            <a:ext cx="2002084" cy="684235"/>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b="1" dirty="0" err="1">
                <a:solidFill>
                  <a:schemeClr val="tx1"/>
                </a:solidFill>
              </a:rPr>
              <a:t>CMC,BDM,Norkom,BDP,Tablas</a:t>
            </a:r>
            <a:r>
              <a:rPr lang="es-ES" sz="1100" b="1" dirty="0">
                <a:solidFill>
                  <a:schemeClr val="tx1"/>
                </a:solidFill>
              </a:rPr>
              <a:t> generales,</a:t>
            </a:r>
          </a:p>
          <a:p>
            <a:pPr algn="ctr"/>
            <a:r>
              <a:rPr lang="es-ES" sz="1100" b="1" dirty="0" err="1">
                <a:solidFill>
                  <a:schemeClr val="tx1"/>
                </a:solidFill>
              </a:rPr>
              <a:t>FIOC,Pagos</a:t>
            </a:r>
            <a:r>
              <a:rPr lang="es-ES" sz="1100" b="1" dirty="0">
                <a:solidFill>
                  <a:schemeClr val="tx1"/>
                </a:solidFill>
              </a:rPr>
              <a:t> , MPDEES (alta de tarjetas)</a:t>
            </a:r>
            <a:endParaRPr lang="es-ES" sz="1100" dirty="0"/>
          </a:p>
        </p:txBody>
      </p:sp>
      <p:sp>
        <p:nvSpPr>
          <p:cNvPr id="142" name="Marcador de texto 1">
            <a:extLst>
              <a:ext uri="{FF2B5EF4-FFF2-40B4-BE49-F238E27FC236}">
                <a16:creationId xmlns:a16="http://schemas.microsoft.com/office/drawing/2014/main" id="{28C4A107-992C-4160-BC70-8CE92A840EAC}"/>
              </a:ext>
            </a:extLst>
          </p:cNvPr>
          <p:cNvSpPr txBox="1">
            <a:spLocks/>
          </p:cNvSpPr>
          <p:nvPr/>
        </p:nvSpPr>
        <p:spPr>
          <a:xfrm>
            <a:off x="138246" y="68148"/>
            <a:ext cx="8572618" cy="1557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300" dirty="0">
                <a:solidFill>
                  <a:srgbClr val="EB0000"/>
                </a:solidFill>
                <a:ea typeface="Segoe UI" panose="020B0502040204020203" pitchFamily="34" charset="0"/>
                <a:cs typeface="Segoe UI" panose="020B0502040204020203" pitchFamily="34" charset="0"/>
              </a:rPr>
              <a:t>Solución técnica</a:t>
            </a:r>
          </a:p>
          <a:p>
            <a:pPr marL="0" indent="0">
              <a:spcBef>
                <a:spcPts val="300"/>
              </a:spcBef>
              <a:buNone/>
            </a:pPr>
            <a:r>
              <a:rPr lang="es-ES" sz="1600" b="1" dirty="0">
                <a:solidFill>
                  <a:srgbClr val="EB0000"/>
                </a:solidFill>
                <a:ea typeface="Segoe UI" panose="020B0502040204020203" pitchFamily="34" charset="0"/>
                <a:cs typeface="Segoe UI" panose="020B0502040204020203" pitchFamily="34" charset="0"/>
              </a:rPr>
              <a:t>Mapa técnico de arquitectura: </a:t>
            </a:r>
            <a:r>
              <a:rPr lang="en-GB" sz="1600" b="1" dirty="0" err="1">
                <a:solidFill>
                  <a:srgbClr val="EB0000"/>
                </a:solidFill>
                <a:cs typeface="Segoe UI" panose="020B0502040204020203" pitchFamily="34" charset="0"/>
              </a:rPr>
              <a:t>Tramitación</a:t>
            </a:r>
            <a:r>
              <a:rPr lang="en-GB" sz="1600" b="1" dirty="0">
                <a:solidFill>
                  <a:srgbClr val="EB0000"/>
                </a:solidFill>
                <a:cs typeface="Segoe UI" panose="020B0502040204020203" pitchFamily="34" charset="0"/>
              </a:rPr>
              <a:t> de </a:t>
            </a:r>
            <a:r>
              <a:rPr lang="en-GB" sz="1600" b="1" dirty="0" err="1">
                <a:solidFill>
                  <a:srgbClr val="EB0000"/>
                </a:solidFill>
                <a:cs typeface="Segoe UI" panose="020B0502040204020203" pitchFamily="34" charset="0"/>
              </a:rPr>
              <a:t>expedientes</a:t>
            </a:r>
            <a:r>
              <a:rPr lang="en-GB" sz="1600" b="1" dirty="0">
                <a:solidFill>
                  <a:srgbClr val="EB0000"/>
                </a:solidFill>
                <a:cs typeface="Segoe UI" panose="020B0502040204020203" pitchFamily="34" charset="0"/>
              </a:rPr>
              <a:t> y procesos </a:t>
            </a:r>
            <a:r>
              <a:rPr lang="en-GB" sz="1600" b="1" dirty="0" err="1">
                <a:solidFill>
                  <a:srgbClr val="EB0000"/>
                </a:solidFill>
                <a:cs typeface="Segoe UI" panose="020B0502040204020203" pitchFamily="34" charset="0"/>
              </a:rPr>
              <a:t>planificados</a:t>
            </a:r>
            <a:endParaRPr lang="es-ES" sz="1600" b="1" dirty="0">
              <a:solidFill>
                <a:srgbClr val="EB0000"/>
              </a:solidFill>
              <a:cs typeface="Segoe UI" panose="020B0502040204020203" pitchFamily="34" charset="0"/>
            </a:endParaRPr>
          </a:p>
          <a:p>
            <a:pPr marL="0" indent="0">
              <a:spcBef>
                <a:spcPts val="300"/>
              </a:spcBef>
              <a:buFont typeface="Arial" panose="020B0604020202020204" pitchFamily="34" charset="0"/>
              <a:buNone/>
            </a:pPr>
            <a:endParaRPr lang="es-ES" sz="1400" dirty="0">
              <a:solidFill>
                <a:srgbClr val="EB0000"/>
              </a:solidFill>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endParaRPr lang="es-ES" sz="1800" b="1" dirty="0">
              <a:solidFill>
                <a:srgbClr val="EB0000"/>
              </a:solidFill>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291" name="AutoShape 19">
            <a:hlinkClick r:id="" action="ppaction://noaction"/>
            <a:extLst>
              <a:ext uri="{FF2B5EF4-FFF2-40B4-BE49-F238E27FC236}">
                <a16:creationId xmlns:a16="http://schemas.microsoft.com/office/drawing/2014/main" id="{26CF2CE1-AF90-4300-A46C-01684C06239F}"/>
              </a:ext>
            </a:extLst>
          </p:cNvPr>
          <p:cNvSpPr>
            <a:spLocks noChangeArrowheads="1"/>
          </p:cNvSpPr>
          <p:nvPr/>
        </p:nvSpPr>
        <p:spPr bwMode="auto">
          <a:xfrm>
            <a:off x="4011911" y="3341967"/>
            <a:ext cx="91591" cy="2467346"/>
          </a:xfrm>
          <a:prstGeom prst="roundRect">
            <a:avLst>
              <a:gd name="adj" fmla="val 16667"/>
            </a:avLst>
          </a:prstGeom>
          <a:solidFill>
            <a:schemeClr val="bg1"/>
          </a:solidFill>
          <a:ln w="635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vert270" lIns="74524" tIns="37261" rIns="74524" bIns="37261" anchor="ctr"/>
          <a:lstStyle/>
          <a:p>
            <a:pPr algn="ctr" defTabSz="745355">
              <a:lnSpc>
                <a:spcPct val="90000"/>
              </a:lnSpc>
              <a:defRPr/>
            </a:pPr>
            <a:r>
              <a:rPr lang="es-ES" sz="852" b="1" dirty="0">
                <a:latin typeface="Arial" panose="020B0604020202020204" pitchFamily="34" charset="0"/>
                <a:cs typeface="Arial" panose="020B0604020202020204" pitchFamily="34" charset="0"/>
              </a:rPr>
              <a:t>Api </a:t>
            </a:r>
            <a:r>
              <a:rPr lang="es-ES" sz="852" b="1" dirty="0" err="1">
                <a:latin typeface="Arial" panose="020B0604020202020204" pitchFamily="34" charset="0"/>
                <a:cs typeface="Arial" panose="020B0604020202020204" pitchFamily="34" charset="0"/>
              </a:rPr>
              <a:t>Wen</a:t>
            </a:r>
            <a:r>
              <a:rPr lang="es-ES" sz="852" b="1" dirty="0">
                <a:latin typeface="Arial" panose="020B0604020202020204" pitchFamily="34" charset="0"/>
                <a:cs typeface="Arial" panose="020B0604020202020204" pitchFamily="34" charset="0"/>
              </a:rPr>
              <a:t> </a:t>
            </a:r>
            <a:r>
              <a:rPr lang="es-ES" sz="852" b="1" dirty="0" err="1">
                <a:latin typeface="Arial" panose="020B0604020202020204" pitchFamily="34" charset="0"/>
                <a:cs typeface="Arial" panose="020B0604020202020204" pitchFamily="34" charset="0"/>
              </a:rPr>
              <a:t>intnernet</a:t>
            </a:r>
            <a:r>
              <a:rPr lang="es-ES" sz="852" b="1" dirty="0">
                <a:latin typeface="Arial" panose="020B0604020202020204" pitchFamily="34" charset="0"/>
                <a:cs typeface="Arial" panose="020B0604020202020204" pitchFamily="34" charset="0"/>
              </a:rPr>
              <a:t>  HC 2.0</a:t>
            </a:r>
          </a:p>
        </p:txBody>
      </p:sp>
      <p:sp>
        <p:nvSpPr>
          <p:cNvPr id="292" name="CuadroTexto 291">
            <a:extLst>
              <a:ext uri="{FF2B5EF4-FFF2-40B4-BE49-F238E27FC236}">
                <a16:creationId xmlns:a16="http://schemas.microsoft.com/office/drawing/2014/main" id="{C10C3254-0763-4E59-B67F-E12E2D273518}"/>
              </a:ext>
            </a:extLst>
          </p:cNvPr>
          <p:cNvSpPr txBox="1"/>
          <p:nvPr/>
        </p:nvSpPr>
        <p:spPr>
          <a:xfrm>
            <a:off x="2726078" y="674740"/>
            <a:ext cx="2206732" cy="248530"/>
          </a:xfrm>
          <a:prstGeom prst="rect">
            <a:avLst/>
          </a:prstGeom>
          <a:noFill/>
        </p:spPr>
        <p:txBody>
          <a:bodyPr wrap="square" rtlCol="0">
            <a:spAutoFit/>
          </a:bodyPr>
          <a:lstStyle/>
          <a:p>
            <a:r>
              <a:rPr lang="es-ES" sz="1015" b="1" dirty="0">
                <a:solidFill>
                  <a:srgbClr val="1BB3BC"/>
                </a:solidFill>
              </a:rPr>
              <a:t>PaaS  HC 2.0</a:t>
            </a:r>
          </a:p>
        </p:txBody>
      </p:sp>
      <p:pic>
        <p:nvPicPr>
          <p:cNvPr id="294" name="Picture 10" descr="Resultado de imagen de Openshift icon">
            <a:extLst>
              <a:ext uri="{FF2B5EF4-FFF2-40B4-BE49-F238E27FC236}">
                <a16:creationId xmlns:a16="http://schemas.microsoft.com/office/drawing/2014/main" id="{5D29D8D2-C50F-4174-B9D9-25C092D4F249}"/>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796615" y="915864"/>
            <a:ext cx="239828" cy="282164"/>
          </a:xfrm>
          <a:prstGeom prst="rect">
            <a:avLst/>
          </a:prstGeom>
          <a:noFill/>
          <a:extLst>
            <a:ext uri="{909E8E84-426E-40DD-AFC4-6F175D3DCCD1}">
              <a14:hiddenFill xmlns:a14="http://schemas.microsoft.com/office/drawing/2010/main">
                <a:solidFill>
                  <a:srgbClr val="FFFFFF"/>
                </a:solidFill>
              </a14:hiddenFill>
            </a:ext>
          </a:extLst>
        </p:spPr>
      </p:pic>
      <p:sp>
        <p:nvSpPr>
          <p:cNvPr id="403" name="CuadroTexto 402">
            <a:extLst>
              <a:ext uri="{FF2B5EF4-FFF2-40B4-BE49-F238E27FC236}">
                <a16:creationId xmlns:a16="http://schemas.microsoft.com/office/drawing/2014/main" id="{76A65093-2EC6-42E1-A379-C90ED92541ED}"/>
              </a:ext>
            </a:extLst>
          </p:cNvPr>
          <p:cNvSpPr txBox="1"/>
          <p:nvPr/>
        </p:nvSpPr>
        <p:spPr>
          <a:xfrm>
            <a:off x="3755964" y="3651603"/>
            <a:ext cx="184731" cy="338554"/>
          </a:xfrm>
          <a:prstGeom prst="rect">
            <a:avLst/>
          </a:prstGeom>
          <a:noFill/>
        </p:spPr>
        <p:txBody>
          <a:bodyPr wrap="none" rtlCol="0">
            <a:spAutoFit/>
          </a:bodyPr>
          <a:lstStyle/>
          <a:p>
            <a:endParaRPr lang="es-ES" sz="800" dirty="0">
              <a:solidFill>
                <a:schemeClr val="accent6">
                  <a:lumMod val="50000"/>
                </a:schemeClr>
              </a:solidFill>
            </a:endParaRPr>
          </a:p>
          <a:p>
            <a:endParaRPr lang="es-ES" sz="800" dirty="0">
              <a:solidFill>
                <a:schemeClr val="accent6">
                  <a:lumMod val="50000"/>
                </a:schemeClr>
              </a:solidFill>
            </a:endParaRPr>
          </a:p>
        </p:txBody>
      </p:sp>
      <p:sp>
        <p:nvSpPr>
          <p:cNvPr id="404" name="Rectángulo: esquinas redondeadas 403">
            <a:extLst>
              <a:ext uri="{FF2B5EF4-FFF2-40B4-BE49-F238E27FC236}">
                <a16:creationId xmlns:a16="http://schemas.microsoft.com/office/drawing/2014/main" id="{27A5B188-B266-4132-B250-6A5F7929BFB0}"/>
              </a:ext>
            </a:extLst>
          </p:cNvPr>
          <p:cNvSpPr/>
          <p:nvPr/>
        </p:nvSpPr>
        <p:spPr>
          <a:xfrm>
            <a:off x="2573485" y="1249881"/>
            <a:ext cx="1190259" cy="970820"/>
          </a:xfrm>
          <a:prstGeom prst="roundRect">
            <a:avLst>
              <a:gd name="adj" fmla="val 82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06" name="Imagen 405">
            <a:extLst>
              <a:ext uri="{FF2B5EF4-FFF2-40B4-BE49-F238E27FC236}">
                <a16:creationId xmlns:a16="http://schemas.microsoft.com/office/drawing/2014/main" id="{0BCDF63E-70F9-420C-9BC2-9965B0B3B3AD}"/>
              </a:ext>
            </a:extLst>
          </p:cNvPr>
          <p:cNvPicPr>
            <a:picLocks noChangeAspect="1"/>
          </p:cNvPicPr>
          <p:nvPr/>
        </p:nvPicPr>
        <p:blipFill>
          <a:blip r:embed="rId4"/>
          <a:stretch>
            <a:fillRect/>
          </a:stretch>
        </p:blipFill>
        <p:spPr>
          <a:xfrm>
            <a:off x="2656677" y="1553977"/>
            <a:ext cx="705036" cy="489524"/>
          </a:xfrm>
          <a:prstGeom prst="rect">
            <a:avLst/>
          </a:prstGeom>
        </p:spPr>
      </p:pic>
      <p:pic>
        <p:nvPicPr>
          <p:cNvPr id="408" name="Imagen 407">
            <a:extLst>
              <a:ext uri="{FF2B5EF4-FFF2-40B4-BE49-F238E27FC236}">
                <a16:creationId xmlns:a16="http://schemas.microsoft.com/office/drawing/2014/main" id="{0F7E1425-FE17-45F6-BBD8-6DCE148C9895}"/>
              </a:ext>
            </a:extLst>
          </p:cNvPr>
          <p:cNvPicPr>
            <a:picLocks noChangeAspect="1"/>
          </p:cNvPicPr>
          <p:nvPr/>
        </p:nvPicPr>
        <p:blipFill>
          <a:blip r:embed="rId5"/>
          <a:stretch>
            <a:fillRect/>
          </a:stretch>
        </p:blipFill>
        <p:spPr>
          <a:xfrm rot="16200000">
            <a:off x="3241917" y="1619464"/>
            <a:ext cx="640365" cy="172406"/>
          </a:xfrm>
          <a:prstGeom prst="rect">
            <a:avLst/>
          </a:prstGeom>
        </p:spPr>
      </p:pic>
      <p:grpSp>
        <p:nvGrpSpPr>
          <p:cNvPr id="418" name="Grupo 417">
            <a:extLst>
              <a:ext uri="{FF2B5EF4-FFF2-40B4-BE49-F238E27FC236}">
                <a16:creationId xmlns:a16="http://schemas.microsoft.com/office/drawing/2014/main" id="{DE2D13B0-7955-48E3-95BC-414E4B90FC60}"/>
              </a:ext>
            </a:extLst>
          </p:cNvPr>
          <p:cNvGrpSpPr/>
          <p:nvPr/>
        </p:nvGrpSpPr>
        <p:grpSpPr>
          <a:xfrm>
            <a:off x="365339" y="1075713"/>
            <a:ext cx="1493113" cy="1216151"/>
            <a:chOff x="223811" y="1034909"/>
            <a:chExt cx="1990817" cy="1621535"/>
          </a:xfrm>
        </p:grpSpPr>
        <p:sp>
          <p:nvSpPr>
            <p:cNvPr id="419" name="Rectángulo: esquinas redondeadas 418">
              <a:extLst>
                <a:ext uri="{FF2B5EF4-FFF2-40B4-BE49-F238E27FC236}">
                  <a16:creationId xmlns:a16="http://schemas.microsoft.com/office/drawing/2014/main" id="{BE7C4ABA-EB1E-4460-92B9-79833E277C44}"/>
                </a:ext>
              </a:extLst>
            </p:cNvPr>
            <p:cNvSpPr/>
            <p:nvPr/>
          </p:nvSpPr>
          <p:spPr>
            <a:xfrm>
              <a:off x="223811" y="1034909"/>
              <a:ext cx="1990817" cy="162153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00">
                <a:solidFill>
                  <a:schemeClr val="tx1"/>
                </a:solidFill>
              </a:endParaRPr>
            </a:p>
          </p:txBody>
        </p:sp>
        <p:grpSp>
          <p:nvGrpSpPr>
            <p:cNvPr id="420" name="Grupo 419">
              <a:extLst>
                <a:ext uri="{FF2B5EF4-FFF2-40B4-BE49-F238E27FC236}">
                  <a16:creationId xmlns:a16="http://schemas.microsoft.com/office/drawing/2014/main" id="{D4B967F5-D699-4FE7-B054-FFECA9EBB892}"/>
                </a:ext>
              </a:extLst>
            </p:cNvPr>
            <p:cNvGrpSpPr/>
            <p:nvPr/>
          </p:nvGrpSpPr>
          <p:grpSpPr>
            <a:xfrm>
              <a:off x="318741" y="1639634"/>
              <a:ext cx="1789734" cy="835676"/>
              <a:chOff x="671418" y="3510518"/>
              <a:chExt cx="1202155" cy="765396"/>
            </a:xfrm>
          </p:grpSpPr>
          <p:sp>
            <p:nvSpPr>
              <p:cNvPr id="423" name="3 Rectángulo">
                <a:extLst>
                  <a:ext uri="{FF2B5EF4-FFF2-40B4-BE49-F238E27FC236}">
                    <a16:creationId xmlns:a16="http://schemas.microsoft.com/office/drawing/2014/main" id="{D2A420AE-BE7A-4EC3-871D-74C9016DB6CC}"/>
                  </a:ext>
                </a:extLst>
              </p:cNvPr>
              <p:cNvSpPr>
                <a:spLocks noChangeArrowheads="1"/>
              </p:cNvSpPr>
              <p:nvPr/>
            </p:nvSpPr>
            <p:spPr bwMode="auto">
              <a:xfrm>
                <a:off x="671418" y="3510518"/>
                <a:ext cx="1176655" cy="30846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7749" tIns="48875" rIns="97749" bIns="48875">
                <a:spAutoFit/>
              </a:bodyPr>
              <a:lstStyle>
                <a:lvl1pPr defTabSz="977900" eaLnBrk="0" hangingPunct="0">
                  <a:buClr>
                    <a:srgbClr val="FF0000"/>
                  </a:buClr>
                  <a:buChar char="w"/>
                  <a:defRPr sz="2400" b="1">
                    <a:solidFill>
                      <a:srgbClr val="FF0000"/>
                    </a:solidFill>
                    <a:latin typeface="Arial" panose="020B0604020202020204" pitchFamily="34" charset="0"/>
                  </a:defRPr>
                </a:lvl1pPr>
                <a:lvl2pPr marL="742950" indent="-285750" defTabSz="977900" eaLnBrk="0" hangingPunct="0">
                  <a:buClr>
                    <a:schemeClr val="bg2"/>
                  </a:buClr>
                  <a:buChar char="§"/>
                  <a:defRPr sz="2600">
                    <a:solidFill>
                      <a:srgbClr val="808080"/>
                    </a:solidFill>
                    <a:latin typeface="Arial" panose="020B0604020202020204" pitchFamily="34" charset="0"/>
                  </a:defRPr>
                </a:lvl2pPr>
                <a:lvl3pPr marL="1143000" indent="-228600" defTabSz="9779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9779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9779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eaLnBrk="1" hangingPunct="1">
                  <a:buClr>
                    <a:schemeClr val="accent2"/>
                  </a:buClr>
                  <a:buFont typeface="Wingdings" panose="05000000000000000000" pitchFamily="2" charset="2"/>
                  <a:buNone/>
                </a:pPr>
                <a:endParaRPr lang="es-ES" altLang="es-ES" sz="1000" b="0" dirty="0">
                  <a:solidFill>
                    <a:schemeClr val="tx1"/>
                  </a:solidFill>
                </a:endParaRPr>
              </a:p>
            </p:txBody>
          </p:sp>
          <p:pic>
            <p:nvPicPr>
              <p:cNvPr id="424" name="Picture 3">
                <a:extLst>
                  <a:ext uri="{FF2B5EF4-FFF2-40B4-BE49-F238E27FC236}">
                    <a16:creationId xmlns:a16="http://schemas.microsoft.com/office/drawing/2014/main" id="{D8C8CF73-8BFF-4F15-A4ED-CF0CDC4063A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0049" y="3521356"/>
                <a:ext cx="874766" cy="3860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25" name="2 CuadroTexto">
                <a:extLst>
                  <a:ext uri="{FF2B5EF4-FFF2-40B4-BE49-F238E27FC236}">
                    <a16:creationId xmlns:a16="http://schemas.microsoft.com/office/drawing/2014/main" id="{1F9A2C4C-6B4A-4654-9538-9398A1FDF8D5}"/>
                  </a:ext>
                </a:extLst>
              </p:cNvPr>
              <p:cNvSpPr txBox="1">
                <a:spLocks noChangeArrowheads="1"/>
              </p:cNvSpPr>
              <p:nvPr/>
            </p:nvSpPr>
            <p:spPr bwMode="auto">
              <a:xfrm>
                <a:off x="671418" y="3975228"/>
                <a:ext cx="1202155" cy="30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BackOffice App</a:t>
                </a:r>
              </a:p>
            </p:txBody>
          </p:sp>
        </p:grpSp>
        <p:sp>
          <p:nvSpPr>
            <p:cNvPr id="421" name="CuadroTexto 420">
              <a:extLst>
                <a:ext uri="{FF2B5EF4-FFF2-40B4-BE49-F238E27FC236}">
                  <a16:creationId xmlns:a16="http://schemas.microsoft.com/office/drawing/2014/main" id="{8646A814-D46F-42E2-AF17-4D2D2850660D}"/>
                </a:ext>
              </a:extLst>
            </p:cNvPr>
            <p:cNvSpPr txBox="1"/>
            <p:nvPr/>
          </p:nvSpPr>
          <p:spPr>
            <a:xfrm>
              <a:off x="899814" y="1168949"/>
              <a:ext cx="675839" cy="533480"/>
            </a:xfrm>
            <a:prstGeom prst="rect">
              <a:avLst/>
            </a:prstGeom>
            <a:noFill/>
          </p:spPr>
          <p:txBody>
            <a:bodyPr wrap="square" rtlCol="0">
              <a:spAutoFit/>
            </a:bodyPr>
            <a:lstStyle/>
            <a:p>
              <a:r>
                <a:rPr lang="es-ES" sz="1000" b="1" dirty="0" err="1">
                  <a:solidFill>
                    <a:srgbClr val="1BB3BC"/>
                  </a:solidFill>
                </a:rPr>
                <a:t>Backoffice</a:t>
              </a:r>
              <a:endParaRPr lang="es-ES" sz="1000" b="1" dirty="0">
                <a:solidFill>
                  <a:srgbClr val="1BB3BC"/>
                </a:solidFill>
              </a:endParaRPr>
            </a:p>
          </p:txBody>
        </p:sp>
        <p:pic>
          <p:nvPicPr>
            <p:cNvPr id="422" name="Imagen 421">
              <a:extLst>
                <a:ext uri="{FF2B5EF4-FFF2-40B4-BE49-F238E27FC236}">
                  <a16:creationId xmlns:a16="http://schemas.microsoft.com/office/drawing/2014/main" id="{0EE9856A-6CF8-48F4-990E-78C4854A11B0}"/>
                </a:ext>
              </a:extLst>
            </p:cNvPr>
            <p:cNvPicPr>
              <a:picLocks noChangeAspect="1"/>
            </p:cNvPicPr>
            <p:nvPr/>
          </p:nvPicPr>
          <p:blipFill rotWithShape="1">
            <a:blip r:embed="rId7">
              <a:extLst>
                <a:ext uri="{28A0092B-C50C-407E-A947-70E740481C1C}">
                  <a14:useLocalDpi xmlns:a14="http://schemas.microsoft.com/office/drawing/2010/main" val="0"/>
                </a:ext>
              </a:extLst>
            </a:blip>
            <a:srcRect l="-1" t="-7238" r="79476" b="-12379"/>
            <a:stretch/>
          </p:blipFill>
          <p:spPr>
            <a:xfrm>
              <a:off x="364361" y="1119829"/>
              <a:ext cx="420395" cy="556364"/>
            </a:xfrm>
            <a:prstGeom prst="rect">
              <a:avLst/>
            </a:prstGeom>
          </p:spPr>
        </p:pic>
      </p:grpSp>
      <p:cxnSp>
        <p:nvCxnSpPr>
          <p:cNvPr id="465" name="25 Conector recto de flecha">
            <a:extLst>
              <a:ext uri="{FF2B5EF4-FFF2-40B4-BE49-F238E27FC236}">
                <a16:creationId xmlns:a16="http://schemas.microsoft.com/office/drawing/2014/main" id="{CE924467-CEF1-4D35-9993-C6ECEB6C44C7}"/>
              </a:ext>
            </a:extLst>
          </p:cNvPr>
          <p:cNvCxnSpPr>
            <a:cxnSpLocks/>
            <a:stCxn id="419" idx="3"/>
            <a:endCxn id="404" idx="1"/>
          </p:cNvCxnSpPr>
          <p:nvPr/>
        </p:nvCxnSpPr>
        <p:spPr bwMode="auto">
          <a:xfrm>
            <a:off x="1858452" y="1683789"/>
            <a:ext cx="715033" cy="51502"/>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75" name="Rectángulo: esquinas redondeadas 274">
            <a:extLst>
              <a:ext uri="{FF2B5EF4-FFF2-40B4-BE49-F238E27FC236}">
                <a16:creationId xmlns:a16="http://schemas.microsoft.com/office/drawing/2014/main" id="{87CE3491-C072-4E7A-98AB-F0A1F8320476}"/>
              </a:ext>
            </a:extLst>
          </p:cNvPr>
          <p:cNvSpPr/>
          <p:nvPr/>
        </p:nvSpPr>
        <p:spPr>
          <a:xfrm>
            <a:off x="12041362" y="-1047980"/>
            <a:ext cx="45719" cy="97979"/>
          </a:xfrm>
          <a:prstGeom prst="roundRect">
            <a:avLst/>
          </a:prstGeom>
          <a:solidFill>
            <a:schemeClr val="bg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endParaRPr lang="es-ES" b="1" dirty="0">
              <a:solidFill>
                <a:prstClr val="black"/>
              </a:solidFill>
            </a:endParaRPr>
          </a:p>
        </p:txBody>
      </p:sp>
      <p:cxnSp>
        <p:nvCxnSpPr>
          <p:cNvPr id="255" name="451 Conector recto de flecha">
            <a:extLst>
              <a:ext uri="{FF2B5EF4-FFF2-40B4-BE49-F238E27FC236}">
                <a16:creationId xmlns:a16="http://schemas.microsoft.com/office/drawing/2014/main" id="{D3E02DA4-9824-4961-8AF4-30113638FFF0}"/>
              </a:ext>
            </a:extLst>
          </p:cNvPr>
          <p:cNvCxnSpPr>
            <a:cxnSpLocks/>
          </p:cNvCxnSpPr>
          <p:nvPr/>
        </p:nvCxnSpPr>
        <p:spPr bwMode="auto">
          <a:xfrm>
            <a:off x="3756260" y="1749181"/>
            <a:ext cx="127248" cy="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nvGrpSpPr>
          <p:cNvPr id="296" name="Grupo 295">
            <a:extLst>
              <a:ext uri="{FF2B5EF4-FFF2-40B4-BE49-F238E27FC236}">
                <a16:creationId xmlns:a16="http://schemas.microsoft.com/office/drawing/2014/main" id="{17EC0C55-889B-4ED1-99E3-DEBFFCD8CAC7}"/>
              </a:ext>
            </a:extLst>
          </p:cNvPr>
          <p:cNvGrpSpPr/>
          <p:nvPr/>
        </p:nvGrpSpPr>
        <p:grpSpPr>
          <a:xfrm>
            <a:off x="9768477" y="146028"/>
            <a:ext cx="2423523" cy="1836570"/>
            <a:chOff x="10867610" y="636814"/>
            <a:chExt cx="2423523" cy="1836570"/>
          </a:xfrm>
        </p:grpSpPr>
        <p:grpSp>
          <p:nvGrpSpPr>
            <p:cNvPr id="297" name="Grupo 296">
              <a:extLst>
                <a:ext uri="{FF2B5EF4-FFF2-40B4-BE49-F238E27FC236}">
                  <a16:creationId xmlns:a16="http://schemas.microsoft.com/office/drawing/2014/main" id="{C1657489-804A-40E2-A23D-E7B9DF8DF05D}"/>
                </a:ext>
              </a:extLst>
            </p:cNvPr>
            <p:cNvGrpSpPr/>
            <p:nvPr/>
          </p:nvGrpSpPr>
          <p:grpSpPr>
            <a:xfrm>
              <a:off x="10867610" y="636814"/>
              <a:ext cx="2423523" cy="1836570"/>
              <a:chOff x="10867610" y="7221"/>
              <a:chExt cx="2423523" cy="1836570"/>
            </a:xfrm>
          </p:grpSpPr>
          <p:grpSp>
            <p:nvGrpSpPr>
              <p:cNvPr id="310" name="Grupo 309">
                <a:extLst>
                  <a:ext uri="{FF2B5EF4-FFF2-40B4-BE49-F238E27FC236}">
                    <a16:creationId xmlns:a16="http://schemas.microsoft.com/office/drawing/2014/main" id="{C94BC4C2-BFC2-4B9D-84DC-39095D6BF794}"/>
                  </a:ext>
                </a:extLst>
              </p:cNvPr>
              <p:cNvGrpSpPr/>
              <p:nvPr/>
            </p:nvGrpSpPr>
            <p:grpSpPr>
              <a:xfrm>
                <a:off x="10867610" y="7221"/>
                <a:ext cx="2423523" cy="1836570"/>
                <a:chOff x="10862655" y="8898"/>
                <a:chExt cx="2423523" cy="1836570"/>
              </a:xfrm>
            </p:grpSpPr>
            <p:sp>
              <p:nvSpPr>
                <p:cNvPr id="317" name="Rectangle 331">
                  <a:extLst>
                    <a:ext uri="{FF2B5EF4-FFF2-40B4-BE49-F238E27FC236}">
                      <a16:creationId xmlns:a16="http://schemas.microsoft.com/office/drawing/2014/main" id="{7E19C4C3-63DE-40C7-A271-27D4FB24A588}"/>
                    </a:ext>
                  </a:extLst>
                </p:cNvPr>
                <p:cNvSpPr>
                  <a:spLocks noChangeArrowheads="1"/>
                </p:cNvSpPr>
                <p:nvPr/>
              </p:nvSpPr>
              <p:spPr bwMode="auto">
                <a:xfrm>
                  <a:off x="10862655" y="52180"/>
                  <a:ext cx="2266574" cy="1793288"/>
                </a:xfrm>
                <a:prstGeom prst="rect">
                  <a:avLst/>
                </a:prstGeom>
                <a:solidFill>
                  <a:schemeClr val="bg1"/>
                </a:solidFill>
                <a:ln>
                  <a:solidFill>
                    <a:srgbClr val="FF0000"/>
                  </a:solidFill>
                  <a:headEnd/>
                  <a:tailEnd/>
                </a:ln>
              </p:spPr>
              <p:style>
                <a:lnRef idx="1">
                  <a:schemeClr val="accent2"/>
                </a:lnRef>
                <a:fillRef idx="2">
                  <a:schemeClr val="accent2"/>
                </a:fillRef>
                <a:effectRef idx="1">
                  <a:schemeClr val="accent2"/>
                </a:effectRef>
                <a:fontRef idx="minor">
                  <a:schemeClr val="dk1"/>
                </a:fontRef>
              </p:style>
              <p:txBody>
                <a:bodyPr wrap="none">
                  <a:flatTx/>
                </a:bodyPr>
                <a:lstStyle/>
                <a:p>
                  <a:pPr>
                    <a:defRPr/>
                  </a:pPr>
                  <a:endParaRPr lang="en-US" sz="1100" b="1" dirty="0">
                    <a:solidFill>
                      <a:sysClr val="windowText" lastClr="000000"/>
                    </a:solidFill>
                  </a:endParaRPr>
                </a:p>
              </p:txBody>
            </p:sp>
            <p:cxnSp>
              <p:nvCxnSpPr>
                <p:cNvPr id="318" name="25 Conector recto de flecha">
                  <a:extLst>
                    <a:ext uri="{FF2B5EF4-FFF2-40B4-BE49-F238E27FC236}">
                      <a16:creationId xmlns:a16="http://schemas.microsoft.com/office/drawing/2014/main" id="{87FBF287-C554-4B8B-88C4-674A78E6F561}"/>
                    </a:ext>
                  </a:extLst>
                </p:cNvPr>
                <p:cNvCxnSpPr/>
                <p:nvPr/>
              </p:nvCxnSpPr>
              <p:spPr bwMode="auto">
                <a:xfrm>
                  <a:off x="11015682" y="281813"/>
                  <a:ext cx="256340" cy="4026"/>
                </a:xfrm>
                <a:prstGeom prst="straightConnector1">
                  <a:avLst/>
                </a:prstGeom>
                <a:ln w="254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20" name="TextBox 366">
                  <a:extLst>
                    <a:ext uri="{FF2B5EF4-FFF2-40B4-BE49-F238E27FC236}">
                      <a16:creationId xmlns:a16="http://schemas.microsoft.com/office/drawing/2014/main" id="{BB854BD6-358B-4D68-BCFA-F8A3A7D88CA7}"/>
                    </a:ext>
                  </a:extLst>
                </p:cNvPr>
                <p:cNvSpPr txBox="1"/>
                <p:nvPr/>
              </p:nvSpPr>
              <p:spPr bwMode="auto">
                <a:xfrm>
                  <a:off x="12456843" y="8898"/>
                  <a:ext cx="829335" cy="214666"/>
                </a:xfrm>
                <a:prstGeom prst="rect">
                  <a:avLst/>
                </a:prstGeom>
                <a:noFill/>
              </p:spPr>
              <p:txBody>
                <a:bodyPr wrap="none">
                  <a:spAutoFit/>
                </a:bodyPr>
                <a:lstStyle/>
                <a:p>
                  <a:pPr>
                    <a:defRPr/>
                  </a:pPr>
                  <a:r>
                    <a:rPr lang="es-ES" sz="1050" b="1" dirty="0">
                      <a:solidFill>
                        <a:srgbClr val="000000"/>
                      </a:solidFill>
                      <a:latin typeface="Calibri" pitchFamily="34" charset="0"/>
                      <a:cs typeface="Arial" charset="0"/>
                    </a:rPr>
                    <a:t>LEYENDA</a:t>
                  </a:r>
                </a:p>
              </p:txBody>
            </p:sp>
            <p:cxnSp>
              <p:nvCxnSpPr>
                <p:cNvPr id="321" name="25 Conector recto de flecha">
                  <a:extLst>
                    <a:ext uri="{FF2B5EF4-FFF2-40B4-BE49-F238E27FC236}">
                      <a16:creationId xmlns:a16="http://schemas.microsoft.com/office/drawing/2014/main" id="{31098330-3C37-47CA-AC2F-E4F019F2A1B5}"/>
                    </a:ext>
                  </a:extLst>
                </p:cNvPr>
                <p:cNvCxnSpPr/>
                <p:nvPr/>
              </p:nvCxnSpPr>
              <p:spPr bwMode="auto">
                <a:xfrm>
                  <a:off x="11987283" y="283836"/>
                  <a:ext cx="256340" cy="4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2" name="TextBox 181">
                  <a:extLst>
                    <a:ext uri="{FF2B5EF4-FFF2-40B4-BE49-F238E27FC236}">
                      <a16:creationId xmlns:a16="http://schemas.microsoft.com/office/drawing/2014/main" id="{2D704167-2E4C-44A6-BC3F-81DAE49B2B55}"/>
                    </a:ext>
                  </a:extLst>
                </p:cNvPr>
                <p:cNvSpPr txBox="1">
                  <a:spLocks noChangeArrowheads="1"/>
                </p:cNvSpPr>
                <p:nvPr/>
              </p:nvSpPr>
              <p:spPr bwMode="auto">
                <a:xfrm>
                  <a:off x="12224665" y="167725"/>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900" b="0" dirty="0">
                      <a:solidFill>
                        <a:srgbClr val="000000"/>
                      </a:solidFill>
                      <a:latin typeface="Calibri" pitchFamily="34" charset="0"/>
                      <a:cs typeface="Arial" charset="0"/>
                    </a:rPr>
                    <a:t>mqtt</a:t>
                  </a:r>
                </a:p>
              </p:txBody>
            </p:sp>
            <p:sp>
              <p:nvSpPr>
                <p:cNvPr id="323" name="TextBox 181">
                  <a:extLst>
                    <a:ext uri="{FF2B5EF4-FFF2-40B4-BE49-F238E27FC236}">
                      <a16:creationId xmlns:a16="http://schemas.microsoft.com/office/drawing/2014/main" id="{A0FB88CB-35AE-4023-9487-6C33A8F4B4AD}"/>
                    </a:ext>
                  </a:extLst>
                </p:cNvPr>
                <p:cNvSpPr txBox="1">
                  <a:spLocks noChangeArrowheads="1"/>
                </p:cNvSpPr>
                <p:nvPr/>
              </p:nvSpPr>
              <p:spPr bwMode="auto">
                <a:xfrm>
                  <a:off x="11217241" y="176130"/>
                  <a:ext cx="40107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800" b="0" dirty="0">
                      <a:solidFill>
                        <a:srgbClr val="000000"/>
                      </a:solidFill>
                      <a:latin typeface="Calibri" pitchFamily="34" charset="0"/>
                      <a:cs typeface="Arial" charset="0"/>
                    </a:rPr>
                    <a:t>HTTP</a:t>
                  </a:r>
                </a:p>
              </p:txBody>
            </p:sp>
            <p:cxnSp>
              <p:nvCxnSpPr>
                <p:cNvPr id="324" name="25 Conector recto de flecha">
                  <a:extLst>
                    <a:ext uri="{FF2B5EF4-FFF2-40B4-BE49-F238E27FC236}">
                      <a16:creationId xmlns:a16="http://schemas.microsoft.com/office/drawing/2014/main" id="{BC2051E9-A9CB-47FF-8CB8-EF5DAECA8C9B}"/>
                    </a:ext>
                  </a:extLst>
                </p:cNvPr>
                <p:cNvCxnSpPr/>
                <p:nvPr/>
              </p:nvCxnSpPr>
              <p:spPr bwMode="auto">
                <a:xfrm>
                  <a:off x="11020707" y="457299"/>
                  <a:ext cx="256340" cy="40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5" name="TextBox 181">
                  <a:extLst>
                    <a:ext uri="{FF2B5EF4-FFF2-40B4-BE49-F238E27FC236}">
                      <a16:creationId xmlns:a16="http://schemas.microsoft.com/office/drawing/2014/main" id="{F4A2D6C9-C79E-43B1-9B7A-20DC37FD555D}"/>
                    </a:ext>
                  </a:extLst>
                </p:cNvPr>
                <p:cNvSpPr txBox="1">
                  <a:spLocks noChangeArrowheads="1"/>
                </p:cNvSpPr>
                <p:nvPr/>
              </p:nvSpPr>
              <p:spPr bwMode="auto">
                <a:xfrm>
                  <a:off x="11215636" y="353317"/>
                  <a:ext cx="44755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800" b="0" dirty="0">
                      <a:solidFill>
                        <a:srgbClr val="000000"/>
                      </a:solidFill>
                      <a:latin typeface="Calibri" pitchFamily="34" charset="0"/>
                      <a:cs typeface="Arial" charset="0"/>
                    </a:rPr>
                    <a:t>HTTPS</a:t>
                  </a:r>
                </a:p>
              </p:txBody>
            </p:sp>
            <p:cxnSp>
              <p:nvCxnSpPr>
                <p:cNvPr id="326" name="25 Conector recto de flecha">
                  <a:extLst>
                    <a:ext uri="{FF2B5EF4-FFF2-40B4-BE49-F238E27FC236}">
                      <a16:creationId xmlns:a16="http://schemas.microsoft.com/office/drawing/2014/main" id="{515AC670-F1FF-42B6-9E33-75C00185D9E3}"/>
                    </a:ext>
                  </a:extLst>
                </p:cNvPr>
                <p:cNvCxnSpPr/>
                <p:nvPr/>
              </p:nvCxnSpPr>
              <p:spPr bwMode="auto">
                <a:xfrm>
                  <a:off x="11997585" y="453825"/>
                  <a:ext cx="256340" cy="402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27" name="TextBox 181">
                  <a:extLst>
                    <a:ext uri="{FF2B5EF4-FFF2-40B4-BE49-F238E27FC236}">
                      <a16:creationId xmlns:a16="http://schemas.microsoft.com/office/drawing/2014/main" id="{985C1246-6BC5-40CA-A11E-CF5AE384ACBA}"/>
                    </a:ext>
                  </a:extLst>
                </p:cNvPr>
                <p:cNvSpPr txBox="1">
                  <a:spLocks noChangeArrowheads="1"/>
                </p:cNvSpPr>
                <p:nvPr/>
              </p:nvSpPr>
              <p:spPr bwMode="auto">
                <a:xfrm>
                  <a:off x="12224129" y="350299"/>
                  <a:ext cx="663202" cy="216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800" b="0" dirty="0">
                      <a:solidFill>
                        <a:srgbClr val="000000"/>
                      </a:solidFill>
                      <a:latin typeface="Calibri" pitchFamily="34" charset="0"/>
                      <a:cs typeface="Arial" charset="0"/>
                    </a:rPr>
                    <a:t>REST/JSON </a:t>
                  </a:r>
                </a:p>
              </p:txBody>
            </p:sp>
            <p:sp>
              <p:nvSpPr>
                <p:cNvPr id="328" name="CuadroTexto 327">
                  <a:extLst>
                    <a:ext uri="{FF2B5EF4-FFF2-40B4-BE49-F238E27FC236}">
                      <a16:creationId xmlns:a16="http://schemas.microsoft.com/office/drawing/2014/main" id="{F584ED03-6976-48F3-ADD1-00BB9AF3DE53}"/>
                    </a:ext>
                  </a:extLst>
                </p:cNvPr>
                <p:cNvSpPr txBox="1"/>
                <p:nvPr/>
              </p:nvSpPr>
              <p:spPr>
                <a:xfrm>
                  <a:off x="11338767" y="944658"/>
                  <a:ext cx="669426" cy="200055"/>
                </a:xfrm>
                <a:prstGeom prst="rect">
                  <a:avLst/>
                </a:prstGeom>
                <a:noFill/>
              </p:spPr>
              <p:txBody>
                <a:bodyPr wrap="square" rtlCol="0">
                  <a:spAutoFit/>
                </a:bodyPr>
                <a:lstStyle/>
                <a:p>
                  <a:r>
                    <a:rPr lang="es-ES" sz="700" dirty="0"/>
                    <a:t>Token App</a:t>
                  </a:r>
                </a:p>
              </p:txBody>
            </p:sp>
            <p:grpSp>
              <p:nvGrpSpPr>
                <p:cNvPr id="329" name="Grupo 328">
                  <a:extLst>
                    <a:ext uri="{FF2B5EF4-FFF2-40B4-BE49-F238E27FC236}">
                      <a16:creationId xmlns:a16="http://schemas.microsoft.com/office/drawing/2014/main" id="{6FE27894-EC08-46B8-8E22-77843492A4B6}"/>
                    </a:ext>
                  </a:extLst>
                </p:cNvPr>
                <p:cNvGrpSpPr/>
                <p:nvPr/>
              </p:nvGrpSpPr>
              <p:grpSpPr>
                <a:xfrm>
                  <a:off x="11961017" y="797400"/>
                  <a:ext cx="312855" cy="160018"/>
                  <a:chOff x="10457075" y="2470064"/>
                  <a:chExt cx="431319" cy="225978"/>
                </a:xfrm>
              </p:grpSpPr>
              <p:sp>
                <p:nvSpPr>
                  <p:cNvPr id="352" name="Rectángulo 351">
                    <a:extLst>
                      <a:ext uri="{FF2B5EF4-FFF2-40B4-BE49-F238E27FC236}">
                        <a16:creationId xmlns:a16="http://schemas.microsoft.com/office/drawing/2014/main" id="{04ACDD06-FC2A-4352-88C7-6C138B84F05F}"/>
                      </a:ext>
                    </a:extLst>
                  </p:cNvPr>
                  <p:cNvSpPr/>
                  <p:nvPr/>
                </p:nvSpPr>
                <p:spPr>
                  <a:xfrm>
                    <a:off x="10457075" y="2470064"/>
                    <a:ext cx="431319" cy="22597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53" name="Rectángulo 352">
                    <a:extLst>
                      <a:ext uri="{FF2B5EF4-FFF2-40B4-BE49-F238E27FC236}">
                        <a16:creationId xmlns:a16="http://schemas.microsoft.com/office/drawing/2014/main" id="{F32440F8-412E-467A-B974-E64B50D4631E}"/>
                      </a:ext>
                    </a:extLst>
                  </p:cNvPr>
                  <p:cNvSpPr/>
                  <p:nvPr/>
                </p:nvSpPr>
                <p:spPr>
                  <a:xfrm>
                    <a:off x="10526090"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
              <p:nvSpPr>
                <p:cNvPr id="330" name="CuadroTexto 329">
                  <a:extLst>
                    <a:ext uri="{FF2B5EF4-FFF2-40B4-BE49-F238E27FC236}">
                      <a16:creationId xmlns:a16="http://schemas.microsoft.com/office/drawing/2014/main" id="{94AE42DD-0294-4C68-9180-8CEEAFF021A8}"/>
                    </a:ext>
                  </a:extLst>
                </p:cNvPr>
                <p:cNvSpPr txBox="1"/>
                <p:nvPr/>
              </p:nvSpPr>
              <p:spPr>
                <a:xfrm>
                  <a:off x="12307497" y="743712"/>
                  <a:ext cx="669426" cy="200055"/>
                </a:xfrm>
                <a:prstGeom prst="rect">
                  <a:avLst/>
                </a:prstGeom>
                <a:noFill/>
              </p:spPr>
              <p:txBody>
                <a:bodyPr wrap="square" rtlCol="0">
                  <a:spAutoFit/>
                </a:bodyPr>
                <a:lstStyle/>
                <a:p>
                  <a:r>
                    <a:rPr lang="es-ES" sz="700" dirty="0"/>
                    <a:t>Token JWT </a:t>
                  </a:r>
                </a:p>
              </p:txBody>
            </p:sp>
            <p:cxnSp>
              <p:nvCxnSpPr>
                <p:cNvPr id="331" name="25 Conector recto de flecha">
                  <a:extLst>
                    <a:ext uri="{FF2B5EF4-FFF2-40B4-BE49-F238E27FC236}">
                      <a16:creationId xmlns:a16="http://schemas.microsoft.com/office/drawing/2014/main" id="{1DBCE5AA-720C-44D5-94E5-158EC3C1D724}"/>
                    </a:ext>
                  </a:extLst>
                </p:cNvPr>
                <p:cNvCxnSpPr>
                  <a:cxnSpLocks/>
                </p:cNvCxnSpPr>
                <p:nvPr/>
              </p:nvCxnSpPr>
              <p:spPr bwMode="auto">
                <a:xfrm>
                  <a:off x="11028492" y="633022"/>
                  <a:ext cx="256340" cy="4026"/>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32" name="TextBox 181">
                  <a:extLst>
                    <a:ext uri="{FF2B5EF4-FFF2-40B4-BE49-F238E27FC236}">
                      <a16:creationId xmlns:a16="http://schemas.microsoft.com/office/drawing/2014/main" id="{3C3B7C36-C9B7-406D-9A2B-0977E05454B2}"/>
                    </a:ext>
                  </a:extLst>
                </p:cNvPr>
                <p:cNvSpPr txBox="1">
                  <a:spLocks noChangeArrowheads="1"/>
                </p:cNvSpPr>
                <p:nvPr/>
              </p:nvSpPr>
              <p:spPr bwMode="auto">
                <a:xfrm>
                  <a:off x="11232639" y="529040"/>
                  <a:ext cx="38985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800" b="0" dirty="0">
                      <a:solidFill>
                        <a:srgbClr val="000000"/>
                      </a:solidFill>
                      <a:latin typeface="Calibri" pitchFamily="34" charset="0"/>
                      <a:cs typeface="Arial" charset="0"/>
                    </a:rPr>
                    <a:t>JDBC</a:t>
                  </a:r>
                </a:p>
              </p:txBody>
            </p:sp>
            <p:sp>
              <p:nvSpPr>
                <p:cNvPr id="333" name="CuadroTexto 332">
                  <a:extLst>
                    <a:ext uri="{FF2B5EF4-FFF2-40B4-BE49-F238E27FC236}">
                      <a16:creationId xmlns:a16="http://schemas.microsoft.com/office/drawing/2014/main" id="{FF833918-9093-4526-B2FD-AD4AE91B2119}"/>
                    </a:ext>
                  </a:extLst>
                </p:cNvPr>
                <p:cNvSpPr txBox="1"/>
                <p:nvPr/>
              </p:nvSpPr>
              <p:spPr>
                <a:xfrm>
                  <a:off x="12313921" y="1569335"/>
                  <a:ext cx="669426" cy="200586"/>
                </a:xfrm>
                <a:prstGeom prst="rect">
                  <a:avLst/>
                </a:prstGeom>
                <a:noFill/>
              </p:spPr>
              <p:txBody>
                <a:bodyPr wrap="square" rtlCol="0">
                  <a:spAutoFit/>
                </a:bodyPr>
                <a:lstStyle/>
                <a:p>
                  <a:r>
                    <a:rPr lang="es-ES" sz="700" dirty="0"/>
                    <a:t>Nuevo</a:t>
                  </a:r>
                </a:p>
              </p:txBody>
            </p:sp>
            <p:sp>
              <p:nvSpPr>
                <p:cNvPr id="334" name="Oval 18">
                  <a:extLst>
                    <a:ext uri="{FF2B5EF4-FFF2-40B4-BE49-F238E27FC236}">
                      <a16:creationId xmlns:a16="http://schemas.microsoft.com/office/drawing/2014/main" id="{2D18CB21-24C7-47B1-A456-66AB9B886CC9}"/>
                    </a:ext>
                  </a:extLst>
                </p:cNvPr>
                <p:cNvSpPr>
                  <a:spLocks noChangeArrowheads="1"/>
                </p:cNvSpPr>
                <p:nvPr/>
              </p:nvSpPr>
              <p:spPr bwMode="auto">
                <a:xfrm>
                  <a:off x="12026399" y="1290511"/>
                  <a:ext cx="227639" cy="228522"/>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M</a:t>
                  </a:r>
                </a:p>
              </p:txBody>
            </p:sp>
            <p:sp>
              <p:nvSpPr>
                <p:cNvPr id="337" name="CuadroTexto 336">
                  <a:extLst>
                    <a:ext uri="{FF2B5EF4-FFF2-40B4-BE49-F238E27FC236}">
                      <a16:creationId xmlns:a16="http://schemas.microsoft.com/office/drawing/2014/main" id="{C60DC7A4-6B8C-4A44-85F3-ECE886D2D655}"/>
                    </a:ext>
                  </a:extLst>
                </p:cNvPr>
                <p:cNvSpPr txBox="1"/>
                <p:nvPr/>
              </p:nvSpPr>
              <p:spPr>
                <a:xfrm>
                  <a:off x="12304376" y="1285076"/>
                  <a:ext cx="669426" cy="200586"/>
                </a:xfrm>
                <a:prstGeom prst="rect">
                  <a:avLst/>
                </a:prstGeom>
                <a:noFill/>
              </p:spPr>
              <p:txBody>
                <a:bodyPr wrap="square" rtlCol="0">
                  <a:spAutoFit/>
                </a:bodyPr>
                <a:lstStyle/>
                <a:p>
                  <a:r>
                    <a:rPr lang="es-ES" sz="700" dirty="0"/>
                    <a:t>Modificado</a:t>
                  </a:r>
                </a:p>
              </p:txBody>
            </p:sp>
            <p:grpSp>
              <p:nvGrpSpPr>
                <p:cNvPr id="338" name="Grupo 337">
                  <a:extLst>
                    <a:ext uri="{FF2B5EF4-FFF2-40B4-BE49-F238E27FC236}">
                      <a16:creationId xmlns:a16="http://schemas.microsoft.com/office/drawing/2014/main" id="{22D5BD05-4C08-4DD8-AC76-E87711B9A68F}"/>
                    </a:ext>
                  </a:extLst>
                </p:cNvPr>
                <p:cNvGrpSpPr/>
                <p:nvPr/>
              </p:nvGrpSpPr>
              <p:grpSpPr>
                <a:xfrm>
                  <a:off x="11039648" y="1248355"/>
                  <a:ext cx="312855" cy="160018"/>
                  <a:chOff x="10438259" y="2778444"/>
                  <a:chExt cx="431319" cy="225978"/>
                </a:xfrm>
              </p:grpSpPr>
              <p:sp>
                <p:nvSpPr>
                  <p:cNvPr id="350" name="Rectángulo 349">
                    <a:extLst>
                      <a:ext uri="{FF2B5EF4-FFF2-40B4-BE49-F238E27FC236}">
                        <a16:creationId xmlns:a16="http://schemas.microsoft.com/office/drawing/2014/main" id="{F7E86D78-ACD4-4C82-AB82-6233FB1E9666}"/>
                      </a:ext>
                    </a:extLst>
                  </p:cNvPr>
                  <p:cNvSpPr/>
                  <p:nvPr/>
                </p:nvSpPr>
                <p:spPr>
                  <a:xfrm>
                    <a:off x="10438259" y="2778444"/>
                    <a:ext cx="431319" cy="22597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51" name="Rectángulo 350">
                    <a:extLst>
                      <a:ext uri="{FF2B5EF4-FFF2-40B4-BE49-F238E27FC236}">
                        <a16:creationId xmlns:a16="http://schemas.microsoft.com/office/drawing/2014/main" id="{5A8C77DE-186A-4C4E-91DD-D91D5C420F21}"/>
                      </a:ext>
                    </a:extLst>
                  </p:cNvPr>
                  <p:cNvSpPr/>
                  <p:nvPr/>
                </p:nvSpPr>
                <p:spPr>
                  <a:xfrm>
                    <a:off x="10507274" y="2848338"/>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339" name="Grupo 338">
                  <a:extLst>
                    <a:ext uri="{FF2B5EF4-FFF2-40B4-BE49-F238E27FC236}">
                      <a16:creationId xmlns:a16="http://schemas.microsoft.com/office/drawing/2014/main" id="{D3377C95-BEA6-4CC4-B787-96A7B716C5D9}"/>
                    </a:ext>
                  </a:extLst>
                </p:cNvPr>
                <p:cNvGrpSpPr/>
                <p:nvPr/>
              </p:nvGrpSpPr>
              <p:grpSpPr>
                <a:xfrm>
                  <a:off x="11968121" y="567310"/>
                  <a:ext cx="312855" cy="160018"/>
                  <a:chOff x="10494707" y="2470064"/>
                  <a:chExt cx="431319" cy="225978"/>
                </a:xfrm>
              </p:grpSpPr>
              <p:sp>
                <p:nvSpPr>
                  <p:cNvPr id="348" name="Rectángulo 347">
                    <a:extLst>
                      <a:ext uri="{FF2B5EF4-FFF2-40B4-BE49-F238E27FC236}">
                        <a16:creationId xmlns:a16="http://schemas.microsoft.com/office/drawing/2014/main" id="{B78E2C92-893A-48E2-A983-FC46D3CEB923}"/>
                      </a:ext>
                    </a:extLst>
                  </p:cNvPr>
                  <p:cNvSpPr/>
                  <p:nvPr/>
                </p:nvSpPr>
                <p:spPr>
                  <a:xfrm>
                    <a:off x="10494707" y="2470064"/>
                    <a:ext cx="431319" cy="225978"/>
                  </a:xfrm>
                  <a:prstGeom prst="rect">
                    <a:avLst/>
                  </a:prstGeom>
                  <a:solidFill>
                    <a:schemeClr val="tx2">
                      <a:lumMod val="75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49" name="Rectángulo 348">
                    <a:extLst>
                      <a:ext uri="{FF2B5EF4-FFF2-40B4-BE49-F238E27FC236}">
                        <a16:creationId xmlns:a16="http://schemas.microsoft.com/office/drawing/2014/main" id="{E415DE42-AF9E-44FB-8C12-92ABF2D0344C}"/>
                      </a:ext>
                    </a:extLst>
                  </p:cNvPr>
                  <p:cNvSpPr/>
                  <p:nvPr/>
                </p:nvSpPr>
                <p:spPr>
                  <a:xfrm>
                    <a:off x="10563722"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
              <p:nvSpPr>
                <p:cNvPr id="340" name="CuadroTexto 339">
                  <a:extLst>
                    <a:ext uri="{FF2B5EF4-FFF2-40B4-BE49-F238E27FC236}">
                      <a16:creationId xmlns:a16="http://schemas.microsoft.com/office/drawing/2014/main" id="{738DBC4D-8DAC-4ACA-9A19-1BBBB1BD7BA0}"/>
                    </a:ext>
                  </a:extLst>
                </p:cNvPr>
                <p:cNvSpPr txBox="1"/>
                <p:nvPr/>
              </p:nvSpPr>
              <p:spPr>
                <a:xfrm>
                  <a:off x="12288367" y="554986"/>
                  <a:ext cx="840862" cy="200055"/>
                </a:xfrm>
                <a:prstGeom prst="rect">
                  <a:avLst/>
                </a:prstGeom>
                <a:noFill/>
              </p:spPr>
              <p:txBody>
                <a:bodyPr wrap="square" rtlCol="0">
                  <a:spAutoFit/>
                </a:bodyPr>
                <a:lstStyle/>
                <a:p>
                  <a:r>
                    <a:rPr lang="es-ES" sz="700" dirty="0"/>
                    <a:t>User/Password</a:t>
                  </a:r>
                </a:p>
              </p:txBody>
            </p:sp>
            <p:grpSp>
              <p:nvGrpSpPr>
                <p:cNvPr id="341" name="Grupo 340">
                  <a:extLst>
                    <a:ext uri="{FF2B5EF4-FFF2-40B4-BE49-F238E27FC236}">
                      <a16:creationId xmlns:a16="http://schemas.microsoft.com/office/drawing/2014/main" id="{A328A33F-A673-449B-8AB4-3A12FAEAD29A}"/>
                    </a:ext>
                  </a:extLst>
                </p:cNvPr>
                <p:cNvGrpSpPr/>
                <p:nvPr/>
              </p:nvGrpSpPr>
              <p:grpSpPr>
                <a:xfrm>
                  <a:off x="11043632" y="943863"/>
                  <a:ext cx="312855" cy="160018"/>
                  <a:chOff x="10457075" y="2720626"/>
                  <a:chExt cx="431319" cy="225978"/>
                </a:xfrm>
              </p:grpSpPr>
              <p:sp>
                <p:nvSpPr>
                  <p:cNvPr id="346" name="Rectángulo 345">
                    <a:extLst>
                      <a:ext uri="{FF2B5EF4-FFF2-40B4-BE49-F238E27FC236}">
                        <a16:creationId xmlns:a16="http://schemas.microsoft.com/office/drawing/2014/main" id="{0759C75C-815C-4227-BE67-3D7C67881981}"/>
                      </a:ext>
                    </a:extLst>
                  </p:cNvPr>
                  <p:cNvSpPr/>
                  <p:nvPr/>
                </p:nvSpPr>
                <p:spPr>
                  <a:xfrm>
                    <a:off x="10457075" y="2720626"/>
                    <a:ext cx="431319" cy="225978"/>
                  </a:xfrm>
                  <a:prstGeom prst="rect">
                    <a:avLst/>
                  </a:prstGeom>
                  <a:solidFill>
                    <a:srgbClr val="FF00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47" name="Rectángulo 346">
                    <a:extLst>
                      <a:ext uri="{FF2B5EF4-FFF2-40B4-BE49-F238E27FC236}">
                        <a16:creationId xmlns:a16="http://schemas.microsoft.com/office/drawing/2014/main" id="{CDE5215C-B3E2-4570-AB09-1C3415650FEB}"/>
                      </a:ext>
                    </a:extLst>
                  </p:cNvPr>
                  <p:cNvSpPr/>
                  <p:nvPr/>
                </p:nvSpPr>
                <p:spPr>
                  <a:xfrm>
                    <a:off x="10526090" y="2790520"/>
                    <a:ext cx="290153" cy="95383"/>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
              <p:nvSpPr>
                <p:cNvPr id="342" name="CuadroTexto 341">
                  <a:extLst>
                    <a:ext uri="{FF2B5EF4-FFF2-40B4-BE49-F238E27FC236}">
                      <a16:creationId xmlns:a16="http://schemas.microsoft.com/office/drawing/2014/main" id="{3BB82E97-73B5-4889-B4C4-BCA74C1243E3}"/>
                    </a:ext>
                  </a:extLst>
                </p:cNvPr>
                <p:cNvSpPr txBox="1"/>
                <p:nvPr/>
              </p:nvSpPr>
              <p:spPr>
                <a:xfrm>
                  <a:off x="11336335" y="1541586"/>
                  <a:ext cx="669426" cy="200055"/>
                </a:xfrm>
                <a:prstGeom prst="rect">
                  <a:avLst/>
                </a:prstGeom>
                <a:noFill/>
              </p:spPr>
              <p:txBody>
                <a:bodyPr wrap="square" rtlCol="0">
                  <a:spAutoFit/>
                </a:bodyPr>
                <a:lstStyle/>
                <a:p>
                  <a:r>
                    <a:rPr lang="es-ES" sz="700" dirty="0"/>
                    <a:t>Cookie BKS</a:t>
                  </a:r>
                </a:p>
              </p:txBody>
            </p:sp>
            <p:sp>
              <p:nvSpPr>
                <p:cNvPr id="343" name="Oval 18">
                  <a:extLst>
                    <a:ext uri="{FF2B5EF4-FFF2-40B4-BE49-F238E27FC236}">
                      <a16:creationId xmlns:a16="http://schemas.microsoft.com/office/drawing/2014/main" id="{92B8A594-4D89-49E5-BAA6-C312A1322867}"/>
                    </a:ext>
                  </a:extLst>
                </p:cNvPr>
                <p:cNvSpPr>
                  <a:spLocks noChangeArrowheads="1"/>
                </p:cNvSpPr>
                <p:nvPr/>
              </p:nvSpPr>
              <p:spPr bwMode="auto">
                <a:xfrm>
                  <a:off x="12020663" y="1016365"/>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sp>
              <p:nvSpPr>
                <p:cNvPr id="344" name="CuadroTexto 343">
                  <a:extLst>
                    <a:ext uri="{FF2B5EF4-FFF2-40B4-BE49-F238E27FC236}">
                      <a16:creationId xmlns:a16="http://schemas.microsoft.com/office/drawing/2014/main" id="{250EC116-2FDC-4682-B216-FAB3D0AEAC26}"/>
                    </a:ext>
                  </a:extLst>
                </p:cNvPr>
                <p:cNvSpPr txBox="1"/>
                <p:nvPr/>
              </p:nvSpPr>
              <p:spPr>
                <a:xfrm>
                  <a:off x="12310641" y="1031295"/>
                  <a:ext cx="669426" cy="200586"/>
                </a:xfrm>
                <a:prstGeom prst="rect">
                  <a:avLst/>
                </a:prstGeom>
                <a:noFill/>
              </p:spPr>
              <p:txBody>
                <a:bodyPr wrap="square" rtlCol="0">
                  <a:spAutoFit/>
                </a:bodyPr>
                <a:lstStyle/>
                <a:p>
                  <a:r>
                    <a:rPr lang="es-ES" sz="700" dirty="0"/>
                    <a:t>Existente</a:t>
                  </a:r>
                </a:p>
              </p:txBody>
            </p:sp>
          </p:grpSp>
          <p:sp>
            <p:nvSpPr>
              <p:cNvPr id="312" name="Rectángulo 311">
                <a:extLst>
                  <a:ext uri="{FF2B5EF4-FFF2-40B4-BE49-F238E27FC236}">
                    <a16:creationId xmlns:a16="http://schemas.microsoft.com/office/drawing/2014/main" id="{642A933A-6388-4595-9125-ED37EAAF0437}"/>
                  </a:ext>
                </a:extLst>
              </p:cNvPr>
              <p:cNvSpPr/>
              <p:nvPr/>
            </p:nvSpPr>
            <p:spPr>
              <a:xfrm>
                <a:off x="11040222" y="1541932"/>
                <a:ext cx="312855" cy="16001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14" name="Rectángulo 313">
                <a:extLst>
                  <a:ext uri="{FF2B5EF4-FFF2-40B4-BE49-F238E27FC236}">
                    <a16:creationId xmlns:a16="http://schemas.microsoft.com/office/drawing/2014/main" id="{95F5BE0B-179B-48E2-81D2-A880B06A5DCD}"/>
                  </a:ext>
                </a:extLst>
              </p:cNvPr>
              <p:cNvSpPr/>
              <p:nvPr/>
            </p:nvSpPr>
            <p:spPr>
              <a:xfrm>
                <a:off x="11088366" y="1560981"/>
                <a:ext cx="210461" cy="6754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15" name="CuadroTexto 314">
                <a:extLst>
                  <a:ext uri="{FF2B5EF4-FFF2-40B4-BE49-F238E27FC236}">
                    <a16:creationId xmlns:a16="http://schemas.microsoft.com/office/drawing/2014/main" id="{20A241DA-4E89-4830-9C78-FEE1E5DBD426}"/>
                  </a:ext>
                </a:extLst>
              </p:cNvPr>
              <p:cNvSpPr txBox="1"/>
              <p:nvPr/>
            </p:nvSpPr>
            <p:spPr>
              <a:xfrm>
                <a:off x="11335059" y="1242096"/>
                <a:ext cx="669426" cy="200055"/>
              </a:xfrm>
              <a:prstGeom prst="rect">
                <a:avLst/>
              </a:prstGeom>
              <a:noFill/>
            </p:spPr>
            <p:txBody>
              <a:bodyPr wrap="square" rtlCol="0">
                <a:spAutoFit/>
              </a:bodyPr>
              <a:lstStyle/>
              <a:p>
                <a:r>
                  <a:rPr lang="es-ES" sz="700" dirty="0"/>
                  <a:t>Token  BKS</a:t>
                </a:r>
              </a:p>
            </p:txBody>
          </p:sp>
          <p:cxnSp>
            <p:nvCxnSpPr>
              <p:cNvPr id="316" name="25 Conector recto de flecha">
                <a:extLst>
                  <a:ext uri="{FF2B5EF4-FFF2-40B4-BE49-F238E27FC236}">
                    <a16:creationId xmlns:a16="http://schemas.microsoft.com/office/drawing/2014/main" id="{3BA2B267-D714-4E42-8A4E-313AA8A6A7BC}"/>
                  </a:ext>
                </a:extLst>
              </p:cNvPr>
              <p:cNvCxnSpPr/>
              <p:nvPr/>
            </p:nvCxnSpPr>
            <p:spPr bwMode="auto">
              <a:xfrm>
                <a:off x="11034140" y="122183"/>
                <a:ext cx="256340" cy="4026"/>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298" name="TextBox 181">
              <a:extLst>
                <a:ext uri="{FF2B5EF4-FFF2-40B4-BE49-F238E27FC236}">
                  <a16:creationId xmlns:a16="http://schemas.microsoft.com/office/drawing/2014/main" id="{6EAC10FF-1B09-4F21-8E77-14CF6422CEF5}"/>
                </a:ext>
              </a:extLst>
            </p:cNvPr>
            <p:cNvSpPr txBox="1">
              <a:spLocks noChangeArrowheads="1"/>
            </p:cNvSpPr>
            <p:nvPr/>
          </p:nvSpPr>
          <p:spPr bwMode="auto">
            <a:xfrm>
              <a:off x="11215549" y="658084"/>
              <a:ext cx="41069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800" b="0" dirty="0">
                  <a:solidFill>
                    <a:srgbClr val="000000"/>
                  </a:solidFill>
                  <a:latin typeface="Calibri" pitchFamily="34" charset="0"/>
                  <a:cs typeface="Arial" charset="0"/>
                </a:rPr>
                <a:t>SOAP</a:t>
              </a:r>
            </a:p>
          </p:txBody>
        </p:sp>
        <p:sp>
          <p:nvSpPr>
            <p:cNvPr id="299" name="TextBox 181">
              <a:extLst>
                <a:ext uri="{FF2B5EF4-FFF2-40B4-BE49-F238E27FC236}">
                  <a16:creationId xmlns:a16="http://schemas.microsoft.com/office/drawing/2014/main" id="{13514994-E12F-45A7-B4D4-A50BB66E74DB}"/>
                </a:ext>
              </a:extLst>
            </p:cNvPr>
            <p:cNvSpPr txBox="1">
              <a:spLocks noChangeArrowheads="1"/>
            </p:cNvSpPr>
            <p:nvPr/>
          </p:nvSpPr>
          <p:spPr bwMode="auto">
            <a:xfrm>
              <a:off x="11245046" y="1288120"/>
              <a:ext cx="39466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800" b="0" dirty="0" err="1">
                  <a:solidFill>
                    <a:srgbClr val="000000"/>
                  </a:solidFill>
                  <a:latin typeface="Calibri" pitchFamily="34" charset="0"/>
                  <a:cs typeface="Arial" charset="0"/>
                </a:rPr>
                <a:t>smtp</a:t>
              </a:r>
              <a:endParaRPr lang="es-ES" altLang="es-ES" sz="800" b="0" dirty="0">
                <a:solidFill>
                  <a:srgbClr val="000000"/>
                </a:solidFill>
                <a:latin typeface="Calibri" pitchFamily="34" charset="0"/>
                <a:cs typeface="Arial" charset="0"/>
              </a:endParaRPr>
            </a:p>
          </p:txBody>
        </p:sp>
        <p:cxnSp>
          <p:nvCxnSpPr>
            <p:cNvPr id="301" name="25 Conector recto de flecha">
              <a:extLst>
                <a:ext uri="{FF2B5EF4-FFF2-40B4-BE49-F238E27FC236}">
                  <a16:creationId xmlns:a16="http://schemas.microsoft.com/office/drawing/2014/main" id="{FFF3AB72-2F3A-486C-940F-8A65B69B5794}"/>
                </a:ext>
              </a:extLst>
            </p:cNvPr>
            <p:cNvCxnSpPr/>
            <p:nvPr/>
          </p:nvCxnSpPr>
          <p:spPr bwMode="auto">
            <a:xfrm>
              <a:off x="11035915" y="1408769"/>
              <a:ext cx="256340" cy="4026"/>
            </a:xfrm>
            <a:prstGeom prst="straightConnector1">
              <a:avLst/>
            </a:prstGeom>
            <a:ln w="25400">
              <a:solidFill>
                <a:srgbClr val="AA4F26"/>
              </a:solidFill>
              <a:tailEnd type="triangle"/>
            </a:ln>
          </p:spPr>
          <p:style>
            <a:lnRef idx="1">
              <a:schemeClr val="accent1"/>
            </a:lnRef>
            <a:fillRef idx="0">
              <a:schemeClr val="accent1"/>
            </a:fillRef>
            <a:effectRef idx="0">
              <a:schemeClr val="accent1"/>
            </a:effectRef>
            <a:fontRef idx="minor">
              <a:schemeClr val="tx1"/>
            </a:fontRef>
          </p:style>
        </p:cxnSp>
        <p:sp>
          <p:nvSpPr>
            <p:cNvPr id="302" name="Oval 18">
              <a:extLst>
                <a:ext uri="{FF2B5EF4-FFF2-40B4-BE49-F238E27FC236}">
                  <a16:creationId xmlns:a16="http://schemas.microsoft.com/office/drawing/2014/main" id="{DC443659-971D-4809-8338-823056314BAD}"/>
                </a:ext>
              </a:extLst>
            </p:cNvPr>
            <p:cNvSpPr>
              <a:spLocks noChangeArrowheads="1"/>
            </p:cNvSpPr>
            <p:nvPr/>
          </p:nvSpPr>
          <p:spPr bwMode="auto">
            <a:xfrm>
              <a:off x="12033820" y="2190789"/>
              <a:ext cx="226800" cy="224342"/>
            </a:xfrm>
            <a:prstGeom prst="ellipse">
              <a:avLst/>
            </a:prstGeom>
            <a:solidFill>
              <a:srgbClr val="FF0000"/>
            </a:solidFill>
            <a:ln w="9525">
              <a:solidFill>
                <a:sysClr val="windowText" lastClr="000000">
                  <a:shade val="95000"/>
                  <a:satMod val="105000"/>
                </a:sys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s-ES" altLang="es-ES" sz="1200" b="1" i="0" u="none" strike="noStrike" kern="1200" cap="none" spc="0" normalizeH="0" baseline="0" noProof="0" dirty="0">
                  <a:ln>
                    <a:noFill/>
                  </a:ln>
                  <a:solidFill>
                    <a:prstClr val="white"/>
                  </a:solidFill>
                  <a:effectLst/>
                  <a:uLnTx/>
                  <a:uFillTx/>
                  <a:latin typeface="Arial" pitchFamily="34" charset="0"/>
                  <a:ea typeface="+mn-ea"/>
                  <a:cs typeface="+mn-cs"/>
                </a:rPr>
                <a:t>N</a:t>
              </a:r>
            </a:p>
          </p:txBody>
        </p:sp>
      </p:grpSp>
      <p:sp>
        <p:nvSpPr>
          <p:cNvPr id="431" name="Elipse 430">
            <a:extLst>
              <a:ext uri="{FF2B5EF4-FFF2-40B4-BE49-F238E27FC236}">
                <a16:creationId xmlns:a16="http://schemas.microsoft.com/office/drawing/2014/main" id="{8265CF0B-2695-47B4-A66D-72DFC74D74F3}"/>
              </a:ext>
            </a:extLst>
          </p:cNvPr>
          <p:cNvSpPr/>
          <p:nvPr/>
        </p:nvSpPr>
        <p:spPr>
          <a:xfrm>
            <a:off x="296229" y="1899421"/>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1</a:t>
            </a:r>
          </a:p>
        </p:txBody>
      </p:sp>
      <p:sp>
        <p:nvSpPr>
          <p:cNvPr id="438" name="Oval 18">
            <a:extLst>
              <a:ext uri="{FF2B5EF4-FFF2-40B4-BE49-F238E27FC236}">
                <a16:creationId xmlns:a16="http://schemas.microsoft.com/office/drawing/2014/main" id="{57B09F75-9335-48EB-B6D4-8444D4A55600}"/>
              </a:ext>
            </a:extLst>
          </p:cNvPr>
          <p:cNvSpPr>
            <a:spLocks noChangeArrowheads="1"/>
          </p:cNvSpPr>
          <p:nvPr/>
        </p:nvSpPr>
        <p:spPr bwMode="auto">
          <a:xfrm>
            <a:off x="2626951" y="1271224"/>
            <a:ext cx="227639" cy="228522"/>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900" dirty="0">
                <a:solidFill>
                  <a:schemeClr val="bg1"/>
                </a:solidFill>
              </a:rPr>
              <a:t>N</a:t>
            </a:r>
          </a:p>
        </p:txBody>
      </p:sp>
      <p:sp>
        <p:nvSpPr>
          <p:cNvPr id="143" name="Rectángulo redondeado 15">
            <a:extLst>
              <a:ext uri="{FF2B5EF4-FFF2-40B4-BE49-F238E27FC236}">
                <a16:creationId xmlns:a16="http://schemas.microsoft.com/office/drawing/2014/main" id="{6102A0D0-A848-46D3-A7FA-8FDB7368BCD9}"/>
              </a:ext>
            </a:extLst>
          </p:cNvPr>
          <p:cNvSpPr/>
          <p:nvPr/>
        </p:nvSpPr>
        <p:spPr bwMode="auto">
          <a:xfrm>
            <a:off x="4548193" y="1545009"/>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44" name="161 Imagen">
            <a:extLst>
              <a:ext uri="{FF2B5EF4-FFF2-40B4-BE49-F238E27FC236}">
                <a16:creationId xmlns:a16="http://schemas.microsoft.com/office/drawing/2014/main" id="{5CD37BE5-9DE0-42BF-BC16-170655F74A1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02723" y="1601804"/>
            <a:ext cx="606904" cy="128673"/>
          </a:xfrm>
          <a:prstGeom prst="rect">
            <a:avLst/>
          </a:prstGeom>
        </p:spPr>
      </p:pic>
      <p:sp>
        <p:nvSpPr>
          <p:cNvPr id="145" name="2 CuadroTexto">
            <a:extLst>
              <a:ext uri="{FF2B5EF4-FFF2-40B4-BE49-F238E27FC236}">
                <a16:creationId xmlns:a16="http://schemas.microsoft.com/office/drawing/2014/main" id="{B9EACDB2-5044-443C-AD0B-E2D08AAFA69D}"/>
              </a:ext>
            </a:extLst>
          </p:cNvPr>
          <p:cNvSpPr txBox="1">
            <a:spLocks noChangeArrowheads="1"/>
          </p:cNvSpPr>
          <p:nvPr/>
        </p:nvSpPr>
        <p:spPr bwMode="auto">
          <a:xfrm>
            <a:off x="4356064" y="1676271"/>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Alta tramitación Orquestador</a:t>
            </a:r>
          </a:p>
        </p:txBody>
      </p:sp>
      <p:sp>
        <p:nvSpPr>
          <p:cNvPr id="146" name="Rectángulo redondeado 15">
            <a:extLst>
              <a:ext uri="{FF2B5EF4-FFF2-40B4-BE49-F238E27FC236}">
                <a16:creationId xmlns:a16="http://schemas.microsoft.com/office/drawing/2014/main" id="{319D8A34-2708-4F06-A139-B9015FE828EB}"/>
              </a:ext>
            </a:extLst>
          </p:cNvPr>
          <p:cNvSpPr/>
          <p:nvPr/>
        </p:nvSpPr>
        <p:spPr bwMode="auto">
          <a:xfrm>
            <a:off x="4567845" y="2095339"/>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47" name="161 Imagen">
            <a:extLst>
              <a:ext uri="{FF2B5EF4-FFF2-40B4-BE49-F238E27FC236}">
                <a16:creationId xmlns:a16="http://schemas.microsoft.com/office/drawing/2014/main" id="{FF2442F5-FA29-4A73-9C60-8FB58CC4224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32810" y="2108461"/>
            <a:ext cx="606904" cy="128673"/>
          </a:xfrm>
          <a:prstGeom prst="rect">
            <a:avLst/>
          </a:prstGeom>
        </p:spPr>
      </p:pic>
      <p:sp>
        <p:nvSpPr>
          <p:cNvPr id="148" name="2 CuadroTexto">
            <a:extLst>
              <a:ext uri="{FF2B5EF4-FFF2-40B4-BE49-F238E27FC236}">
                <a16:creationId xmlns:a16="http://schemas.microsoft.com/office/drawing/2014/main" id="{50D4B23B-AA4A-4546-BFB0-8871CEC35FC9}"/>
              </a:ext>
            </a:extLst>
          </p:cNvPr>
          <p:cNvSpPr txBox="1">
            <a:spLocks noChangeArrowheads="1"/>
          </p:cNvSpPr>
          <p:nvPr/>
        </p:nvSpPr>
        <p:spPr bwMode="auto">
          <a:xfrm>
            <a:off x="4421383" y="2177010"/>
            <a:ext cx="1342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Expediente </a:t>
            </a:r>
            <a:r>
              <a:rPr lang="es-ES" altLang="es-ES" sz="1000" dirty="0" err="1">
                <a:solidFill>
                  <a:schemeClr val="tx1"/>
                </a:solidFill>
              </a:rPr>
              <a:t>write</a:t>
            </a:r>
            <a:endParaRPr lang="es-ES" altLang="es-ES" sz="1000" dirty="0">
              <a:solidFill>
                <a:schemeClr val="tx1"/>
              </a:solidFill>
            </a:endParaRPr>
          </a:p>
        </p:txBody>
      </p:sp>
      <p:sp>
        <p:nvSpPr>
          <p:cNvPr id="149" name="Rectángulo redondeado 15">
            <a:extLst>
              <a:ext uri="{FF2B5EF4-FFF2-40B4-BE49-F238E27FC236}">
                <a16:creationId xmlns:a16="http://schemas.microsoft.com/office/drawing/2014/main" id="{67A39E17-0778-4CA7-B360-41D66DA57852}"/>
              </a:ext>
            </a:extLst>
          </p:cNvPr>
          <p:cNvSpPr/>
          <p:nvPr/>
        </p:nvSpPr>
        <p:spPr bwMode="auto">
          <a:xfrm>
            <a:off x="4566911" y="2679795"/>
            <a:ext cx="1083419" cy="442715"/>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50" name="161 Imagen">
            <a:extLst>
              <a:ext uri="{FF2B5EF4-FFF2-40B4-BE49-F238E27FC236}">
                <a16:creationId xmlns:a16="http://schemas.microsoft.com/office/drawing/2014/main" id="{0AF01865-38BA-4E03-8A9E-AE7E993D875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58359" y="2723193"/>
            <a:ext cx="606904" cy="128673"/>
          </a:xfrm>
          <a:prstGeom prst="rect">
            <a:avLst/>
          </a:prstGeom>
        </p:spPr>
      </p:pic>
      <p:sp>
        <p:nvSpPr>
          <p:cNvPr id="152" name="2 CuadroTexto">
            <a:extLst>
              <a:ext uri="{FF2B5EF4-FFF2-40B4-BE49-F238E27FC236}">
                <a16:creationId xmlns:a16="http://schemas.microsoft.com/office/drawing/2014/main" id="{B38E79EC-ADE4-4169-A09F-0109F8BC550D}"/>
              </a:ext>
            </a:extLst>
          </p:cNvPr>
          <p:cNvSpPr txBox="1">
            <a:spLocks noChangeArrowheads="1"/>
          </p:cNvSpPr>
          <p:nvPr/>
        </p:nvSpPr>
        <p:spPr bwMode="auto">
          <a:xfrm>
            <a:off x="4438951" y="2811057"/>
            <a:ext cx="1342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Expediente </a:t>
            </a:r>
            <a:r>
              <a:rPr lang="es-ES" altLang="es-ES" sz="1000" dirty="0" err="1">
                <a:solidFill>
                  <a:schemeClr val="tx1"/>
                </a:solidFill>
              </a:rPr>
              <a:t>Read</a:t>
            </a:r>
            <a:endParaRPr lang="es-ES" altLang="es-ES" sz="1000" dirty="0">
              <a:solidFill>
                <a:schemeClr val="tx1"/>
              </a:solidFill>
            </a:endParaRPr>
          </a:p>
        </p:txBody>
      </p:sp>
      <p:sp>
        <p:nvSpPr>
          <p:cNvPr id="153" name="Rectángulo redondeado 15">
            <a:extLst>
              <a:ext uri="{FF2B5EF4-FFF2-40B4-BE49-F238E27FC236}">
                <a16:creationId xmlns:a16="http://schemas.microsoft.com/office/drawing/2014/main" id="{83C15C1B-D68D-4C15-89F1-34AE5634E1EF}"/>
              </a:ext>
            </a:extLst>
          </p:cNvPr>
          <p:cNvSpPr/>
          <p:nvPr/>
        </p:nvSpPr>
        <p:spPr bwMode="auto">
          <a:xfrm>
            <a:off x="4516418" y="3238949"/>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54" name="161 Imagen">
            <a:extLst>
              <a:ext uri="{FF2B5EF4-FFF2-40B4-BE49-F238E27FC236}">
                <a16:creationId xmlns:a16="http://schemas.microsoft.com/office/drawing/2014/main" id="{D008CDBB-34DD-45A3-BB9F-70B5AFC94A1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11326" y="3274804"/>
            <a:ext cx="606904" cy="128673"/>
          </a:xfrm>
          <a:prstGeom prst="rect">
            <a:avLst/>
          </a:prstGeom>
        </p:spPr>
      </p:pic>
      <p:sp>
        <p:nvSpPr>
          <p:cNvPr id="155" name="2 CuadroTexto">
            <a:extLst>
              <a:ext uri="{FF2B5EF4-FFF2-40B4-BE49-F238E27FC236}">
                <a16:creationId xmlns:a16="http://schemas.microsoft.com/office/drawing/2014/main" id="{829E6CB8-41B3-4CEC-BEFA-CE4015EDCA14}"/>
              </a:ext>
            </a:extLst>
          </p:cNvPr>
          <p:cNvSpPr txBox="1">
            <a:spLocks noChangeArrowheads="1"/>
          </p:cNvSpPr>
          <p:nvPr/>
        </p:nvSpPr>
        <p:spPr bwMode="auto">
          <a:xfrm>
            <a:off x="4370729" y="3388575"/>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Validación </a:t>
            </a:r>
          </a:p>
          <a:p>
            <a:pPr algn="ctr" eaLnBrk="1" hangingPunct="1">
              <a:buClr>
                <a:schemeClr val="accent2"/>
              </a:buClr>
              <a:buFont typeface="Wingdings" panose="05000000000000000000" pitchFamily="2" charset="2"/>
              <a:buNone/>
            </a:pPr>
            <a:r>
              <a:rPr lang="es-ES" altLang="es-ES" sz="1000" dirty="0">
                <a:solidFill>
                  <a:schemeClr val="tx1"/>
                </a:solidFill>
              </a:rPr>
              <a:t>clientes</a:t>
            </a:r>
          </a:p>
        </p:txBody>
      </p:sp>
      <p:sp>
        <p:nvSpPr>
          <p:cNvPr id="159" name="Rectángulo redondeado 15">
            <a:extLst>
              <a:ext uri="{FF2B5EF4-FFF2-40B4-BE49-F238E27FC236}">
                <a16:creationId xmlns:a16="http://schemas.microsoft.com/office/drawing/2014/main" id="{018B7032-BFE9-4E8C-AD2E-8AC37DEA6A16}"/>
              </a:ext>
            </a:extLst>
          </p:cNvPr>
          <p:cNvSpPr/>
          <p:nvPr/>
        </p:nvSpPr>
        <p:spPr bwMode="auto">
          <a:xfrm>
            <a:off x="4518999" y="3870492"/>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60" name="161 Imagen">
            <a:extLst>
              <a:ext uri="{FF2B5EF4-FFF2-40B4-BE49-F238E27FC236}">
                <a16:creationId xmlns:a16="http://schemas.microsoft.com/office/drawing/2014/main" id="{E434A35D-9F00-4278-9DD7-DBE3B1D4A9F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029208" y="3830801"/>
            <a:ext cx="606904" cy="128673"/>
          </a:xfrm>
          <a:prstGeom prst="rect">
            <a:avLst/>
          </a:prstGeom>
        </p:spPr>
      </p:pic>
      <p:sp>
        <p:nvSpPr>
          <p:cNvPr id="161" name="2 CuadroTexto">
            <a:extLst>
              <a:ext uri="{FF2B5EF4-FFF2-40B4-BE49-F238E27FC236}">
                <a16:creationId xmlns:a16="http://schemas.microsoft.com/office/drawing/2014/main" id="{053B9F5D-5F56-4897-8777-EF1968C93D2E}"/>
              </a:ext>
            </a:extLst>
          </p:cNvPr>
          <p:cNvSpPr txBox="1">
            <a:spLocks noChangeArrowheads="1"/>
          </p:cNvSpPr>
          <p:nvPr/>
        </p:nvSpPr>
        <p:spPr bwMode="auto">
          <a:xfrm>
            <a:off x="4406867" y="3982133"/>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Tablas Maestras </a:t>
            </a:r>
            <a:r>
              <a:rPr lang="es-ES" altLang="es-ES" sz="1000" dirty="0" err="1">
                <a:solidFill>
                  <a:schemeClr val="tx1"/>
                </a:solidFill>
              </a:rPr>
              <a:t>read</a:t>
            </a:r>
            <a:endParaRPr lang="es-ES" altLang="es-ES" sz="1000" dirty="0">
              <a:solidFill>
                <a:schemeClr val="tx1"/>
              </a:solidFill>
            </a:endParaRPr>
          </a:p>
        </p:txBody>
      </p:sp>
      <p:sp>
        <p:nvSpPr>
          <p:cNvPr id="162" name="Rectángulo redondeado 15">
            <a:extLst>
              <a:ext uri="{FF2B5EF4-FFF2-40B4-BE49-F238E27FC236}">
                <a16:creationId xmlns:a16="http://schemas.microsoft.com/office/drawing/2014/main" id="{9A40902F-E8E2-4883-A4B9-811ECFB68F8E}"/>
              </a:ext>
            </a:extLst>
          </p:cNvPr>
          <p:cNvSpPr/>
          <p:nvPr/>
        </p:nvSpPr>
        <p:spPr bwMode="auto">
          <a:xfrm>
            <a:off x="4528063" y="4411701"/>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63" name="161 Imagen">
            <a:extLst>
              <a:ext uri="{FF2B5EF4-FFF2-40B4-BE49-F238E27FC236}">
                <a16:creationId xmlns:a16="http://schemas.microsoft.com/office/drawing/2014/main" id="{5C43EE24-8A03-4174-9127-654C617CD55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109418" y="4392270"/>
            <a:ext cx="606904" cy="128673"/>
          </a:xfrm>
          <a:prstGeom prst="rect">
            <a:avLst/>
          </a:prstGeom>
        </p:spPr>
      </p:pic>
      <p:sp>
        <p:nvSpPr>
          <p:cNvPr id="164" name="2 CuadroTexto">
            <a:extLst>
              <a:ext uri="{FF2B5EF4-FFF2-40B4-BE49-F238E27FC236}">
                <a16:creationId xmlns:a16="http://schemas.microsoft.com/office/drawing/2014/main" id="{9C24FA31-5EF4-4B60-818E-71115775470B}"/>
              </a:ext>
            </a:extLst>
          </p:cNvPr>
          <p:cNvSpPr txBox="1">
            <a:spLocks noChangeArrowheads="1"/>
          </p:cNvSpPr>
          <p:nvPr/>
        </p:nvSpPr>
        <p:spPr bwMode="auto">
          <a:xfrm>
            <a:off x="4487077" y="4543602"/>
            <a:ext cx="1342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Alta cliente</a:t>
            </a:r>
          </a:p>
        </p:txBody>
      </p:sp>
      <p:sp>
        <p:nvSpPr>
          <p:cNvPr id="165" name="Rectángulo redondeado 15">
            <a:extLst>
              <a:ext uri="{FF2B5EF4-FFF2-40B4-BE49-F238E27FC236}">
                <a16:creationId xmlns:a16="http://schemas.microsoft.com/office/drawing/2014/main" id="{51D4A2EF-0908-45F6-BCC6-D7CBC775F333}"/>
              </a:ext>
            </a:extLst>
          </p:cNvPr>
          <p:cNvSpPr/>
          <p:nvPr/>
        </p:nvSpPr>
        <p:spPr bwMode="auto">
          <a:xfrm>
            <a:off x="4493370" y="4942117"/>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66" name="161 Imagen">
            <a:extLst>
              <a:ext uri="{FF2B5EF4-FFF2-40B4-BE49-F238E27FC236}">
                <a16:creationId xmlns:a16="http://schemas.microsoft.com/office/drawing/2014/main" id="{C94BCC77-C0BA-4B92-A43D-79758221137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125460" y="4921662"/>
            <a:ext cx="606904" cy="128673"/>
          </a:xfrm>
          <a:prstGeom prst="rect">
            <a:avLst/>
          </a:prstGeom>
        </p:spPr>
      </p:pic>
      <p:sp>
        <p:nvSpPr>
          <p:cNvPr id="167" name="2 CuadroTexto">
            <a:extLst>
              <a:ext uri="{FF2B5EF4-FFF2-40B4-BE49-F238E27FC236}">
                <a16:creationId xmlns:a16="http://schemas.microsoft.com/office/drawing/2014/main" id="{3AC12375-D96C-41AA-B0C3-64409CA306F6}"/>
              </a:ext>
            </a:extLst>
          </p:cNvPr>
          <p:cNvSpPr txBox="1">
            <a:spLocks noChangeArrowheads="1"/>
          </p:cNvSpPr>
          <p:nvPr/>
        </p:nvSpPr>
        <p:spPr bwMode="auto">
          <a:xfrm>
            <a:off x="4503119" y="5072994"/>
            <a:ext cx="1342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Alta productos</a:t>
            </a:r>
          </a:p>
        </p:txBody>
      </p:sp>
      <p:sp>
        <p:nvSpPr>
          <p:cNvPr id="168" name="Rectángulo redondeado 15">
            <a:extLst>
              <a:ext uri="{FF2B5EF4-FFF2-40B4-BE49-F238E27FC236}">
                <a16:creationId xmlns:a16="http://schemas.microsoft.com/office/drawing/2014/main" id="{C873548E-4D72-42B6-8C2A-2F4649C09F8D}"/>
              </a:ext>
            </a:extLst>
          </p:cNvPr>
          <p:cNvSpPr/>
          <p:nvPr/>
        </p:nvSpPr>
        <p:spPr bwMode="auto">
          <a:xfrm>
            <a:off x="4462434" y="5510723"/>
            <a:ext cx="1230055"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69" name="161 Imagen">
            <a:extLst>
              <a:ext uri="{FF2B5EF4-FFF2-40B4-BE49-F238E27FC236}">
                <a16:creationId xmlns:a16="http://schemas.microsoft.com/office/drawing/2014/main" id="{9F8ACC1B-6BFB-44D5-A61C-B3892B1A4D3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58247" y="5562942"/>
            <a:ext cx="606904" cy="128673"/>
          </a:xfrm>
          <a:prstGeom prst="rect">
            <a:avLst/>
          </a:prstGeom>
        </p:spPr>
      </p:pic>
      <p:sp>
        <p:nvSpPr>
          <p:cNvPr id="170" name="2 CuadroTexto">
            <a:extLst>
              <a:ext uri="{FF2B5EF4-FFF2-40B4-BE49-F238E27FC236}">
                <a16:creationId xmlns:a16="http://schemas.microsoft.com/office/drawing/2014/main" id="{9125E608-FAB5-442C-9C88-0ED495E3A9AC}"/>
              </a:ext>
            </a:extLst>
          </p:cNvPr>
          <p:cNvSpPr txBox="1">
            <a:spLocks noChangeArrowheads="1"/>
          </p:cNvSpPr>
          <p:nvPr/>
        </p:nvSpPr>
        <p:spPr bwMode="auto">
          <a:xfrm>
            <a:off x="4468241" y="5691615"/>
            <a:ext cx="1342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correspondencia</a:t>
            </a:r>
          </a:p>
        </p:txBody>
      </p:sp>
      <p:sp>
        <p:nvSpPr>
          <p:cNvPr id="174" name="Rectángulo redondeado 15">
            <a:extLst>
              <a:ext uri="{FF2B5EF4-FFF2-40B4-BE49-F238E27FC236}">
                <a16:creationId xmlns:a16="http://schemas.microsoft.com/office/drawing/2014/main" id="{511606E8-49BD-4647-B0FE-6B21FA679633}"/>
              </a:ext>
            </a:extLst>
          </p:cNvPr>
          <p:cNvSpPr/>
          <p:nvPr/>
        </p:nvSpPr>
        <p:spPr bwMode="auto">
          <a:xfrm>
            <a:off x="5719935" y="975322"/>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75" name="161 Imagen">
            <a:extLst>
              <a:ext uri="{FF2B5EF4-FFF2-40B4-BE49-F238E27FC236}">
                <a16:creationId xmlns:a16="http://schemas.microsoft.com/office/drawing/2014/main" id="{5D6C6DF2-AD8F-4EAA-8B49-179083BF5A0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22968" y="1003775"/>
            <a:ext cx="606904" cy="128673"/>
          </a:xfrm>
          <a:prstGeom prst="rect">
            <a:avLst/>
          </a:prstGeom>
        </p:spPr>
      </p:pic>
      <p:sp>
        <p:nvSpPr>
          <p:cNvPr id="176" name="2 CuadroTexto">
            <a:extLst>
              <a:ext uri="{FF2B5EF4-FFF2-40B4-BE49-F238E27FC236}">
                <a16:creationId xmlns:a16="http://schemas.microsoft.com/office/drawing/2014/main" id="{586737F4-FC36-49B2-8EC5-1C892A68F230}"/>
              </a:ext>
            </a:extLst>
          </p:cNvPr>
          <p:cNvSpPr txBox="1">
            <a:spLocks noChangeArrowheads="1"/>
          </p:cNvSpPr>
          <p:nvPr/>
        </p:nvSpPr>
        <p:spPr bwMode="auto">
          <a:xfrm>
            <a:off x="5642106" y="1030384"/>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Gestor Documental</a:t>
            </a:r>
          </a:p>
        </p:txBody>
      </p:sp>
      <p:sp>
        <p:nvSpPr>
          <p:cNvPr id="177" name="Rectángulo redondeado 15">
            <a:extLst>
              <a:ext uri="{FF2B5EF4-FFF2-40B4-BE49-F238E27FC236}">
                <a16:creationId xmlns:a16="http://schemas.microsoft.com/office/drawing/2014/main" id="{C19FA6B5-4419-4FB8-973C-6654ED08C24F}"/>
              </a:ext>
            </a:extLst>
          </p:cNvPr>
          <p:cNvSpPr/>
          <p:nvPr/>
        </p:nvSpPr>
        <p:spPr bwMode="auto">
          <a:xfrm>
            <a:off x="5723951" y="1524762"/>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78" name="161 Imagen">
            <a:extLst>
              <a:ext uri="{FF2B5EF4-FFF2-40B4-BE49-F238E27FC236}">
                <a16:creationId xmlns:a16="http://schemas.microsoft.com/office/drawing/2014/main" id="{021C9AF8-39E5-40A9-86EA-93377973ABE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26010" y="1593733"/>
            <a:ext cx="606904" cy="128673"/>
          </a:xfrm>
          <a:prstGeom prst="rect">
            <a:avLst/>
          </a:prstGeom>
        </p:spPr>
      </p:pic>
      <p:sp>
        <p:nvSpPr>
          <p:cNvPr id="179" name="2 CuadroTexto">
            <a:extLst>
              <a:ext uri="{FF2B5EF4-FFF2-40B4-BE49-F238E27FC236}">
                <a16:creationId xmlns:a16="http://schemas.microsoft.com/office/drawing/2014/main" id="{78F9921E-3004-4008-BA8A-1BE5BC0C1BDB}"/>
              </a:ext>
            </a:extLst>
          </p:cNvPr>
          <p:cNvSpPr txBox="1">
            <a:spLocks noChangeArrowheads="1"/>
          </p:cNvSpPr>
          <p:nvPr/>
        </p:nvSpPr>
        <p:spPr bwMode="auto">
          <a:xfrm>
            <a:off x="5594652" y="1680011"/>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Identificador Pagos</a:t>
            </a:r>
          </a:p>
        </p:txBody>
      </p:sp>
      <p:sp>
        <p:nvSpPr>
          <p:cNvPr id="180" name="Rectángulo redondeado 15">
            <a:extLst>
              <a:ext uri="{FF2B5EF4-FFF2-40B4-BE49-F238E27FC236}">
                <a16:creationId xmlns:a16="http://schemas.microsoft.com/office/drawing/2014/main" id="{569B7A29-5550-49C9-850A-5A8DF643E379}"/>
              </a:ext>
            </a:extLst>
          </p:cNvPr>
          <p:cNvSpPr/>
          <p:nvPr/>
        </p:nvSpPr>
        <p:spPr bwMode="auto">
          <a:xfrm>
            <a:off x="5768731" y="2137701"/>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81" name="161 Imagen">
            <a:extLst>
              <a:ext uri="{FF2B5EF4-FFF2-40B4-BE49-F238E27FC236}">
                <a16:creationId xmlns:a16="http://schemas.microsoft.com/office/drawing/2014/main" id="{C46CD1DF-7515-4E7B-912D-BF6CA0BEC76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81787" y="2194515"/>
            <a:ext cx="606904" cy="128673"/>
          </a:xfrm>
          <a:prstGeom prst="rect">
            <a:avLst/>
          </a:prstGeom>
        </p:spPr>
      </p:pic>
      <p:sp>
        <p:nvSpPr>
          <p:cNvPr id="182" name="2 CuadroTexto">
            <a:extLst>
              <a:ext uri="{FF2B5EF4-FFF2-40B4-BE49-F238E27FC236}">
                <a16:creationId xmlns:a16="http://schemas.microsoft.com/office/drawing/2014/main" id="{2F999209-E4F4-4AFC-B3BD-AE9A72DA44BB}"/>
              </a:ext>
            </a:extLst>
          </p:cNvPr>
          <p:cNvSpPr txBox="1">
            <a:spLocks noChangeArrowheads="1"/>
          </p:cNvSpPr>
          <p:nvPr/>
        </p:nvSpPr>
        <p:spPr bwMode="auto">
          <a:xfrm>
            <a:off x="5639808" y="2346700"/>
            <a:ext cx="1342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err="1">
                <a:solidFill>
                  <a:schemeClr val="tx1"/>
                </a:solidFill>
              </a:rPr>
              <a:t>Broker</a:t>
            </a:r>
            <a:r>
              <a:rPr lang="es-ES" altLang="es-ES" sz="1000" dirty="0">
                <a:solidFill>
                  <a:schemeClr val="tx1"/>
                </a:solidFill>
              </a:rPr>
              <a:t> OCR</a:t>
            </a:r>
          </a:p>
        </p:txBody>
      </p:sp>
      <p:sp>
        <p:nvSpPr>
          <p:cNvPr id="186" name="Rectángulo redondeado 15">
            <a:extLst>
              <a:ext uri="{FF2B5EF4-FFF2-40B4-BE49-F238E27FC236}">
                <a16:creationId xmlns:a16="http://schemas.microsoft.com/office/drawing/2014/main" id="{CBD3BF28-E8C0-405A-BC69-655711D0638E}"/>
              </a:ext>
            </a:extLst>
          </p:cNvPr>
          <p:cNvSpPr/>
          <p:nvPr/>
        </p:nvSpPr>
        <p:spPr bwMode="auto">
          <a:xfrm>
            <a:off x="5760330" y="3739780"/>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87" name="161 Imagen">
            <a:extLst>
              <a:ext uri="{FF2B5EF4-FFF2-40B4-BE49-F238E27FC236}">
                <a16:creationId xmlns:a16="http://schemas.microsoft.com/office/drawing/2014/main" id="{B18A0575-B41D-406A-B673-88C7FA6BE5E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37283" y="3796834"/>
            <a:ext cx="606904" cy="128673"/>
          </a:xfrm>
          <a:prstGeom prst="rect">
            <a:avLst/>
          </a:prstGeom>
        </p:spPr>
      </p:pic>
      <p:sp>
        <p:nvSpPr>
          <p:cNvPr id="188" name="2 CuadroTexto">
            <a:extLst>
              <a:ext uri="{FF2B5EF4-FFF2-40B4-BE49-F238E27FC236}">
                <a16:creationId xmlns:a16="http://schemas.microsoft.com/office/drawing/2014/main" id="{8E645C36-D798-49DD-82B9-FDEFBBCF2CEA}"/>
              </a:ext>
            </a:extLst>
          </p:cNvPr>
          <p:cNvSpPr txBox="1">
            <a:spLocks noChangeArrowheads="1"/>
          </p:cNvSpPr>
          <p:nvPr/>
        </p:nvSpPr>
        <p:spPr bwMode="auto">
          <a:xfrm>
            <a:off x="5580741" y="3858861"/>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Consulta </a:t>
            </a:r>
          </a:p>
          <a:p>
            <a:pPr algn="ctr" eaLnBrk="1" hangingPunct="1">
              <a:buClr>
                <a:schemeClr val="accent2"/>
              </a:buClr>
              <a:buFont typeface="Wingdings" panose="05000000000000000000" pitchFamily="2" charset="2"/>
              <a:buNone/>
            </a:pPr>
            <a:r>
              <a:rPr lang="es-ES" altLang="es-ES" sz="1000" dirty="0">
                <a:solidFill>
                  <a:schemeClr val="tx1"/>
                </a:solidFill>
              </a:rPr>
              <a:t>Fraude</a:t>
            </a:r>
          </a:p>
        </p:txBody>
      </p:sp>
      <p:sp>
        <p:nvSpPr>
          <p:cNvPr id="189" name="Rectángulo redondeado 15">
            <a:extLst>
              <a:ext uri="{FF2B5EF4-FFF2-40B4-BE49-F238E27FC236}">
                <a16:creationId xmlns:a16="http://schemas.microsoft.com/office/drawing/2014/main" id="{E7F067A9-77CD-4350-AB08-B0EF43ACFA72}"/>
              </a:ext>
            </a:extLst>
          </p:cNvPr>
          <p:cNvSpPr/>
          <p:nvPr/>
        </p:nvSpPr>
        <p:spPr bwMode="auto">
          <a:xfrm>
            <a:off x="5765740" y="4354082"/>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90" name="161 Imagen">
            <a:extLst>
              <a:ext uri="{FF2B5EF4-FFF2-40B4-BE49-F238E27FC236}">
                <a16:creationId xmlns:a16="http://schemas.microsoft.com/office/drawing/2014/main" id="{8CC298B2-17EC-4147-877E-60B0B37264B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90125" y="4402325"/>
            <a:ext cx="606904" cy="128673"/>
          </a:xfrm>
          <a:prstGeom prst="rect">
            <a:avLst/>
          </a:prstGeom>
        </p:spPr>
      </p:pic>
      <p:sp>
        <p:nvSpPr>
          <p:cNvPr id="191" name="2 CuadroTexto">
            <a:extLst>
              <a:ext uri="{FF2B5EF4-FFF2-40B4-BE49-F238E27FC236}">
                <a16:creationId xmlns:a16="http://schemas.microsoft.com/office/drawing/2014/main" id="{DB34CF3B-1BD0-4E8D-8932-9B32A46EDD93}"/>
              </a:ext>
            </a:extLst>
          </p:cNvPr>
          <p:cNvSpPr txBox="1">
            <a:spLocks noChangeArrowheads="1"/>
          </p:cNvSpPr>
          <p:nvPr/>
        </p:nvSpPr>
        <p:spPr bwMode="auto">
          <a:xfrm>
            <a:off x="5585901" y="4497014"/>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Productos Tramitación</a:t>
            </a:r>
          </a:p>
        </p:txBody>
      </p:sp>
      <p:cxnSp>
        <p:nvCxnSpPr>
          <p:cNvPr id="197" name="451 Conector recto de flecha">
            <a:extLst>
              <a:ext uri="{FF2B5EF4-FFF2-40B4-BE49-F238E27FC236}">
                <a16:creationId xmlns:a16="http://schemas.microsoft.com/office/drawing/2014/main" id="{BBC5131E-F894-4C51-969B-B126FAB5D6A9}"/>
              </a:ext>
            </a:extLst>
          </p:cNvPr>
          <p:cNvCxnSpPr>
            <a:cxnSpLocks/>
          </p:cNvCxnSpPr>
          <p:nvPr/>
        </p:nvCxnSpPr>
        <p:spPr bwMode="auto">
          <a:xfrm>
            <a:off x="4103502" y="1753322"/>
            <a:ext cx="239667" cy="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207" name="Imagen 206">
            <a:extLst>
              <a:ext uri="{FF2B5EF4-FFF2-40B4-BE49-F238E27FC236}">
                <a16:creationId xmlns:a16="http://schemas.microsoft.com/office/drawing/2014/main" id="{8F8F4A4B-C98B-475F-9FE6-A143B8FD65F9}"/>
              </a:ext>
            </a:extLst>
          </p:cNvPr>
          <p:cNvPicPr>
            <a:picLocks noChangeAspect="1"/>
          </p:cNvPicPr>
          <p:nvPr/>
        </p:nvPicPr>
        <p:blipFill>
          <a:blip r:embed="rId9"/>
          <a:stretch>
            <a:fillRect/>
          </a:stretch>
        </p:blipFill>
        <p:spPr>
          <a:xfrm>
            <a:off x="7247174" y="1660281"/>
            <a:ext cx="650929" cy="400050"/>
          </a:xfrm>
          <a:prstGeom prst="rect">
            <a:avLst/>
          </a:prstGeom>
        </p:spPr>
      </p:pic>
      <p:pic>
        <p:nvPicPr>
          <p:cNvPr id="208" name="Imagen 207">
            <a:extLst>
              <a:ext uri="{FF2B5EF4-FFF2-40B4-BE49-F238E27FC236}">
                <a16:creationId xmlns:a16="http://schemas.microsoft.com/office/drawing/2014/main" id="{F39B2B20-6533-4889-97B6-B38BB071F08B}"/>
              </a:ext>
            </a:extLst>
          </p:cNvPr>
          <p:cNvPicPr>
            <a:picLocks noChangeAspect="1"/>
          </p:cNvPicPr>
          <p:nvPr/>
        </p:nvPicPr>
        <p:blipFill>
          <a:blip r:embed="rId10"/>
          <a:stretch>
            <a:fillRect/>
          </a:stretch>
        </p:blipFill>
        <p:spPr>
          <a:xfrm>
            <a:off x="8114978" y="1642162"/>
            <a:ext cx="746679" cy="708631"/>
          </a:xfrm>
          <a:prstGeom prst="rect">
            <a:avLst/>
          </a:prstGeom>
        </p:spPr>
      </p:pic>
      <p:sp>
        <p:nvSpPr>
          <p:cNvPr id="209" name="CuadroTexto 14">
            <a:extLst>
              <a:ext uri="{FF2B5EF4-FFF2-40B4-BE49-F238E27FC236}">
                <a16:creationId xmlns:a16="http://schemas.microsoft.com/office/drawing/2014/main" id="{8C192951-6776-42FF-A6F4-D0852FA0691C}"/>
              </a:ext>
            </a:extLst>
          </p:cNvPr>
          <p:cNvSpPr txBox="1">
            <a:spLocks noChangeArrowheads="1"/>
          </p:cNvSpPr>
          <p:nvPr/>
        </p:nvSpPr>
        <p:spPr bwMode="auto">
          <a:xfrm>
            <a:off x="8639451" y="1556676"/>
            <a:ext cx="12144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s-ES" altLang="es-ES" sz="1100" b="0" dirty="0">
                <a:solidFill>
                  <a:schemeClr val="tx1"/>
                </a:solidFill>
              </a:rPr>
              <a:t>Servicio </a:t>
            </a:r>
          </a:p>
          <a:p>
            <a:pPr algn="ctr">
              <a:spcBef>
                <a:spcPct val="0"/>
              </a:spcBef>
              <a:buClrTx/>
              <a:buSzTx/>
              <a:buFontTx/>
              <a:buNone/>
            </a:pPr>
            <a:r>
              <a:rPr lang="es-ES" altLang="es-ES" sz="1100" b="0" dirty="0">
                <a:solidFill>
                  <a:schemeClr val="tx1"/>
                </a:solidFill>
              </a:rPr>
              <a:t>Confirma</a:t>
            </a:r>
          </a:p>
        </p:txBody>
      </p:sp>
      <p:pic>
        <p:nvPicPr>
          <p:cNvPr id="213" name="Picture 8" descr="http://icons.iconarchive.com/icons/visualpharm/hardware/256/server-icon.png">
            <a:extLst>
              <a:ext uri="{FF2B5EF4-FFF2-40B4-BE49-F238E27FC236}">
                <a16:creationId xmlns:a16="http://schemas.microsoft.com/office/drawing/2014/main" id="{5126398A-13E1-45B2-95AB-2D5F91B01F73}"/>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584271" y="613090"/>
            <a:ext cx="381342" cy="381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 name="CuadroTexto 14">
            <a:extLst>
              <a:ext uri="{FF2B5EF4-FFF2-40B4-BE49-F238E27FC236}">
                <a16:creationId xmlns:a16="http://schemas.microsoft.com/office/drawing/2014/main" id="{E71BEB39-73D7-4830-ABA1-A906F94609A1}"/>
              </a:ext>
            </a:extLst>
          </p:cNvPr>
          <p:cNvSpPr txBox="1">
            <a:spLocks noChangeArrowheads="1"/>
          </p:cNvSpPr>
          <p:nvPr/>
        </p:nvSpPr>
        <p:spPr bwMode="auto">
          <a:xfrm>
            <a:off x="7926325" y="582406"/>
            <a:ext cx="148805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s-ES" altLang="es-ES" sz="1100" b="0" dirty="0">
                <a:solidFill>
                  <a:schemeClr val="tx1"/>
                </a:solidFill>
              </a:rPr>
              <a:t>Hub de Comunicaciones</a:t>
            </a:r>
          </a:p>
        </p:txBody>
      </p:sp>
      <p:pic>
        <p:nvPicPr>
          <p:cNvPr id="215" name="Imagen 15">
            <a:extLst>
              <a:ext uri="{FF2B5EF4-FFF2-40B4-BE49-F238E27FC236}">
                <a16:creationId xmlns:a16="http://schemas.microsoft.com/office/drawing/2014/main" id="{036A6593-04C2-4D6B-B77B-1C7D5BD5F8E9}"/>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7638138" y="603708"/>
            <a:ext cx="296862" cy="20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 name="Rectángulo: esquinas redondeadas 221">
            <a:extLst>
              <a:ext uri="{FF2B5EF4-FFF2-40B4-BE49-F238E27FC236}">
                <a16:creationId xmlns:a16="http://schemas.microsoft.com/office/drawing/2014/main" id="{D341574E-DAA8-4944-8FBD-9190BED61E8B}"/>
              </a:ext>
            </a:extLst>
          </p:cNvPr>
          <p:cNvSpPr/>
          <p:nvPr/>
        </p:nvSpPr>
        <p:spPr>
          <a:xfrm>
            <a:off x="7794852" y="4792975"/>
            <a:ext cx="1205495" cy="627885"/>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sp>
        <p:nvSpPr>
          <p:cNvPr id="223" name="Rectángulo redondeado 15">
            <a:extLst>
              <a:ext uri="{FF2B5EF4-FFF2-40B4-BE49-F238E27FC236}">
                <a16:creationId xmlns:a16="http://schemas.microsoft.com/office/drawing/2014/main" id="{C074C6A6-5DD6-4DE4-8231-FD12EC912087}"/>
              </a:ext>
            </a:extLst>
          </p:cNvPr>
          <p:cNvSpPr/>
          <p:nvPr/>
        </p:nvSpPr>
        <p:spPr bwMode="auto">
          <a:xfrm>
            <a:off x="8009167" y="5166796"/>
            <a:ext cx="1012066" cy="289314"/>
          </a:xfrm>
          <a:prstGeom prst="roundRect">
            <a:avLst/>
          </a:prstGeom>
          <a:solidFill>
            <a:schemeClr val="accent2">
              <a:lumMod val="20000"/>
              <a:lumOff val="80000"/>
            </a:schemeClr>
          </a:solidFill>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none" lIns="0" tIns="0" rIns="0" bIns="0" numCol="1" rtlCol="0" anchor="t" anchorCtr="0" compatLnSpc="1">
            <a:prstTxWarp prst="textNoShape">
              <a:avLst/>
            </a:prstTxWarp>
          </a:bodyPr>
          <a:lstStyle/>
          <a:p>
            <a:pPr algn="ctr"/>
            <a:r>
              <a:rPr lang="es-ES" sz="900" b="1" dirty="0">
                <a:solidFill>
                  <a:schemeClr val="tx1"/>
                </a:solidFill>
              </a:rPr>
              <a:t>MICROSERVICIOS</a:t>
            </a:r>
          </a:p>
          <a:p>
            <a:pPr algn="ctr"/>
            <a:r>
              <a:rPr lang="es-ES" sz="900" b="1" dirty="0">
                <a:solidFill>
                  <a:schemeClr val="tx1"/>
                </a:solidFill>
              </a:rPr>
              <a:t> </a:t>
            </a:r>
            <a:endParaRPr lang="es-ES" sz="1200" b="1" dirty="0">
              <a:solidFill>
                <a:schemeClr val="tx1"/>
              </a:solidFill>
            </a:endParaRPr>
          </a:p>
        </p:txBody>
      </p:sp>
      <p:grpSp>
        <p:nvGrpSpPr>
          <p:cNvPr id="242" name="Grupo 241">
            <a:extLst>
              <a:ext uri="{FF2B5EF4-FFF2-40B4-BE49-F238E27FC236}">
                <a16:creationId xmlns:a16="http://schemas.microsoft.com/office/drawing/2014/main" id="{13F1686C-4B08-447A-8C5A-C139A58315B4}"/>
              </a:ext>
            </a:extLst>
          </p:cNvPr>
          <p:cNvGrpSpPr/>
          <p:nvPr/>
        </p:nvGrpSpPr>
        <p:grpSpPr>
          <a:xfrm rot="16200000">
            <a:off x="2087956" y="4321761"/>
            <a:ext cx="2243730" cy="1337710"/>
            <a:chOff x="4772661" y="845368"/>
            <a:chExt cx="2049751" cy="504167"/>
          </a:xfrm>
        </p:grpSpPr>
        <p:sp>
          <p:nvSpPr>
            <p:cNvPr id="243" name="Rectángulo: esquinas redondeadas 242">
              <a:extLst>
                <a:ext uri="{FF2B5EF4-FFF2-40B4-BE49-F238E27FC236}">
                  <a16:creationId xmlns:a16="http://schemas.microsoft.com/office/drawing/2014/main" id="{B2E5E0A0-3F39-4904-A486-8A6F2C0C9B7E}"/>
                </a:ext>
              </a:extLst>
            </p:cNvPr>
            <p:cNvSpPr/>
            <p:nvPr/>
          </p:nvSpPr>
          <p:spPr>
            <a:xfrm>
              <a:off x="4772661" y="845368"/>
              <a:ext cx="2049751" cy="435545"/>
            </a:xfrm>
            <a:prstGeom prst="roundRect">
              <a:avLst>
                <a:gd name="adj" fmla="val 8220"/>
              </a:avLst>
            </a:prstGeom>
            <a:pattFill prst="ltUpDiag">
              <a:fgClr>
                <a:srgbClr val="B5B5B5"/>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s-ES" sz="831" dirty="0">
                <a:solidFill>
                  <a:prstClr val="white"/>
                </a:solidFill>
                <a:latin typeface="Calibri" panose="020F0502020204030204"/>
              </a:endParaRPr>
            </a:p>
          </p:txBody>
        </p:sp>
        <p:sp>
          <p:nvSpPr>
            <p:cNvPr id="244" name="CuadroTexto 243">
              <a:extLst>
                <a:ext uri="{FF2B5EF4-FFF2-40B4-BE49-F238E27FC236}">
                  <a16:creationId xmlns:a16="http://schemas.microsoft.com/office/drawing/2014/main" id="{98EBDC11-CECF-4FF0-AA57-B83B785BAAB9}"/>
                </a:ext>
              </a:extLst>
            </p:cNvPr>
            <p:cNvSpPr txBox="1"/>
            <p:nvPr/>
          </p:nvSpPr>
          <p:spPr>
            <a:xfrm>
              <a:off x="4903527" y="1079562"/>
              <a:ext cx="1463084" cy="269973"/>
            </a:xfrm>
            <a:prstGeom prst="rect">
              <a:avLst/>
            </a:prstGeom>
            <a:noFill/>
            <a:ln>
              <a:noFill/>
            </a:ln>
          </p:spPr>
          <p:txBody>
            <a:bodyPr wrap="square" rtlCol="0">
              <a:spAutoFit/>
            </a:bodyPr>
            <a:lstStyle/>
            <a:p>
              <a:pPr defTabSz="844083">
                <a:defRPr/>
              </a:pPr>
              <a:r>
                <a:rPr lang="es-ES" sz="831" b="1" i="1" dirty="0">
                  <a:solidFill>
                    <a:prstClr val="black"/>
                  </a:solidFill>
                  <a:latin typeface="Arial" panose="020B0604020202020204" pitchFamily="34" charset="0"/>
                  <a:cs typeface="Arial" panose="020B0604020202020204" pitchFamily="34" charset="0"/>
                </a:rPr>
                <a:t>Servicios Comunes Arquitectura</a:t>
              </a:r>
            </a:p>
          </p:txBody>
        </p:sp>
        <p:grpSp>
          <p:nvGrpSpPr>
            <p:cNvPr id="245" name="Grupo 244">
              <a:extLst>
                <a:ext uri="{FF2B5EF4-FFF2-40B4-BE49-F238E27FC236}">
                  <a16:creationId xmlns:a16="http://schemas.microsoft.com/office/drawing/2014/main" id="{7C051703-9A86-46AB-9C96-3C91E760185E}"/>
                </a:ext>
              </a:extLst>
            </p:cNvPr>
            <p:cNvGrpSpPr/>
            <p:nvPr/>
          </p:nvGrpSpPr>
          <p:grpSpPr>
            <a:xfrm>
              <a:off x="5522196" y="925144"/>
              <a:ext cx="351803" cy="171717"/>
              <a:chOff x="4511743" y="6220276"/>
              <a:chExt cx="506760" cy="234253"/>
            </a:xfrm>
          </p:grpSpPr>
          <p:sp>
            <p:nvSpPr>
              <p:cNvPr id="258" name="Rectángulo: esquinas redondeadas 257">
                <a:extLst>
                  <a:ext uri="{FF2B5EF4-FFF2-40B4-BE49-F238E27FC236}">
                    <a16:creationId xmlns:a16="http://schemas.microsoft.com/office/drawing/2014/main" id="{57843523-53B4-40FC-A6AC-60F68C446435}"/>
                  </a:ext>
                </a:extLst>
              </p:cNvPr>
              <p:cNvSpPr/>
              <p:nvPr/>
            </p:nvSpPr>
            <p:spPr>
              <a:xfrm>
                <a:off x="4588006" y="6247860"/>
                <a:ext cx="419393" cy="20666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s-ES" sz="831">
                  <a:solidFill>
                    <a:prstClr val="white"/>
                  </a:solidFill>
                  <a:latin typeface="Calibri" panose="020F0502020204030204"/>
                </a:endParaRPr>
              </a:p>
            </p:txBody>
          </p:sp>
          <p:sp>
            <p:nvSpPr>
              <p:cNvPr id="259" name="CuadroTexto 258">
                <a:extLst>
                  <a:ext uri="{FF2B5EF4-FFF2-40B4-BE49-F238E27FC236}">
                    <a16:creationId xmlns:a16="http://schemas.microsoft.com/office/drawing/2014/main" id="{B1E68437-D62C-4A58-9B16-FBAF38A33B28}"/>
                  </a:ext>
                </a:extLst>
              </p:cNvPr>
              <p:cNvSpPr txBox="1"/>
              <p:nvPr/>
            </p:nvSpPr>
            <p:spPr>
              <a:xfrm>
                <a:off x="4511743" y="6220276"/>
                <a:ext cx="506760" cy="232998"/>
              </a:xfrm>
              <a:prstGeom prst="rect">
                <a:avLst/>
              </a:prstGeom>
              <a:noFill/>
            </p:spPr>
            <p:txBody>
              <a:bodyPr wrap="square" rtlCol="0">
                <a:spAutoFit/>
              </a:bodyPr>
              <a:lstStyle/>
              <a:p>
                <a:pPr defTabSz="844083">
                  <a:defRPr/>
                </a:pPr>
                <a:r>
                  <a:rPr lang="es-ES" sz="831" dirty="0">
                    <a:solidFill>
                      <a:prstClr val="white"/>
                    </a:solidFill>
                    <a:latin typeface="Arial" panose="020B0604020202020204" pitchFamily="34" charset="0"/>
                    <a:cs typeface="Arial" panose="020B0604020202020204" pitchFamily="34" charset="0"/>
                  </a:rPr>
                  <a:t>STS</a:t>
                </a:r>
              </a:p>
            </p:txBody>
          </p:sp>
        </p:grpSp>
        <p:pic>
          <p:nvPicPr>
            <p:cNvPr id="246" name="Picture 4" descr="Resultado de imagen de openshift paas">
              <a:extLst>
                <a:ext uri="{FF2B5EF4-FFF2-40B4-BE49-F238E27FC236}">
                  <a16:creationId xmlns:a16="http://schemas.microsoft.com/office/drawing/2014/main" id="{90087688-305B-434C-9703-2D5C71DD7B50}"/>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772661" y="907508"/>
              <a:ext cx="135385" cy="144780"/>
            </a:xfrm>
            <a:prstGeom prst="rect">
              <a:avLst/>
            </a:prstGeom>
            <a:noFill/>
            <a:extLst>
              <a:ext uri="{909E8E84-426E-40DD-AFC4-6F175D3DCCD1}">
                <a14:hiddenFill xmlns:a14="http://schemas.microsoft.com/office/drawing/2010/main">
                  <a:solidFill>
                    <a:srgbClr val="FFFFFF"/>
                  </a:solidFill>
                </a14:hiddenFill>
              </a:ext>
            </a:extLst>
          </p:spPr>
        </p:pic>
        <p:pic>
          <p:nvPicPr>
            <p:cNvPr id="247" name="Imagen 246">
              <a:extLst>
                <a:ext uri="{FF2B5EF4-FFF2-40B4-BE49-F238E27FC236}">
                  <a16:creationId xmlns:a16="http://schemas.microsoft.com/office/drawing/2014/main" id="{72A854CD-D441-491E-97C1-1989FCDE24F1}"/>
                </a:ext>
              </a:extLst>
            </p:cNvPr>
            <p:cNvPicPr>
              <a:picLocks noChangeAspect="1"/>
            </p:cNvPicPr>
            <p:nvPr/>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77111" y="991791"/>
              <a:ext cx="165212" cy="289122"/>
            </a:xfrm>
            <a:prstGeom prst="rect">
              <a:avLst/>
            </a:prstGeom>
          </p:spPr>
        </p:pic>
        <p:grpSp>
          <p:nvGrpSpPr>
            <p:cNvPr id="248" name="Grupo 247">
              <a:extLst>
                <a:ext uri="{FF2B5EF4-FFF2-40B4-BE49-F238E27FC236}">
                  <a16:creationId xmlns:a16="http://schemas.microsoft.com/office/drawing/2014/main" id="{7AC91734-63CF-4991-A874-DBB7E46EE998}"/>
                </a:ext>
              </a:extLst>
            </p:cNvPr>
            <p:cNvGrpSpPr/>
            <p:nvPr/>
          </p:nvGrpSpPr>
          <p:grpSpPr>
            <a:xfrm>
              <a:off x="5220060" y="930233"/>
              <a:ext cx="357403" cy="170797"/>
              <a:chOff x="4519876" y="6230383"/>
              <a:chExt cx="526287" cy="233379"/>
            </a:xfrm>
          </p:grpSpPr>
          <p:sp>
            <p:nvSpPr>
              <p:cNvPr id="256" name="Rectángulo: esquinas redondeadas 255">
                <a:extLst>
                  <a:ext uri="{FF2B5EF4-FFF2-40B4-BE49-F238E27FC236}">
                    <a16:creationId xmlns:a16="http://schemas.microsoft.com/office/drawing/2014/main" id="{327EB2E1-724C-4E5F-AA0A-4A26BA0F163F}"/>
                  </a:ext>
                </a:extLst>
              </p:cNvPr>
              <p:cNvSpPr/>
              <p:nvPr/>
            </p:nvSpPr>
            <p:spPr>
              <a:xfrm>
                <a:off x="4588006" y="6247860"/>
                <a:ext cx="419393" cy="20666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s-ES" sz="831">
                  <a:solidFill>
                    <a:prstClr val="white"/>
                  </a:solidFill>
                  <a:latin typeface="Calibri" panose="020F0502020204030204"/>
                </a:endParaRPr>
              </a:p>
            </p:txBody>
          </p:sp>
          <p:sp>
            <p:nvSpPr>
              <p:cNvPr id="257" name="CuadroTexto 256">
                <a:extLst>
                  <a:ext uri="{FF2B5EF4-FFF2-40B4-BE49-F238E27FC236}">
                    <a16:creationId xmlns:a16="http://schemas.microsoft.com/office/drawing/2014/main" id="{60D86445-6D02-4DE0-A4D0-FAF5BEAE5937}"/>
                  </a:ext>
                </a:extLst>
              </p:cNvPr>
              <p:cNvSpPr txBox="1"/>
              <p:nvPr/>
            </p:nvSpPr>
            <p:spPr>
              <a:xfrm>
                <a:off x="4519876" y="6230383"/>
                <a:ext cx="526287" cy="233379"/>
              </a:xfrm>
              <a:prstGeom prst="rect">
                <a:avLst/>
              </a:prstGeom>
              <a:noFill/>
            </p:spPr>
            <p:txBody>
              <a:bodyPr wrap="square" rtlCol="0">
                <a:spAutoFit/>
              </a:bodyPr>
              <a:lstStyle/>
              <a:p>
                <a:pPr defTabSz="844083">
                  <a:defRPr/>
                </a:pPr>
                <a:r>
                  <a:rPr lang="es-ES" sz="831" dirty="0">
                    <a:solidFill>
                      <a:prstClr val="white"/>
                    </a:solidFill>
                    <a:latin typeface="Arial" panose="020B0604020202020204" pitchFamily="34" charset="0"/>
                    <a:cs typeface="Arial" panose="020B0604020202020204" pitchFamily="34" charset="0"/>
                  </a:rPr>
                  <a:t>PKM</a:t>
                </a:r>
              </a:p>
            </p:txBody>
          </p:sp>
        </p:grpSp>
        <p:grpSp>
          <p:nvGrpSpPr>
            <p:cNvPr id="249" name="Grupo 248">
              <a:extLst>
                <a:ext uri="{FF2B5EF4-FFF2-40B4-BE49-F238E27FC236}">
                  <a16:creationId xmlns:a16="http://schemas.microsoft.com/office/drawing/2014/main" id="{BF6D35CF-B600-457C-B9D2-21160EBA9B95}"/>
                </a:ext>
              </a:extLst>
            </p:cNvPr>
            <p:cNvGrpSpPr/>
            <p:nvPr/>
          </p:nvGrpSpPr>
          <p:grpSpPr>
            <a:xfrm>
              <a:off x="4922468" y="924942"/>
              <a:ext cx="354332" cy="177063"/>
              <a:chOff x="4531392" y="6228651"/>
              <a:chExt cx="526287" cy="225878"/>
            </a:xfrm>
          </p:grpSpPr>
          <p:sp>
            <p:nvSpPr>
              <p:cNvPr id="253" name="Rectángulo: esquinas redondeadas 252">
                <a:extLst>
                  <a:ext uri="{FF2B5EF4-FFF2-40B4-BE49-F238E27FC236}">
                    <a16:creationId xmlns:a16="http://schemas.microsoft.com/office/drawing/2014/main" id="{36DDBC22-FDD7-45A4-9984-9E92ECE0A8AD}"/>
                  </a:ext>
                </a:extLst>
              </p:cNvPr>
              <p:cNvSpPr/>
              <p:nvPr/>
            </p:nvSpPr>
            <p:spPr>
              <a:xfrm>
                <a:off x="4588006" y="6247860"/>
                <a:ext cx="419393" cy="20666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s-ES" sz="831">
                  <a:solidFill>
                    <a:prstClr val="white"/>
                  </a:solidFill>
                  <a:latin typeface="Calibri" panose="020F0502020204030204"/>
                </a:endParaRPr>
              </a:p>
            </p:txBody>
          </p:sp>
          <p:sp>
            <p:nvSpPr>
              <p:cNvPr id="254" name="CuadroTexto 253">
                <a:extLst>
                  <a:ext uri="{FF2B5EF4-FFF2-40B4-BE49-F238E27FC236}">
                    <a16:creationId xmlns:a16="http://schemas.microsoft.com/office/drawing/2014/main" id="{07187C1E-E4D0-49CD-8FF8-D64B591CB03F}"/>
                  </a:ext>
                </a:extLst>
              </p:cNvPr>
              <p:cNvSpPr txBox="1"/>
              <p:nvPr/>
            </p:nvSpPr>
            <p:spPr>
              <a:xfrm>
                <a:off x="4531392" y="6228651"/>
                <a:ext cx="526287" cy="217885"/>
              </a:xfrm>
              <a:prstGeom prst="rect">
                <a:avLst/>
              </a:prstGeom>
              <a:noFill/>
            </p:spPr>
            <p:txBody>
              <a:bodyPr wrap="square" rtlCol="0">
                <a:spAutoFit/>
              </a:bodyPr>
              <a:lstStyle/>
              <a:p>
                <a:pPr defTabSz="844083">
                  <a:defRPr/>
                </a:pPr>
                <a:r>
                  <a:rPr lang="es-ES" sz="831" dirty="0">
                    <a:solidFill>
                      <a:prstClr val="white"/>
                    </a:solidFill>
                    <a:latin typeface="Arial" panose="020B0604020202020204" pitchFamily="34" charset="0"/>
                    <a:cs typeface="Arial" panose="020B0604020202020204" pitchFamily="34" charset="0"/>
                  </a:rPr>
                  <a:t>SCC</a:t>
                </a:r>
              </a:p>
            </p:txBody>
          </p:sp>
        </p:grpSp>
        <p:grpSp>
          <p:nvGrpSpPr>
            <p:cNvPr id="250" name="Grupo 249">
              <a:extLst>
                <a:ext uri="{FF2B5EF4-FFF2-40B4-BE49-F238E27FC236}">
                  <a16:creationId xmlns:a16="http://schemas.microsoft.com/office/drawing/2014/main" id="{232DB38E-C940-4FCF-959D-90C1ED3FA0AD}"/>
                </a:ext>
              </a:extLst>
            </p:cNvPr>
            <p:cNvGrpSpPr/>
            <p:nvPr/>
          </p:nvGrpSpPr>
          <p:grpSpPr>
            <a:xfrm>
              <a:off x="5901136" y="939297"/>
              <a:ext cx="771436" cy="211608"/>
              <a:chOff x="4588007" y="6194546"/>
              <a:chExt cx="419393" cy="395089"/>
            </a:xfrm>
          </p:grpSpPr>
          <p:sp>
            <p:nvSpPr>
              <p:cNvPr id="251" name="Rectángulo: esquinas redondeadas 250">
                <a:extLst>
                  <a:ext uri="{FF2B5EF4-FFF2-40B4-BE49-F238E27FC236}">
                    <a16:creationId xmlns:a16="http://schemas.microsoft.com/office/drawing/2014/main" id="{57B53374-6052-4A17-A34A-030B0021987B}"/>
                  </a:ext>
                </a:extLst>
              </p:cNvPr>
              <p:cNvSpPr/>
              <p:nvPr/>
            </p:nvSpPr>
            <p:spPr>
              <a:xfrm>
                <a:off x="4588007" y="6194546"/>
                <a:ext cx="419393" cy="355793"/>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s-ES" sz="831">
                  <a:solidFill>
                    <a:prstClr val="white"/>
                  </a:solidFill>
                  <a:latin typeface="Calibri" panose="020F0502020204030204"/>
                </a:endParaRPr>
              </a:p>
            </p:txBody>
          </p:sp>
          <p:sp>
            <p:nvSpPr>
              <p:cNvPr id="252" name="CuadroTexto 251">
                <a:extLst>
                  <a:ext uri="{FF2B5EF4-FFF2-40B4-BE49-F238E27FC236}">
                    <a16:creationId xmlns:a16="http://schemas.microsoft.com/office/drawing/2014/main" id="{99D69F90-4860-4DEB-9C9E-0D8EB410774A}"/>
                  </a:ext>
                </a:extLst>
              </p:cNvPr>
              <p:cNvSpPr txBox="1"/>
              <p:nvPr/>
            </p:nvSpPr>
            <p:spPr>
              <a:xfrm>
                <a:off x="4622425" y="6198331"/>
                <a:ext cx="333597" cy="391304"/>
              </a:xfrm>
              <a:prstGeom prst="rect">
                <a:avLst/>
              </a:prstGeom>
              <a:noFill/>
            </p:spPr>
            <p:txBody>
              <a:bodyPr wrap="square" rtlCol="0">
                <a:spAutoFit/>
              </a:bodyPr>
              <a:lstStyle/>
              <a:p>
                <a:pPr defTabSz="844083">
                  <a:defRPr/>
                </a:pPr>
                <a:r>
                  <a:rPr lang="es-ES" sz="831" dirty="0">
                    <a:solidFill>
                      <a:prstClr val="white"/>
                    </a:solidFill>
                    <a:latin typeface="Arial" panose="020B0604020202020204" pitchFamily="34" charset="0"/>
                    <a:cs typeface="Arial" panose="020B0604020202020204" pitchFamily="34" charset="0"/>
                  </a:rPr>
                  <a:t>Seguridad </a:t>
                </a:r>
              </a:p>
              <a:p>
                <a:pPr defTabSz="844083">
                  <a:defRPr/>
                </a:pPr>
                <a:r>
                  <a:rPr lang="es-ES" sz="831" dirty="0">
                    <a:solidFill>
                      <a:prstClr val="white"/>
                    </a:solidFill>
                    <a:latin typeface="Arial" panose="020B0604020202020204" pitchFamily="34" charset="0"/>
                    <a:cs typeface="Arial" panose="020B0604020202020204" pitchFamily="34" charset="0"/>
                  </a:rPr>
                  <a:t>Operativa</a:t>
                </a:r>
              </a:p>
            </p:txBody>
          </p:sp>
        </p:grpSp>
      </p:grpSp>
      <p:cxnSp>
        <p:nvCxnSpPr>
          <p:cNvPr id="276" name="25 Conector recto de flecha">
            <a:extLst>
              <a:ext uri="{FF2B5EF4-FFF2-40B4-BE49-F238E27FC236}">
                <a16:creationId xmlns:a16="http://schemas.microsoft.com/office/drawing/2014/main" id="{2FB413F2-EB67-4000-8C45-2BCB04CFD0D5}"/>
              </a:ext>
            </a:extLst>
          </p:cNvPr>
          <p:cNvCxnSpPr>
            <a:cxnSpLocks/>
          </p:cNvCxnSpPr>
          <p:nvPr/>
        </p:nvCxnSpPr>
        <p:spPr bwMode="auto">
          <a:xfrm flipV="1">
            <a:off x="7094370" y="2707056"/>
            <a:ext cx="3446203" cy="116018"/>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77" name="Conector: angular 276">
            <a:extLst>
              <a:ext uri="{FF2B5EF4-FFF2-40B4-BE49-F238E27FC236}">
                <a16:creationId xmlns:a16="http://schemas.microsoft.com/office/drawing/2014/main" id="{8FBD229E-9CBF-463A-A9FA-63B24D3A637E}"/>
              </a:ext>
            </a:extLst>
          </p:cNvPr>
          <p:cNvCxnSpPr>
            <a:cxnSpLocks/>
            <a:stCxn id="278" idx="1"/>
          </p:cNvCxnSpPr>
          <p:nvPr/>
        </p:nvCxnSpPr>
        <p:spPr>
          <a:xfrm rot="10800000" flipV="1">
            <a:off x="6938326" y="5459222"/>
            <a:ext cx="292300" cy="20456"/>
          </a:xfrm>
          <a:prstGeom prst="bentConnector3">
            <a:avLst>
              <a:gd name="adj1" fmla="val 50000"/>
            </a:avLst>
          </a:prstGeom>
          <a:ln>
            <a:headEnd type="triangle" w="med" len="med"/>
            <a:tailEnd type="none"/>
          </a:ln>
        </p:spPr>
        <p:style>
          <a:lnRef idx="2">
            <a:schemeClr val="accent6"/>
          </a:lnRef>
          <a:fillRef idx="0">
            <a:schemeClr val="accent6"/>
          </a:fillRef>
          <a:effectRef idx="1">
            <a:schemeClr val="accent6"/>
          </a:effectRef>
          <a:fontRef idx="minor">
            <a:schemeClr val="tx1"/>
          </a:fontRef>
        </p:style>
      </p:cxnSp>
      <p:sp>
        <p:nvSpPr>
          <p:cNvPr id="280" name="Rectángulo 279">
            <a:extLst>
              <a:ext uri="{FF2B5EF4-FFF2-40B4-BE49-F238E27FC236}">
                <a16:creationId xmlns:a16="http://schemas.microsoft.com/office/drawing/2014/main" id="{D4897F49-46D0-43B6-8A8B-F0CA9A2BF05B}"/>
              </a:ext>
            </a:extLst>
          </p:cNvPr>
          <p:cNvSpPr/>
          <p:nvPr/>
        </p:nvSpPr>
        <p:spPr>
          <a:xfrm>
            <a:off x="7043174" y="5499178"/>
            <a:ext cx="312855" cy="16001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81" name="Rectángulo 280">
            <a:extLst>
              <a:ext uri="{FF2B5EF4-FFF2-40B4-BE49-F238E27FC236}">
                <a16:creationId xmlns:a16="http://schemas.microsoft.com/office/drawing/2014/main" id="{14C0AD92-3914-4946-8903-BCD2D7384638}"/>
              </a:ext>
            </a:extLst>
          </p:cNvPr>
          <p:cNvSpPr/>
          <p:nvPr/>
        </p:nvSpPr>
        <p:spPr>
          <a:xfrm>
            <a:off x="7094370" y="5548973"/>
            <a:ext cx="210461" cy="6754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82" name="Rectángulo 281">
            <a:extLst>
              <a:ext uri="{FF2B5EF4-FFF2-40B4-BE49-F238E27FC236}">
                <a16:creationId xmlns:a16="http://schemas.microsoft.com/office/drawing/2014/main" id="{C0D4720D-E5AD-4FC5-8039-D37B1A367F6C}"/>
              </a:ext>
            </a:extLst>
          </p:cNvPr>
          <p:cNvSpPr/>
          <p:nvPr/>
        </p:nvSpPr>
        <p:spPr>
          <a:xfrm>
            <a:off x="9008404" y="2674671"/>
            <a:ext cx="312855" cy="16001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85" name="Rectángulo 284">
            <a:extLst>
              <a:ext uri="{FF2B5EF4-FFF2-40B4-BE49-F238E27FC236}">
                <a16:creationId xmlns:a16="http://schemas.microsoft.com/office/drawing/2014/main" id="{953D04B8-39B2-4675-B9AE-4D4571306BD9}"/>
              </a:ext>
            </a:extLst>
          </p:cNvPr>
          <p:cNvSpPr/>
          <p:nvPr/>
        </p:nvSpPr>
        <p:spPr>
          <a:xfrm>
            <a:off x="9052357" y="2708817"/>
            <a:ext cx="210461" cy="6754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355" name="25 Conector recto de flecha">
            <a:extLst>
              <a:ext uri="{FF2B5EF4-FFF2-40B4-BE49-F238E27FC236}">
                <a16:creationId xmlns:a16="http://schemas.microsoft.com/office/drawing/2014/main" id="{2A8C6799-F1F1-4A77-891D-BB4D2879481F}"/>
              </a:ext>
            </a:extLst>
          </p:cNvPr>
          <p:cNvCxnSpPr>
            <a:cxnSpLocks/>
            <a:stCxn id="290" idx="3"/>
            <a:endCxn id="390" idx="0"/>
          </p:cNvCxnSpPr>
          <p:nvPr/>
        </p:nvCxnSpPr>
        <p:spPr bwMode="auto">
          <a:xfrm flipV="1">
            <a:off x="7036766" y="3997219"/>
            <a:ext cx="385940" cy="1837746"/>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77" name="25 Conector recto de flecha">
            <a:extLst>
              <a:ext uri="{FF2B5EF4-FFF2-40B4-BE49-F238E27FC236}">
                <a16:creationId xmlns:a16="http://schemas.microsoft.com/office/drawing/2014/main" id="{39C64CD7-820A-4939-88C6-AEFB32463118}"/>
              </a:ext>
            </a:extLst>
          </p:cNvPr>
          <p:cNvCxnSpPr/>
          <p:nvPr/>
        </p:nvCxnSpPr>
        <p:spPr bwMode="auto">
          <a:xfrm>
            <a:off x="10885851" y="283082"/>
            <a:ext cx="256340" cy="4026"/>
          </a:xfrm>
          <a:prstGeom prst="straightConnector1">
            <a:avLst/>
          </a:prstGeom>
          <a:ln w="254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380" name="TextBox 181">
            <a:extLst>
              <a:ext uri="{FF2B5EF4-FFF2-40B4-BE49-F238E27FC236}">
                <a16:creationId xmlns:a16="http://schemas.microsoft.com/office/drawing/2014/main" id="{72585428-451F-4936-BE3B-F8584FB02F28}"/>
              </a:ext>
            </a:extLst>
          </p:cNvPr>
          <p:cNvSpPr txBox="1">
            <a:spLocks noChangeArrowheads="1"/>
          </p:cNvSpPr>
          <p:nvPr/>
        </p:nvSpPr>
        <p:spPr bwMode="auto">
          <a:xfrm>
            <a:off x="11117199" y="181791"/>
            <a:ext cx="3626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900" b="0" dirty="0">
                <a:solidFill>
                  <a:srgbClr val="000000"/>
                </a:solidFill>
                <a:latin typeface="Calibri" pitchFamily="34" charset="0"/>
                <a:cs typeface="Arial" charset="0"/>
              </a:rPr>
              <a:t>TRX</a:t>
            </a:r>
          </a:p>
        </p:txBody>
      </p:sp>
      <p:sp>
        <p:nvSpPr>
          <p:cNvPr id="411" name="Elipse 410">
            <a:extLst>
              <a:ext uri="{FF2B5EF4-FFF2-40B4-BE49-F238E27FC236}">
                <a16:creationId xmlns:a16="http://schemas.microsoft.com/office/drawing/2014/main" id="{988F9818-3119-4463-9F75-86F886516238}"/>
              </a:ext>
            </a:extLst>
          </p:cNvPr>
          <p:cNvSpPr/>
          <p:nvPr/>
        </p:nvSpPr>
        <p:spPr>
          <a:xfrm>
            <a:off x="441311" y="4940241"/>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2</a:t>
            </a:r>
          </a:p>
        </p:txBody>
      </p:sp>
      <p:sp>
        <p:nvSpPr>
          <p:cNvPr id="413" name="Elipse 412">
            <a:extLst>
              <a:ext uri="{FF2B5EF4-FFF2-40B4-BE49-F238E27FC236}">
                <a16:creationId xmlns:a16="http://schemas.microsoft.com/office/drawing/2014/main" id="{4DDFCDBE-DBA1-4C04-B5B9-47F966ECEECB}"/>
              </a:ext>
            </a:extLst>
          </p:cNvPr>
          <p:cNvSpPr/>
          <p:nvPr/>
        </p:nvSpPr>
        <p:spPr>
          <a:xfrm>
            <a:off x="3321333" y="922864"/>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3</a:t>
            </a:r>
          </a:p>
        </p:txBody>
      </p:sp>
      <p:sp>
        <p:nvSpPr>
          <p:cNvPr id="415" name="Elipse 414">
            <a:extLst>
              <a:ext uri="{FF2B5EF4-FFF2-40B4-BE49-F238E27FC236}">
                <a16:creationId xmlns:a16="http://schemas.microsoft.com/office/drawing/2014/main" id="{FE5414FA-C556-4BAE-B6C8-D6A4A47D47BB}"/>
              </a:ext>
            </a:extLst>
          </p:cNvPr>
          <p:cNvSpPr/>
          <p:nvPr/>
        </p:nvSpPr>
        <p:spPr>
          <a:xfrm>
            <a:off x="10179960" y="2592921"/>
            <a:ext cx="198410" cy="25371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5</a:t>
            </a:r>
          </a:p>
        </p:txBody>
      </p:sp>
      <p:sp>
        <p:nvSpPr>
          <p:cNvPr id="432" name="Elipse 431">
            <a:extLst>
              <a:ext uri="{FF2B5EF4-FFF2-40B4-BE49-F238E27FC236}">
                <a16:creationId xmlns:a16="http://schemas.microsoft.com/office/drawing/2014/main" id="{838BB7E4-3441-4879-A39E-AF0EA47BE0DA}"/>
              </a:ext>
            </a:extLst>
          </p:cNvPr>
          <p:cNvSpPr/>
          <p:nvPr/>
        </p:nvSpPr>
        <p:spPr>
          <a:xfrm>
            <a:off x="5650331" y="2518966"/>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6</a:t>
            </a:r>
          </a:p>
        </p:txBody>
      </p:sp>
      <p:sp>
        <p:nvSpPr>
          <p:cNvPr id="442" name="Elipse 441">
            <a:extLst>
              <a:ext uri="{FF2B5EF4-FFF2-40B4-BE49-F238E27FC236}">
                <a16:creationId xmlns:a16="http://schemas.microsoft.com/office/drawing/2014/main" id="{F5477510-AEB4-489E-88A0-83C1F24A11A9}"/>
              </a:ext>
            </a:extLst>
          </p:cNvPr>
          <p:cNvSpPr/>
          <p:nvPr/>
        </p:nvSpPr>
        <p:spPr>
          <a:xfrm>
            <a:off x="6984305" y="2182878"/>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7</a:t>
            </a:r>
          </a:p>
        </p:txBody>
      </p:sp>
      <p:cxnSp>
        <p:nvCxnSpPr>
          <p:cNvPr id="445" name="25 Conector recto de flecha">
            <a:extLst>
              <a:ext uri="{FF2B5EF4-FFF2-40B4-BE49-F238E27FC236}">
                <a16:creationId xmlns:a16="http://schemas.microsoft.com/office/drawing/2014/main" id="{6480F485-8A5C-4ADD-B143-9BBCF7386727}"/>
              </a:ext>
            </a:extLst>
          </p:cNvPr>
          <p:cNvCxnSpPr>
            <a:cxnSpLocks/>
          </p:cNvCxnSpPr>
          <p:nvPr/>
        </p:nvCxnSpPr>
        <p:spPr bwMode="auto">
          <a:xfrm flipV="1">
            <a:off x="6953469" y="720502"/>
            <a:ext cx="595420" cy="205552"/>
          </a:xfrm>
          <a:prstGeom prst="straightConnector1">
            <a:avLst/>
          </a:prstGeom>
          <a:ln w="25400">
            <a:solidFill>
              <a:srgbClr val="AA4F26"/>
            </a:solidFill>
            <a:tailEnd type="triangle"/>
          </a:ln>
        </p:spPr>
        <p:style>
          <a:lnRef idx="1">
            <a:schemeClr val="accent1"/>
          </a:lnRef>
          <a:fillRef idx="0">
            <a:schemeClr val="accent1"/>
          </a:fillRef>
          <a:effectRef idx="0">
            <a:schemeClr val="accent1"/>
          </a:effectRef>
          <a:fontRef idx="minor">
            <a:schemeClr val="tx1"/>
          </a:fontRef>
        </p:style>
      </p:cxnSp>
      <p:cxnSp>
        <p:nvCxnSpPr>
          <p:cNvPr id="446" name="25 Conector recto de flecha">
            <a:extLst>
              <a:ext uri="{FF2B5EF4-FFF2-40B4-BE49-F238E27FC236}">
                <a16:creationId xmlns:a16="http://schemas.microsoft.com/office/drawing/2014/main" id="{CA4E3EA0-16F9-44E5-9923-9EC0E77309BF}"/>
              </a:ext>
            </a:extLst>
          </p:cNvPr>
          <p:cNvCxnSpPr/>
          <p:nvPr/>
        </p:nvCxnSpPr>
        <p:spPr bwMode="auto">
          <a:xfrm>
            <a:off x="6987386" y="1864425"/>
            <a:ext cx="256340" cy="40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7" name="25 Conector recto de flecha">
            <a:extLst>
              <a:ext uri="{FF2B5EF4-FFF2-40B4-BE49-F238E27FC236}">
                <a16:creationId xmlns:a16="http://schemas.microsoft.com/office/drawing/2014/main" id="{BB71765F-E5E7-4C23-923E-8614A883302D}"/>
              </a:ext>
            </a:extLst>
          </p:cNvPr>
          <p:cNvCxnSpPr/>
          <p:nvPr/>
        </p:nvCxnSpPr>
        <p:spPr bwMode="auto">
          <a:xfrm>
            <a:off x="7917407" y="1935674"/>
            <a:ext cx="256340" cy="40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4" name="Imagen 23">
            <a:extLst>
              <a:ext uri="{FF2B5EF4-FFF2-40B4-BE49-F238E27FC236}">
                <a16:creationId xmlns:a16="http://schemas.microsoft.com/office/drawing/2014/main" id="{18BDC5FF-57D7-4AE5-BCE6-76299E857D02}"/>
              </a:ext>
            </a:extLst>
          </p:cNvPr>
          <p:cNvPicPr>
            <a:picLocks noChangeAspect="1"/>
          </p:cNvPicPr>
          <p:nvPr/>
        </p:nvPicPr>
        <p:blipFill>
          <a:blip r:embed="rId15"/>
          <a:stretch>
            <a:fillRect/>
          </a:stretch>
        </p:blipFill>
        <p:spPr>
          <a:xfrm>
            <a:off x="7357486" y="2325488"/>
            <a:ext cx="397100" cy="377245"/>
          </a:xfrm>
          <a:prstGeom prst="rect">
            <a:avLst/>
          </a:prstGeom>
        </p:spPr>
      </p:pic>
      <p:sp>
        <p:nvSpPr>
          <p:cNvPr id="449" name="CuadroTexto 14">
            <a:extLst>
              <a:ext uri="{FF2B5EF4-FFF2-40B4-BE49-F238E27FC236}">
                <a16:creationId xmlns:a16="http://schemas.microsoft.com/office/drawing/2014/main" id="{A9243999-2435-49FE-B5E7-AF00912A42FB}"/>
              </a:ext>
            </a:extLst>
          </p:cNvPr>
          <p:cNvSpPr txBox="1">
            <a:spLocks noChangeArrowheads="1"/>
          </p:cNvSpPr>
          <p:nvPr/>
        </p:nvSpPr>
        <p:spPr bwMode="auto">
          <a:xfrm>
            <a:off x="7542383" y="2304704"/>
            <a:ext cx="12144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s-ES" altLang="es-ES" sz="1100" b="0" dirty="0">
                <a:solidFill>
                  <a:schemeClr val="tx1"/>
                </a:solidFill>
              </a:rPr>
              <a:t>Servicio </a:t>
            </a:r>
          </a:p>
          <a:p>
            <a:pPr algn="ctr">
              <a:spcBef>
                <a:spcPct val="0"/>
              </a:spcBef>
              <a:buClrTx/>
              <a:buSzTx/>
              <a:buFontTx/>
              <a:buNone/>
            </a:pPr>
            <a:r>
              <a:rPr lang="es-ES" altLang="es-ES" sz="1100" b="0" dirty="0">
                <a:solidFill>
                  <a:schemeClr val="tx1"/>
                </a:solidFill>
              </a:rPr>
              <a:t>Google </a:t>
            </a:r>
            <a:r>
              <a:rPr lang="es-ES" altLang="es-ES" sz="1100" b="0" dirty="0" err="1">
                <a:solidFill>
                  <a:schemeClr val="tx1"/>
                </a:solidFill>
              </a:rPr>
              <a:t>maps</a:t>
            </a:r>
            <a:endParaRPr lang="es-ES" altLang="es-ES" sz="1100" b="0" dirty="0">
              <a:solidFill>
                <a:schemeClr val="tx1"/>
              </a:solidFill>
            </a:endParaRPr>
          </a:p>
        </p:txBody>
      </p:sp>
      <p:sp>
        <p:nvSpPr>
          <p:cNvPr id="455" name="Elipse 454">
            <a:extLst>
              <a:ext uri="{FF2B5EF4-FFF2-40B4-BE49-F238E27FC236}">
                <a16:creationId xmlns:a16="http://schemas.microsoft.com/office/drawing/2014/main" id="{AA1D84F6-286F-49BB-927F-A072E6C7F3B0}"/>
              </a:ext>
            </a:extLst>
          </p:cNvPr>
          <p:cNvSpPr/>
          <p:nvPr/>
        </p:nvSpPr>
        <p:spPr>
          <a:xfrm>
            <a:off x="6876028" y="594429"/>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8</a:t>
            </a:r>
          </a:p>
        </p:txBody>
      </p:sp>
      <p:sp>
        <p:nvSpPr>
          <p:cNvPr id="458" name="Oval 18">
            <a:extLst>
              <a:ext uri="{FF2B5EF4-FFF2-40B4-BE49-F238E27FC236}">
                <a16:creationId xmlns:a16="http://schemas.microsoft.com/office/drawing/2014/main" id="{3065257E-372A-4764-9D9F-65711190DA72}"/>
              </a:ext>
            </a:extLst>
          </p:cNvPr>
          <p:cNvSpPr>
            <a:spLocks noChangeArrowheads="1"/>
          </p:cNvSpPr>
          <p:nvPr/>
        </p:nvSpPr>
        <p:spPr bwMode="auto">
          <a:xfrm>
            <a:off x="7148978" y="5008384"/>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rPr>
              <a:t>10</a:t>
            </a:r>
          </a:p>
        </p:txBody>
      </p:sp>
      <p:grpSp>
        <p:nvGrpSpPr>
          <p:cNvPr id="5" name="Grupo 4">
            <a:extLst>
              <a:ext uri="{FF2B5EF4-FFF2-40B4-BE49-F238E27FC236}">
                <a16:creationId xmlns:a16="http://schemas.microsoft.com/office/drawing/2014/main" id="{9237972C-5D06-B7C5-8B95-B936027FC1C4}"/>
              </a:ext>
            </a:extLst>
          </p:cNvPr>
          <p:cNvGrpSpPr/>
          <p:nvPr/>
        </p:nvGrpSpPr>
        <p:grpSpPr>
          <a:xfrm>
            <a:off x="10523447" y="2017828"/>
            <a:ext cx="1519257" cy="1327981"/>
            <a:chOff x="10300274" y="2264930"/>
            <a:chExt cx="1519257" cy="1534509"/>
          </a:xfrm>
        </p:grpSpPr>
        <p:grpSp>
          <p:nvGrpSpPr>
            <p:cNvPr id="204" name="Grupo 203">
              <a:extLst>
                <a:ext uri="{FF2B5EF4-FFF2-40B4-BE49-F238E27FC236}">
                  <a16:creationId xmlns:a16="http://schemas.microsoft.com/office/drawing/2014/main" id="{444323AF-47C8-4C90-9DFE-ED09E3DEEA53}"/>
                </a:ext>
              </a:extLst>
            </p:cNvPr>
            <p:cNvGrpSpPr/>
            <p:nvPr/>
          </p:nvGrpSpPr>
          <p:grpSpPr>
            <a:xfrm rot="5400000">
              <a:off x="10328498" y="2319886"/>
              <a:ext cx="1451329" cy="1507777"/>
              <a:chOff x="4385745" y="4529111"/>
              <a:chExt cx="495439" cy="1371601"/>
            </a:xfrm>
          </p:grpSpPr>
          <p:sp>
            <p:nvSpPr>
              <p:cNvPr id="205" name="48 Rectángulo">
                <a:extLst>
                  <a:ext uri="{FF2B5EF4-FFF2-40B4-BE49-F238E27FC236}">
                    <a16:creationId xmlns:a16="http://schemas.microsoft.com/office/drawing/2014/main" id="{9F087980-20DA-4835-AACC-698B87FB4695}"/>
                  </a:ext>
                </a:extLst>
              </p:cNvPr>
              <p:cNvSpPr/>
              <p:nvPr/>
            </p:nvSpPr>
            <p:spPr>
              <a:xfrm>
                <a:off x="4385745" y="4529111"/>
                <a:ext cx="495439" cy="1371601"/>
              </a:xfrm>
              <a:prstGeom prst="rect">
                <a:avLst/>
              </a:prstGeom>
              <a:solidFill>
                <a:schemeClr val="bg1">
                  <a:lumMod val="95000"/>
                </a:schemeClr>
              </a:solidFill>
              <a:ln w="952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lstStyle/>
              <a:p>
                <a:pPr algn="ctr" eaLnBrk="1" hangingPunct="1">
                  <a:defRPr/>
                </a:pPr>
                <a:endParaRPr lang="es-ES" sz="1000" b="1" i="1" dirty="0">
                  <a:solidFill>
                    <a:srgbClr val="FF0000"/>
                  </a:solidFill>
                </a:endParaRPr>
              </a:p>
              <a:p>
                <a:pPr algn="ctr" eaLnBrk="1" hangingPunct="1">
                  <a:defRPr/>
                </a:pPr>
                <a:endParaRPr lang="es-ES" sz="1000" dirty="0">
                  <a:solidFill>
                    <a:schemeClr val="tx1"/>
                  </a:solidFill>
                </a:endParaRPr>
              </a:p>
            </p:txBody>
          </p:sp>
          <p:pic>
            <p:nvPicPr>
              <p:cNvPr id="206" name="Imagen 17">
                <a:extLst>
                  <a:ext uri="{FF2B5EF4-FFF2-40B4-BE49-F238E27FC236}">
                    <a16:creationId xmlns:a16="http://schemas.microsoft.com/office/drawing/2014/main" id="{19A4F650-D8CA-41C9-BE07-6E1AAE417161}"/>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rot="16200000">
                <a:off x="3889639" y="5278974"/>
                <a:ext cx="1134846" cy="52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89" name="Rectángulo redondeado 15">
              <a:extLst>
                <a:ext uri="{FF2B5EF4-FFF2-40B4-BE49-F238E27FC236}">
                  <a16:creationId xmlns:a16="http://schemas.microsoft.com/office/drawing/2014/main" id="{A2ADC388-B89D-4322-A0D5-09BEF7ED9D14}"/>
                </a:ext>
              </a:extLst>
            </p:cNvPr>
            <p:cNvSpPr/>
            <p:nvPr/>
          </p:nvSpPr>
          <p:spPr bwMode="auto">
            <a:xfrm>
              <a:off x="10620427" y="2804290"/>
              <a:ext cx="707111" cy="240890"/>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sp>
          <p:nvSpPr>
            <p:cNvPr id="388" name="Rectángulo 387">
              <a:extLst>
                <a:ext uri="{FF2B5EF4-FFF2-40B4-BE49-F238E27FC236}">
                  <a16:creationId xmlns:a16="http://schemas.microsoft.com/office/drawing/2014/main" id="{5ED3D8E2-09C1-4E27-BDF9-9B62681469BD}"/>
                </a:ext>
              </a:extLst>
            </p:cNvPr>
            <p:cNvSpPr/>
            <p:nvPr/>
          </p:nvSpPr>
          <p:spPr>
            <a:xfrm>
              <a:off x="10581776" y="2702019"/>
              <a:ext cx="821928" cy="369332"/>
            </a:xfrm>
            <a:prstGeom prst="rect">
              <a:avLst/>
            </a:prstGeom>
          </p:spPr>
          <p:txBody>
            <a:bodyPr wrap="square">
              <a:spAutoFit/>
            </a:bodyPr>
            <a:lstStyle/>
            <a:p>
              <a:pPr algn="ctr"/>
              <a:r>
                <a:rPr lang="es-ES" dirty="0"/>
                <a:t>FIOC</a:t>
              </a:r>
            </a:p>
          </p:txBody>
        </p:sp>
        <p:sp>
          <p:nvSpPr>
            <p:cNvPr id="398" name="Rectángulo redondeado 15">
              <a:extLst>
                <a:ext uri="{FF2B5EF4-FFF2-40B4-BE49-F238E27FC236}">
                  <a16:creationId xmlns:a16="http://schemas.microsoft.com/office/drawing/2014/main" id="{8C2299E0-1FA9-45A5-A00C-73576A177B53}"/>
                </a:ext>
              </a:extLst>
            </p:cNvPr>
            <p:cNvSpPr/>
            <p:nvPr/>
          </p:nvSpPr>
          <p:spPr bwMode="auto">
            <a:xfrm>
              <a:off x="10720762" y="3153642"/>
              <a:ext cx="561657" cy="20142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dirty="0">
                  <a:solidFill>
                    <a:schemeClr val="tx1"/>
                  </a:solidFill>
                </a:rPr>
                <a:t>PAGOS</a:t>
              </a:r>
            </a:p>
          </p:txBody>
        </p:sp>
        <p:sp>
          <p:nvSpPr>
            <p:cNvPr id="399" name="Rectángulo redondeado 15">
              <a:extLst>
                <a:ext uri="{FF2B5EF4-FFF2-40B4-BE49-F238E27FC236}">
                  <a16:creationId xmlns:a16="http://schemas.microsoft.com/office/drawing/2014/main" id="{6351E54A-45B1-4D28-95CB-7AA83F678A74}"/>
                </a:ext>
              </a:extLst>
            </p:cNvPr>
            <p:cNvSpPr/>
            <p:nvPr/>
          </p:nvSpPr>
          <p:spPr bwMode="auto">
            <a:xfrm>
              <a:off x="10738796" y="3458261"/>
              <a:ext cx="561657" cy="20142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dirty="0">
                  <a:solidFill>
                    <a:schemeClr val="tx1"/>
                  </a:solidFill>
                </a:rPr>
                <a:t>MPDEES</a:t>
              </a:r>
            </a:p>
          </p:txBody>
        </p:sp>
        <p:sp>
          <p:nvSpPr>
            <p:cNvPr id="460" name="Oval 18">
              <a:extLst>
                <a:ext uri="{FF2B5EF4-FFF2-40B4-BE49-F238E27FC236}">
                  <a16:creationId xmlns:a16="http://schemas.microsoft.com/office/drawing/2014/main" id="{E5D8AC23-63F4-4C6A-ACAF-8607731759D5}"/>
                </a:ext>
              </a:extLst>
            </p:cNvPr>
            <p:cNvSpPr>
              <a:spLocks noChangeArrowheads="1"/>
            </p:cNvSpPr>
            <p:nvPr/>
          </p:nvSpPr>
          <p:spPr bwMode="auto">
            <a:xfrm>
              <a:off x="11615968" y="2264930"/>
              <a:ext cx="203563" cy="236325"/>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grpSp>
      <p:sp>
        <p:nvSpPr>
          <p:cNvPr id="463" name="Oval 18">
            <a:extLst>
              <a:ext uri="{FF2B5EF4-FFF2-40B4-BE49-F238E27FC236}">
                <a16:creationId xmlns:a16="http://schemas.microsoft.com/office/drawing/2014/main" id="{1882B648-D28F-4CF4-ACDC-C6D5AD4E7B74}"/>
              </a:ext>
            </a:extLst>
          </p:cNvPr>
          <p:cNvSpPr>
            <a:spLocks noChangeArrowheads="1"/>
          </p:cNvSpPr>
          <p:nvPr/>
        </p:nvSpPr>
        <p:spPr bwMode="auto">
          <a:xfrm>
            <a:off x="7333172" y="2568956"/>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sp>
        <p:nvSpPr>
          <p:cNvPr id="464" name="Oval 18">
            <a:extLst>
              <a:ext uri="{FF2B5EF4-FFF2-40B4-BE49-F238E27FC236}">
                <a16:creationId xmlns:a16="http://schemas.microsoft.com/office/drawing/2014/main" id="{648FD3C9-ACA9-4080-8338-0591697B24C1}"/>
              </a:ext>
            </a:extLst>
          </p:cNvPr>
          <p:cNvSpPr>
            <a:spLocks noChangeArrowheads="1"/>
          </p:cNvSpPr>
          <p:nvPr/>
        </p:nvSpPr>
        <p:spPr bwMode="auto">
          <a:xfrm>
            <a:off x="8292780" y="1595927"/>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sp>
        <p:nvSpPr>
          <p:cNvPr id="466" name="Oval 18">
            <a:extLst>
              <a:ext uri="{FF2B5EF4-FFF2-40B4-BE49-F238E27FC236}">
                <a16:creationId xmlns:a16="http://schemas.microsoft.com/office/drawing/2014/main" id="{E0414521-77DF-45FC-8731-39FB50425C67}"/>
              </a:ext>
            </a:extLst>
          </p:cNvPr>
          <p:cNvSpPr>
            <a:spLocks noChangeArrowheads="1"/>
          </p:cNvSpPr>
          <p:nvPr/>
        </p:nvSpPr>
        <p:spPr bwMode="auto">
          <a:xfrm>
            <a:off x="7740193" y="1566405"/>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sp>
        <p:nvSpPr>
          <p:cNvPr id="469" name="Oval 18">
            <a:extLst>
              <a:ext uri="{FF2B5EF4-FFF2-40B4-BE49-F238E27FC236}">
                <a16:creationId xmlns:a16="http://schemas.microsoft.com/office/drawing/2014/main" id="{F047795F-15E1-42B3-8C5D-1680D7586102}"/>
              </a:ext>
            </a:extLst>
          </p:cNvPr>
          <p:cNvSpPr>
            <a:spLocks noChangeArrowheads="1"/>
          </p:cNvSpPr>
          <p:nvPr/>
        </p:nvSpPr>
        <p:spPr bwMode="auto">
          <a:xfrm>
            <a:off x="2511484" y="4520943"/>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sp>
        <p:nvSpPr>
          <p:cNvPr id="475" name="Rectángulo: esquinas redondeadas 474">
            <a:extLst>
              <a:ext uri="{FF2B5EF4-FFF2-40B4-BE49-F238E27FC236}">
                <a16:creationId xmlns:a16="http://schemas.microsoft.com/office/drawing/2014/main" id="{6F5F87BE-F0F4-4F28-864D-588DE0E905A6}"/>
              </a:ext>
            </a:extLst>
          </p:cNvPr>
          <p:cNvSpPr/>
          <p:nvPr/>
        </p:nvSpPr>
        <p:spPr>
          <a:xfrm rot="16200000">
            <a:off x="3133072" y="4573502"/>
            <a:ext cx="863375" cy="316460"/>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s-ES" sz="831">
              <a:solidFill>
                <a:prstClr val="white"/>
              </a:solidFill>
              <a:latin typeface="Calibri" panose="020F0502020204030204"/>
            </a:endParaRPr>
          </a:p>
        </p:txBody>
      </p:sp>
      <p:sp>
        <p:nvSpPr>
          <p:cNvPr id="479" name="CuadroTexto 478">
            <a:extLst>
              <a:ext uri="{FF2B5EF4-FFF2-40B4-BE49-F238E27FC236}">
                <a16:creationId xmlns:a16="http://schemas.microsoft.com/office/drawing/2014/main" id="{21120879-873E-40D7-A1FE-F47C0F0F4C46}"/>
              </a:ext>
            </a:extLst>
          </p:cNvPr>
          <p:cNvSpPr txBox="1"/>
          <p:nvPr/>
        </p:nvSpPr>
        <p:spPr>
          <a:xfrm rot="16200000">
            <a:off x="3248737" y="4635608"/>
            <a:ext cx="686754" cy="220188"/>
          </a:xfrm>
          <a:prstGeom prst="rect">
            <a:avLst/>
          </a:prstGeom>
          <a:noFill/>
        </p:spPr>
        <p:txBody>
          <a:bodyPr wrap="square" rtlCol="0">
            <a:spAutoFit/>
          </a:bodyPr>
          <a:lstStyle/>
          <a:p>
            <a:pPr defTabSz="844083">
              <a:defRPr/>
            </a:pPr>
            <a:r>
              <a:rPr lang="es-ES" sz="831" dirty="0" err="1">
                <a:solidFill>
                  <a:prstClr val="white"/>
                </a:solidFill>
                <a:latin typeface="Arial" panose="020B0604020202020204" pitchFamily="34" charset="0"/>
                <a:cs typeface="Arial" panose="020B0604020202020204" pitchFamily="34" charset="0"/>
              </a:rPr>
              <a:t>Datagrid</a:t>
            </a:r>
            <a:endParaRPr lang="es-ES" sz="831" dirty="0">
              <a:solidFill>
                <a:prstClr val="white"/>
              </a:solidFill>
              <a:latin typeface="Arial" panose="020B0604020202020204" pitchFamily="34" charset="0"/>
              <a:cs typeface="Arial" panose="020B0604020202020204" pitchFamily="34" charset="0"/>
            </a:endParaRPr>
          </a:p>
        </p:txBody>
      </p:sp>
      <p:sp>
        <p:nvSpPr>
          <p:cNvPr id="482" name="Oval 18">
            <a:extLst>
              <a:ext uri="{FF2B5EF4-FFF2-40B4-BE49-F238E27FC236}">
                <a16:creationId xmlns:a16="http://schemas.microsoft.com/office/drawing/2014/main" id="{7136DDEE-7F5C-427F-8988-FBEFA2A07723}"/>
              </a:ext>
            </a:extLst>
          </p:cNvPr>
          <p:cNvSpPr>
            <a:spLocks noChangeArrowheads="1"/>
          </p:cNvSpPr>
          <p:nvPr/>
        </p:nvSpPr>
        <p:spPr bwMode="auto">
          <a:xfrm>
            <a:off x="7043145" y="3716102"/>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lang="es-ES" altLang="es-ES" sz="1100" dirty="0">
                <a:solidFill>
                  <a:prstClr val="white"/>
                </a:solidFill>
              </a:rPr>
              <a:t>9</a:t>
            </a:r>
            <a:endPar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endParaRPr>
          </a:p>
        </p:txBody>
      </p:sp>
      <p:sp>
        <p:nvSpPr>
          <p:cNvPr id="227" name="Rectángulo: esquinas redondeadas 226">
            <a:extLst>
              <a:ext uri="{FF2B5EF4-FFF2-40B4-BE49-F238E27FC236}">
                <a16:creationId xmlns:a16="http://schemas.microsoft.com/office/drawing/2014/main" id="{976D29F3-B143-4CD2-BE54-6C44F6391BD5}"/>
              </a:ext>
            </a:extLst>
          </p:cNvPr>
          <p:cNvSpPr/>
          <p:nvPr/>
        </p:nvSpPr>
        <p:spPr>
          <a:xfrm>
            <a:off x="8063722" y="5480946"/>
            <a:ext cx="3825447" cy="667558"/>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sp>
        <p:nvSpPr>
          <p:cNvPr id="300" name="Oval 18">
            <a:extLst>
              <a:ext uri="{FF2B5EF4-FFF2-40B4-BE49-F238E27FC236}">
                <a16:creationId xmlns:a16="http://schemas.microsoft.com/office/drawing/2014/main" id="{3270E790-241B-443E-BC64-87BDAB1D7434}"/>
              </a:ext>
            </a:extLst>
          </p:cNvPr>
          <p:cNvSpPr>
            <a:spLocks noChangeArrowheads="1"/>
          </p:cNvSpPr>
          <p:nvPr/>
        </p:nvSpPr>
        <p:spPr bwMode="auto">
          <a:xfrm>
            <a:off x="7961836" y="5513468"/>
            <a:ext cx="226800" cy="226800"/>
          </a:xfrm>
          <a:prstGeom prst="ellipse">
            <a:avLst/>
          </a:prstGeom>
          <a:solidFill>
            <a:srgbClr val="92D050"/>
          </a:solidFill>
          <a:ln w="9525">
            <a:solidFill>
              <a:sysClr val="windowText" lastClr="000000"/>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s-ES" altLang="es-ES" sz="1200" b="1" i="0" u="none" strike="noStrike" kern="0" cap="none" spc="0" normalizeH="0" baseline="0" noProof="0" dirty="0">
                <a:ln>
                  <a:noFill/>
                </a:ln>
                <a:solidFill>
                  <a:prstClr val="white"/>
                </a:solidFill>
                <a:effectLst/>
                <a:uLnTx/>
                <a:uFillTx/>
                <a:latin typeface="Arial" pitchFamily="34" charset="0"/>
              </a:rPr>
              <a:t>E</a:t>
            </a:r>
          </a:p>
        </p:txBody>
      </p:sp>
      <p:pic>
        <p:nvPicPr>
          <p:cNvPr id="228" name="161 Imagen">
            <a:extLst>
              <a:ext uri="{FF2B5EF4-FFF2-40B4-BE49-F238E27FC236}">
                <a16:creationId xmlns:a16="http://schemas.microsoft.com/office/drawing/2014/main" id="{BCC76170-E01B-4B4D-BEFC-91574B60DEB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254753" y="4975190"/>
            <a:ext cx="606904" cy="128673"/>
          </a:xfrm>
          <a:prstGeom prst="rect">
            <a:avLst/>
          </a:prstGeom>
        </p:spPr>
      </p:pic>
      <p:sp>
        <p:nvSpPr>
          <p:cNvPr id="234" name="Rectángulo 233">
            <a:extLst>
              <a:ext uri="{FF2B5EF4-FFF2-40B4-BE49-F238E27FC236}">
                <a16:creationId xmlns:a16="http://schemas.microsoft.com/office/drawing/2014/main" id="{C3BE828D-D207-4BC8-A6E9-68B656DF1CB7}"/>
              </a:ext>
            </a:extLst>
          </p:cNvPr>
          <p:cNvSpPr/>
          <p:nvPr/>
        </p:nvSpPr>
        <p:spPr>
          <a:xfrm>
            <a:off x="9233391" y="5482205"/>
            <a:ext cx="2898101" cy="461665"/>
          </a:xfrm>
          <a:prstGeom prst="rect">
            <a:avLst/>
          </a:prstGeom>
        </p:spPr>
        <p:txBody>
          <a:bodyPr wrap="none">
            <a:spAutoFit/>
          </a:bodyPr>
          <a:lstStyle/>
          <a:p>
            <a:r>
              <a:rPr lang="es-ES" sz="1200" dirty="0"/>
              <a:t>GDPR , OCR , GESDOC , ADN360 , LAC. EDW</a:t>
            </a:r>
          </a:p>
          <a:p>
            <a:endParaRPr lang="es-ES" sz="1200" dirty="0"/>
          </a:p>
        </p:txBody>
      </p:sp>
      <p:sp>
        <p:nvSpPr>
          <p:cNvPr id="238" name="AutoShape 19">
            <a:hlinkClick r:id="" action="ppaction://noaction"/>
            <a:extLst>
              <a:ext uri="{FF2B5EF4-FFF2-40B4-BE49-F238E27FC236}">
                <a16:creationId xmlns:a16="http://schemas.microsoft.com/office/drawing/2014/main" id="{DB6EB638-92F7-4D8F-8B44-64F00F65C93D}"/>
              </a:ext>
            </a:extLst>
          </p:cNvPr>
          <p:cNvSpPr>
            <a:spLocks noChangeArrowheads="1"/>
          </p:cNvSpPr>
          <p:nvPr/>
        </p:nvSpPr>
        <p:spPr bwMode="auto">
          <a:xfrm>
            <a:off x="3902397" y="1161002"/>
            <a:ext cx="200395" cy="1340224"/>
          </a:xfrm>
          <a:prstGeom prst="roundRect">
            <a:avLst>
              <a:gd name="adj" fmla="val 16667"/>
            </a:avLst>
          </a:prstGeom>
          <a:solidFill>
            <a:schemeClr val="bg1"/>
          </a:solidFill>
          <a:ln w="635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vert270" lIns="74524" tIns="37261" rIns="74524" bIns="37261" anchor="ctr"/>
          <a:lstStyle/>
          <a:p>
            <a:pPr algn="ctr" defTabSz="745355">
              <a:lnSpc>
                <a:spcPct val="90000"/>
              </a:lnSpc>
              <a:defRPr/>
            </a:pPr>
            <a:r>
              <a:rPr lang="es-ES" sz="852" b="1" dirty="0">
                <a:latin typeface="Arial" panose="020B0604020202020204" pitchFamily="34" charset="0"/>
                <a:cs typeface="Arial" panose="020B0604020202020204" pitchFamily="34" charset="0"/>
              </a:rPr>
              <a:t>Api Web Intranet  HC 2.0</a:t>
            </a:r>
          </a:p>
        </p:txBody>
      </p:sp>
      <p:cxnSp>
        <p:nvCxnSpPr>
          <p:cNvPr id="239" name="451 Conector recto de flecha">
            <a:extLst>
              <a:ext uri="{FF2B5EF4-FFF2-40B4-BE49-F238E27FC236}">
                <a16:creationId xmlns:a16="http://schemas.microsoft.com/office/drawing/2014/main" id="{C7CB1AC3-8552-476E-87A1-62867F61E4B8}"/>
              </a:ext>
            </a:extLst>
          </p:cNvPr>
          <p:cNvCxnSpPr>
            <a:cxnSpLocks/>
          </p:cNvCxnSpPr>
          <p:nvPr/>
        </p:nvCxnSpPr>
        <p:spPr bwMode="auto">
          <a:xfrm>
            <a:off x="4127483" y="3542751"/>
            <a:ext cx="208918" cy="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220" name="Picture 3">
            <a:extLst>
              <a:ext uri="{FF2B5EF4-FFF2-40B4-BE49-F238E27FC236}">
                <a16:creationId xmlns:a16="http://schemas.microsoft.com/office/drawing/2014/main" id="{B652578E-E5CF-4415-B4B8-37B5652830A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063721" y="1168514"/>
            <a:ext cx="577850" cy="242887"/>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cxnSp>
        <p:nvCxnSpPr>
          <p:cNvPr id="221" name="25 Conector recto de flecha">
            <a:extLst>
              <a:ext uri="{FF2B5EF4-FFF2-40B4-BE49-F238E27FC236}">
                <a16:creationId xmlns:a16="http://schemas.microsoft.com/office/drawing/2014/main" id="{0B6BE7E9-3608-4F37-A5B4-604BBF77B8C8}"/>
              </a:ext>
            </a:extLst>
          </p:cNvPr>
          <p:cNvCxnSpPr/>
          <p:nvPr/>
        </p:nvCxnSpPr>
        <p:spPr bwMode="auto">
          <a:xfrm>
            <a:off x="6851382" y="1308788"/>
            <a:ext cx="256340" cy="40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5" name="AutoShape 63">
            <a:hlinkClick r:id="rId18" action="ppaction://hlinksldjump"/>
            <a:extLst>
              <a:ext uri="{FF2B5EF4-FFF2-40B4-BE49-F238E27FC236}">
                <a16:creationId xmlns:a16="http://schemas.microsoft.com/office/drawing/2014/main" id="{D13AF3B8-98F1-40D9-802B-5F55A689D841}"/>
              </a:ext>
            </a:extLst>
          </p:cNvPr>
          <p:cNvSpPr>
            <a:spLocks noChangeArrowheads="1"/>
          </p:cNvSpPr>
          <p:nvPr/>
        </p:nvSpPr>
        <p:spPr bwMode="auto">
          <a:xfrm>
            <a:off x="7155397" y="1188722"/>
            <a:ext cx="564094" cy="139700"/>
          </a:xfrm>
          <a:prstGeom prst="roundRect">
            <a:avLst>
              <a:gd name="adj" fmla="val 16667"/>
            </a:avLst>
          </a:prstGeom>
          <a:solidFill>
            <a:schemeClr val="bg1"/>
          </a:solidFill>
          <a:ln w="635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87462" tIns="43730" rIns="87462" bIns="43730"/>
          <a:lstStyle/>
          <a:p>
            <a:pPr marL="0" marR="0" lvl="0" indent="0" algn="l" defTabSz="874713" rtl="0" eaLnBrk="1" fontAlgn="auto" latinLnBrk="0" hangingPunct="1">
              <a:lnSpc>
                <a:spcPct val="90000"/>
              </a:lnSpc>
              <a:spcBef>
                <a:spcPts val="0"/>
              </a:spcBef>
              <a:spcAft>
                <a:spcPts val="0"/>
              </a:spcAft>
              <a:buClrTx/>
              <a:buSzTx/>
              <a:buFontTx/>
              <a:buNone/>
              <a:tabLst/>
              <a:defRPr/>
            </a:pPr>
            <a:r>
              <a:rPr lang="es-ES" sz="1000" b="1" dirty="0" err="1">
                <a:solidFill>
                  <a:prstClr val="black"/>
                </a:solidFill>
                <a:latin typeface="Calibri" panose="020F0502020204030204"/>
              </a:rPr>
              <a:t>Spidoc</a:t>
            </a:r>
            <a:endParaRPr kumimoji="0" lang="es-E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26" name="Conector: angular 225">
            <a:extLst>
              <a:ext uri="{FF2B5EF4-FFF2-40B4-BE49-F238E27FC236}">
                <a16:creationId xmlns:a16="http://schemas.microsoft.com/office/drawing/2014/main" id="{3E55EC51-57C4-4BAB-ABBC-099A2B7E8156}"/>
              </a:ext>
            </a:extLst>
          </p:cNvPr>
          <p:cNvCxnSpPr>
            <a:cxnSpLocks/>
            <a:endCxn id="220" idx="1"/>
          </p:cNvCxnSpPr>
          <p:nvPr/>
        </p:nvCxnSpPr>
        <p:spPr>
          <a:xfrm flipV="1">
            <a:off x="7729185" y="1289958"/>
            <a:ext cx="334536" cy="36540"/>
          </a:xfrm>
          <a:prstGeom prst="bentConnector3">
            <a:avLst>
              <a:gd name="adj1" fmla="val 50000"/>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30" name="Rectángulo redondeado 15">
            <a:extLst>
              <a:ext uri="{FF2B5EF4-FFF2-40B4-BE49-F238E27FC236}">
                <a16:creationId xmlns:a16="http://schemas.microsoft.com/office/drawing/2014/main" id="{DC9A6583-4E4F-434E-8228-0E2527C8FEB5}"/>
              </a:ext>
            </a:extLst>
          </p:cNvPr>
          <p:cNvSpPr/>
          <p:nvPr/>
        </p:nvSpPr>
        <p:spPr bwMode="auto">
          <a:xfrm>
            <a:off x="5751626" y="5017397"/>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231" name="161 Imagen">
            <a:extLst>
              <a:ext uri="{FF2B5EF4-FFF2-40B4-BE49-F238E27FC236}">
                <a16:creationId xmlns:a16="http://schemas.microsoft.com/office/drawing/2014/main" id="{14A051A2-721C-4D2D-A7AB-03EADA909A2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074928" y="5143734"/>
            <a:ext cx="606904" cy="128673"/>
          </a:xfrm>
          <a:prstGeom prst="rect">
            <a:avLst/>
          </a:prstGeom>
        </p:spPr>
      </p:pic>
      <p:sp>
        <p:nvSpPr>
          <p:cNvPr id="232" name="2 CuadroTexto">
            <a:extLst>
              <a:ext uri="{FF2B5EF4-FFF2-40B4-BE49-F238E27FC236}">
                <a16:creationId xmlns:a16="http://schemas.microsoft.com/office/drawing/2014/main" id="{4866DAAB-0F5D-40D6-BF42-69AEE4B06C75}"/>
              </a:ext>
            </a:extLst>
          </p:cNvPr>
          <p:cNvSpPr txBox="1">
            <a:spLocks noChangeArrowheads="1"/>
          </p:cNvSpPr>
          <p:nvPr/>
        </p:nvSpPr>
        <p:spPr bwMode="auto">
          <a:xfrm>
            <a:off x="5543148" y="5256078"/>
            <a:ext cx="1342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Gestion File</a:t>
            </a:r>
          </a:p>
        </p:txBody>
      </p:sp>
      <p:cxnSp>
        <p:nvCxnSpPr>
          <p:cNvPr id="233" name="25 Conector recto de flecha">
            <a:extLst>
              <a:ext uri="{FF2B5EF4-FFF2-40B4-BE49-F238E27FC236}">
                <a16:creationId xmlns:a16="http://schemas.microsoft.com/office/drawing/2014/main" id="{6D0EDF76-29D4-469C-AD47-72EA7F86FE13}"/>
              </a:ext>
            </a:extLst>
          </p:cNvPr>
          <p:cNvCxnSpPr>
            <a:cxnSpLocks/>
          </p:cNvCxnSpPr>
          <p:nvPr/>
        </p:nvCxnSpPr>
        <p:spPr bwMode="auto">
          <a:xfrm>
            <a:off x="6265802" y="5450530"/>
            <a:ext cx="551988" cy="74028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0" name="Oval 18">
            <a:extLst>
              <a:ext uri="{FF2B5EF4-FFF2-40B4-BE49-F238E27FC236}">
                <a16:creationId xmlns:a16="http://schemas.microsoft.com/office/drawing/2014/main" id="{D953B711-4212-45FB-934C-823B3122CD28}"/>
              </a:ext>
            </a:extLst>
          </p:cNvPr>
          <p:cNvSpPr>
            <a:spLocks noChangeArrowheads="1"/>
          </p:cNvSpPr>
          <p:nvPr/>
        </p:nvSpPr>
        <p:spPr bwMode="auto">
          <a:xfrm>
            <a:off x="6422277" y="6203938"/>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rPr>
              <a:t>12</a:t>
            </a:r>
          </a:p>
        </p:txBody>
      </p:sp>
      <p:sp>
        <p:nvSpPr>
          <p:cNvPr id="261" name="CuadroTexto 260">
            <a:extLst>
              <a:ext uri="{FF2B5EF4-FFF2-40B4-BE49-F238E27FC236}">
                <a16:creationId xmlns:a16="http://schemas.microsoft.com/office/drawing/2014/main" id="{539AE2CD-1D9E-4D2C-AD61-EFA44EA105FF}"/>
              </a:ext>
            </a:extLst>
          </p:cNvPr>
          <p:cNvSpPr txBox="1"/>
          <p:nvPr/>
        </p:nvSpPr>
        <p:spPr>
          <a:xfrm>
            <a:off x="593304" y="4220749"/>
            <a:ext cx="1061209" cy="338554"/>
          </a:xfrm>
          <a:prstGeom prst="rect">
            <a:avLst/>
          </a:prstGeom>
          <a:noFill/>
        </p:spPr>
        <p:txBody>
          <a:bodyPr wrap="square" rtlCol="0">
            <a:spAutoFit/>
          </a:bodyPr>
          <a:lstStyle/>
          <a:p>
            <a:r>
              <a:rPr lang="es-ES" sz="800" b="1" dirty="0">
                <a:solidFill>
                  <a:srgbClr val="1BB3BC"/>
                </a:solidFill>
              </a:rPr>
              <a:t>Movilidad </a:t>
            </a:r>
          </a:p>
          <a:p>
            <a:r>
              <a:rPr lang="es-ES" sz="800" b="1" dirty="0">
                <a:solidFill>
                  <a:srgbClr val="1BB3BC"/>
                </a:solidFill>
              </a:rPr>
              <a:t>Particulares</a:t>
            </a:r>
          </a:p>
        </p:txBody>
      </p:sp>
      <p:grpSp>
        <p:nvGrpSpPr>
          <p:cNvPr id="262" name="Grupo 261">
            <a:extLst>
              <a:ext uri="{FF2B5EF4-FFF2-40B4-BE49-F238E27FC236}">
                <a16:creationId xmlns:a16="http://schemas.microsoft.com/office/drawing/2014/main" id="{6FDB4747-8F4F-44A5-90EE-39B3FE87C300}"/>
              </a:ext>
            </a:extLst>
          </p:cNvPr>
          <p:cNvGrpSpPr/>
          <p:nvPr/>
        </p:nvGrpSpPr>
        <p:grpSpPr>
          <a:xfrm>
            <a:off x="200993" y="5298150"/>
            <a:ext cx="936268" cy="758282"/>
            <a:chOff x="223811" y="1034909"/>
            <a:chExt cx="1990817" cy="1621535"/>
          </a:xfrm>
        </p:grpSpPr>
        <p:sp>
          <p:nvSpPr>
            <p:cNvPr id="263" name="Rectángulo: esquinas redondeadas 262">
              <a:extLst>
                <a:ext uri="{FF2B5EF4-FFF2-40B4-BE49-F238E27FC236}">
                  <a16:creationId xmlns:a16="http://schemas.microsoft.com/office/drawing/2014/main" id="{62AFE953-A12D-465C-844B-C47565DAE49F}"/>
                </a:ext>
              </a:extLst>
            </p:cNvPr>
            <p:cNvSpPr/>
            <p:nvPr/>
          </p:nvSpPr>
          <p:spPr>
            <a:xfrm>
              <a:off x="223811" y="1034909"/>
              <a:ext cx="1990817" cy="162153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00">
                <a:solidFill>
                  <a:schemeClr val="tx1"/>
                </a:solidFill>
              </a:endParaRPr>
            </a:p>
          </p:txBody>
        </p:sp>
        <p:grpSp>
          <p:nvGrpSpPr>
            <p:cNvPr id="264" name="Grupo 263">
              <a:extLst>
                <a:ext uri="{FF2B5EF4-FFF2-40B4-BE49-F238E27FC236}">
                  <a16:creationId xmlns:a16="http://schemas.microsoft.com/office/drawing/2014/main" id="{32DA112A-7D1C-4A42-A64C-2D1C0E85D923}"/>
                </a:ext>
              </a:extLst>
            </p:cNvPr>
            <p:cNvGrpSpPr/>
            <p:nvPr/>
          </p:nvGrpSpPr>
          <p:grpSpPr>
            <a:xfrm>
              <a:off x="318741" y="1639634"/>
              <a:ext cx="1789734" cy="835676"/>
              <a:chOff x="671418" y="3510518"/>
              <a:chExt cx="1202155" cy="765396"/>
            </a:xfrm>
          </p:grpSpPr>
          <p:sp>
            <p:nvSpPr>
              <p:cNvPr id="268" name="3 Rectángulo">
                <a:extLst>
                  <a:ext uri="{FF2B5EF4-FFF2-40B4-BE49-F238E27FC236}">
                    <a16:creationId xmlns:a16="http://schemas.microsoft.com/office/drawing/2014/main" id="{6E758480-9FF2-4152-AA6F-E57729C75667}"/>
                  </a:ext>
                </a:extLst>
              </p:cNvPr>
              <p:cNvSpPr>
                <a:spLocks noChangeArrowheads="1"/>
              </p:cNvSpPr>
              <p:nvPr/>
            </p:nvSpPr>
            <p:spPr bwMode="auto">
              <a:xfrm>
                <a:off x="671418" y="3510518"/>
                <a:ext cx="1176655" cy="30846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7749" tIns="48875" rIns="97749" bIns="48875">
                <a:spAutoFit/>
              </a:bodyPr>
              <a:lstStyle>
                <a:lvl1pPr defTabSz="977900" eaLnBrk="0" hangingPunct="0">
                  <a:buClr>
                    <a:srgbClr val="FF0000"/>
                  </a:buClr>
                  <a:buChar char="w"/>
                  <a:defRPr sz="2400" b="1">
                    <a:solidFill>
                      <a:srgbClr val="FF0000"/>
                    </a:solidFill>
                    <a:latin typeface="Arial" panose="020B0604020202020204" pitchFamily="34" charset="0"/>
                  </a:defRPr>
                </a:lvl1pPr>
                <a:lvl2pPr marL="742950" indent="-285750" defTabSz="977900" eaLnBrk="0" hangingPunct="0">
                  <a:buClr>
                    <a:schemeClr val="bg2"/>
                  </a:buClr>
                  <a:buChar char="§"/>
                  <a:defRPr sz="2600">
                    <a:solidFill>
                      <a:srgbClr val="808080"/>
                    </a:solidFill>
                    <a:latin typeface="Arial" panose="020B0604020202020204" pitchFamily="34" charset="0"/>
                  </a:defRPr>
                </a:lvl2pPr>
                <a:lvl3pPr marL="1143000" indent="-228600" defTabSz="9779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9779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9779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eaLnBrk="1" hangingPunct="1">
                  <a:buClr>
                    <a:schemeClr val="accent2"/>
                  </a:buClr>
                  <a:buFont typeface="Wingdings" panose="05000000000000000000" pitchFamily="2" charset="2"/>
                  <a:buNone/>
                </a:pPr>
                <a:endParaRPr lang="es-ES" altLang="es-ES" sz="1000" b="0" dirty="0">
                  <a:solidFill>
                    <a:schemeClr val="tx1"/>
                  </a:solidFill>
                </a:endParaRPr>
              </a:p>
            </p:txBody>
          </p:sp>
          <p:pic>
            <p:nvPicPr>
              <p:cNvPr id="274" name="Picture 3">
                <a:extLst>
                  <a:ext uri="{FF2B5EF4-FFF2-40B4-BE49-F238E27FC236}">
                    <a16:creationId xmlns:a16="http://schemas.microsoft.com/office/drawing/2014/main" id="{A17C763A-6136-44F9-A796-DCA46831EEA2}"/>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50049" y="3521356"/>
                <a:ext cx="874766" cy="3860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9" name="2 CuadroTexto">
                <a:extLst>
                  <a:ext uri="{FF2B5EF4-FFF2-40B4-BE49-F238E27FC236}">
                    <a16:creationId xmlns:a16="http://schemas.microsoft.com/office/drawing/2014/main" id="{3F9B0DCC-CD4A-413D-B92A-42630FB39EC0}"/>
                  </a:ext>
                </a:extLst>
              </p:cNvPr>
              <p:cNvSpPr txBox="1">
                <a:spLocks noChangeArrowheads="1"/>
              </p:cNvSpPr>
              <p:nvPr/>
            </p:nvSpPr>
            <p:spPr bwMode="auto">
              <a:xfrm>
                <a:off x="671418" y="3975228"/>
                <a:ext cx="1202155" cy="30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Web Publica</a:t>
                </a:r>
              </a:p>
            </p:txBody>
          </p:sp>
        </p:grpSp>
        <p:sp>
          <p:nvSpPr>
            <p:cNvPr id="265" name="CuadroTexto 264">
              <a:extLst>
                <a:ext uri="{FF2B5EF4-FFF2-40B4-BE49-F238E27FC236}">
                  <a16:creationId xmlns:a16="http://schemas.microsoft.com/office/drawing/2014/main" id="{AF718772-428A-4034-9703-7CDD2ED5DA54}"/>
                </a:ext>
              </a:extLst>
            </p:cNvPr>
            <p:cNvSpPr txBox="1"/>
            <p:nvPr/>
          </p:nvSpPr>
          <p:spPr>
            <a:xfrm>
              <a:off x="899815" y="1168948"/>
              <a:ext cx="1010816" cy="526527"/>
            </a:xfrm>
            <a:prstGeom prst="rect">
              <a:avLst/>
            </a:prstGeom>
            <a:noFill/>
          </p:spPr>
          <p:txBody>
            <a:bodyPr wrap="square" rtlCol="0">
              <a:spAutoFit/>
            </a:bodyPr>
            <a:lstStyle/>
            <a:p>
              <a:r>
                <a:rPr lang="es-ES" sz="1000" b="1" dirty="0">
                  <a:solidFill>
                    <a:srgbClr val="1BB3BC"/>
                  </a:solidFill>
                </a:rPr>
                <a:t>NHB</a:t>
              </a:r>
            </a:p>
          </p:txBody>
        </p:sp>
        <p:pic>
          <p:nvPicPr>
            <p:cNvPr id="266" name="Imagen 265">
              <a:extLst>
                <a:ext uri="{FF2B5EF4-FFF2-40B4-BE49-F238E27FC236}">
                  <a16:creationId xmlns:a16="http://schemas.microsoft.com/office/drawing/2014/main" id="{9252E1DF-C09B-46BA-B555-48D1D9DE3509}"/>
                </a:ext>
              </a:extLst>
            </p:cNvPr>
            <p:cNvPicPr>
              <a:picLocks noChangeAspect="1"/>
            </p:cNvPicPr>
            <p:nvPr/>
          </p:nvPicPr>
          <p:blipFill rotWithShape="1">
            <a:blip r:embed="rId20" cstate="print">
              <a:extLst>
                <a:ext uri="{28A0092B-C50C-407E-A947-70E740481C1C}">
                  <a14:useLocalDpi xmlns:a14="http://schemas.microsoft.com/office/drawing/2010/main" val="0"/>
                </a:ext>
              </a:extLst>
            </a:blip>
            <a:srcRect l="-1" t="-7238" r="79476" b="-12379"/>
            <a:stretch/>
          </p:blipFill>
          <p:spPr>
            <a:xfrm>
              <a:off x="364361" y="1119829"/>
              <a:ext cx="420395" cy="556364"/>
            </a:xfrm>
            <a:prstGeom prst="rect">
              <a:avLst/>
            </a:prstGeom>
          </p:spPr>
        </p:pic>
      </p:grpSp>
      <p:sp>
        <p:nvSpPr>
          <p:cNvPr id="283" name="AutoShape 19">
            <a:hlinkClick r:id="" action="ppaction://noaction"/>
            <a:extLst>
              <a:ext uri="{FF2B5EF4-FFF2-40B4-BE49-F238E27FC236}">
                <a16:creationId xmlns:a16="http://schemas.microsoft.com/office/drawing/2014/main" id="{D9C1E264-E184-42C4-9CC0-77610BCAE5E2}"/>
              </a:ext>
            </a:extLst>
          </p:cNvPr>
          <p:cNvSpPr>
            <a:spLocks noChangeArrowheads="1"/>
          </p:cNvSpPr>
          <p:nvPr/>
        </p:nvSpPr>
        <p:spPr bwMode="auto">
          <a:xfrm rot="5400000">
            <a:off x="1007137" y="5654280"/>
            <a:ext cx="353776" cy="563299"/>
          </a:xfrm>
          <a:prstGeom prst="roundRect">
            <a:avLst>
              <a:gd name="adj" fmla="val 16667"/>
            </a:avLst>
          </a:prstGeom>
          <a:solidFill>
            <a:schemeClr val="bg1"/>
          </a:solidFill>
          <a:ln w="635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vert270" lIns="87462" tIns="43730" rIns="87462" bIns="43730"/>
          <a:lstStyle/>
          <a:p>
            <a:pPr algn="ctr" defTabSz="874713">
              <a:lnSpc>
                <a:spcPct val="90000"/>
              </a:lnSpc>
              <a:defRPr/>
            </a:pPr>
            <a:r>
              <a:rPr lang="es-ES" sz="1000" dirty="0" err="1">
                <a:latin typeface="+mn-lt"/>
              </a:rPr>
              <a:t>iFrame</a:t>
            </a:r>
            <a:endParaRPr lang="es-ES" sz="1000" dirty="0">
              <a:latin typeface="+mn-lt"/>
            </a:endParaRPr>
          </a:p>
        </p:txBody>
      </p:sp>
      <p:grpSp>
        <p:nvGrpSpPr>
          <p:cNvPr id="286" name="Grupo 285">
            <a:extLst>
              <a:ext uri="{FF2B5EF4-FFF2-40B4-BE49-F238E27FC236}">
                <a16:creationId xmlns:a16="http://schemas.microsoft.com/office/drawing/2014/main" id="{9A56359D-8CA5-460F-8FB6-6A356C09CAD7}"/>
              </a:ext>
            </a:extLst>
          </p:cNvPr>
          <p:cNvGrpSpPr/>
          <p:nvPr/>
        </p:nvGrpSpPr>
        <p:grpSpPr>
          <a:xfrm>
            <a:off x="102298" y="4220398"/>
            <a:ext cx="1360058" cy="829099"/>
            <a:chOff x="101964" y="3601665"/>
            <a:chExt cx="1684947" cy="1064237"/>
          </a:xfrm>
        </p:grpSpPr>
        <p:pic>
          <p:nvPicPr>
            <p:cNvPr id="287" name="Imagen 286">
              <a:extLst>
                <a:ext uri="{FF2B5EF4-FFF2-40B4-BE49-F238E27FC236}">
                  <a16:creationId xmlns:a16="http://schemas.microsoft.com/office/drawing/2014/main" id="{E523016F-8496-49D5-A7B7-1FC3C2A566D2}"/>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277678" y="3794371"/>
              <a:ext cx="448524" cy="777247"/>
            </a:xfrm>
            <a:prstGeom prst="rect">
              <a:avLst/>
            </a:prstGeom>
          </p:spPr>
        </p:pic>
        <p:sp>
          <p:nvSpPr>
            <p:cNvPr id="288" name="Rectángulo: esquinas redondeadas 287">
              <a:extLst>
                <a:ext uri="{FF2B5EF4-FFF2-40B4-BE49-F238E27FC236}">
                  <a16:creationId xmlns:a16="http://schemas.microsoft.com/office/drawing/2014/main" id="{943143C2-CAC2-45CF-809A-7F85660734AF}"/>
                </a:ext>
              </a:extLst>
            </p:cNvPr>
            <p:cNvSpPr/>
            <p:nvPr/>
          </p:nvSpPr>
          <p:spPr>
            <a:xfrm>
              <a:off x="101964" y="3601665"/>
              <a:ext cx="1684947" cy="1064237"/>
            </a:xfrm>
            <a:prstGeom prst="round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293" name="AutoShape 19">
            <a:hlinkClick r:id="" action="ppaction://noaction"/>
            <a:extLst>
              <a:ext uri="{FF2B5EF4-FFF2-40B4-BE49-F238E27FC236}">
                <a16:creationId xmlns:a16="http://schemas.microsoft.com/office/drawing/2014/main" id="{127A68AA-8C71-4481-BAE6-8473D94589D0}"/>
              </a:ext>
            </a:extLst>
          </p:cNvPr>
          <p:cNvSpPr>
            <a:spLocks noChangeArrowheads="1"/>
          </p:cNvSpPr>
          <p:nvPr/>
        </p:nvSpPr>
        <p:spPr bwMode="auto">
          <a:xfrm rot="5400000">
            <a:off x="958580" y="4431249"/>
            <a:ext cx="367094" cy="685882"/>
          </a:xfrm>
          <a:prstGeom prst="roundRect">
            <a:avLst>
              <a:gd name="adj" fmla="val 16667"/>
            </a:avLst>
          </a:prstGeom>
          <a:solidFill>
            <a:schemeClr val="bg1"/>
          </a:solidFill>
          <a:ln w="635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vert270" lIns="87462" tIns="43730" rIns="87462" bIns="43730"/>
          <a:lstStyle/>
          <a:p>
            <a:pPr algn="ctr" defTabSz="874713">
              <a:lnSpc>
                <a:spcPct val="90000"/>
              </a:lnSpc>
              <a:defRPr/>
            </a:pPr>
            <a:r>
              <a:rPr lang="es-ES" sz="1100" dirty="0" err="1">
                <a:latin typeface="+mn-lt"/>
              </a:rPr>
              <a:t>Webview</a:t>
            </a:r>
            <a:r>
              <a:rPr lang="es-ES" sz="1100" dirty="0">
                <a:latin typeface="+mn-lt"/>
              </a:rPr>
              <a:t>/</a:t>
            </a:r>
            <a:r>
              <a:rPr lang="es-ES" sz="1100" dirty="0" err="1">
                <a:latin typeface="+mn-lt"/>
              </a:rPr>
              <a:t>iframe</a:t>
            </a:r>
            <a:endParaRPr lang="es-ES" sz="1100" dirty="0">
              <a:latin typeface="+mn-lt"/>
            </a:endParaRPr>
          </a:p>
        </p:txBody>
      </p:sp>
      <p:sp>
        <p:nvSpPr>
          <p:cNvPr id="303" name="Elipse 302">
            <a:extLst>
              <a:ext uri="{FF2B5EF4-FFF2-40B4-BE49-F238E27FC236}">
                <a16:creationId xmlns:a16="http://schemas.microsoft.com/office/drawing/2014/main" id="{42A69D74-6E8C-4FBF-B6AA-07630ABFDAC6}"/>
              </a:ext>
            </a:extLst>
          </p:cNvPr>
          <p:cNvSpPr/>
          <p:nvPr/>
        </p:nvSpPr>
        <p:spPr>
          <a:xfrm>
            <a:off x="3934308" y="904480"/>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4</a:t>
            </a:r>
          </a:p>
        </p:txBody>
      </p:sp>
      <p:cxnSp>
        <p:nvCxnSpPr>
          <p:cNvPr id="304" name="25 Conector recto de flecha">
            <a:extLst>
              <a:ext uri="{FF2B5EF4-FFF2-40B4-BE49-F238E27FC236}">
                <a16:creationId xmlns:a16="http://schemas.microsoft.com/office/drawing/2014/main" id="{71E94F85-6AD3-4A08-8110-8CA6660602FE}"/>
              </a:ext>
            </a:extLst>
          </p:cNvPr>
          <p:cNvCxnSpPr>
            <a:cxnSpLocks/>
          </p:cNvCxnSpPr>
          <p:nvPr/>
        </p:nvCxnSpPr>
        <p:spPr bwMode="auto">
          <a:xfrm flipV="1">
            <a:off x="1539327" y="3492032"/>
            <a:ext cx="971176" cy="1385180"/>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05" name="25 Conector recto de flecha">
            <a:extLst>
              <a:ext uri="{FF2B5EF4-FFF2-40B4-BE49-F238E27FC236}">
                <a16:creationId xmlns:a16="http://schemas.microsoft.com/office/drawing/2014/main" id="{6BEE9459-6177-4F84-A0E6-64C82B775509}"/>
              </a:ext>
            </a:extLst>
          </p:cNvPr>
          <p:cNvCxnSpPr>
            <a:cxnSpLocks/>
          </p:cNvCxnSpPr>
          <p:nvPr/>
        </p:nvCxnSpPr>
        <p:spPr bwMode="auto">
          <a:xfrm flipV="1">
            <a:off x="1475743" y="3542752"/>
            <a:ext cx="1026931" cy="2071060"/>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06" name="Rectángulo redondeado 15">
            <a:extLst>
              <a:ext uri="{FF2B5EF4-FFF2-40B4-BE49-F238E27FC236}">
                <a16:creationId xmlns:a16="http://schemas.microsoft.com/office/drawing/2014/main" id="{32681073-DA63-4FB0-95FB-4A163620B013}"/>
              </a:ext>
            </a:extLst>
          </p:cNvPr>
          <p:cNvSpPr/>
          <p:nvPr/>
        </p:nvSpPr>
        <p:spPr bwMode="auto">
          <a:xfrm>
            <a:off x="4498505" y="1006515"/>
            <a:ext cx="1086751" cy="427972"/>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800" b="1" dirty="0">
                <a:solidFill>
                  <a:schemeClr val="tx1"/>
                </a:solidFill>
              </a:rPr>
              <a:t>MICROSERVICIO</a:t>
            </a:r>
          </a:p>
          <a:p>
            <a:pPr algn="ctr"/>
            <a:r>
              <a:rPr lang="es-ES" sz="800" b="1" dirty="0">
                <a:solidFill>
                  <a:schemeClr val="tx1"/>
                </a:solidFill>
              </a:rPr>
              <a:t>Alta cliente Orquestador</a:t>
            </a:r>
            <a:r>
              <a:rPr lang="es-ES" sz="1200" b="1" dirty="0">
                <a:solidFill>
                  <a:schemeClr val="tx1"/>
                </a:solidFill>
              </a:rPr>
              <a:t> </a:t>
            </a:r>
          </a:p>
          <a:p>
            <a:pPr algn="ctr"/>
            <a:endParaRPr lang="es-ES" sz="1000" b="1" dirty="0">
              <a:solidFill>
                <a:schemeClr val="tx1"/>
              </a:solidFill>
            </a:endParaRPr>
          </a:p>
        </p:txBody>
      </p:sp>
      <p:pic>
        <p:nvPicPr>
          <p:cNvPr id="307" name="161 Imagen">
            <a:extLst>
              <a:ext uri="{FF2B5EF4-FFF2-40B4-BE49-F238E27FC236}">
                <a16:creationId xmlns:a16="http://schemas.microsoft.com/office/drawing/2014/main" id="{376FF5C6-65E5-4F9E-A3CF-8CB131ACE3B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14664" y="1295079"/>
            <a:ext cx="606904" cy="128673"/>
          </a:xfrm>
          <a:prstGeom prst="rect">
            <a:avLst/>
          </a:prstGeom>
        </p:spPr>
      </p:pic>
      <p:sp>
        <p:nvSpPr>
          <p:cNvPr id="295" name="Rectángulo: esquinas redondeadas 294">
            <a:extLst>
              <a:ext uri="{FF2B5EF4-FFF2-40B4-BE49-F238E27FC236}">
                <a16:creationId xmlns:a16="http://schemas.microsoft.com/office/drawing/2014/main" id="{BCB65B8C-20F7-4130-8BB0-5C95CB02E91A}"/>
              </a:ext>
            </a:extLst>
          </p:cNvPr>
          <p:cNvSpPr/>
          <p:nvPr/>
        </p:nvSpPr>
        <p:spPr>
          <a:xfrm>
            <a:off x="2548346" y="2862413"/>
            <a:ext cx="1190259" cy="970820"/>
          </a:xfrm>
          <a:prstGeom prst="roundRect">
            <a:avLst>
              <a:gd name="adj" fmla="val 82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36" name="Imagen 335">
            <a:extLst>
              <a:ext uri="{FF2B5EF4-FFF2-40B4-BE49-F238E27FC236}">
                <a16:creationId xmlns:a16="http://schemas.microsoft.com/office/drawing/2014/main" id="{20611B22-189D-48A9-B2DA-50DA500D9246}"/>
              </a:ext>
            </a:extLst>
          </p:cNvPr>
          <p:cNvPicPr>
            <a:picLocks noChangeAspect="1"/>
          </p:cNvPicPr>
          <p:nvPr/>
        </p:nvPicPr>
        <p:blipFill>
          <a:blip r:embed="rId4"/>
          <a:stretch>
            <a:fillRect/>
          </a:stretch>
        </p:blipFill>
        <p:spPr>
          <a:xfrm>
            <a:off x="2643737" y="3053343"/>
            <a:ext cx="705036" cy="489524"/>
          </a:xfrm>
          <a:prstGeom prst="rect">
            <a:avLst/>
          </a:prstGeom>
        </p:spPr>
      </p:pic>
      <p:pic>
        <p:nvPicPr>
          <p:cNvPr id="345" name="Imagen 344">
            <a:extLst>
              <a:ext uri="{FF2B5EF4-FFF2-40B4-BE49-F238E27FC236}">
                <a16:creationId xmlns:a16="http://schemas.microsoft.com/office/drawing/2014/main" id="{E292C0F8-6D64-4B78-8AB8-ECAA9269D057}"/>
              </a:ext>
            </a:extLst>
          </p:cNvPr>
          <p:cNvPicPr>
            <a:picLocks noChangeAspect="1"/>
          </p:cNvPicPr>
          <p:nvPr/>
        </p:nvPicPr>
        <p:blipFill>
          <a:blip r:embed="rId5"/>
          <a:stretch>
            <a:fillRect/>
          </a:stretch>
        </p:blipFill>
        <p:spPr>
          <a:xfrm rot="16200000">
            <a:off x="3192078" y="3228959"/>
            <a:ext cx="640365" cy="172406"/>
          </a:xfrm>
          <a:prstGeom prst="rect">
            <a:avLst/>
          </a:prstGeom>
        </p:spPr>
      </p:pic>
      <p:cxnSp>
        <p:nvCxnSpPr>
          <p:cNvPr id="354" name="451 Conector recto de flecha">
            <a:extLst>
              <a:ext uri="{FF2B5EF4-FFF2-40B4-BE49-F238E27FC236}">
                <a16:creationId xmlns:a16="http://schemas.microsoft.com/office/drawing/2014/main" id="{A9962472-E676-477E-930A-2F7BA1FDD124}"/>
              </a:ext>
            </a:extLst>
          </p:cNvPr>
          <p:cNvCxnSpPr>
            <a:cxnSpLocks/>
            <a:stCxn id="295" idx="3"/>
          </p:cNvCxnSpPr>
          <p:nvPr/>
        </p:nvCxnSpPr>
        <p:spPr bwMode="auto">
          <a:xfrm>
            <a:off x="3738605" y="3347823"/>
            <a:ext cx="246785" cy="48297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57" name="Elipse 356">
            <a:extLst>
              <a:ext uri="{FF2B5EF4-FFF2-40B4-BE49-F238E27FC236}">
                <a16:creationId xmlns:a16="http://schemas.microsoft.com/office/drawing/2014/main" id="{727734B2-FC9E-4434-A025-E986BB5EBFDD}"/>
              </a:ext>
            </a:extLst>
          </p:cNvPr>
          <p:cNvSpPr/>
          <p:nvPr/>
        </p:nvSpPr>
        <p:spPr>
          <a:xfrm>
            <a:off x="3334484" y="2663603"/>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3</a:t>
            </a:r>
          </a:p>
        </p:txBody>
      </p:sp>
      <p:sp>
        <p:nvSpPr>
          <p:cNvPr id="358" name="Elipse 357">
            <a:extLst>
              <a:ext uri="{FF2B5EF4-FFF2-40B4-BE49-F238E27FC236}">
                <a16:creationId xmlns:a16="http://schemas.microsoft.com/office/drawing/2014/main" id="{D40DD102-E087-4615-83CF-62B664C14C86}"/>
              </a:ext>
            </a:extLst>
          </p:cNvPr>
          <p:cNvSpPr/>
          <p:nvPr/>
        </p:nvSpPr>
        <p:spPr>
          <a:xfrm>
            <a:off x="3909451" y="3088479"/>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4</a:t>
            </a:r>
          </a:p>
        </p:txBody>
      </p:sp>
      <p:sp>
        <p:nvSpPr>
          <p:cNvPr id="361" name="Rectángulo redondeado 15">
            <a:extLst>
              <a:ext uri="{FF2B5EF4-FFF2-40B4-BE49-F238E27FC236}">
                <a16:creationId xmlns:a16="http://schemas.microsoft.com/office/drawing/2014/main" id="{512A9CDE-ACA2-4AF3-BA78-77AF0DD0C582}"/>
              </a:ext>
            </a:extLst>
          </p:cNvPr>
          <p:cNvSpPr/>
          <p:nvPr/>
        </p:nvSpPr>
        <p:spPr bwMode="auto">
          <a:xfrm>
            <a:off x="9359080" y="5786657"/>
            <a:ext cx="1012066" cy="271540"/>
          </a:xfrm>
          <a:prstGeom prst="roundRect">
            <a:avLst/>
          </a:prstGeom>
          <a:solidFill>
            <a:schemeClr val="accent2">
              <a:lumMod val="20000"/>
              <a:lumOff val="80000"/>
            </a:schemeClr>
          </a:solidFill>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none" lIns="0" tIns="0" rIns="0" bIns="0" numCol="1" rtlCol="0" anchor="t" anchorCtr="0" compatLnSpc="1">
            <a:prstTxWarp prst="textNoShape">
              <a:avLst/>
            </a:prstTxWarp>
          </a:bodyPr>
          <a:lstStyle/>
          <a:p>
            <a:pPr algn="ctr"/>
            <a:r>
              <a:rPr lang="es-ES" sz="900" b="1" dirty="0">
                <a:solidFill>
                  <a:schemeClr val="tx1"/>
                </a:solidFill>
              </a:rPr>
              <a:t>IAPI</a:t>
            </a:r>
          </a:p>
          <a:p>
            <a:pPr algn="ctr"/>
            <a:r>
              <a:rPr lang="es-ES" sz="900" b="1" dirty="0">
                <a:solidFill>
                  <a:schemeClr val="tx1"/>
                </a:solidFill>
              </a:rPr>
              <a:t>Heredo</a:t>
            </a:r>
            <a:endParaRPr lang="es-ES" sz="1200" b="1" dirty="0">
              <a:solidFill>
                <a:schemeClr val="tx1"/>
              </a:solidFill>
            </a:endParaRPr>
          </a:p>
        </p:txBody>
      </p:sp>
      <p:sp>
        <p:nvSpPr>
          <p:cNvPr id="362" name="Rectángulo redondeado 15">
            <a:extLst>
              <a:ext uri="{FF2B5EF4-FFF2-40B4-BE49-F238E27FC236}">
                <a16:creationId xmlns:a16="http://schemas.microsoft.com/office/drawing/2014/main" id="{7F562B54-B9BC-48FF-B60F-89F0C5583103}"/>
              </a:ext>
            </a:extLst>
          </p:cNvPr>
          <p:cNvSpPr/>
          <p:nvPr/>
        </p:nvSpPr>
        <p:spPr bwMode="auto">
          <a:xfrm>
            <a:off x="10467733" y="5774320"/>
            <a:ext cx="1012066" cy="289314"/>
          </a:xfrm>
          <a:prstGeom prst="roundRect">
            <a:avLst/>
          </a:prstGeom>
          <a:solidFill>
            <a:schemeClr val="accent2">
              <a:lumMod val="20000"/>
              <a:lumOff val="80000"/>
            </a:schemeClr>
          </a:solidFill>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none" lIns="0" tIns="0" rIns="0" bIns="0" numCol="1" rtlCol="0" anchor="t" anchorCtr="0" compatLnSpc="1">
            <a:prstTxWarp prst="textNoShape">
              <a:avLst/>
            </a:prstTxWarp>
          </a:bodyPr>
          <a:lstStyle/>
          <a:p>
            <a:pPr algn="ctr"/>
            <a:r>
              <a:rPr lang="es-ES" sz="900" b="1" dirty="0">
                <a:solidFill>
                  <a:schemeClr val="tx1"/>
                </a:solidFill>
              </a:rPr>
              <a:t>API </a:t>
            </a:r>
          </a:p>
          <a:p>
            <a:pPr algn="ctr"/>
            <a:r>
              <a:rPr lang="es-ES" sz="900" b="1" dirty="0">
                <a:solidFill>
                  <a:schemeClr val="tx1"/>
                </a:solidFill>
              </a:rPr>
              <a:t>Firma</a:t>
            </a:r>
            <a:endParaRPr lang="es-ES" sz="1200" b="1" dirty="0">
              <a:solidFill>
                <a:schemeClr val="tx1"/>
              </a:solidFill>
            </a:endParaRPr>
          </a:p>
        </p:txBody>
      </p:sp>
      <p:sp>
        <p:nvSpPr>
          <p:cNvPr id="363" name="Oval 18">
            <a:extLst>
              <a:ext uri="{FF2B5EF4-FFF2-40B4-BE49-F238E27FC236}">
                <a16:creationId xmlns:a16="http://schemas.microsoft.com/office/drawing/2014/main" id="{50F8E059-A631-4594-964B-507EF66803BB}"/>
              </a:ext>
            </a:extLst>
          </p:cNvPr>
          <p:cNvSpPr>
            <a:spLocks noChangeArrowheads="1"/>
          </p:cNvSpPr>
          <p:nvPr/>
        </p:nvSpPr>
        <p:spPr bwMode="auto">
          <a:xfrm>
            <a:off x="10492622" y="5746361"/>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rPr>
              <a:t>13</a:t>
            </a:r>
          </a:p>
        </p:txBody>
      </p:sp>
      <p:sp>
        <p:nvSpPr>
          <p:cNvPr id="366" name="Oval 18">
            <a:extLst>
              <a:ext uri="{FF2B5EF4-FFF2-40B4-BE49-F238E27FC236}">
                <a16:creationId xmlns:a16="http://schemas.microsoft.com/office/drawing/2014/main" id="{224150AA-AEDD-49EA-84F6-14A70DDE8C30}"/>
              </a:ext>
            </a:extLst>
          </p:cNvPr>
          <p:cNvSpPr>
            <a:spLocks noChangeArrowheads="1"/>
          </p:cNvSpPr>
          <p:nvPr/>
        </p:nvSpPr>
        <p:spPr bwMode="auto">
          <a:xfrm>
            <a:off x="10118832" y="5807326"/>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sp>
        <p:nvSpPr>
          <p:cNvPr id="367" name="Oval 18">
            <a:extLst>
              <a:ext uri="{FF2B5EF4-FFF2-40B4-BE49-F238E27FC236}">
                <a16:creationId xmlns:a16="http://schemas.microsoft.com/office/drawing/2014/main" id="{181DBB2C-B145-4D6D-9BF7-6F1ACFD20991}"/>
              </a:ext>
            </a:extLst>
          </p:cNvPr>
          <p:cNvSpPr>
            <a:spLocks noChangeArrowheads="1"/>
          </p:cNvSpPr>
          <p:nvPr/>
        </p:nvSpPr>
        <p:spPr bwMode="auto">
          <a:xfrm>
            <a:off x="11204335" y="5790444"/>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pic>
        <p:nvPicPr>
          <p:cNvPr id="370" name="Picture 662" descr="MC900434391[1]">
            <a:extLst>
              <a:ext uri="{FF2B5EF4-FFF2-40B4-BE49-F238E27FC236}">
                <a16:creationId xmlns:a16="http://schemas.microsoft.com/office/drawing/2014/main" id="{F78D9F04-0977-46A5-BCE8-31E95437B0B6}"/>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9321020" y="87952"/>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4" name="451 Conector recto de flecha">
            <a:extLst>
              <a:ext uri="{FF2B5EF4-FFF2-40B4-BE49-F238E27FC236}">
                <a16:creationId xmlns:a16="http://schemas.microsoft.com/office/drawing/2014/main" id="{C97A3A98-6506-473E-AB72-0A3897F53BE7}"/>
              </a:ext>
            </a:extLst>
          </p:cNvPr>
          <p:cNvCxnSpPr>
            <a:cxnSpLocks/>
            <a:endCxn id="463" idx="1"/>
          </p:cNvCxnSpPr>
          <p:nvPr/>
        </p:nvCxnSpPr>
        <p:spPr bwMode="auto">
          <a:xfrm flipV="1">
            <a:off x="3036443" y="2602422"/>
            <a:ext cx="4330066" cy="450922"/>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71" name="451 Conector recto de flecha">
            <a:extLst>
              <a:ext uri="{FF2B5EF4-FFF2-40B4-BE49-F238E27FC236}">
                <a16:creationId xmlns:a16="http://schemas.microsoft.com/office/drawing/2014/main" id="{66BCE1A3-03E4-464E-B417-F847319A8DB3}"/>
              </a:ext>
            </a:extLst>
          </p:cNvPr>
          <p:cNvCxnSpPr>
            <a:cxnSpLocks/>
            <a:endCxn id="24" idx="1"/>
          </p:cNvCxnSpPr>
          <p:nvPr/>
        </p:nvCxnSpPr>
        <p:spPr bwMode="auto">
          <a:xfrm>
            <a:off x="3738605" y="1982598"/>
            <a:ext cx="3618881" cy="531513"/>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319" name="Imagen 318">
            <a:extLst>
              <a:ext uri="{FF2B5EF4-FFF2-40B4-BE49-F238E27FC236}">
                <a16:creationId xmlns:a16="http://schemas.microsoft.com/office/drawing/2014/main" id="{F2316AD6-E9BA-4C71-8163-1804C538412B}"/>
              </a:ext>
            </a:extLst>
          </p:cNvPr>
          <p:cNvPicPr>
            <a:picLocks noChangeAspect="1"/>
          </p:cNvPicPr>
          <p:nvPr/>
        </p:nvPicPr>
        <p:blipFill>
          <a:blip r:embed="rId23"/>
          <a:stretch>
            <a:fillRect/>
          </a:stretch>
        </p:blipFill>
        <p:spPr>
          <a:xfrm>
            <a:off x="343682" y="2637603"/>
            <a:ext cx="717588" cy="815720"/>
          </a:xfrm>
          <a:prstGeom prst="rect">
            <a:avLst/>
          </a:prstGeom>
        </p:spPr>
      </p:pic>
      <p:sp>
        <p:nvSpPr>
          <p:cNvPr id="335" name="CuadroTexto 14">
            <a:extLst>
              <a:ext uri="{FF2B5EF4-FFF2-40B4-BE49-F238E27FC236}">
                <a16:creationId xmlns:a16="http://schemas.microsoft.com/office/drawing/2014/main" id="{EF4B825D-1937-42A2-BBCA-5E5478CCF7AB}"/>
              </a:ext>
            </a:extLst>
          </p:cNvPr>
          <p:cNvSpPr txBox="1">
            <a:spLocks noChangeArrowheads="1"/>
          </p:cNvSpPr>
          <p:nvPr/>
        </p:nvSpPr>
        <p:spPr bwMode="auto">
          <a:xfrm>
            <a:off x="61908" y="3419901"/>
            <a:ext cx="121443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s-ES" altLang="es-ES" sz="1100" b="0" dirty="0" err="1">
                <a:solidFill>
                  <a:schemeClr val="tx1"/>
                </a:solidFill>
              </a:rPr>
              <a:t>ChatBot</a:t>
            </a:r>
            <a:r>
              <a:rPr lang="es-ES" altLang="es-ES" sz="1100" b="0" dirty="0">
                <a:solidFill>
                  <a:schemeClr val="tx1"/>
                </a:solidFill>
              </a:rPr>
              <a:t> </a:t>
            </a:r>
            <a:r>
              <a:rPr lang="es-ES" altLang="es-ES" sz="1100" b="0" dirty="0" err="1">
                <a:solidFill>
                  <a:schemeClr val="tx1"/>
                </a:solidFill>
              </a:rPr>
              <a:t>InBenta</a:t>
            </a:r>
            <a:endParaRPr lang="es-ES" altLang="es-ES" sz="1100" b="0" dirty="0">
              <a:solidFill>
                <a:schemeClr val="tx1"/>
              </a:solidFill>
            </a:endParaRPr>
          </a:p>
        </p:txBody>
      </p:sp>
      <p:cxnSp>
        <p:nvCxnSpPr>
          <p:cNvPr id="356" name="25 Conector recto de flecha">
            <a:extLst>
              <a:ext uri="{FF2B5EF4-FFF2-40B4-BE49-F238E27FC236}">
                <a16:creationId xmlns:a16="http://schemas.microsoft.com/office/drawing/2014/main" id="{A0FE83A1-DAFD-4FD6-B759-918DB0A299E9}"/>
              </a:ext>
            </a:extLst>
          </p:cNvPr>
          <p:cNvCxnSpPr>
            <a:cxnSpLocks/>
            <a:endCxn id="319" idx="3"/>
          </p:cNvCxnSpPr>
          <p:nvPr/>
        </p:nvCxnSpPr>
        <p:spPr bwMode="auto">
          <a:xfrm flipH="1" flipV="1">
            <a:off x="1061270" y="3045463"/>
            <a:ext cx="1541422" cy="25209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9" name="Rectángulo 358">
            <a:extLst>
              <a:ext uri="{FF2B5EF4-FFF2-40B4-BE49-F238E27FC236}">
                <a16:creationId xmlns:a16="http://schemas.microsoft.com/office/drawing/2014/main" id="{9B4EA545-C623-408C-B319-E1B710C057AB}"/>
              </a:ext>
            </a:extLst>
          </p:cNvPr>
          <p:cNvSpPr/>
          <p:nvPr/>
        </p:nvSpPr>
        <p:spPr>
          <a:xfrm>
            <a:off x="1451323" y="2886939"/>
            <a:ext cx="312855" cy="160018"/>
          </a:xfrm>
          <a:prstGeom prst="rect">
            <a:avLst/>
          </a:prstGeom>
          <a:solidFill>
            <a:srgbClr val="FF00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60" name="CuadroTexto 14">
            <a:extLst>
              <a:ext uri="{FF2B5EF4-FFF2-40B4-BE49-F238E27FC236}">
                <a16:creationId xmlns:a16="http://schemas.microsoft.com/office/drawing/2014/main" id="{0D4F2052-392C-44FB-82A6-C3C6B8ECF119}"/>
              </a:ext>
            </a:extLst>
          </p:cNvPr>
          <p:cNvSpPr txBox="1">
            <a:spLocks noChangeArrowheads="1"/>
          </p:cNvSpPr>
          <p:nvPr/>
        </p:nvSpPr>
        <p:spPr bwMode="auto">
          <a:xfrm>
            <a:off x="1093451" y="2661973"/>
            <a:ext cx="121443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s-ES" altLang="es-ES" sz="1100" b="0" dirty="0">
                <a:solidFill>
                  <a:schemeClr val="tx1"/>
                </a:solidFill>
              </a:rPr>
              <a:t>Token app </a:t>
            </a:r>
          </a:p>
        </p:txBody>
      </p:sp>
      <p:sp>
        <p:nvSpPr>
          <p:cNvPr id="267" name="AutoShape 19">
            <a:hlinkClick r:id="" action="ppaction://noaction"/>
            <a:extLst>
              <a:ext uri="{FF2B5EF4-FFF2-40B4-BE49-F238E27FC236}">
                <a16:creationId xmlns:a16="http://schemas.microsoft.com/office/drawing/2014/main" id="{AE4EC039-5F37-4CA4-8CED-E0AAB97DEDC4}"/>
              </a:ext>
            </a:extLst>
          </p:cNvPr>
          <p:cNvSpPr>
            <a:spLocks noChangeArrowheads="1"/>
          </p:cNvSpPr>
          <p:nvPr/>
        </p:nvSpPr>
        <p:spPr bwMode="auto">
          <a:xfrm>
            <a:off x="7432842" y="4721459"/>
            <a:ext cx="321214" cy="1269812"/>
          </a:xfrm>
          <a:prstGeom prst="roundRect">
            <a:avLst>
              <a:gd name="adj" fmla="val 16667"/>
            </a:avLst>
          </a:prstGeom>
          <a:solidFill>
            <a:schemeClr val="bg1"/>
          </a:solidFill>
          <a:ln w="635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vert270" lIns="74524" tIns="37261" rIns="74524" bIns="37261" anchor="ctr"/>
          <a:lstStyle/>
          <a:p>
            <a:pPr algn="ctr" defTabSz="745355">
              <a:lnSpc>
                <a:spcPct val="90000"/>
              </a:lnSpc>
              <a:defRPr/>
            </a:pPr>
            <a:r>
              <a:rPr lang="es-ES" sz="852" b="1" dirty="0">
                <a:latin typeface="Arial" panose="020B0604020202020204" pitchFamily="34" charset="0"/>
                <a:cs typeface="Arial" panose="020B0604020202020204" pitchFamily="34" charset="0"/>
              </a:rPr>
              <a:t>Api </a:t>
            </a:r>
            <a:r>
              <a:rPr lang="es-ES" sz="852" b="1" dirty="0" err="1">
                <a:latin typeface="Arial" panose="020B0604020202020204" pitchFamily="34" charset="0"/>
                <a:cs typeface="Arial" panose="020B0604020202020204" pitchFamily="34" charset="0"/>
              </a:rPr>
              <a:t>BaaS</a:t>
            </a:r>
            <a:r>
              <a:rPr lang="es-ES" sz="852" b="1" dirty="0">
                <a:latin typeface="Arial" panose="020B0604020202020204" pitchFamily="34" charset="0"/>
                <a:cs typeface="Arial" panose="020B0604020202020204" pitchFamily="34" charset="0"/>
              </a:rPr>
              <a:t> Dominios</a:t>
            </a:r>
          </a:p>
        </p:txBody>
      </p:sp>
      <p:sp>
        <p:nvSpPr>
          <p:cNvPr id="309" name="Oval 18">
            <a:extLst>
              <a:ext uri="{FF2B5EF4-FFF2-40B4-BE49-F238E27FC236}">
                <a16:creationId xmlns:a16="http://schemas.microsoft.com/office/drawing/2014/main" id="{709D4E8C-5D82-4E3E-B77F-586FDBB9441F}"/>
              </a:ext>
            </a:extLst>
          </p:cNvPr>
          <p:cNvSpPr>
            <a:spLocks noChangeArrowheads="1"/>
          </p:cNvSpPr>
          <p:nvPr/>
        </p:nvSpPr>
        <p:spPr bwMode="auto">
          <a:xfrm>
            <a:off x="9390475" y="5760653"/>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rPr>
              <a:t>11</a:t>
            </a:r>
          </a:p>
        </p:txBody>
      </p:sp>
      <p:pic>
        <p:nvPicPr>
          <p:cNvPr id="271" name="Imagen 270">
            <a:extLst>
              <a:ext uri="{FF2B5EF4-FFF2-40B4-BE49-F238E27FC236}">
                <a16:creationId xmlns:a16="http://schemas.microsoft.com/office/drawing/2014/main" id="{2254AA84-E394-4E7A-A005-4969FE831A20}"/>
              </a:ext>
            </a:extLst>
          </p:cNvPr>
          <p:cNvPicPr>
            <a:picLocks noChangeAspect="1"/>
          </p:cNvPicPr>
          <p:nvPr/>
        </p:nvPicPr>
        <p:blipFill>
          <a:blip r:embed="rId24"/>
          <a:stretch>
            <a:fillRect/>
          </a:stretch>
        </p:blipFill>
        <p:spPr>
          <a:xfrm>
            <a:off x="7166502" y="6203938"/>
            <a:ext cx="443292" cy="349297"/>
          </a:xfrm>
          <a:prstGeom prst="rect">
            <a:avLst/>
          </a:prstGeom>
        </p:spPr>
      </p:pic>
      <p:sp>
        <p:nvSpPr>
          <p:cNvPr id="270" name="CuadroTexto 349">
            <a:extLst>
              <a:ext uri="{FF2B5EF4-FFF2-40B4-BE49-F238E27FC236}">
                <a16:creationId xmlns:a16="http://schemas.microsoft.com/office/drawing/2014/main" id="{F40A7A32-97D2-4278-BCE4-AAFDE81625F6}"/>
              </a:ext>
            </a:extLst>
          </p:cNvPr>
          <p:cNvSpPr txBox="1"/>
          <p:nvPr/>
        </p:nvSpPr>
        <p:spPr>
          <a:xfrm>
            <a:off x="8838155" y="3587509"/>
            <a:ext cx="1124192" cy="27699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200" b="1" dirty="0">
                <a:latin typeface="Arial" panose="020B0604020202020204" pitchFamily="34" charset="0"/>
                <a:cs typeface="Arial" panose="020B0604020202020204" pitchFamily="34" charset="0"/>
              </a:rPr>
              <a:t>On Premise</a:t>
            </a:r>
          </a:p>
        </p:txBody>
      </p:sp>
      <p:grpSp>
        <p:nvGrpSpPr>
          <p:cNvPr id="26" name="Grupo 25">
            <a:extLst>
              <a:ext uri="{FF2B5EF4-FFF2-40B4-BE49-F238E27FC236}">
                <a16:creationId xmlns:a16="http://schemas.microsoft.com/office/drawing/2014/main" id="{F4C1AA61-9519-BC5B-35B8-399780B02767}"/>
              </a:ext>
            </a:extLst>
          </p:cNvPr>
          <p:cNvGrpSpPr/>
          <p:nvPr/>
        </p:nvGrpSpPr>
        <p:grpSpPr>
          <a:xfrm>
            <a:off x="7941505" y="2948209"/>
            <a:ext cx="2452143" cy="1664439"/>
            <a:chOff x="8012232" y="3591988"/>
            <a:chExt cx="2802166" cy="1892816"/>
          </a:xfrm>
        </p:grpSpPr>
        <p:sp>
          <p:nvSpPr>
            <p:cNvPr id="269" name="Rectángulo: esquinas redondeadas 268">
              <a:extLst>
                <a:ext uri="{FF2B5EF4-FFF2-40B4-BE49-F238E27FC236}">
                  <a16:creationId xmlns:a16="http://schemas.microsoft.com/office/drawing/2014/main" id="{5F92A2C9-C37A-4B70-9BC6-CF1B72FCF54C}"/>
                </a:ext>
              </a:extLst>
            </p:cNvPr>
            <p:cNvSpPr/>
            <p:nvPr/>
          </p:nvSpPr>
          <p:spPr>
            <a:xfrm>
              <a:off x="8012232" y="3591988"/>
              <a:ext cx="2802166" cy="1892816"/>
            </a:xfrm>
            <a:prstGeom prst="roundRect">
              <a:avLst>
                <a:gd name="adj" fmla="val 7198"/>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dirty="0"/>
            </a:p>
          </p:txBody>
        </p:sp>
        <p:sp>
          <p:nvSpPr>
            <p:cNvPr id="273" name="Rectángulo: esquinas redondeadas 272">
              <a:extLst>
                <a:ext uri="{FF2B5EF4-FFF2-40B4-BE49-F238E27FC236}">
                  <a16:creationId xmlns:a16="http://schemas.microsoft.com/office/drawing/2014/main" id="{FD392457-C4B9-49C3-94B4-A9F53323505B}"/>
                </a:ext>
              </a:extLst>
            </p:cNvPr>
            <p:cNvSpPr/>
            <p:nvPr/>
          </p:nvSpPr>
          <p:spPr>
            <a:xfrm>
              <a:off x="9058294" y="3934581"/>
              <a:ext cx="1496805" cy="1366493"/>
            </a:xfrm>
            <a:prstGeom prst="roundRect">
              <a:avLst>
                <a:gd name="adj" fmla="val 7198"/>
              </a:avLst>
            </a:prstGeom>
            <a:solidFill>
              <a:srgbClr val="FFFE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dirty="0"/>
            </a:p>
          </p:txBody>
        </p:sp>
        <p:pic>
          <p:nvPicPr>
            <p:cNvPr id="313" name="Imagen 312">
              <a:extLst>
                <a:ext uri="{FF2B5EF4-FFF2-40B4-BE49-F238E27FC236}">
                  <a16:creationId xmlns:a16="http://schemas.microsoft.com/office/drawing/2014/main" id="{6434C6F6-C1FC-4ACC-B16A-AE80B430EA85}"/>
                </a:ext>
              </a:extLst>
            </p:cNvPr>
            <p:cNvPicPr>
              <a:picLocks noChangeAspect="1"/>
            </p:cNvPicPr>
            <p:nvPr/>
          </p:nvPicPr>
          <p:blipFill>
            <a:blip r:embed="rId25" cstate="print">
              <a:extLst>
                <a:ext uri="{BEBA8EAE-BF5A-486C-A8C5-ECC9F3942E4B}">
                  <a14:imgProps xmlns:a14="http://schemas.microsoft.com/office/drawing/2010/main">
                    <a14:imgLayer r:embed="rId26">
                      <a14:imgEffect>
                        <a14:colorTemperature colorTemp="8800"/>
                      </a14:imgEffect>
                    </a14:imgLayer>
                  </a14:imgProps>
                </a:ext>
                <a:ext uri="{28A0092B-C50C-407E-A947-70E740481C1C}">
                  <a14:useLocalDpi xmlns:a14="http://schemas.microsoft.com/office/drawing/2010/main" val="0"/>
                </a:ext>
              </a:extLst>
            </a:blip>
            <a:stretch>
              <a:fillRect/>
            </a:stretch>
          </p:blipFill>
          <p:spPr>
            <a:xfrm>
              <a:off x="9388093" y="4193819"/>
              <a:ext cx="813491" cy="465635"/>
            </a:xfrm>
            <a:prstGeom prst="rect">
              <a:avLst/>
            </a:prstGeom>
          </p:spPr>
        </p:pic>
        <p:pic>
          <p:nvPicPr>
            <p:cNvPr id="368" name="346 Imagen">
              <a:hlinkClick r:id="" action="ppaction://noaction"/>
              <a:extLst>
                <a:ext uri="{FF2B5EF4-FFF2-40B4-BE49-F238E27FC236}">
                  <a16:creationId xmlns:a16="http://schemas.microsoft.com/office/drawing/2014/main" id="{4A7B91E7-F619-4865-A5F8-51C234CA0D1B}"/>
                </a:ext>
              </a:extLst>
            </p:cNvPr>
            <p:cNvPicPr>
              <a:picLocks noChangeAspect="1"/>
            </p:cNvPicPr>
            <p:nvPr/>
          </p:nvPicPr>
          <p:blipFill>
            <a:blip r:embed="rId2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687093" y="4573473"/>
              <a:ext cx="766149" cy="324225"/>
            </a:xfrm>
            <a:prstGeom prst="rect">
              <a:avLst/>
            </a:prstGeom>
          </p:spPr>
        </p:pic>
        <p:sp>
          <p:nvSpPr>
            <p:cNvPr id="369" name="CuadroTexto 356">
              <a:extLst>
                <a:ext uri="{FF2B5EF4-FFF2-40B4-BE49-F238E27FC236}">
                  <a16:creationId xmlns:a16="http://schemas.microsoft.com/office/drawing/2014/main" id="{BD6DEBE2-00CD-487C-BF6D-20F07D1540FB}"/>
                </a:ext>
              </a:extLst>
            </p:cNvPr>
            <p:cNvSpPr txBox="1"/>
            <p:nvPr/>
          </p:nvSpPr>
          <p:spPr>
            <a:xfrm>
              <a:off x="9157267" y="4992927"/>
              <a:ext cx="1296000" cy="200055"/>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s-ES" sz="700" b="1" dirty="0" err="1">
                  <a:solidFill>
                    <a:schemeClr val="tx1"/>
                  </a:solidFill>
                </a:rPr>
                <a:t>Onboarding</a:t>
              </a:r>
              <a:r>
                <a:rPr lang="es-ES" sz="700" b="1" dirty="0">
                  <a:solidFill>
                    <a:schemeClr val="tx1"/>
                  </a:solidFill>
                </a:rPr>
                <a:t> Clientes</a:t>
              </a:r>
            </a:p>
          </p:txBody>
        </p:sp>
        <p:sp>
          <p:nvSpPr>
            <p:cNvPr id="372" name="Rectángulo: esquinas redondeadas 371">
              <a:extLst>
                <a:ext uri="{FF2B5EF4-FFF2-40B4-BE49-F238E27FC236}">
                  <a16:creationId xmlns:a16="http://schemas.microsoft.com/office/drawing/2014/main" id="{EA018F95-2E28-41B4-9BF8-C3689EB3C992}"/>
                </a:ext>
              </a:extLst>
            </p:cNvPr>
            <p:cNvSpPr/>
            <p:nvPr/>
          </p:nvSpPr>
          <p:spPr>
            <a:xfrm>
              <a:off x="9642953" y="3787347"/>
              <a:ext cx="799467" cy="219226"/>
            </a:xfrm>
            <a:prstGeom prst="roundRect">
              <a:avLst/>
            </a:prstGeom>
            <a:solidFill>
              <a:srgbClr val="FFFEE8"/>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ES" sz="800" b="1" dirty="0">
                  <a:solidFill>
                    <a:schemeClr val="tx1"/>
                  </a:solidFill>
                </a:rPr>
                <a:t>Web API</a:t>
              </a:r>
            </a:p>
          </p:txBody>
        </p:sp>
        <p:sp>
          <p:nvSpPr>
            <p:cNvPr id="373" name="CuadroTexto 367">
              <a:extLst>
                <a:ext uri="{FF2B5EF4-FFF2-40B4-BE49-F238E27FC236}">
                  <a16:creationId xmlns:a16="http://schemas.microsoft.com/office/drawing/2014/main" id="{5D04EE3F-7AC6-448E-BB7B-0ED5418BB709}"/>
                </a:ext>
              </a:extLst>
            </p:cNvPr>
            <p:cNvSpPr txBox="1"/>
            <p:nvPr/>
          </p:nvSpPr>
          <p:spPr>
            <a:xfrm>
              <a:off x="8021072" y="4124496"/>
              <a:ext cx="970201" cy="51157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100" dirty="0"/>
                <a:t>Solicitudes + Auditoría</a:t>
              </a:r>
            </a:p>
          </p:txBody>
        </p:sp>
        <p:sp>
          <p:nvSpPr>
            <p:cNvPr id="374" name="CuadroTexto 398">
              <a:extLst>
                <a:ext uri="{FF2B5EF4-FFF2-40B4-BE49-F238E27FC236}">
                  <a16:creationId xmlns:a16="http://schemas.microsoft.com/office/drawing/2014/main" id="{44FB4948-F89C-49CE-B5B2-95CE1746B934}"/>
                </a:ext>
              </a:extLst>
            </p:cNvPr>
            <p:cNvSpPr txBox="1"/>
            <p:nvPr/>
          </p:nvSpPr>
          <p:spPr>
            <a:xfrm>
              <a:off x="9035978" y="3928728"/>
              <a:ext cx="1457568" cy="246221"/>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000" b="1" dirty="0"/>
                <a:t>Hazte Cliente</a:t>
              </a:r>
            </a:p>
          </p:txBody>
        </p:sp>
        <p:pic>
          <p:nvPicPr>
            <p:cNvPr id="375" name="Imagen 374">
              <a:extLst>
                <a:ext uri="{FF2B5EF4-FFF2-40B4-BE49-F238E27FC236}">
                  <a16:creationId xmlns:a16="http://schemas.microsoft.com/office/drawing/2014/main" id="{43BB79F7-2103-4752-A4F0-847512366064}"/>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8256846" y="3714206"/>
              <a:ext cx="512406" cy="512406"/>
            </a:xfrm>
            <a:prstGeom prst="rect">
              <a:avLst/>
            </a:prstGeom>
          </p:spPr>
        </p:pic>
        <p:pic>
          <p:nvPicPr>
            <p:cNvPr id="376" name="Imagen 375">
              <a:extLst>
                <a:ext uri="{FF2B5EF4-FFF2-40B4-BE49-F238E27FC236}">
                  <a16:creationId xmlns:a16="http://schemas.microsoft.com/office/drawing/2014/main" id="{2ECDAAF0-353A-49A1-8F63-C25E416C17A1}"/>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8281971" y="4579924"/>
              <a:ext cx="512406" cy="512406"/>
            </a:xfrm>
            <a:prstGeom prst="rect">
              <a:avLst/>
            </a:prstGeom>
          </p:spPr>
        </p:pic>
        <p:pic>
          <p:nvPicPr>
            <p:cNvPr id="378" name="Imagen 377">
              <a:extLst>
                <a:ext uri="{FF2B5EF4-FFF2-40B4-BE49-F238E27FC236}">
                  <a16:creationId xmlns:a16="http://schemas.microsoft.com/office/drawing/2014/main" id="{AAF02EA7-56C9-48CA-A436-563A4DC6F1F1}"/>
                </a:ext>
              </a:extLst>
            </p:cNvPr>
            <p:cNvPicPr>
              <a:picLocks noChangeAspect="1"/>
            </p:cNvPicPr>
            <p:nvPr/>
          </p:nvPicPr>
          <p:blipFill>
            <a:blip r:embed="rId29" cstate="print">
              <a:extLst>
                <a:ext uri="{28A0092B-C50C-407E-A947-70E740481C1C}">
                  <a14:useLocalDpi xmlns:a14="http://schemas.microsoft.com/office/drawing/2010/main" val="0"/>
                </a:ext>
              </a:extLst>
            </a:blip>
            <a:stretch>
              <a:fillRect/>
            </a:stretch>
          </p:blipFill>
          <p:spPr>
            <a:xfrm>
              <a:off x="9336923" y="4556144"/>
              <a:ext cx="306029" cy="306029"/>
            </a:xfrm>
            <a:prstGeom prst="rect">
              <a:avLst/>
            </a:prstGeom>
          </p:spPr>
        </p:pic>
        <p:sp>
          <p:nvSpPr>
            <p:cNvPr id="379" name="CuadroTexto 406">
              <a:extLst>
                <a:ext uri="{FF2B5EF4-FFF2-40B4-BE49-F238E27FC236}">
                  <a16:creationId xmlns:a16="http://schemas.microsoft.com/office/drawing/2014/main" id="{7811CE91-A360-467C-952D-DCBD4F8D4F94}"/>
                </a:ext>
              </a:extLst>
            </p:cNvPr>
            <p:cNvSpPr txBox="1"/>
            <p:nvPr/>
          </p:nvSpPr>
          <p:spPr>
            <a:xfrm>
              <a:off x="8034826" y="5012357"/>
              <a:ext cx="1080555" cy="27699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200" dirty="0"/>
                <a:t>Extensión HC</a:t>
              </a:r>
            </a:p>
          </p:txBody>
        </p:sp>
        <p:sp>
          <p:nvSpPr>
            <p:cNvPr id="382" name="Oval 18">
              <a:extLst>
                <a:ext uri="{FF2B5EF4-FFF2-40B4-BE49-F238E27FC236}">
                  <a16:creationId xmlns:a16="http://schemas.microsoft.com/office/drawing/2014/main" id="{06E5B1C1-65BC-4306-9700-0EE221A3BADC}"/>
                </a:ext>
              </a:extLst>
            </p:cNvPr>
            <p:cNvSpPr>
              <a:spLocks noChangeArrowheads="1"/>
            </p:cNvSpPr>
            <p:nvPr/>
          </p:nvSpPr>
          <p:spPr bwMode="auto">
            <a:xfrm>
              <a:off x="8147355" y="3640472"/>
              <a:ext cx="226800" cy="226800"/>
            </a:xfrm>
            <a:prstGeom prst="ellipse">
              <a:avLst/>
            </a:prstGeom>
            <a:solidFill>
              <a:srgbClr val="92D050"/>
            </a:solidFill>
            <a:ln w="9525">
              <a:solidFill>
                <a:schemeClr val="tx1"/>
              </a:solidFill>
              <a:round/>
              <a:headEnd/>
              <a:tailEnd/>
            </a:ln>
          </p:spPr>
          <p:txBody>
            <a:bodyPr wrap="none"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0"/>
                </a:spcBef>
                <a:buClrTx/>
                <a:buSzTx/>
                <a:buFontTx/>
                <a:buNone/>
              </a:pPr>
              <a:r>
                <a:rPr lang="es-ES" altLang="es-ES" sz="1200" dirty="0">
                  <a:solidFill>
                    <a:schemeClr val="bg1"/>
                  </a:solidFill>
                </a:rPr>
                <a:t>E</a:t>
              </a:r>
            </a:p>
          </p:txBody>
        </p:sp>
        <p:sp>
          <p:nvSpPr>
            <p:cNvPr id="383" name="Oval 18">
              <a:extLst>
                <a:ext uri="{FF2B5EF4-FFF2-40B4-BE49-F238E27FC236}">
                  <a16:creationId xmlns:a16="http://schemas.microsoft.com/office/drawing/2014/main" id="{C6B6504B-D0E3-4D99-B01D-13A9690E00B7}"/>
                </a:ext>
              </a:extLst>
            </p:cNvPr>
            <p:cNvSpPr>
              <a:spLocks noChangeArrowheads="1"/>
            </p:cNvSpPr>
            <p:nvPr/>
          </p:nvSpPr>
          <p:spPr bwMode="auto">
            <a:xfrm>
              <a:off x="8150032" y="4545611"/>
              <a:ext cx="226800" cy="226800"/>
            </a:xfrm>
            <a:prstGeom prst="ellipse">
              <a:avLst/>
            </a:prstGeom>
            <a:solidFill>
              <a:srgbClr val="92D050"/>
            </a:solidFill>
            <a:ln w="9525">
              <a:solidFill>
                <a:schemeClr val="tx1"/>
              </a:solidFill>
              <a:round/>
              <a:headEnd/>
              <a:tailEnd/>
            </a:ln>
          </p:spPr>
          <p:txBody>
            <a:bodyPr wrap="none"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0"/>
                </a:spcBef>
                <a:buClrTx/>
                <a:buSzTx/>
                <a:buFontTx/>
                <a:buNone/>
              </a:pPr>
              <a:r>
                <a:rPr lang="es-ES" altLang="es-ES" sz="1200" dirty="0">
                  <a:solidFill>
                    <a:schemeClr val="bg1"/>
                  </a:solidFill>
                </a:rPr>
                <a:t>E</a:t>
              </a:r>
            </a:p>
          </p:txBody>
        </p:sp>
        <p:sp>
          <p:nvSpPr>
            <p:cNvPr id="384" name="Oval 18">
              <a:extLst>
                <a:ext uri="{FF2B5EF4-FFF2-40B4-BE49-F238E27FC236}">
                  <a16:creationId xmlns:a16="http://schemas.microsoft.com/office/drawing/2014/main" id="{97955E96-1D66-4536-9406-88037A1EA41B}"/>
                </a:ext>
              </a:extLst>
            </p:cNvPr>
            <p:cNvSpPr>
              <a:spLocks noChangeArrowheads="1"/>
            </p:cNvSpPr>
            <p:nvPr/>
          </p:nvSpPr>
          <p:spPr bwMode="auto">
            <a:xfrm>
              <a:off x="10407702" y="3898573"/>
              <a:ext cx="226800" cy="226800"/>
            </a:xfrm>
            <a:prstGeom prst="ellipse">
              <a:avLst/>
            </a:prstGeom>
            <a:solidFill>
              <a:srgbClr val="92D050"/>
            </a:solidFill>
            <a:ln w="9525">
              <a:solidFill>
                <a:schemeClr val="tx1"/>
              </a:solidFill>
              <a:round/>
              <a:headEnd/>
              <a:tailEnd/>
            </a:ln>
          </p:spPr>
          <p:txBody>
            <a:bodyPr wrap="none"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0"/>
                </a:spcBef>
                <a:buClrTx/>
                <a:buSzTx/>
                <a:buFontTx/>
                <a:buNone/>
              </a:pPr>
              <a:r>
                <a:rPr lang="es-ES" altLang="es-ES" sz="1200" dirty="0">
                  <a:solidFill>
                    <a:schemeClr val="bg1"/>
                  </a:solidFill>
                </a:rPr>
                <a:t>E</a:t>
              </a:r>
            </a:p>
          </p:txBody>
        </p:sp>
        <p:sp>
          <p:nvSpPr>
            <p:cNvPr id="385" name="Oval 18">
              <a:extLst>
                <a:ext uri="{FF2B5EF4-FFF2-40B4-BE49-F238E27FC236}">
                  <a16:creationId xmlns:a16="http://schemas.microsoft.com/office/drawing/2014/main" id="{F553A90A-942D-4DEE-9661-D66E55C85A0C}"/>
                </a:ext>
              </a:extLst>
            </p:cNvPr>
            <p:cNvSpPr>
              <a:spLocks noChangeArrowheads="1"/>
            </p:cNvSpPr>
            <p:nvPr/>
          </p:nvSpPr>
          <p:spPr bwMode="auto">
            <a:xfrm>
              <a:off x="10328630" y="4859471"/>
              <a:ext cx="226800" cy="226800"/>
            </a:xfrm>
            <a:prstGeom prst="ellipse">
              <a:avLst/>
            </a:prstGeom>
            <a:solidFill>
              <a:srgbClr val="92D050"/>
            </a:solidFill>
            <a:ln w="9525">
              <a:solidFill>
                <a:schemeClr val="tx1"/>
              </a:solidFill>
              <a:round/>
              <a:headEnd/>
              <a:tailEnd/>
            </a:ln>
          </p:spPr>
          <p:txBody>
            <a:bodyPr wrap="none"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0"/>
                </a:spcBef>
                <a:buClrTx/>
                <a:buSzTx/>
                <a:buFontTx/>
                <a:buNone/>
              </a:pPr>
              <a:r>
                <a:rPr lang="es-ES" altLang="es-ES" sz="1200" dirty="0">
                  <a:solidFill>
                    <a:schemeClr val="bg1"/>
                  </a:solidFill>
                </a:rPr>
                <a:t>E</a:t>
              </a:r>
            </a:p>
          </p:txBody>
        </p:sp>
        <p:sp>
          <p:nvSpPr>
            <p:cNvPr id="386" name="Oval 18">
              <a:extLst>
                <a:ext uri="{FF2B5EF4-FFF2-40B4-BE49-F238E27FC236}">
                  <a16:creationId xmlns:a16="http://schemas.microsoft.com/office/drawing/2014/main" id="{536468C2-35E9-2681-DDF7-3F3FEB8C39B7}"/>
                </a:ext>
              </a:extLst>
            </p:cNvPr>
            <p:cNvSpPr>
              <a:spLocks noChangeArrowheads="1"/>
            </p:cNvSpPr>
            <p:nvPr/>
          </p:nvSpPr>
          <p:spPr bwMode="auto">
            <a:xfrm>
              <a:off x="8953078" y="4224560"/>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lang="es-ES" altLang="es-ES" sz="1100" dirty="0">
                  <a:solidFill>
                    <a:prstClr val="white"/>
                  </a:solidFill>
                </a:rPr>
                <a:t>14</a:t>
              </a:r>
              <a:endPar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endParaRPr>
            </a:p>
          </p:txBody>
        </p:sp>
      </p:grpSp>
      <p:cxnSp>
        <p:nvCxnSpPr>
          <p:cNvPr id="12" name="Conector: angular 11">
            <a:extLst>
              <a:ext uri="{FF2B5EF4-FFF2-40B4-BE49-F238E27FC236}">
                <a16:creationId xmlns:a16="http://schemas.microsoft.com/office/drawing/2014/main" id="{075DCE24-A1E4-3CC3-6692-09DC0B22F2E2}"/>
              </a:ext>
            </a:extLst>
          </p:cNvPr>
          <p:cNvCxnSpPr>
            <a:cxnSpLocks/>
            <a:stCxn id="273" idx="1"/>
            <a:endCxn id="375" idx="3"/>
          </p:cNvCxnSpPr>
          <p:nvPr/>
        </p:nvCxnSpPr>
        <p:spPr>
          <a:xfrm rot="10800000">
            <a:off x="8603966" y="3280973"/>
            <a:ext cx="252937" cy="569305"/>
          </a:xfrm>
          <a:prstGeom prst="bentConnector3">
            <a:avLst>
              <a:gd name="adj1" fmla="val 50000"/>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387" name="Conector: angular 386">
            <a:extLst>
              <a:ext uri="{FF2B5EF4-FFF2-40B4-BE49-F238E27FC236}">
                <a16:creationId xmlns:a16="http://schemas.microsoft.com/office/drawing/2014/main" id="{07F25D46-25DF-1193-978D-55AD8D8B4A09}"/>
              </a:ext>
            </a:extLst>
          </p:cNvPr>
          <p:cNvCxnSpPr>
            <a:cxnSpLocks/>
            <a:stCxn id="273" idx="1"/>
            <a:endCxn id="376" idx="3"/>
          </p:cNvCxnSpPr>
          <p:nvPr/>
        </p:nvCxnSpPr>
        <p:spPr>
          <a:xfrm rot="10800000" flipV="1">
            <a:off x="8625952" y="3850277"/>
            <a:ext cx="230951" cy="191960"/>
          </a:xfrm>
          <a:prstGeom prst="bentConnector3">
            <a:avLst>
              <a:gd name="adj1" fmla="val 50000"/>
            </a:avLst>
          </a:prstGeom>
          <a:ln>
            <a:tailEnd type="triangle"/>
          </a:ln>
        </p:spPr>
        <p:style>
          <a:lnRef idx="3">
            <a:schemeClr val="accent4"/>
          </a:lnRef>
          <a:fillRef idx="0">
            <a:schemeClr val="accent4"/>
          </a:fillRef>
          <a:effectRef idx="2">
            <a:schemeClr val="accent4"/>
          </a:effectRef>
          <a:fontRef idx="minor">
            <a:schemeClr val="tx1"/>
          </a:fontRef>
        </p:style>
      </p:cxnSp>
      <p:pic>
        <p:nvPicPr>
          <p:cNvPr id="390" name="Imagen 389">
            <a:extLst>
              <a:ext uri="{FF2B5EF4-FFF2-40B4-BE49-F238E27FC236}">
                <a16:creationId xmlns:a16="http://schemas.microsoft.com/office/drawing/2014/main" id="{EF8E3321-05CB-62BF-7CD4-F5B002D1F536}"/>
              </a:ext>
            </a:extLst>
          </p:cNvPr>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a:xfrm>
            <a:off x="7105219" y="3997219"/>
            <a:ext cx="634974" cy="611160"/>
          </a:xfrm>
          <a:prstGeom prst="rect">
            <a:avLst/>
          </a:prstGeom>
        </p:spPr>
      </p:pic>
      <p:sp>
        <p:nvSpPr>
          <p:cNvPr id="391" name="Rectángulo redondeado 15">
            <a:extLst>
              <a:ext uri="{FF2B5EF4-FFF2-40B4-BE49-F238E27FC236}">
                <a16:creationId xmlns:a16="http://schemas.microsoft.com/office/drawing/2014/main" id="{2312B49A-6B2E-2E41-FE8C-A88BBA6F2898}"/>
              </a:ext>
            </a:extLst>
          </p:cNvPr>
          <p:cNvSpPr/>
          <p:nvPr/>
        </p:nvSpPr>
        <p:spPr bwMode="auto">
          <a:xfrm>
            <a:off x="5732364" y="2970320"/>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392" name="161 Imagen">
            <a:extLst>
              <a:ext uri="{FF2B5EF4-FFF2-40B4-BE49-F238E27FC236}">
                <a16:creationId xmlns:a16="http://schemas.microsoft.com/office/drawing/2014/main" id="{59EE239D-1381-7EC0-BA48-14BE521FDEE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22442" y="3051991"/>
            <a:ext cx="606904" cy="128673"/>
          </a:xfrm>
          <a:prstGeom prst="rect">
            <a:avLst/>
          </a:prstGeom>
        </p:spPr>
      </p:pic>
      <p:sp>
        <p:nvSpPr>
          <p:cNvPr id="393" name="2 CuadroTexto">
            <a:extLst>
              <a:ext uri="{FF2B5EF4-FFF2-40B4-BE49-F238E27FC236}">
                <a16:creationId xmlns:a16="http://schemas.microsoft.com/office/drawing/2014/main" id="{7DBE8605-0D70-0505-59D2-8D8F1F335486}"/>
              </a:ext>
            </a:extLst>
          </p:cNvPr>
          <p:cNvSpPr txBox="1">
            <a:spLocks noChangeArrowheads="1"/>
          </p:cNvSpPr>
          <p:nvPr/>
        </p:nvSpPr>
        <p:spPr bwMode="auto">
          <a:xfrm>
            <a:off x="5565292" y="3119705"/>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Orquestador Procesos</a:t>
            </a:r>
          </a:p>
        </p:txBody>
      </p:sp>
      <p:cxnSp>
        <p:nvCxnSpPr>
          <p:cNvPr id="35" name="Conector: angular 34">
            <a:extLst>
              <a:ext uri="{FF2B5EF4-FFF2-40B4-BE49-F238E27FC236}">
                <a16:creationId xmlns:a16="http://schemas.microsoft.com/office/drawing/2014/main" id="{F1294498-8C46-8B6C-5765-43AFCB09248D}"/>
              </a:ext>
            </a:extLst>
          </p:cNvPr>
          <p:cNvCxnSpPr>
            <a:cxnSpLocks/>
            <a:endCxn id="372" idx="0"/>
          </p:cNvCxnSpPr>
          <p:nvPr/>
        </p:nvCxnSpPr>
        <p:spPr>
          <a:xfrm>
            <a:off x="7025277" y="2905656"/>
            <a:ext cx="2693055" cy="214341"/>
          </a:xfrm>
          <a:prstGeom prst="bentConnector2">
            <a:avLst/>
          </a:prstGeom>
          <a:ln>
            <a:tailEnd type="triangle"/>
          </a:ln>
        </p:spPr>
        <p:style>
          <a:lnRef idx="3">
            <a:schemeClr val="accent6"/>
          </a:lnRef>
          <a:fillRef idx="0">
            <a:schemeClr val="accent6"/>
          </a:fillRef>
          <a:effectRef idx="2">
            <a:schemeClr val="accent6"/>
          </a:effectRef>
          <a:fontRef idx="minor">
            <a:schemeClr val="tx1"/>
          </a:fontRef>
        </p:style>
      </p:cxnSp>
      <p:sp>
        <p:nvSpPr>
          <p:cNvPr id="365" name="Oval 18">
            <a:extLst>
              <a:ext uri="{FF2B5EF4-FFF2-40B4-BE49-F238E27FC236}">
                <a16:creationId xmlns:a16="http://schemas.microsoft.com/office/drawing/2014/main" id="{426B38D5-AF19-4427-955A-229849DC333C}"/>
              </a:ext>
            </a:extLst>
          </p:cNvPr>
          <p:cNvSpPr>
            <a:spLocks noChangeArrowheads="1"/>
          </p:cNvSpPr>
          <p:nvPr/>
        </p:nvSpPr>
        <p:spPr bwMode="auto">
          <a:xfrm flipV="1">
            <a:off x="8701804" y="2818265"/>
            <a:ext cx="244275" cy="313955"/>
          </a:xfrm>
          <a:prstGeom prst="ellipse">
            <a:avLst/>
          </a:prstGeom>
          <a:solidFill>
            <a:srgbClr val="FF0000"/>
          </a:solidFill>
          <a:ln w="9525">
            <a:solidFill>
              <a:sysClr val="windowText" lastClr="000000">
                <a:shade val="95000"/>
                <a:satMod val="105000"/>
              </a:sys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s-ES" altLang="es-ES" sz="1200" b="1" i="0" u="none" strike="noStrike" kern="1200" cap="none" spc="0" normalizeH="0" baseline="0" noProof="0" dirty="0">
                <a:ln>
                  <a:noFill/>
                </a:ln>
                <a:solidFill>
                  <a:prstClr val="white"/>
                </a:solidFill>
                <a:effectLst/>
                <a:uLnTx/>
                <a:uFillTx/>
                <a:latin typeface="Arial" pitchFamily="34" charset="0"/>
                <a:ea typeface="+mn-ea"/>
                <a:cs typeface="+mn-cs"/>
              </a:rPr>
              <a:t>N</a:t>
            </a:r>
          </a:p>
        </p:txBody>
      </p:sp>
      <p:sp>
        <p:nvSpPr>
          <p:cNvPr id="381" name="Oval 18">
            <a:extLst>
              <a:ext uri="{FF2B5EF4-FFF2-40B4-BE49-F238E27FC236}">
                <a16:creationId xmlns:a16="http://schemas.microsoft.com/office/drawing/2014/main" id="{9E418C63-0B0E-47BF-987D-2C402F55C645}"/>
              </a:ext>
            </a:extLst>
          </p:cNvPr>
          <p:cNvSpPr>
            <a:spLocks noChangeArrowheads="1"/>
          </p:cNvSpPr>
          <p:nvPr/>
        </p:nvSpPr>
        <p:spPr bwMode="auto">
          <a:xfrm>
            <a:off x="10219986" y="4604243"/>
            <a:ext cx="226800" cy="226800"/>
          </a:xfrm>
          <a:prstGeom prst="ellipse">
            <a:avLst/>
          </a:prstGeom>
          <a:solidFill>
            <a:srgbClr val="92D050"/>
          </a:solidFill>
          <a:ln w="9525">
            <a:solidFill>
              <a:sysClr val="windowText" lastClr="000000"/>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s-ES" altLang="es-ES" sz="1200" b="1" i="0" u="none" strike="noStrike" kern="0" cap="none" spc="0" normalizeH="0" baseline="0" noProof="0" dirty="0">
                <a:ln>
                  <a:noFill/>
                </a:ln>
                <a:solidFill>
                  <a:prstClr val="white"/>
                </a:solidFill>
                <a:effectLst/>
                <a:uLnTx/>
                <a:uFillTx/>
                <a:latin typeface="Arial" pitchFamily="34" charset="0"/>
              </a:rPr>
              <a:t>E</a:t>
            </a:r>
          </a:p>
        </p:txBody>
      </p:sp>
      <p:sp>
        <p:nvSpPr>
          <p:cNvPr id="2" name="Rectángulo redondeado 15">
            <a:extLst>
              <a:ext uri="{FF2B5EF4-FFF2-40B4-BE49-F238E27FC236}">
                <a16:creationId xmlns:a16="http://schemas.microsoft.com/office/drawing/2014/main" id="{FE95D63F-AA08-0F12-A246-30620F633A4D}"/>
              </a:ext>
            </a:extLst>
          </p:cNvPr>
          <p:cNvSpPr/>
          <p:nvPr/>
        </p:nvSpPr>
        <p:spPr bwMode="auto">
          <a:xfrm>
            <a:off x="8179310" y="5756270"/>
            <a:ext cx="1012066" cy="289314"/>
          </a:xfrm>
          <a:prstGeom prst="roundRect">
            <a:avLst/>
          </a:prstGeom>
          <a:solidFill>
            <a:schemeClr val="accent2">
              <a:lumMod val="20000"/>
              <a:lumOff val="80000"/>
            </a:schemeClr>
          </a:solidFill>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none" lIns="0" tIns="0" rIns="0" bIns="0" numCol="1" rtlCol="0" anchor="t" anchorCtr="0" compatLnSpc="1">
            <a:prstTxWarp prst="textNoShape">
              <a:avLst/>
            </a:prstTxWarp>
          </a:bodyPr>
          <a:lstStyle/>
          <a:p>
            <a:pPr algn="ctr"/>
            <a:r>
              <a:rPr lang="es-ES" sz="900" b="1" dirty="0">
                <a:solidFill>
                  <a:schemeClr val="tx1"/>
                </a:solidFill>
              </a:rPr>
              <a:t>API</a:t>
            </a:r>
          </a:p>
          <a:p>
            <a:pPr algn="ctr"/>
            <a:r>
              <a:rPr lang="es-ES" sz="900" b="1" dirty="0">
                <a:solidFill>
                  <a:schemeClr val="tx1"/>
                </a:solidFill>
              </a:rPr>
              <a:t>EDW-</a:t>
            </a:r>
            <a:r>
              <a:rPr lang="es-ES" sz="900" b="1" dirty="0" err="1">
                <a:solidFill>
                  <a:schemeClr val="tx1"/>
                </a:solidFill>
              </a:rPr>
              <a:t>Account</a:t>
            </a:r>
            <a:r>
              <a:rPr lang="es-ES" sz="900" b="1" dirty="0">
                <a:solidFill>
                  <a:schemeClr val="tx1"/>
                </a:solidFill>
              </a:rPr>
              <a:t> </a:t>
            </a:r>
            <a:endParaRPr lang="es-ES" sz="1200" b="1" dirty="0">
              <a:solidFill>
                <a:schemeClr val="tx1"/>
              </a:solidFill>
            </a:endParaRPr>
          </a:p>
        </p:txBody>
      </p:sp>
      <p:sp>
        <p:nvSpPr>
          <p:cNvPr id="3" name="Oval 18">
            <a:extLst>
              <a:ext uri="{FF2B5EF4-FFF2-40B4-BE49-F238E27FC236}">
                <a16:creationId xmlns:a16="http://schemas.microsoft.com/office/drawing/2014/main" id="{CE7D9DD0-7A0A-3D5D-2DD9-710B7D4968BC}"/>
              </a:ext>
            </a:extLst>
          </p:cNvPr>
          <p:cNvSpPr>
            <a:spLocks noChangeArrowheads="1"/>
          </p:cNvSpPr>
          <p:nvPr/>
        </p:nvSpPr>
        <p:spPr bwMode="auto">
          <a:xfrm>
            <a:off x="9012183" y="5797048"/>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sp>
        <p:nvSpPr>
          <p:cNvPr id="4" name="Oval 18">
            <a:extLst>
              <a:ext uri="{FF2B5EF4-FFF2-40B4-BE49-F238E27FC236}">
                <a16:creationId xmlns:a16="http://schemas.microsoft.com/office/drawing/2014/main" id="{58B0EB51-BCED-F5A5-B431-5CBDD19D487F}"/>
              </a:ext>
            </a:extLst>
          </p:cNvPr>
          <p:cNvSpPr>
            <a:spLocks noChangeArrowheads="1"/>
          </p:cNvSpPr>
          <p:nvPr/>
        </p:nvSpPr>
        <p:spPr bwMode="auto">
          <a:xfrm>
            <a:off x="8239709" y="5601238"/>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rPr>
              <a:t>15</a:t>
            </a:r>
          </a:p>
        </p:txBody>
      </p:sp>
      <p:sp>
        <p:nvSpPr>
          <p:cNvPr id="10" name="Rectángulo: esquinas redondeadas 9">
            <a:extLst>
              <a:ext uri="{FF2B5EF4-FFF2-40B4-BE49-F238E27FC236}">
                <a16:creationId xmlns:a16="http://schemas.microsoft.com/office/drawing/2014/main" id="{9E22612B-DB47-D86E-F771-D0F491B16356}"/>
              </a:ext>
            </a:extLst>
          </p:cNvPr>
          <p:cNvSpPr/>
          <p:nvPr/>
        </p:nvSpPr>
        <p:spPr>
          <a:xfrm>
            <a:off x="9091025" y="4736972"/>
            <a:ext cx="908489" cy="631994"/>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pic>
        <p:nvPicPr>
          <p:cNvPr id="1026" name="Picture 2" descr="PAGONXT - Pagonxt, S.l. Trademark Registration">
            <a:extLst>
              <a:ext uri="{FF2B5EF4-FFF2-40B4-BE49-F238E27FC236}">
                <a16:creationId xmlns:a16="http://schemas.microsoft.com/office/drawing/2014/main" id="{E76421FC-EDDF-25F6-131D-B6C2659A2199}"/>
              </a:ext>
            </a:extLst>
          </p:cNvPr>
          <p:cNvPicPr>
            <a:picLocks noChangeAspect="1" noChangeArrowheads="1"/>
          </p:cNvPicPr>
          <p:nvPr/>
        </p:nvPicPr>
        <p:blipFill>
          <a:blip r:embed="rId31" cstate="print">
            <a:extLst>
              <a:ext uri="{28A0092B-C50C-407E-A947-70E740481C1C}">
                <a14:useLocalDpi xmlns:a14="http://schemas.microsoft.com/office/drawing/2010/main" val="0"/>
              </a:ext>
            </a:extLst>
          </a:blip>
          <a:srcRect/>
          <a:stretch>
            <a:fillRect/>
          </a:stretch>
        </p:blipFill>
        <p:spPr bwMode="auto">
          <a:xfrm>
            <a:off x="9175337" y="5004623"/>
            <a:ext cx="787010" cy="338358"/>
          </a:xfrm>
          <a:prstGeom prst="rect">
            <a:avLst/>
          </a:prstGeom>
          <a:noFill/>
          <a:extLst>
            <a:ext uri="{909E8E84-426E-40DD-AFC4-6F175D3DCCD1}">
              <a14:hiddenFill xmlns:a14="http://schemas.microsoft.com/office/drawing/2010/main">
                <a:solidFill>
                  <a:srgbClr val="FFFFFF"/>
                </a:solidFill>
              </a14:hiddenFill>
            </a:ext>
          </a:extLst>
        </p:spPr>
      </p:pic>
      <p:sp>
        <p:nvSpPr>
          <p:cNvPr id="11" name="Oval 18">
            <a:extLst>
              <a:ext uri="{FF2B5EF4-FFF2-40B4-BE49-F238E27FC236}">
                <a16:creationId xmlns:a16="http://schemas.microsoft.com/office/drawing/2014/main" id="{485FB4C1-9D9C-BE69-EB35-0189BDFD8B0A}"/>
              </a:ext>
            </a:extLst>
          </p:cNvPr>
          <p:cNvSpPr>
            <a:spLocks noChangeArrowheads="1"/>
          </p:cNvSpPr>
          <p:nvPr/>
        </p:nvSpPr>
        <p:spPr bwMode="auto">
          <a:xfrm>
            <a:off x="9822314" y="4692034"/>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rPr>
              <a:t>16</a:t>
            </a:r>
          </a:p>
        </p:txBody>
      </p:sp>
      <p:pic>
        <p:nvPicPr>
          <p:cNvPr id="7" name="Picture 2" descr="Apigee Logo PNG Transparent &amp; SVG Vector - Freebie Supply">
            <a:extLst>
              <a:ext uri="{FF2B5EF4-FFF2-40B4-BE49-F238E27FC236}">
                <a16:creationId xmlns:a16="http://schemas.microsoft.com/office/drawing/2014/main" id="{C4344082-EF08-EA35-652A-245060404B28}"/>
              </a:ext>
            </a:extLst>
          </p:cNvPr>
          <p:cNvPicPr>
            <a:picLocks noChangeAspect="1" noChangeArrowheads="1"/>
          </p:cNvPicPr>
          <p:nvPr/>
        </p:nvPicPr>
        <p:blipFill>
          <a:blip r:embed="rId32" cstate="print">
            <a:extLst>
              <a:ext uri="{28A0092B-C50C-407E-A947-70E740481C1C}">
                <a14:useLocalDpi xmlns:a14="http://schemas.microsoft.com/office/drawing/2010/main" val="0"/>
              </a:ext>
            </a:extLst>
          </a:blip>
          <a:srcRect/>
          <a:stretch>
            <a:fillRect/>
          </a:stretch>
        </p:blipFill>
        <p:spPr bwMode="auto">
          <a:xfrm>
            <a:off x="9155263" y="4784021"/>
            <a:ext cx="623650" cy="21202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25 Conector recto de flecha">
            <a:extLst>
              <a:ext uri="{FF2B5EF4-FFF2-40B4-BE49-F238E27FC236}">
                <a16:creationId xmlns:a16="http://schemas.microsoft.com/office/drawing/2014/main" id="{05B3C53B-CF9C-8A6B-E8F9-798A26238A5A}"/>
              </a:ext>
            </a:extLst>
          </p:cNvPr>
          <p:cNvCxnSpPr>
            <a:cxnSpLocks/>
          </p:cNvCxnSpPr>
          <p:nvPr/>
        </p:nvCxnSpPr>
        <p:spPr bwMode="auto">
          <a:xfrm flipH="1">
            <a:off x="5968720" y="5398744"/>
            <a:ext cx="186280" cy="80519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ángulo: esquinas redondeadas 14">
            <a:extLst>
              <a:ext uri="{FF2B5EF4-FFF2-40B4-BE49-F238E27FC236}">
                <a16:creationId xmlns:a16="http://schemas.microsoft.com/office/drawing/2014/main" id="{0D3D48CE-2B20-7105-C48E-C2DEE7EDBEBD}"/>
              </a:ext>
            </a:extLst>
          </p:cNvPr>
          <p:cNvSpPr/>
          <p:nvPr/>
        </p:nvSpPr>
        <p:spPr>
          <a:xfrm>
            <a:off x="4848989" y="6137256"/>
            <a:ext cx="1375989" cy="399068"/>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s-ES" sz="1400" dirty="0">
                <a:solidFill>
                  <a:schemeClr val="tx1">
                    <a:lumMod val="65000"/>
                    <a:lumOff val="35000"/>
                  </a:schemeClr>
                </a:solidFill>
              </a:rPr>
              <a:t>Volumen</a:t>
            </a:r>
            <a:endParaRPr lang="es-ES" dirty="0">
              <a:solidFill>
                <a:schemeClr val="tx1">
                  <a:lumMod val="65000"/>
                  <a:lumOff val="35000"/>
                </a:schemeClr>
              </a:solidFill>
            </a:endParaRPr>
          </a:p>
        </p:txBody>
      </p:sp>
      <p:sp>
        <p:nvSpPr>
          <p:cNvPr id="16" name="Oval 18">
            <a:extLst>
              <a:ext uri="{FF2B5EF4-FFF2-40B4-BE49-F238E27FC236}">
                <a16:creationId xmlns:a16="http://schemas.microsoft.com/office/drawing/2014/main" id="{E97F8120-0AE5-80CA-87F9-5A4433F3F11B}"/>
              </a:ext>
            </a:extLst>
          </p:cNvPr>
          <p:cNvSpPr>
            <a:spLocks noChangeArrowheads="1"/>
          </p:cNvSpPr>
          <p:nvPr/>
        </p:nvSpPr>
        <p:spPr bwMode="auto">
          <a:xfrm>
            <a:off x="4610307" y="6165919"/>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rPr>
              <a:t>17</a:t>
            </a:r>
          </a:p>
        </p:txBody>
      </p:sp>
      <p:pic>
        <p:nvPicPr>
          <p:cNvPr id="18" name="Picture 10" descr="Resultado de imagen de Openshift icon">
            <a:extLst>
              <a:ext uri="{FF2B5EF4-FFF2-40B4-BE49-F238E27FC236}">
                <a16:creationId xmlns:a16="http://schemas.microsoft.com/office/drawing/2014/main" id="{0D047B21-97B6-1EDE-734B-EA426300BD0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803873" y="6189193"/>
            <a:ext cx="239828" cy="282164"/>
          </a:xfrm>
          <a:prstGeom prst="rect">
            <a:avLst/>
          </a:prstGeom>
          <a:noFill/>
          <a:extLst>
            <a:ext uri="{909E8E84-426E-40DD-AFC4-6F175D3DCCD1}">
              <a14:hiddenFill xmlns:a14="http://schemas.microsoft.com/office/drawing/2010/main">
                <a:solidFill>
                  <a:srgbClr val="FFFFFF"/>
                </a:solidFill>
              </a14:hiddenFill>
            </a:ext>
          </a:extLst>
        </p:spPr>
      </p:pic>
      <p:sp>
        <p:nvSpPr>
          <p:cNvPr id="19" name="Oval 18">
            <a:extLst>
              <a:ext uri="{FF2B5EF4-FFF2-40B4-BE49-F238E27FC236}">
                <a16:creationId xmlns:a16="http://schemas.microsoft.com/office/drawing/2014/main" id="{715BBDD3-90B4-9784-2208-DA16F9223A66}"/>
              </a:ext>
            </a:extLst>
          </p:cNvPr>
          <p:cNvSpPr>
            <a:spLocks noChangeArrowheads="1"/>
          </p:cNvSpPr>
          <p:nvPr/>
        </p:nvSpPr>
        <p:spPr bwMode="auto">
          <a:xfrm>
            <a:off x="6836285" y="5149809"/>
            <a:ext cx="227639" cy="228522"/>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M</a:t>
            </a:r>
          </a:p>
        </p:txBody>
      </p:sp>
      <p:pic>
        <p:nvPicPr>
          <p:cNvPr id="20" name="Picture 662" descr="MC900434391[1]">
            <a:extLst>
              <a:ext uri="{FF2B5EF4-FFF2-40B4-BE49-F238E27FC236}">
                <a16:creationId xmlns:a16="http://schemas.microsoft.com/office/drawing/2014/main" id="{25BE4D52-D12A-DAD3-84BD-FE7660D53964}"/>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5324396" y="5943908"/>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1823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arcador de texto 1">
            <a:extLst>
              <a:ext uri="{FF2B5EF4-FFF2-40B4-BE49-F238E27FC236}">
                <a16:creationId xmlns:a16="http://schemas.microsoft.com/office/drawing/2014/main" id="{E6EC0FA8-14B6-42CA-8357-9E45D12256CF}"/>
              </a:ext>
            </a:extLst>
          </p:cNvPr>
          <p:cNvSpPr txBox="1">
            <a:spLocks/>
          </p:cNvSpPr>
          <p:nvPr/>
        </p:nvSpPr>
        <p:spPr>
          <a:xfrm>
            <a:off x="632930" y="294942"/>
            <a:ext cx="10833365" cy="1279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dirty="0">
                <a:solidFill>
                  <a:srgbClr val="EB0000"/>
                </a:solidFill>
                <a:ea typeface="Segoe UI" panose="020B0502040204020203" pitchFamily="34" charset="0"/>
                <a:cs typeface="Segoe UI" panose="020B0502040204020203" pitchFamily="34" charset="0"/>
              </a:rPr>
              <a:t>Solución </a:t>
            </a:r>
            <a:r>
              <a:rPr lang="es-ES" sz="1400" b="1" dirty="0">
                <a:solidFill>
                  <a:srgbClr val="EB0000"/>
                </a:solidFill>
                <a:cs typeface="Segoe UI" panose="020B0502040204020203" pitchFamily="34" charset="0"/>
              </a:rPr>
              <a:t>técnica</a:t>
            </a:r>
          </a:p>
          <a:p>
            <a:pPr marL="0" indent="0">
              <a:spcBef>
                <a:spcPts val="300"/>
              </a:spcBef>
              <a:buNone/>
            </a:pPr>
            <a:r>
              <a:rPr lang="es-ES" altLang="es-ES" sz="1800" b="1" dirty="0">
                <a:solidFill>
                  <a:srgbClr val="EB0000"/>
                </a:solidFill>
                <a:cs typeface="Segoe UI" panose="020B0502040204020203" pitchFamily="34" charset="0"/>
              </a:rPr>
              <a:t>Interfaces entre Sistemas</a:t>
            </a:r>
            <a:endParaRPr lang="es-ES" sz="1800" b="1" dirty="0">
              <a:solidFill>
                <a:srgbClr val="EB0000"/>
              </a:solidFill>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19" name="Rectangle 55" descr="Ángulos">
            <a:extLst>
              <a:ext uri="{FF2B5EF4-FFF2-40B4-BE49-F238E27FC236}">
                <a16:creationId xmlns:a16="http://schemas.microsoft.com/office/drawing/2014/main" id="{B95F56D6-D4D4-4ACB-8C24-FD94FF480038}"/>
              </a:ext>
            </a:extLst>
          </p:cNvPr>
          <p:cNvSpPr>
            <a:spLocks noChangeArrowheads="1"/>
          </p:cNvSpPr>
          <p:nvPr/>
        </p:nvSpPr>
        <p:spPr bwMode="auto">
          <a:xfrm flipV="1">
            <a:off x="9313899" y="6476243"/>
            <a:ext cx="317927" cy="171450"/>
          </a:xfrm>
          <a:prstGeom prst="rect">
            <a:avLst/>
          </a:prstGeom>
          <a:noFill/>
          <a:ln>
            <a:noFill/>
          </a:ln>
          <a:effectLst>
            <a:prstShdw prst="shdw17" dist="17961" dir="2700000">
              <a:srgbClr val="990000"/>
            </a:prstShdw>
          </a:effectLst>
        </p:spPr>
        <p:txBody>
          <a:bodyPr rot="10800000"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spcBef>
                <a:spcPct val="0"/>
              </a:spcBef>
              <a:buClr>
                <a:schemeClr val="accent2"/>
              </a:buClr>
              <a:buFont typeface="Wingdings" panose="05000000000000000000" pitchFamily="2" charset="2"/>
              <a:buNone/>
            </a:pPr>
            <a:endParaRPr lang="es-ES" altLang="es-ES" sz="1108">
              <a:solidFill>
                <a:schemeClr val="tx1"/>
              </a:solidFill>
            </a:endParaRPr>
          </a:p>
        </p:txBody>
      </p:sp>
      <p:graphicFrame>
        <p:nvGraphicFramePr>
          <p:cNvPr id="6" name="Tabla 5">
            <a:extLst>
              <a:ext uri="{FF2B5EF4-FFF2-40B4-BE49-F238E27FC236}">
                <a16:creationId xmlns:a16="http://schemas.microsoft.com/office/drawing/2014/main" id="{4EA38692-9CEF-4E1D-A87C-C4E1793568D1}"/>
              </a:ext>
            </a:extLst>
          </p:cNvPr>
          <p:cNvGraphicFramePr>
            <a:graphicFrameLocks noGrp="1"/>
          </p:cNvGraphicFramePr>
          <p:nvPr>
            <p:extLst>
              <p:ext uri="{D42A27DB-BD31-4B8C-83A1-F6EECF244321}">
                <p14:modId xmlns:p14="http://schemas.microsoft.com/office/powerpoint/2010/main" val="1195398841"/>
              </p:ext>
            </p:extLst>
          </p:nvPr>
        </p:nvGraphicFramePr>
        <p:xfrm>
          <a:off x="318094" y="934454"/>
          <a:ext cx="11555812" cy="4937684"/>
        </p:xfrm>
        <a:graphic>
          <a:graphicData uri="http://schemas.openxmlformats.org/drawingml/2006/table">
            <a:tbl>
              <a:tblPr/>
              <a:tblGrid>
                <a:gridCol w="476440">
                  <a:extLst>
                    <a:ext uri="{9D8B030D-6E8A-4147-A177-3AD203B41FA5}">
                      <a16:colId xmlns:a16="http://schemas.microsoft.com/office/drawing/2014/main" val="1679333959"/>
                    </a:ext>
                  </a:extLst>
                </a:gridCol>
                <a:gridCol w="1419277">
                  <a:extLst>
                    <a:ext uri="{9D8B030D-6E8A-4147-A177-3AD203B41FA5}">
                      <a16:colId xmlns:a16="http://schemas.microsoft.com/office/drawing/2014/main" val="132562875"/>
                    </a:ext>
                  </a:extLst>
                </a:gridCol>
                <a:gridCol w="2550694">
                  <a:extLst>
                    <a:ext uri="{9D8B030D-6E8A-4147-A177-3AD203B41FA5}">
                      <a16:colId xmlns:a16="http://schemas.microsoft.com/office/drawing/2014/main" val="3962172061"/>
                    </a:ext>
                  </a:extLst>
                </a:gridCol>
                <a:gridCol w="1235242">
                  <a:extLst>
                    <a:ext uri="{9D8B030D-6E8A-4147-A177-3AD203B41FA5}">
                      <a16:colId xmlns:a16="http://schemas.microsoft.com/office/drawing/2014/main" val="1121885685"/>
                    </a:ext>
                  </a:extLst>
                </a:gridCol>
                <a:gridCol w="5874159">
                  <a:extLst>
                    <a:ext uri="{9D8B030D-6E8A-4147-A177-3AD203B41FA5}">
                      <a16:colId xmlns:a16="http://schemas.microsoft.com/office/drawing/2014/main" val="2098101776"/>
                    </a:ext>
                  </a:extLst>
                </a:gridCol>
              </a:tblGrid>
              <a:tr h="38930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Num.</a:t>
                      </a:r>
                    </a:p>
                    <a:p>
                      <a:pPr algn="ctr" fontAlgn="ctr"/>
                      <a:r>
                        <a:rPr lang="es-ES" sz="1400" b="1" i="0" u="none" strike="noStrike" dirty="0">
                          <a:solidFill>
                            <a:srgbClr val="FFFFFF"/>
                          </a:solidFill>
                          <a:effectLst/>
                          <a:latin typeface="+mj-lt"/>
                        </a:rPr>
                        <a:t> Id.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Origen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Destino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Protocolo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Observaciones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2590006"/>
                  </a:ext>
                </a:extLst>
              </a:tr>
              <a:tr h="67767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chemeClr val="bg1"/>
                          </a:solidFill>
                          <a:effectLst/>
                          <a:latin typeface="Calibri" panose="020F0502020204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defRPr/>
                      </a:pPr>
                      <a:r>
                        <a:rPr lang="es-ES" sz="1600" b="0" i="0" u="none" strike="noStrike" kern="1200" dirty="0">
                          <a:solidFill>
                            <a:srgbClr val="000000"/>
                          </a:solidFill>
                          <a:effectLst/>
                          <a:latin typeface="+mn-lt"/>
                          <a:ea typeface="+mn-ea"/>
                          <a:cs typeface="+mn-cs"/>
                        </a:rPr>
                        <a:t>Portal </a:t>
                      </a:r>
                      <a:r>
                        <a:rPr lang="es-ES" sz="1600" b="0" i="0" u="none" strike="noStrike" kern="1200" dirty="0" err="1">
                          <a:solidFill>
                            <a:srgbClr val="000000"/>
                          </a:solidFill>
                          <a:effectLst/>
                          <a:latin typeface="+mn-lt"/>
                          <a:ea typeface="+mn-ea"/>
                          <a:cs typeface="+mn-cs"/>
                        </a:rPr>
                        <a:t>Backoffice</a:t>
                      </a:r>
                      <a:endParaRPr lang="es-ES" sz="1600" b="0" i="0" u="none" strike="noStrike" kern="1200" dirty="0">
                        <a:solidFill>
                          <a:srgbClr val="000000"/>
                        </a:solidFill>
                        <a:effectLst/>
                        <a:latin typeface="+mn-lt"/>
                        <a:ea typeface="+mn-ea"/>
                        <a:cs typeface="+mn-cs"/>
                      </a:endParaRP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defRPr/>
                      </a:pPr>
                      <a:r>
                        <a:rPr lang="es-ES" sz="1600" b="0" i="0" u="none" strike="noStrike" kern="1200" dirty="0">
                          <a:solidFill>
                            <a:srgbClr val="000000"/>
                          </a:solidFill>
                          <a:effectLst/>
                          <a:latin typeface="+mn-lt"/>
                          <a:ea typeface="+mn-ea"/>
                          <a:cs typeface="+mn-cs"/>
                        </a:rPr>
                        <a:t>SPA </a:t>
                      </a:r>
                      <a:r>
                        <a:rPr lang="es-ES" sz="1600" b="0" i="0" u="none" strike="noStrike" kern="1200" dirty="0" err="1">
                          <a:solidFill>
                            <a:srgbClr val="000000"/>
                          </a:solidFill>
                          <a:effectLst/>
                          <a:latin typeface="+mn-lt"/>
                          <a:ea typeface="+mn-ea"/>
                          <a:cs typeface="+mn-cs"/>
                        </a:rPr>
                        <a:t>Hagase</a:t>
                      </a:r>
                      <a:r>
                        <a:rPr lang="es-ES" sz="1600" b="0" i="0" u="none" strike="noStrike" kern="1200" dirty="0">
                          <a:solidFill>
                            <a:srgbClr val="000000"/>
                          </a:solidFill>
                          <a:effectLst/>
                          <a:latin typeface="+mn-lt"/>
                          <a:ea typeface="+mn-ea"/>
                          <a:cs typeface="+mn-cs"/>
                        </a:rPr>
                        <a:t> Cliente 2.0</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defRPr/>
                      </a:pPr>
                      <a:r>
                        <a:rPr lang="es-ES" sz="1600" b="0" i="0" u="none" strike="noStrike" kern="1200" dirty="0">
                          <a:solidFill>
                            <a:srgbClr val="000000"/>
                          </a:solidFill>
                          <a:effectLst/>
                          <a:latin typeface="+mn-lt"/>
                          <a:ea typeface="+mn-ea"/>
                          <a:cs typeface="+mn-cs"/>
                        </a:rPr>
                        <a:t>HTTPS</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s-ES" sz="1600" b="0" i="0" u="none" strike="noStrike" kern="1200" dirty="0">
                          <a:solidFill>
                            <a:srgbClr val="000000"/>
                          </a:solidFill>
                          <a:effectLst/>
                          <a:latin typeface="+mn-lt"/>
                          <a:ea typeface="+mn-ea"/>
                          <a:cs typeface="+mn-cs"/>
                        </a:rPr>
                        <a:t>Desde la aplicación de Portal </a:t>
                      </a:r>
                      <a:r>
                        <a:rPr lang="es-ES" sz="1600" b="0" i="0" u="none" strike="noStrike" kern="1200" dirty="0" err="1">
                          <a:solidFill>
                            <a:srgbClr val="000000"/>
                          </a:solidFill>
                          <a:effectLst/>
                          <a:latin typeface="+mn-lt"/>
                          <a:ea typeface="+mn-ea"/>
                          <a:cs typeface="+mn-cs"/>
                        </a:rPr>
                        <a:t>Backoffice</a:t>
                      </a:r>
                      <a:r>
                        <a:rPr lang="es-ES" sz="1600" b="0" i="0" u="none" strike="noStrike" kern="1200" dirty="0">
                          <a:solidFill>
                            <a:srgbClr val="000000"/>
                          </a:solidFill>
                          <a:effectLst/>
                          <a:latin typeface="+mn-lt"/>
                          <a:ea typeface="+mn-ea"/>
                          <a:cs typeface="+mn-cs"/>
                        </a:rPr>
                        <a:t> se integra  por iframe las </a:t>
                      </a:r>
                      <a:r>
                        <a:rPr lang="es-ES" sz="1600" b="0" i="0" u="none" strike="noStrike" kern="1200" dirty="0" err="1">
                          <a:solidFill>
                            <a:srgbClr val="000000"/>
                          </a:solidFill>
                          <a:effectLst/>
                          <a:latin typeface="+mn-lt"/>
                          <a:ea typeface="+mn-ea"/>
                          <a:cs typeface="+mn-cs"/>
                        </a:rPr>
                        <a:t>SPAs</a:t>
                      </a:r>
                      <a:r>
                        <a:rPr lang="es-ES" sz="1600" b="0" i="0" u="none" strike="noStrike" kern="1200" dirty="0">
                          <a:solidFill>
                            <a:srgbClr val="000000"/>
                          </a:solidFill>
                          <a:effectLst/>
                          <a:latin typeface="+mn-lt"/>
                          <a:ea typeface="+mn-ea"/>
                          <a:cs typeface="+mn-cs"/>
                        </a:rPr>
                        <a:t> de </a:t>
                      </a:r>
                      <a:r>
                        <a:rPr lang="es-ES" sz="1600" b="0" i="0" u="none" strike="noStrike" kern="1200" dirty="0" err="1">
                          <a:solidFill>
                            <a:srgbClr val="000000"/>
                          </a:solidFill>
                          <a:effectLst/>
                          <a:latin typeface="+mn-lt"/>
                          <a:ea typeface="+mn-ea"/>
                          <a:cs typeface="+mn-cs"/>
                        </a:rPr>
                        <a:t>hagase</a:t>
                      </a:r>
                      <a:r>
                        <a:rPr lang="es-ES" sz="1600" b="0" i="0" u="none" strike="noStrike" kern="1200" dirty="0">
                          <a:solidFill>
                            <a:srgbClr val="000000"/>
                          </a:solidFill>
                          <a:effectLst/>
                          <a:latin typeface="+mn-lt"/>
                          <a:ea typeface="+mn-ea"/>
                          <a:cs typeface="+mn-cs"/>
                        </a:rPr>
                        <a:t> cliente. El token de seguridad es BKS que se guarda en el contexto de portal </a:t>
                      </a:r>
                      <a:r>
                        <a:rPr lang="es-ES" sz="1600" b="0" i="0" u="none" strike="noStrike" kern="1200" dirty="0" err="1">
                          <a:solidFill>
                            <a:srgbClr val="000000"/>
                          </a:solidFill>
                          <a:effectLst/>
                          <a:latin typeface="+mn-lt"/>
                          <a:ea typeface="+mn-ea"/>
                          <a:cs typeface="+mn-cs"/>
                        </a:rPr>
                        <a:t>backoffice</a:t>
                      </a:r>
                      <a:r>
                        <a:rPr lang="es-ES" sz="1600" b="0" i="0" u="none" strike="noStrike" kern="1200" dirty="0">
                          <a:solidFill>
                            <a:srgbClr val="000000"/>
                          </a:solidFill>
                          <a:effectLst/>
                          <a:latin typeface="+mn-lt"/>
                          <a:ea typeface="+mn-ea"/>
                          <a:cs typeface="+mn-cs"/>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0794317"/>
                  </a:ext>
                </a:extLst>
              </a:tr>
              <a:tr h="417115">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defRPr/>
                      </a:pPr>
                      <a:r>
                        <a:rPr lang="es-ES" sz="1600" b="0" i="0" u="none" strike="noStrike" kern="1200" dirty="0">
                          <a:solidFill>
                            <a:srgbClr val="000000"/>
                          </a:solidFill>
                          <a:effectLst/>
                          <a:latin typeface="+mn-lt"/>
                          <a:ea typeface="+mn-ea"/>
                          <a:cs typeface="+mn-cs"/>
                        </a:rPr>
                        <a:t>Web Publica y App </a:t>
                      </a:r>
                      <a:r>
                        <a:rPr lang="es-ES" sz="1600" b="0" i="0" u="none" strike="noStrike" kern="1200" dirty="0" err="1">
                          <a:solidFill>
                            <a:srgbClr val="000000"/>
                          </a:solidFill>
                          <a:effectLst/>
                          <a:latin typeface="+mn-lt"/>
                          <a:ea typeface="+mn-ea"/>
                          <a:cs typeface="+mn-cs"/>
                        </a:rPr>
                        <a:t>Movil</a:t>
                      </a:r>
                      <a:endParaRPr lang="es-ES" sz="1600" b="0" i="0" u="none" strike="noStrike" kern="1200" dirty="0">
                        <a:solidFill>
                          <a:srgbClr val="000000"/>
                        </a:solidFill>
                        <a:effectLst/>
                        <a:latin typeface="+mn-lt"/>
                        <a:ea typeface="+mn-ea"/>
                        <a:cs typeface="+mn-cs"/>
                      </a:endParaRP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defRPr/>
                      </a:pPr>
                      <a:r>
                        <a:rPr lang="es-ES" sz="1600" b="0" i="0" u="none" strike="noStrike" kern="1200" dirty="0">
                          <a:solidFill>
                            <a:srgbClr val="000000"/>
                          </a:solidFill>
                          <a:effectLst/>
                          <a:latin typeface="+mn-lt"/>
                          <a:ea typeface="+mn-ea"/>
                          <a:cs typeface="+mn-cs"/>
                        </a:rPr>
                        <a:t>SPA </a:t>
                      </a:r>
                      <a:r>
                        <a:rPr lang="es-ES" sz="1600" b="0" i="0" u="none" strike="noStrike" kern="1200" dirty="0" err="1">
                          <a:solidFill>
                            <a:srgbClr val="000000"/>
                          </a:solidFill>
                          <a:effectLst/>
                          <a:latin typeface="+mn-lt"/>
                          <a:ea typeface="+mn-ea"/>
                          <a:cs typeface="+mn-cs"/>
                        </a:rPr>
                        <a:t>Hagase</a:t>
                      </a:r>
                      <a:r>
                        <a:rPr lang="es-ES" sz="1600" b="0" i="0" u="none" strike="noStrike" kern="1200" dirty="0">
                          <a:solidFill>
                            <a:srgbClr val="000000"/>
                          </a:solidFill>
                          <a:effectLst/>
                          <a:latin typeface="+mn-lt"/>
                          <a:ea typeface="+mn-ea"/>
                          <a:cs typeface="+mn-cs"/>
                        </a:rPr>
                        <a:t> Cliente 2.0</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0" i="0" u="none" strike="noStrike" kern="1200" dirty="0">
                          <a:solidFill>
                            <a:srgbClr val="000000"/>
                          </a:solidFill>
                          <a:effectLst/>
                          <a:latin typeface="+mn-lt"/>
                          <a:ea typeface="+mn-ea"/>
                          <a:cs typeface="+mn-cs"/>
                        </a:rPr>
                        <a:t>HTTPS</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s-ES" sz="1600" b="0" i="0" u="none" strike="noStrike" kern="1200" dirty="0">
                          <a:solidFill>
                            <a:srgbClr val="000000"/>
                          </a:solidFill>
                          <a:effectLst/>
                          <a:latin typeface="+mn-lt"/>
                          <a:ea typeface="+mn-ea"/>
                          <a:cs typeface="+mn-cs"/>
                        </a:rPr>
                        <a:t>Desde la aplicación de canal Portal web publica se integra  por webview las </a:t>
                      </a:r>
                      <a:r>
                        <a:rPr lang="es-ES" sz="1600" b="0" i="0" u="none" strike="noStrike" kern="1200" dirty="0" err="1">
                          <a:solidFill>
                            <a:srgbClr val="000000"/>
                          </a:solidFill>
                          <a:effectLst/>
                          <a:latin typeface="+mn-lt"/>
                          <a:ea typeface="+mn-ea"/>
                          <a:cs typeface="+mn-cs"/>
                        </a:rPr>
                        <a:t>SPAs</a:t>
                      </a:r>
                      <a:r>
                        <a:rPr lang="es-ES" sz="1600" b="0" i="0" u="none" strike="noStrike" kern="1200" dirty="0">
                          <a:solidFill>
                            <a:srgbClr val="000000"/>
                          </a:solidFill>
                          <a:effectLst/>
                          <a:latin typeface="+mn-lt"/>
                          <a:ea typeface="+mn-ea"/>
                          <a:cs typeface="+mn-cs"/>
                        </a:rPr>
                        <a:t> de </a:t>
                      </a:r>
                      <a:r>
                        <a:rPr lang="es-ES" sz="1600" b="0" i="0" u="none" strike="noStrike" kern="1200" dirty="0" err="1">
                          <a:solidFill>
                            <a:srgbClr val="000000"/>
                          </a:solidFill>
                          <a:effectLst/>
                          <a:latin typeface="+mn-lt"/>
                          <a:ea typeface="+mn-ea"/>
                          <a:cs typeface="+mn-cs"/>
                        </a:rPr>
                        <a:t>hagase</a:t>
                      </a:r>
                      <a:r>
                        <a:rPr lang="es-ES" sz="1600" b="0" i="0" u="none" strike="noStrike" kern="1200" dirty="0">
                          <a:solidFill>
                            <a:srgbClr val="000000"/>
                          </a:solidFill>
                          <a:effectLst/>
                          <a:latin typeface="+mn-lt"/>
                          <a:ea typeface="+mn-ea"/>
                          <a:cs typeface="+mn-cs"/>
                        </a:rPr>
                        <a:t> cliente. El token de seguridad es BKS que se guarda en el contexto de Web Publica.(*)</a:t>
                      </a:r>
                    </a:p>
                    <a:p>
                      <a:pPr marL="0" marR="0" lvl="0" indent="0" algn="l" defTabSz="914400" rtl="0" eaLnBrk="1" fontAlgn="ctr" latinLnBrk="0" hangingPunct="1">
                        <a:lnSpc>
                          <a:spcPct val="100000"/>
                        </a:lnSpc>
                        <a:spcBef>
                          <a:spcPts val="0"/>
                        </a:spcBef>
                        <a:spcAft>
                          <a:spcPts val="0"/>
                        </a:spcAft>
                        <a:buClrTx/>
                        <a:buSzTx/>
                        <a:buFontTx/>
                        <a:buNone/>
                        <a:tabLst/>
                        <a:defRPr/>
                      </a:pPr>
                      <a:r>
                        <a:rPr lang="es-ES" sz="1600" b="0" i="0" u="none" strike="noStrike" kern="1200" dirty="0">
                          <a:solidFill>
                            <a:srgbClr val="000000"/>
                          </a:solidFill>
                          <a:effectLst/>
                          <a:latin typeface="+mn-lt"/>
                          <a:ea typeface="+mn-ea"/>
                          <a:cs typeface="+mn-cs"/>
                        </a:rPr>
                        <a:t>Desde la aplicación nativa (IOS/Android) se integra mediante webview. El token de seguridad es BKS..</a:t>
                      </a:r>
                    </a:p>
                    <a:p>
                      <a:pPr marL="0" marR="0" lvl="0" indent="0" algn="l" defTabSz="914400" rtl="0" eaLnBrk="1" fontAlgn="ctr" latinLnBrk="0" hangingPunct="1">
                        <a:lnSpc>
                          <a:spcPct val="100000"/>
                        </a:lnSpc>
                        <a:spcBef>
                          <a:spcPts val="0"/>
                        </a:spcBef>
                        <a:spcAft>
                          <a:spcPts val="0"/>
                        </a:spcAft>
                        <a:buClrTx/>
                        <a:buSzTx/>
                        <a:buFontTx/>
                        <a:buNone/>
                        <a:tabLst/>
                        <a:defRPr/>
                      </a:pPr>
                      <a:r>
                        <a:rPr lang="es-ES" sz="1600" b="0" i="0" u="none" strike="noStrike" kern="1200" dirty="0">
                          <a:solidFill>
                            <a:srgbClr val="000000"/>
                          </a:solidFill>
                          <a:effectLst/>
                          <a:latin typeface="+mn-lt"/>
                          <a:ea typeface="+mn-ea"/>
                          <a:cs typeface="+mn-cs"/>
                        </a:rPr>
                        <a:t>Desde la SPA de HC 2.0 se integrará nuevo </a:t>
                      </a:r>
                      <a:r>
                        <a:rPr lang="es-ES" sz="1600" b="0" i="0" u="none" strike="noStrike" kern="1200" dirty="0" err="1">
                          <a:solidFill>
                            <a:srgbClr val="000000"/>
                          </a:solidFill>
                          <a:effectLst/>
                          <a:latin typeface="+mn-lt"/>
                          <a:ea typeface="+mn-ea"/>
                          <a:cs typeface="+mn-cs"/>
                        </a:rPr>
                        <a:t>Chatbot</a:t>
                      </a:r>
                      <a:r>
                        <a:rPr lang="es-ES" sz="1600" b="0" i="0" u="none" strike="noStrike" kern="1200" dirty="0">
                          <a:solidFill>
                            <a:srgbClr val="000000"/>
                          </a:solidFill>
                          <a:effectLst/>
                          <a:latin typeface="+mn-lt"/>
                          <a:ea typeface="+mn-ea"/>
                          <a:cs typeface="+mn-cs"/>
                        </a:rPr>
                        <a:t> de </a:t>
                      </a:r>
                      <a:r>
                        <a:rPr lang="es-ES" sz="1600" b="0" i="0" u="none" strike="noStrike" kern="1200" dirty="0" err="1">
                          <a:solidFill>
                            <a:srgbClr val="000000"/>
                          </a:solidFill>
                          <a:effectLst/>
                          <a:latin typeface="+mn-lt"/>
                          <a:ea typeface="+mn-ea"/>
                          <a:cs typeface="+mn-cs"/>
                        </a:rPr>
                        <a:t>Inbenta</a:t>
                      </a:r>
                      <a:r>
                        <a:rPr lang="es-ES" sz="1600" b="0" i="0" u="none" strike="noStrike" kern="1200" dirty="0">
                          <a:solidFill>
                            <a:srgbClr val="000000"/>
                          </a:solidFill>
                          <a:effectLst/>
                          <a:latin typeface="+mn-lt"/>
                          <a:ea typeface="+mn-ea"/>
                          <a:cs typeface="+mn-cs"/>
                        </a:rPr>
                        <a:t> a través de framework </a:t>
                      </a:r>
                      <a:r>
                        <a:rPr lang="es-ES" sz="1600" b="0" i="0" u="none" strike="noStrike" kern="1200" dirty="0" err="1">
                          <a:solidFill>
                            <a:srgbClr val="000000"/>
                          </a:solidFill>
                          <a:effectLst/>
                          <a:latin typeface="+mn-lt"/>
                          <a:ea typeface="+mn-ea"/>
                          <a:cs typeface="+mn-cs"/>
                        </a:rPr>
                        <a:t>javascript</a:t>
                      </a:r>
                      <a:r>
                        <a:rPr lang="es-ES" sz="1600" b="0" i="0" u="none" strike="noStrike" kern="1200" dirty="0">
                          <a:solidFill>
                            <a:srgbClr val="000000"/>
                          </a:solidFill>
                          <a:effectLst/>
                          <a:latin typeface="+mn-lt"/>
                          <a:ea typeface="+mn-ea"/>
                          <a:cs typeface="+mn-cs"/>
                        </a:rPr>
                        <a:t> que proporciona el fabricante.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6835419"/>
                  </a:ext>
                </a:extLst>
              </a:tr>
              <a:tr h="41711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defRPr/>
                      </a:pPr>
                      <a:r>
                        <a:rPr lang="es-ES" sz="1600" b="0" i="0" u="none" strike="noStrike" kern="1200" dirty="0">
                          <a:solidFill>
                            <a:srgbClr val="000000"/>
                          </a:solidFill>
                          <a:effectLst/>
                          <a:latin typeface="+mn-lt"/>
                          <a:ea typeface="+mn-ea"/>
                          <a:cs typeface="+mn-cs"/>
                        </a:rPr>
                        <a:t>SPA </a:t>
                      </a:r>
                      <a:r>
                        <a:rPr lang="es-ES" sz="1600" b="0" i="0" u="none" strike="noStrike" kern="1200" dirty="0" err="1">
                          <a:solidFill>
                            <a:srgbClr val="000000"/>
                          </a:solidFill>
                          <a:effectLst/>
                          <a:latin typeface="+mn-lt"/>
                          <a:ea typeface="+mn-ea"/>
                          <a:cs typeface="+mn-cs"/>
                        </a:rPr>
                        <a:t>Hagase</a:t>
                      </a:r>
                      <a:r>
                        <a:rPr lang="es-ES" sz="1600" b="0" i="0" u="none" strike="noStrike" kern="1200" dirty="0">
                          <a:solidFill>
                            <a:srgbClr val="000000"/>
                          </a:solidFill>
                          <a:effectLst/>
                          <a:latin typeface="+mn-lt"/>
                          <a:ea typeface="+mn-ea"/>
                          <a:cs typeface="+mn-cs"/>
                        </a:rPr>
                        <a:t> Cliente 2.0 (internet/intranet)</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defRPr/>
                      </a:pPr>
                      <a:r>
                        <a:rPr kumimoji="0" lang="es-ES" sz="1600" b="0" i="0" u="none" strike="noStrike" kern="1200" cap="none" spc="0" normalizeH="0" baseline="0" noProof="0" dirty="0">
                          <a:ln>
                            <a:noFill/>
                          </a:ln>
                          <a:solidFill>
                            <a:srgbClr val="000000"/>
                          </a:solidFill>
                          <a:effectLst/>
                          <a:uLnTx/>
                          <a:uFillTx/>
                          <a:latin typeface="+mn-lt"/>
                          <a:ea typeface="+mn-ea"/>
                          <a:cs typeface="+mn-cs"/>
                        </a:rPr>
                        <a:t>Gateway Darwin </a:t>
                      </a:r>
                      <a:r>
                        <a:rPr kumimoji="0" lang="es-ES" sz="1600" b="0" i="0" u="none" strike="noStrike" kern="1200" cap="none" spc="0" normalizeH="0" baseline="0" noProof="0" dirty="0" err="1">
                          <a:ln>
                            <a:noFill/>
                          </a:ln>
                          <a:solidFill>
                            <a:srgbClr val="000000"/>
                          </a:solidFill>
                          <a:effectLst/>
                          <a:uLnTx/>
                          <a:uFillTx/>
                          <a:latin typeface="+mn-lt"/>
                          <a:ea typeface="+mn-ea"/>
                          <a:cs typeface="+mn-cs"/>
                        </a:rPr>
                        <a:t>Experience</a:t>
                      </a:r>
                      <a:endParaRPr kumimoji="0" lang="es-ES" sz="16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ctr" defTabSz="914400" rtl="0" eaLnBrk="1" fontAlgn="ctr" latinLnBrk="0" hangingPunct="1">
                        <a:lnSpc>
                          <a:spcPct val="100000"/>
                        </a:lnSpc>
                        <a:spcBef>
                          <a:spcPct val="20000"/>
                        </a:spcBef>
                        <a:spcAft>
                          <a:spcPct val="0"/>
                        </a:spcAft>
                        <a:buClrTx/>
                        <a:buSzTx/>
                        <a:buFontTx/>
                        <a:buNone/>
                        <a:tabLst/>
                        <a:defRPr/>
                      </a:pPr>
                      <a:r>
                        <a:rPr kumimoji="0" lang="es-ES" sz="1600" b="0" i="0" u="none" strike="noStrike" kern="1200" cap="none" spc="0" normalizeH="0" baseline="0" noProof="0" dirty="0">
                          <a:ln>
                            <a:noFill/>
                          </a:ln>
                          <a:solidFill>
                            <a:srgbClr val="000000"/>
                          </a:solidFill>
                          <a:effectLst/>
                          <a:uLnTx/>
                          <a:uFillTx/>
                          <a:latin typeface="+mn-lt"/>
                          <a:ea typeface="+mn-ea"/>
                          <a:cs typeface="+mn-cs"/>
                        </a:rPr>
                        <a:t> </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0" i="0" u="none" strike="noStrike" kern="1200" dirty="0">
                          <a:solidFill>
                            <a:srgbClr val="000000"/>
                          </a:solidFill>
                          <a:effectLst/>
                          <a:latin typeface="+mn-lt"/>
                          <a:ea typeface="+mn-ea"/>
                          <a:cs typeface="+mn-cs"/>
                        </a:rPr>
                        <a:t>REST/JSON</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600" b="0" i="0" u="none" strike="noStrike" kern="1200" dirty="0">
                          <a:solidFill>
                            <a:srgbClr val="000000"/>
                          </a:solidFill>
                          <a:effectLst/>
                          <a:latin typeface="+mn-lt"/>
                          <a:ea typeface="+mn-ea"/>
                          <a:cs typeface="+mn-cs"/>
                        </a:rPr>
                        <a:t>Acceso a los microservicios de internet DMZ. Alta cliente orquestador para canal internet y alta tramitación orquestador para canal de </a:t>
                      </a:r>
                      <a:r>
                        <a:rPr lang="es-ES" sz="1600" b="0" i="0" u="none" strike="noStrike" kern="1200" dirty="0" err="1">
                          <a:solidFill>
                            <a:srgbClr val="000000"/>
                          </a:solidFill>
                          <a:effectLst/>
                          <a:latin typeface="+mn-lt"/>
                          <a:ea typeface="+mn-ea"/>
                          <a:cs typeface="+mn-cs"/>
                        </a:rPr>
                        <a:t>backoffice</a:t>
                      </a:r>
                      <a:r>
                        <a:rPr lang="es-ES" sz="1600" b="0" i="0" u="none" strike="noStrike" kern="1200" dirty="0">
                          <a:solidFill>
                            <a:srgbClr val="000000"/>
                          </a:solidFill>
                          <a:effectLst/>
                          <a:latin typeface="+mn-lt"/>
                          <a:ea typeface="+mn-ea"/>
                          <a:cs typeface="+mn-cs"/>
                        </a:rPr>
                        <a:t> cada uno a través de su correspondiente Api Gateway.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8189989"/>
                  </a:ext>
                </a:extLst>
              </a:tr>
              <a:tr h="450414">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rgbClr val="000000"/>
                          </a:solidFill>
                          <a:effectLst/>
                          <a:uLnTx/>
                          <a:uFillTx/>
                          <a:latin typeface="Calibri" panose="020F0502020204030204"/>
                          <a:ea typeface="+mn-ea"/>
                          <a:cs typeface="+mn-cs"/>
                        </a:rPr>
                        <a:t>Gateway Darwin </a:t>
                      </a:r>
                      <a:r>
                        <a:rPr kumimoji="0" lang="es-ES" sz="1600" b="0" i="0" u="none" strike="noStrike" kern="1200" cap="none" spc="0" normalizeH="0" baseline="0" noProof="0" dirty="0" err="1">
                          <a:ln>
                            <a:noFill/>
                          </a:ln>
                          <a:solidFill>
                            <a:srgbClr val="000000"/>
                          </a:solidFill>
                          <a:effectLst/>
                          <a:uLnTx/>
                          <a:uFillTx/>
                          <a:latin typeface="Calibri" panose="020F0502020204030204"/>
                          <a:ea typeface="+mn-ea"/>
                          <a:cs typeface="+mn-cs"/>
                        </a:rPr>
                        <a:t>Experience</a:t>
                      </a:r>
                      <a:endParaRPr kumimoji="0" lang="es-ES" sz="1600" b="0" i="0" u="none" strike="noStrike" kern="1200" cap="none" spc="0" normalizeH="0" baseline="0" noProof="0" dirty="0">
                        <a:ln>
                          <a:noFill/>
                        </a:ln>
                        <a:solidFill>
                          <a:srgbClr val="000000"/>
                        </a:solidFill>
                        <a:effectLst/>
                        <a:uLnTx/>
                        <a:uFillTx/>
                        <a:latin typeface="Calibri" panose="020F0502020204030204"/>
                        <a:ea typeface="+mn-ea"/>
                        <a:cs typeface="+mn-cs"/>
                      </a:endParaRP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0" i="0" u="none" strike="noStrike" kern="1200" dirty="0">
                          <a:solidFill>
                            <a:srgbClr val="000000"/>
                          </a:solidFill>
                          <a:effectLst/>
                          <a:latin typeface="+mn-lt"/>
                          <a:ea typeface="+mn-ea"/>
                          <a:cs typeface="+mn-cs"/>
                        </a:rPr>
                        <a:t>PaaS HC 2.0 </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0" i="0" u="none" strike="noStrike" kern="1200" dirty="0">
                          <a:solidFill>
                            <a:srgbClr val="000000"/>
                          </a:solidFill>
                          <a:effectLst/>
                          <a:latin typeface="+mn-lt"/>
                          <a:ea typeface="+mn-ea"/>
                          <a:cs typeface="+mn-cs"/>
                        </a:rPr>
                        <a:t>REST/JSON</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ct val="20000"/>
                        </a:spcBef>
                        <a:spcAft>
                          <a:spcPct val="0"/>
                        </a:spcAft>
                        <a:buClrTx/>
                        <a:buSzTx/>
                        <a:buFontTx/>
                        <a:buNone/>
                        <a:tabLst/>
                        <a:defRPr/>
                      </a:pPr>
                      <a:r>
                        <a:rPr lang="es-ES" sz="1600" b="0" i="0" u="none" strike="noStrike" kern="1200" dirty="0">
                          <a:solidFill>
                            <a:srgbClr val="000000"/>
                          </a:solidFill>
                          <a:effectLst/>
                          <a:latin typeface="+mn-lt"/>
                          <a:ea typeface="+mn-ea"/>
                          <a:cs typeface="+mn-cs"/>
                        </a:rPr>
                        <a:t>Acceso a microservicios de Backend Intranet  de </a:t>
                      </a:r>
                      <a:r>
                        <a:rPr lang="es-ES" sz="1600" b="0" i="0" u="none" strike="noStrike" kern="1200" dirty="0" err="1">
                          <a:solidFill>
                            <a:srgbClr val="000000"/>
                          </a:solidFill>
                          <a:effectLst/>
                          <a:latin typeface="+mn-lt"/>
                          <a:ea typeface="+mn-ea"/>
                          <a:cs typeface="+mn-cs"/>
                        </a:rPr>
                        <a:t>Hagase</a:t>
                      </a:r>
                      <a:r>
                        <a:rPr lang="es-ES" sz="1600" b="0" i="0" u="none" strike="noStrike" kern="1200" dirty="0">
                          <a:solidFill>
                            <a:srgbClr val="000000"/>
                          </a:solidFill>
                          <a:effectLst/>
                          <a:latin typeface="+mn-lt"/>
                          <a:ea typeface="+mn-ea"/>
                          <a:cs typeface="+mn-cs"/>
                        </a:rPr>
                        <a:t> Cliente. Son un total de 16 microservicios.</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4026052"/>
                  </a:ext>
                </a:extLst>
              </a:tr>
            </a:tbl>
          </a:graphicData>
        </a:graphic>
      </p:graphicFrame>
      <p:sp>
        <p:nvSpPr>
          <p:cNvPr id="2" name="Rectángulo 1">
            <a:extLst>
              <a:ext uri="{FF2B5EF4-FFF2-40B4-BE49-F238E27FC236}">
                <a16:creationId xmlns:a16="http://schemas.microsoft.com/office/drawing/2014/main" id="{4AF6FEC0-E67A-44B2-BE0A-6000F0038C50}"/>
              </a:ext>
            </a:extLst>
          </p:cNvPr>
          <p:cNvSpPr/>
          <p:nvPr/>
        </p:nvSpPr>
        <p:spPr>
          <a:xfrm>
            <a:off x="2006720" y="6120091"/>
            <a:ext cx="7466142" cy="261610"/>
          </a:xfrm>
          <a:prstGeom prst="rect">
            <a:avLst/>
          </a:prstGeom>
        </p:spPr>
        <p:txBody>
          <a:bodyPr wrap="square">
            <a:spAutoFit/>
          </a:bodyPr>
          <a:lstStyle/>
          <a:p>
            <a:pPr fontAlgn="ctr"/>
            <a:r>
              <a:rPr lang="es-ES" sz="1100" dirty="0">
                <a:solidFill>
                  <a:srgbClr val="000000"/>
                </a:solidFill>
              </a:rPr>
              <a:t>Nota: No es posible recuperar la infraestructura del SaaS de </a:t>
            </a:r>
            <a:r>
              <a:rPr lang="es-ES" sz="1100" dirty="0" err="1">
                <a:solidFill>
                  <a:srgbClr val="000000"/>
                </a:solidFill>
              </a:rPr>
              <a:t>Chatbot</a:t>
            </a:r>
            <a:r>
              <a:rPr lang="es-ES" sz="1100" dirty="0">
                <a:solidFill>
                  <a:srgbClr val="000000"/>
                </a:solidFill>
              </a:rPr>
              <a:t> de </a:t>
            </a:r>
            <a:r>
              <a:rPr lang="es-ES" sz="1100" dirty="0" err="1">
                <a:solidFill>
                  <a:srgbClr val="000000"/>
                </a:solidFill>
              </a:rPr>
              <a:t>Inbenta</a:t>
            </a:r>
            <a:r>
              <a:rPr lang="es-ES" sz="1100" dirty="0">
                <a:solidFill>
                  <a:srgbClr val="000000"/>
                </a:solidFill>
              </a:rPr>
              <a:t> ya que no lo permite el proveedor</a:t>
            </a:r>
            <a:endParaRPr lang="es-ES" sz="1100" dirty="0"/>
          </a:p>
        </p:txBody>
      </p:sp>
    </p:spTree>
    <p:extLst>
      <p:ext uri="{BB962C8B-B14F-4D97-AF65-F5344CB8AC3E}">
        <p14:creationId xmlns:p14="http://schemas.microsoft.com/office/powerpoint/2010/main" val="2923417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arcador de texto 1">
            <a:extLst>
              <a:ext uri="{FF2B5EF4-FFF2-40B4-BE49-F238E27FC236}">
                <a16:creationId xmlns:a16="http://schemas.microsoft.com/office/drawing/2014/main" id="{E6EC0FA8-14B6-42CA-8357-9E45D12256CF}"/>
              </a:ext>
            </a:extLst>
          </p:cNvPr>
          <p:cNvSpPr txBox="1">
            <a:spLocks/>
          </p:cNvSpPr>
          <p:nvPr/>
        </p:nvSpPr>
        <p:spPr>
          <a:xfrm>
            <a:off x="318094" y="0"/>
            <a:ext cx="10833365" cy="1279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dirty="0">
                <a:solidFill>
                  <a:srgbClr val="EB0000"/>
                </a:solidFill>
                <a:ea typeface="Segoe UI" panose="020B0502040204020203" pitchFamily="34" charset="0"/>
                <a:cs typeface="Segoe UI" panose="020B0502040204020203" pitchFamily="34" charset="0"/>
              </a:rPr>
              <a:t>Solución </a:t>
            </a:r>
            <a:r>
              <a:rPr lang="es-ES" sz="1400" b="1" dirty="0">
                <a:solidFill>
                  <a:srgbClr val="EB0000"/>
                </a:solidFill>
                <a:cs typeface="Segoe UI" panose="020B0502040204020203" pitchFamily="34" charset="0"/>
              </a:rPr>
              <a:t>técnica</a:t>
            </a:r>
          </a:p>
          <a:p>
            <a:pPr marL="0" indent="0">
              <a:spcBef>
                <a:spcPts val="300"/>
              </a:spcBef>
              <a:buNone/>
            </a:pPr>
            <a:r>
              <a:rPr lang="es-ES" altLang="es-ES" sz="1800" b="1" dirty="0">
                <a:solidFill>
                  <a:srgbClr val="EB0000"/>
                </a:solidFill>
                <a:cs typeface="Segoe UI" panose="020B0502040204020203" pitchFamily="34" charset="0"/>
              </a:rPr>
              <a:t>Interfaces entre Sistemas</a:t>
            </a:r>
            <a:endParaRPr lang="es-ES" sz="1800" b="1" dirty="0">
              <a:solidFill>
                <a:srgbClr val="EB0000"/>
              </a:solidFill>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19" name="Rectangle 55" descr="Ángulos">
            <a:extLst>
              <a:ext uri="{FF2B5EF4-FFF2-40B4-BE49-F238E27FC236}">
                <a16:creationId xmlns:a16="http://schemas.microsoft.com/office/drawing/2014/main" id="{B95F56D6-D4D4-4ACB-8C24-FD94FF480038}"/>
              </a:ext>
            </a:extLst>
          </p:cNvPr>
          <p:cNvSpPr>
            <a:spLocks noChangeArrowheads="1"/>
          </p:cNvSpPr>
          <p:nvPr/>
        </p:nvSpPr>
        <p:spPr bwMode="auto">
          <a:xfrm flipV="1">
            <a:off x="9313899" y="6476243"/>
            <a:ext cx="317927" cy="171450"/>
          </a:xfrm>
          <a:prstGeom prst="rect">
            <a:avLst/>
          </a:prstGeom>
          <a:noFill/>
          <a:ln>
            <a:noFill/>
          </a:ln>
          <a:effectLst>
            <a:prstShdw prst="shdw17" dist="17961" dir="2700000">
              <a:srgbClr val="990000"/>
            </a:prstShdw>
          </a:effectLst>
        </p:spPr>
        <p:txBody>
          <a:bodyPr rot="10800000"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spcBef>
                <a:spcPct val="0"/>
              </a:spcBef>
              <a:buClr>
                <a:schemeClr val="accent2"/>
              </a:buClr>
              <a:buFont typeface="Wingdings" panose="05000000000000000000" pitchFamily="2" charset="2"/>
              <a:buNone/>
            </a:pPr>
            <a:endParaRPr lang="es-ES" altLang="es-ES" sz="1108">
              <a:solidFill>
                <a:schemeClr val="tx1"/>
              </a:solidFill>
            </a:endParaRPr>
          </a:p>
        </p:txBody>
      </p:sp>
      <p:graphicFrame>
        <p:nvGraphicFramePr>
          <p:cNvPr id="6" name="Tabla 5">
            <a:extLst>
              <a:ext uri="{FF2B5EF4-FFF2-40B4-BE49-F238E27FC236}">
                <a16:creationId xmlns:a16="http://schemas.microsoft.com/office/drawing/2014/main" id="{4EA38692-9CEF-4E1D-A87C-C4E1793568D1}"/>
              </a:ext>
            </a:extLst>
          </p:cNvPr>
          <p:cNvGraphicFramePr>
            <a:graphicFrameLocks noGrp="1"/>
          </p:cNvGraphicFramePr>
          <p:nvPr>
            <p:extLst>
              <p:ext uri="{D42A27DB-BD31-4B8C-83A1-F6EECF244321}">
                <p14:modId xmlns:p14="http://schemas.microsoft.com/office/powerpoint/2010/main" val="1059600851"/>
              </p:ext>
            </p:extLst>
          </p:nvPr>
        </p:nvGraphicFramePr>
        <p:xfrm>
          <a:off x="318094" y="639512"/>
          <a:ext cx="11555812" cy="5125183"/>
        </p:xfrm>
        <a:graphic>
          <a:graphicData uri="http://schemas.openxmlformats.org/drawingml/2006/table">
            <a:tbl>
              <a:tblPr/>
              <a:tblGrid>
                <a:gridCol w="476440">
                  <a:extLst>
                    <a:ext uri="{9D8B030D-6E8A-4147-A177-3AD203B41FA5}">
                      <a16:colId xmlns:a16="http://schemas.microsoft.com/office/drawing/2014/main" val="1679333959"/>
                    </a:ext>
                  </a:extLst>
                </a:gridCol>
                <a:gridCol w="1419277">
                  <a:extLst>
                    <a:ext uri="{9D8B030D-6E8A-4147-A177-3AD203B41FA5}">
                      <a16:colId xmlns:a16="http://schemas.microsoft.com/office/drawing/2014/main" val="132562875"/>
                    </a:ext>
                  </a:extLst>
                </a:gridCol>
                <a:gridCol w="2550694">
                  <a:extLst>
                    <a:ext uri="{9D8B030D-6E8A-4147-A177-3AD203B41FA5}">
                      <a16:colId xmlns:a16="http://schemas.microsoft.com/office/drawing/2014/main" val="3962172061"/>
                    </a:ext>
                  </a:extLst>
                </a:gridCol>
                <a:gridCol w="1235242">
                  <a:extLst>
                    <a:ext uri="{9D8B030D-6E8A-4147-A177-3AD203B41FA5}">
                      <a16:colId xmlns:a16="http://schemas.microsoft.com/office/drawing/2014/main" val="1121885685"/>
                    </a:ext>
                  </a:extLst>
                </a:gridCol>
                <a:gridCol w="5874159">
                  <a:extLst>
                    <a:ext uri="{9D8B030D-6E8A-4147-A177-3AD203B41FA5}">
                      <a16:colId xmlns:a16="http://schemas.microsoft.com/office/drawing/2014/main" val="2098101776"/>
                    </a:ext>
                  </a:extLst>
                </a:gridCol>
              </a:tblGrid>
              <a:tr h="38930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Num.</a:t>
                      </a:r>
                    </a:p>
                    <a:p>
                      <a:pPr algn="ctr" fontAlgn="ctr"/>
                      <a:r>
                        <a:rPr lang="es-ES" sz="1400" b="1" i="0" u="none" strike="noStrike" dirty="0">
                          <a:solidFill>
                            <a:srgbClr val="FFFFFF"/>
                          </a:solidFill>
                          <a:effectLst/>
                          <a:latin typeface="+mj-lt"/>
                        </a:rPr>
                        <a:t> Id.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Origen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Destino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Protocolo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Observaciones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2590006"/>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90" rtl="0" eaLnBrk="1" fontAlgn="auto" latinLnBrk="0" hangingPunct="1">
                        <a:lnSpc>
                          <a:spcPct val="100000"/>
                        </a:lnSpc>
                        <a:spcBef>
                          <a:spcPts val="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BKS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kumimoji="0" lang="es-ES" sz="1200" b="0" i="0" u="none" strike="noStrike" cap="none" normalizeH="0" baseline="0" dirty="0">
                          <a:ln>
                            <a:noFill/>
                          </a:ln>
                          <a:solidFill>
                            <a:schemeClr val="tx1"/>
                          </a:solidFill>
                          <a:effectLst/>
                          <a:latin typeface="Arial" charset="0"/>
                        </a:rPr>
                        <a:t>Protocolo: </a:t>
                      </a:r>
                      <a:r>
                        <a:rPr kumimoji="0" lang="es-ES" sz="1200" b="0" i="0" u="none" strike="noStrike" kern="1200" cap="none" normalizeH="0" baseline="0" dirty="0">
                          <a:ln>
                            <a:noFill/>
                          </a:ln>
                          <a:solidFill>
                            <a:schemeClr val="tx1"/>
                          </a:solidFill>
                          <a:effectLst/>
                          <a:latin typeface="Arial" charset="0"/>
                          <a:ea typeface="+mn-ea"/>
                          <a:cs typeface="+mn-cs"/>
                        </a:rPr>
                        <a:t>https</a:t>
                      </a:r>
                      <a:endParaRPr kumimoji="0" lang="es-ES" sz="12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390" rtl="0" eaLnBrk="1" fontAlgn="auto" latinLnBrk="0" hangingPunct="1">
                        <a:lnSpc>
                          <a:spcPct val="100000"/>
                        </a:lnSpc>
                        <a:spcBef>
                          <a:spcPts val="0"/>
                        </a:spcBef>
                        <a:spcAft>
                          <a:spcPts val="0"/>
                        </a:spcAft>
                        <a:buClrTx/>
                        <a:buSzTx/>
                        <a:buFontTx/>
                        <a:buNone/>
                        <a:tabLst/>
                        <a:defRPr/>
                      </a:pPr>
                      <a:r>
                        <a:rPr kumimoji="0" lang="es-ES" sz="1200" b="0" i="0" u="none" strike="noStrike" kern="1200" cap="none" normalizeH="0" baseline="0" dirty="0">
                          <a:ln>
                            <a:noFill/>
                          </a:ln>
                          <a:solidFill>
                            <a:schemeClr val="tx1"/>
                          </a:solidFill>
                          <a:effectLst/>
                          <a:latin typeface="Arial" charset="0"/>
                          <a:ea typeface="+mn-ea"/>
                          <a:cs typeface="+mn-cs"/>
                        </a:rPr>
                        <a:t>Desde los diferentes micros del PaaS se accederá a los diferentes servicios BKS:</a:t>
                      </a:r>
                    </a:p>
                    <a:p>
                      <a:pPr marL="0" marR="0" indent="0" algn="l" defTabSz="914390" rtl="0" eaLnBrk="1" fontAlgn="auto" latinLnBrk="0" hangingPunct="1">
                        <a:lnSpc>
                          <a:spcPct val="100000"/>
                        </a:lnSpc>
                        <a:spcBef>
                          <a:spcPts val="0"/>
                        </a:spcBef>
                        <a:spcAft>
                          <a:spcPts val="0"/>
                        </a:spcAft>
                        <a:buClrTx/>
                        <a:buSzTx/>
                        <a:buFontTx/>
                        <a:buNone/>
                        <a:tabLst/>
                        <a:defRPr/>
                      </a:pPr>
                      <a:r>
                        <a:rPr kumimoji="0" lang="es-ES" sz="1200" b="0" i="0" u="none" strike="noStrike" kern="1200" cap="none" normalizeH="0" baseline="0" dirty="0">
                          <a:ln>
                            <a:noFill/>
                          </a:ln>
                          <a:solidFill>
                            <a:schemeClr val="tx1"/>
                          </a:solidFill>
                          <a:effectLst/>
                          <a:latin typeface="Arial" charset="0"/>
                          <a:ea typeface="+mn-ea"/>
                          <a:cs typeface="+mn-cs"/>
                        </a:rPr>
                        <a:t>-   </a:t>
                      </a:r>
                      <a:r>
                        <a:rPr kumimoji="0" lang="es-ES" sz="1200" b="0" i="0" u="none" strike="noStrike" kern="1200" cap="none" normalizeH="0" baseline="0" dirty="0">
                          <a:ln>
                            <a:noFill/>
                          </a:ln>
                          <a:solidFill>
                            <a:schemeClr val="tx1"/>
                          </a:solidFill>
                          <a:effectLst/>
                          <a:latin typeface="Arial" charset="0"/>
                          <a:ea typeface="+mn-ea"/>
                          <a:cs typeface="+mn-cs"/>
                          <a:sym typeface="Wingdings" panose="05000000000000000000" pitchFamily="2" charset="2"/>
                        </a:rPr>
                        <a:t>Alta Productos -&gt;  </a:t>
                      </a:r>
                      <a:r>
                        <a:rPr kumimoji="0" lang="es-ES" sz="1200" b="0" i="0" u="none" strike="noStrike" kern="1200" cap="none" normalizeH="0" baseline="0" dirty="0" err="1">
                          <a:ln>
                            <a:noFill/>
                          </a:ln>
                          <a:solidFill>
                            <a:schemeClr val="tx1"/>
                          </a:solidFill>
                          <a:effectLst/>
                          <a:latin typeface="Arial" charset="0"/>
                          <a:ea typeface="+mn-ea"/>
                          <a:cs typeface="+mn-cs"/>
                          <a:sym typeface="Wingdings" panose="05000000000000000000" pitchFamily="2" charset="2"/>
                        </a:rPr>
                        <a:t>FiOC</a:t>
                      </a:r>
                      <a:r>
                        <a:rPr kumimoji="0" lang="es-ES" sz="1200" b="0" i="0" u="none" strike="noStrike" kern="1200" cap="none" normalizeH="0" baseline="0" dirty="0">
                          <a:ln>
                            <a:noFill/>
                          </a:ln>
                          <a:solidFill>
                            <a:schemeClr val="tx1"/>
                          </a:solidFill>
                          <a:effectLst/>
                          <a:latin typeface="Arial" charset="0"/>
                          <a:ea typeface="+mn-ea"/>
                          <a:cs typeface="+mn-cs"/>
                          <a:sym typeface="Wingdings" panose="05000000000000000000" pitchFamily="2" charset="2"/>
                        </a:rPr>
                        <a:t>.</a:t>
                      </a:r>
                    </a:p>
                    <a:p>
                      <a:pPr marL="0" marR="0" indent="0" algn="l" defTabSz="914390" rtl="0" eaLnBrk="1" fontAlgn="auto" latinLnBrk="0" hangingPunct="1">
                        <a:lnSpc>
                          <a:spcPct val="100000"/>
                        </a:lnSpc>
                        <a:spcBef>
                          <a:spcPts val="0"/>
                        </a:spcBef>
                        <a:spcAft>
                          <a:spcPts val="0"/>
                        </a:spcAft>
                        <a:buClrTx/>
                        <a:buSzTx/>
                        <a:buFontTx/>
                        <a:buNone/>
                        <a:tabLst/>
                        <a:defRPr/>
                      </a:pPr>
                      <a:r>
                        <a:rPr kumimoji="0" lang="es-ES" sz="1200" b="0" i="0" u="none" strike="noStrike" kern="1200" cap="none" normalizeH="0" baseline="0" dirty="0">
                          <a:ln>
                            <a:noFill/>
                          </a:ln>
                          <a:solidFill>
                            <a:schemeClr val="tx1"/>
                          </a:solidFill>
                          <a:effectLst/>
                          <a:latin typeface="Arial" charset="0"/>
                          <a:ea typeface="+mn-ea"/>
                          <a:cs typeface="+mn-cs"/>
                        </a:rPr>
                        <a:t>-   Pagos-&gt;Pagos</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Producto tramitación-&gt;  MPDEES.</a:t>
                      </a:r>
                    </a:p>
                    <a:p>
                      <a:pPr marL="0" marR="0" indent="0" algn="l" defTabSz="914390" rtl="0" eaLnBrk="1" fontAlgn="auto" latinLnBrk="0" hangingPunct="1">
                        <a:lnSpc>
                          <a:spcPct val="100000"/>
                        </a:lnSpc>
                        <a:spcBef>
                          <a:spcPts val="0"/>
                        </a:spcBef>
                        <a:spcAft>
                          <a:spcPts val="0"/>
                        </a:spcAft>
                        <a:buClrTx/>
                        <a:buSzTx/>
                        <a:buFontTx/>
                        <a:buNone/>
                        <a:tabLst/>
                        <a:defRPr/>
                      </a:pPr>
                      <a:r>
                        <a:rPr kumimoji="0" lang="es-ES" sz="1200" b="0" i="0" u="none" strike="noStrike" kern="1200" cap="none" normalizeH="0" baseline="0" dirty="0">
                          <a:ln>
                            <a:noFill/>
                          </a:ln>
                          <a:solidFill>
                            <a:schemeClr val="tx1"/>
                          </a:solidFill>
                          <a:effectLst/>
                          <a:latin typeface="Arial" charset="0"/>
                          <a:ea typeface="+mn-ea"/>
                          <a:cs typeface="+mn-cs"/>
                        </a:rPr>
                        <a:t>En versiones posteriores se sustituirán estos BKS por micros en el PaaS.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2895803"/>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90" rtl="0" eaLnBrk="1" fontAlgn="auto" latinLnBrk="0" hangingPunct="1">
                        <a:lnSpc>
                          <a:spcPct val="100000"/>
                        </a:lnSpc>
                        <a:spcBef>
                          <a:spcPts val="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kumimoji="0" lang="es-ES" sz="1200" b="0" i="0" u="none" strike="noStrike" cap="none" normalizeH="0" baseline="0" dirty="0">
                          <a:ln>
                            <a:noFill/>
                          </a:ln>
                          <a:solidFill>
                            <a:schemeClr val="tx1"/>
                          </a:solidFill>
                          <a:effectLst/>
                          <a:latin typeface="Arial" charset="0"/>
                        </a:rPr>
                        <a:t>Protocolo: </a:t>
                      </a:r>
                      <a:r>
                        <a:rPr kumimoji="0" lang="es-ES" sz="1200" b="0" i="0" u="none" strike="noStrike" kern="1200" cap="none" normalizeH="0" baseline="0" dirty="0">
                          <a:ln>
                            <a:noFill/>
                          </a:ln>
                          <a:solidFill>
                            <a:schemeClr val="tx1"/>
                          </a:solidFill>
                          <a:effectLst/>
                          <a:latin typeface="Arial" charset="0"/>
                          <a:ea typeface="+mn-ea"/>
                          <a:cs typeface="+mn-cs"/>
                        </a:rPr>
                        <a:t>rest/json</a:t>
                      </a:r>
                      <a:endParaRPr kumimoji="0" lang="es-ES" sz="12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390" rtl="0" eaLnBrk="1" fontAlgn="auto" latinLnBrk="0" hangingPunct="1">
                        <a:lnSpc>
                          <a:spcPct val="100000"/>
                        </a:lnSpc>
                        <a:spcBef>
                          <a:spcPts val="0"/>
                        </a:spcBef>
                        <a:spcAft>
                          <a:spcPts val="0"/>
                        </a:spcAft>
                        <a:buClrTx/>
                        <a:buSzTx/>
                        <a:buFontTx/>
                        <a:buNone/>
                        <a:tabLst/>
                        <a:defRPr/>
                      </a:pPr>
                      <a:r>
                        <a:rPr kumimoji="0" lang="es-ES" sz="1200" b="0" i="0" u="none" strike="noStrike" kern="1200" cap="none" normalizeH="0" baseline="0" dirty="0">
                          <a:ln>
                            <a:noFill/>
                          </a:ln>
                          <a:solidFill>
                            <a:schemeClr val="tx1"/>
                          </a:solidFill>
                          <a:effectLst/>
                          <a:latin typeface="Arial" charset="0"/>
                          <a:ea typeface="+mn-ea"/>
                          <a:cs typeface="+mn-cs"/>
                        </a:rPr>
                        <a:t>Comunicación entre micros del propio PaaS sin dependencias externas:</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Micro alta cliente orquestador. Orquesta las llamadas al resto de micros en la parte de </a:t>
                      </a:r>
                      <a:r>
                        <a:rPr kumimoji="0" lang="es-ES" sz="1200" b="0" i="0" u="none" strike="noStrike" kern="1200" cap="none" normalizeH="0" baseline="0" dirty="0" err="1">
                          <a:ln>
                            <a:noFill/>
                          </a:ln>
                          <a:solidFill>
                            <a:schemeClr val="tx1"/>
                          </a:solidFill>
                          <a:effectLst/>
                          <a:latin typeface="Arial" charset="0"/>
                          <a:ea typeface="+mn-ea"/>
                          <a:cs typeface="+mn-cs"/>
                        </a:rPr>
                        <a:t>Onbarding</a:t>
                      </a:r>
                      <a:r>
                        <a:rPr kumimoji="0" lang="es-ES" sz="1200" b="0" i="0" u="none" strike="noStrike" kern="1200" cap="none" normalizeH="0" baseline="0" dirty="0">
                          <a:ln>
                            <a:noFill/>
                          </a:ln>
                          <a:solidFill>
                            <a:schemeClr val="tx1"/>
                          </a:solidFill>
                          <a:effectLst/>
                          <a:latin typeface="Arial" charset="0"/>
                          <a:ea typeface="+mn-ea"/>
                          <a:cs typeface="+mn-cs"/>
                        </a:rPr>
                        <a:t>.</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Micro alta tramitación orquestador. . Orquesta las llamadas al resto de micros en la parte de </a:t>
                      </a:r>
                      <a:r>
                        <a:rPr kumimoji="0" lang="es-ES" sz="1200" b="0" i="0" u="none" strike="noStrike" kern="1200" cap="none" normalizeH="0" baseline="0" dirty="0" err="1">
                          <a:ln>
                            <a:noFill/>
                          </a:ln>
                          <a:solidFill>
                            <a:schemeClr val="tx1"/>
                          </a:solidFill>
                          <a:effectLst/>
                          <a:latin typeface="Arial" charset="0"/>
                          <a:ea typeface="+mn-ea"/>
                          <a:cs typeface="+mn-cs"/>
                        </a:rPr>
                        <a:t>Backoffice</a:t>
                      </a:r>
                      <a:r>
                        <a:rPr kumimoji="0" lang="es-ES" sz="1200" b="0" i="0" u="none" strike="noStrike" kern="1200" cap="none" normalizeH="0" baseline="0" dirty="0">
                          <a:ln>
                            <a:noFill/>
                          </a:ln>
                          <a:solidFill>
                            <a:schemeClr val="tx1"/>
                          </a:solidFill>
                          <a:effectLst/>
                          <a:latin typeface="Arial" charset="0"/>
                          <a:ea typeface="+mn-ea"/>
                          <a:cs typeface="+mn-cs"/>
                        </a:rPr>
                        <a:t>.</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Micro expediente </a:t>
                      </a:r>
                      <a:r>
                        <a:rPr kumimoji="0" lang="es-ES" sz="1200" b="0" i="0" u="none" strike="noStrike" kern="1200" cap="none" normalizeH="0" baseline="0" dirty="0" err="1">
                          <a:ln>
                            <a:noFill/>
                          </a:ln>
                          <a:solidFill>
                            <a:schemeClr val="tx1"/>
                          </a:solidFill>
                          <a:effectLst/>
                          <a:latin typeface="Arial" charset="0"/>
                          <a:ea typeface="+mn-ea"/>
                          <a:cs typeface="+mn-cs"/>
                        </a:rPr>
                        <a:t>write</a:t>
                      </a:r>
                      <a:r>
                        <a:rPr kumimoji="0" lang="es-ES" sz="1200" b="0" i="0" u="none" strike="noStrike" kern="1200" cap="none" normalizeH="0" baseline="0" dirty="0">
                          <a:ln>
                            <a:noFill/>
                          </a:ln>
                          <a:solidFill>
                            <a:schemeClr val="tx1"/>
                          </a:solidFill>
                          <a:effectLst/>
                          <a:latin typeface="Arial" charset="0"/>
                          <a:ea typeface="+mn-ea"/>
                          <a:cs typeface="+mn-cs"/>
                        </a:rPr>
                        <a:t>. Aplica patrón CQRS para escritura. Gestiona el acceso de BD de la operativa.  </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Micro expediente </a:t>
                      </a:r>
                      <a:r>
                        <a:rPr kumimoji="0" lang="es-ES" sz="1200" b="0" i="0" u="none" strike="noStrike" kern="1200" cap="none" normalizeH="0" baseline="0" dirty="0" err="1">
                          <a:ln>
                            <a:noFill/>
                          </a:ln>
                          <a:solidFill>
                            <a:schemeClr val="tx1"/>
                          </a:solidFill>
                          <a:effectLst/>
                          <a:latin typeface="Arial" charset="0"/>
                          <a:ea typeface="+mn-ea"/>
                          <a:cs typeface="+mn-cs"/>
                        </a:rPr>
                        <a:t>read</a:t>
                      </a:r>
                      <a:r>
                        <a:rPr kumimoji="0" lang="es-ES" sz="1200" b="0" i="0" u="none" strike="noStrike" kern="1200" cap="none" normalizeH="0" baseline="0" dirty="0">
                          <a:ln>
                            <a:noFill/>
                          </a:ln>
                          <a:solidFill>
                            <a:schemeClr val="tx1"/>
                          </a:solidFill>
                          <a:effectLst/>
                          <a:latin typeface="Arial" charset="0"/>
                          <a:ea typeface="+mn-ea"/>
                          <a:cs typeface="+mn-cs"/>
                        </a:rPr>
                        <a:t>. Aplica patrón CQRS para lectura. Gestiona el acceso de BD de la operativa. </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3115856"/>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90" rtl="0" eaLnBrk="1" fontAlgn="auto" latinLnBrk="0" hangingPunct="1">
                        <a:lnSpc>
                          <a:spcPct val="100000"/>
                        </a:lnSpc>
                        <a:spcBef>
                          <a:spcPts val="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Servicios Externos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kumimoji="0" lang="es-ES" sz="1200" b="0" i="0" u="none" strike="noStrike" cap="none" normalizeH="0" baseline="0" dirty="0">
                          <a:ln>
                            <a:noFill/>
                          </a:ln>
                          <a:solidFill>
                            <a:schemeClr val="tx1"/>
                          </a:solidFill>
                          <a:effectLst/>
                          <a:latin typeface="Arial" charset="0"/>
                        </a:rPr>
                        <a:t>Protocolo: </a:t>
                      </a:r>
                      <a:r>
                        <a:rPr kumimoji="0" lang="es-ES" sz="1200" b="0" i="0" u="none" strike="noStrike" kern="1200" cap="none" normalizeH="0" baseline="0" dirty="0">
                          <a:ln>
                            <a:noFill/>
                          </a:ln>
                          <a:solidFill>
                            <a:schemeClr val="tx1"/>
                          </a:solidFill>
                          <a:effectLst/>
                          <a:latin typeface="Arial" charset="0"/>
                          <a:ea typeface="+mn-ea"/>
                          <a:cs typeface="+mn-cs"/>
                        </a:rPr>
                        <a:t>https</a:t>
                      </a:r>
                      <a:endParaRPr kumimoji="0" lang="es-ES" sz="12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390" rtl="0" eaLnBrk="1" fontAlgn="auto" latinLnBrk="0" hangingPunct="1">
                        <a:lnSpc>
                          <a:spcPct val="100000"/>
                        </a:lnSpc>
                        <a:spcBef>
                          <a:spcPts val="0"/>
                        </a:spcBef>
                        <a:spcAft>
                          <a:spcPts val="0"/>
                        </a:spcAft>
                        <a:buClrTx/>
                        <a:buSzTx/>
                        <a:buFontTx/>
                        <a:buNone/>
                        <a:tabLst/>
                        <a:defRPr/>
                      </a:pPr>
                      <a:r>
                        <a:rPr kumimoji="0" lang="es-ES" sz="1200" b="0" i="0" u="none" strike="noStrike" kern="1200" cap="none" normalizeH="0" baseline="0" dirty="0">
                          <a:ln>
                            <a:noFill/>
                          </a:ln>
                          <a:solidFill>
                            <a:schemeClr val="tx1"/>
                          </a:solidFill>
                          <a:effectLst/>
                          <a:latin typeface="Arial" charset="0"/>
                          <a:ea typeface="+mn-ea"/>
                          <a:cs typeface="+mn-cs"/>
                        </a:rPr>
                        <a:t>Comunicación entre micros del propio PaaS y servicios externos internet:</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Micro acceso a Google </a:t>
                      </a:r>
                      <a:r>
                        <a:rPr kumimoji="0" lang="es-ES" sz="1200" b="0" i="0" u="none" strike="noStrike" kern="1200" cap="none" normalizeH="0" baseline="0" dirty="0" err="1">
                          <a:ln>
                            <a:noFill/>
                          </a:ln>
                          <a:solidFill>
                            <a:schemeClr val="tx1"/>
                          </a:solidFill>
                          <a:effectLst/>
                          <a:latin typeface="Arial" charset="0"/>
                          <a:ea typeface="+mn-ea"/>
                          <a:cs typeface="+mn-cs"/>
                        </a:rPr>
                        <a:t>maps</a:t>
                      </a:r>
                      <a:r>
                        <a:rPr kumimoji="0" lang="es-ES" sz="1200" b="0" i="0" u="none" strike="noStrike" kern="1200" cap="none" normalizeH="0" baseline="0" dirty="0">
                          <a:ln>
                            <a:noFill/>
                          </a:ln>
                          <a:solidFill>
                            <a:schemeClr val="tx1"/>
                          </a:solidFill>
                          <a:effectLst/>
                          <a:latin typeface="Arial" charset="0"/>
                          <a:ea typeface="+mn-ea"/>
                          <a:cs typeface="+mn-cs"/>
                        </a:rPr>
                        <a:t>. Se invoca directamente desde Angular Front.</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Micro de acceso a confirma</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Micro OCR. Servicio </a:t>
                      </a:r>
                      <a:r>
                        <a:rPr kumimoji="0" lang="es-ES" sz="1200" b="0" i="0" u="none" strike="noStrike" kern="1200" cap="none" normalizeH="0" baseline="0" dirty="0" err="1">
                          <a:ln>
                            <a:noFill/>
                          </a:ln>
                          <a:solidFill>
                            <a:schemeClr val="tx1"/>
                          </a:solidFill>
                          <a:effectLst/>
                          <a:latin typeface="Arial" charset="0"/>
                          <a:ea typeface="+mn-ea"/>
                          <a:cs typeface="+mn-cs"/>
                        </a:rPr>
                        <a:t>Broker</a:t>
                      </a:r>
                      <a:r>
                        <a:rPr kumimoji="0" lang="es-ES" sz="1200" b="0" i="0" u="none" strike="noStrike" kern="1200" cap="none" normalizeH="0" baseline="0" dirty="0">
                          <a:ln>
                            <a:noFill/>
                          </a:ln>
                          <a:solidFill>
                            <a:schemeClr val="tx1"/>
                          </a:solidFill>
                          <a:effectLst/>
                          <a:latin typeface="Arial" charset="0"/>
                          <a:ea typeface="+mn-ea"/>
                          <a:cs typeface="+mn-cs"/>
                        </a:rPr>
                        <a:t> OCR que se encarga de “distribuir el trabajo” entre los diferentes proveedores en base a la naturaleza de los documentos a escanear. Con esta solución el consumidor se desacopla del proveedor. (REF 12).EN el AS IS se va a utilizar el servicio de OCR de HC1.</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3554985"/>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90" rtl="0" eaLnBrk="1" fontAlgn="auto" latinLnBrk="0" hangingPunct="1">
                        <a:lnSpc>
                          <a:spcPct val="100000"/>
                        </a:lnSpc>
                        <a:spcBef>
                          <a:spcPts val="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Servicio de Correo (Hub de comunicaciones)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kumimoji="0" lang="es-ES" sz="1200" b="0" i="0" u="none" strike="noStrike" cap="none" normalizeH="0" baseline="0" dirty="0">
                          <a:ln>
                            <a:noFill/>
                          </a:ln>
                          <a:solidFill>
                            <a:schemeClr val="tx1"/>
                          </a:solidFill>
                          <a:effectLst/>
                          <a:latin typeface="Arial" charset="0"/>
                        </a:rPr>
                        <a:t>Protocolo: </a:t>
                      </a:r>
                      <a:r>
                        <a:rPr kumimoji="0" lang="es-ES" sz="1200" b="0" i="0" u="none" strike="noStrike" kern="1200" cap="none" normalizeH="0" baseline="0" dirty="0">
                          <a:ln>
                            <a:noFill/>
                          </a:ln>
                          <a:solidFill>
                            <a:schemeClr val="tx1"/>
                          </a:solidFill>
                          <a:effectLst/>
                          <a:latin typeface="Arial" charset="0"/>
                          <a:ea typeface="+mn-ea"/>
                          <a:cs typeface="+mn-cs"/>
                        </a:rPr>
                        <a:t>https</a:t>
                      </a:r>
                      <a:endParaRPr kumimoji="0" lang="es-ES" sz="12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390" rtl="0" eaLnBrk="1" fontAlgn="auto" latinLnBrk="0" hangingPunct="1">
                        <a:lnSpc>
                          <a:spcPct val="100000"/>
                        </a:lnSpc>
                        <a:spcBef>
                          <a:spcPts val="0"/>
                        </a:spcBef>
                        <a:spcAft>
                          <a:spcPts val="0"/>
                        </a:spcAft>
                        <a:buClrTx/>
                        <a:buSzTx/>
                        <a:buFontTx/>
                        <a:buNone/>
                        <a:tabLst/>
                        <a:defRPr/>
                      </a:pPr>
                      <a:r>
                        <a:rPr kumimoji="0" lang="es-ES" sz="1200" b="0" i="0" u="none" strike="noStrike" kern="1200" cap="none" normalizeH="0" baseline="0" dirty="0">
                          <a:ln>
                            <a:noFill/>
                          </a:ln>
                          <a:solidFill>
                            <a:schemeClr val="tx1"/>
                          </a:solidFill>
                          <a:effectLst/>
                          <a:latin typeface="Arial" charset="0"/>
                          <a:ea typeface="+mn-ea"/>
                          <a:cs typeface="+mn-cs"/>
                        </a:rPr>
                        <a:t>Comunicación entre micros del propio PaaS y el Hub de Comunicaciones para envío de email.</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5337872"/>
                  </a:ext>
                </a:extLst>
              </a:tr>
            </a:tbl>
          </a:graphicData>
        </a:graphic>
      </p:graphicFrame>
    </p:spTree>
    <p:extLst>
      <p:ext uri="{BB962C8B-B14F-4D97-AF65-F5344CB8AC3E}">
        <p14:creationId xmlns:p14="http://schemas.microsoft.com/office/powerpoint/2010/main" val="1428542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arcador de texto 1">
            <a:extLst>
              <a:ext uri="{FF2B5EF4-FFF2-40B4-BE49-F238E27FC236}">
                <a16:creationId xmlns:a16="http://schemas.microsoft.com/office/drawing/2014/main" id="{E6EC0FA8-14B6-42CA-8357-9E45D12256CF}"/>
              </a:ext>
            </a:extLst>
          </p:cNvPr>
          <p:cNvSpPr txBox="1">
            <a:spLocks/>
          </p:cNvSpPr>
          <p:nvPr/>
        </p:nvSpPr>
        <p:spPr>
          <a:xfrm>
            <a:off x="632930" y="294942"/>
            <a:ext cx="10833365" cy="1279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a:solidFill>
                  <a:srgbClr val="EB0000"/>
                </a:solidFill>
                <a:ea typeface="Segoe UI" panose="020B0502040204020203" pitchFamily="34" charset="0"/>
                <a:cs typeface="Segoe UI" panose="020B0502040204020203" pitchFamily="34" charset="0"/>
              </a:rPr>
              <a:t>Solución </a:t>
            </a:r>
            <a:r>
              <a:rPr lang="es-ES" sz="1400" b="1">
                <a:solidFill>
                  <a:srgbClr val="EB0000"/>
                </a:solidFill>
                <a:cs typeface="Segoe UI" panose="020B0502040204020203" pitchFamily="34" charset="0"/>
              </a:rPr>
              <a:t>técnica</a:t>
            </a:r>
          </a:p>
          <a:p>
            <a:pPr marL="0" indent="0">
              <a:spcBef>
                <a:spcPts val="300"/>
              </a:spcBef>
              <a:buNone/>
            </a:pPr>
            <a:r>
              <a:rPr lang="es-ES" altLang="es-ES" sz="1800" b="1">
                <a:solidFill>
                  <a:srgbClr val="EB0000"/>
                </a:solidFill>
                <a:cs typeface="Segoe UI" panose="020B0502040204020203" pitchFamily="34" charset="0"/>
              </a:rPr>
              <a:t>Interfaces entre Sistemas</a:t>
            </a:r>
            <a:endParaRPr lang="es-ES" sz="1800" b="1">
              <a:solidFill>
                <a:srgbClr val="EB0000"/>
              </a:solidFill>
              <a:cs typeface="Segoe UI" panose="020B0502040204020203" pitchFamily="34" charset="0"/>
            </a:endParaRPr>
          </a:p>
          <a:p>
            <a:pPr marL="0" indent="0">
              <a:spcBef>
                <a:spcPts val="300"/>
              </a:spcBef>
              <a:buFont typeface="Arial" panose="020B0604020202020204" pitchFamily="34" charset="0"/>
              <a:buNone/>
            </a:pPr>
            <a:r>
              <a:rPr lang="es-ES" sz="1800" b="1">
                <a:solidFill>
                  <a:srgbClr val="EB0000"/>
                </a:solidFill>
                <a:ea typeface="Segoe UI" panose="020B0502040204020203" pitchFamily="34" charset="0"/>
                <a:cs typeface="Segoe UI" panose="020B0502040204020203" pitchFamily="34" charset="0"/>
              </a:rPr>
              <a:t> </a:t>
            </a:r>
            <a:endParaRPr lang="es-ES" sz="1800" b="1" dirty="0">
              <a:solidFill>
                <a:srgbClr val="EB0000"/>
              </a:solidFill>
              <a:ea typeface="Segoe UI" panose="020B0502040204020203" pitchFamily="34" charset="0"/>
              <a:cs typeface="Segoe UI" panose="020B0502040204020203" pitchFamily="34" charset="0"/>
            </a:endParaRPr>
          </a:p>
        </p:txBody>
      </p:sp>
      <p:sp>
        <p:nvSpPr>
          <p:cNvPr id="19" name="Rectangle 55" descr="Ángulos">
            <a:extLst>
              <a:ext uri="{FF2B5EF4-FFF2-40B4-BE49-F238E27FC236}">
                <a16:creationId xmlns:a16="http://schemas.microsoft.com/office/drawing/2014/main" id="{B95F56D6-D4D4-4ACB-8C24-FD94FF480038}"/>
              </a:ext>
            </a:extLst>
          </p:cNvPr>
          <p:cNvSpPr>
            <a:spLocks noChangeArrowheads="1"/>
          </p:cNvSpPr>
          <p:nvPr/>
        </p:nvSpPr>
        <p:spPr bwMode="auto">
          <a:xfrm flipV="1">
            <a:off x="9313899" y="6476243"/>
            <a:ext cx="317927" cy="171450"/>
          </a:xfrm>
          <a:prstGeom prst="rect">
            <a:avLst/>
          </a:prstGeom>
          <a:noFill/>
          <a:ln>
            <a:noFill/>
          </a:ln>
          <a:effectLst>
            <a:prstShdw prst="shdw17" dist="17961" dir="2700000">
              <a:srgbClr val="990000"/>
            </a:prstShdw>
          </a:effectLst>
        </p:spPr>
        <p:txBody>
          <a:bodyPr rot="10800000"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spcBef>
                <a:spcPct val="0"/>
              </a:spcBef>
              <a:buClr>
                <a:schemeClr val="accent2"/>
              </a:buClr>
              <a:buFont typeface="Wingdings" panose="05000000000000000000" pitchFamily="2" charset="2"/>
              <a:buNone/>
            </a:pPr>
            <a:endParaRPr lang="es-ES" altLang="es-ES" sz="1108">
              <a:solidFill>
                <a:schemeClr val="tx1"/>
              </a:solidFill>
            </a:endParaRPr>
          </a:p>
        </p:txBody>
      </p:sp>
      <p:graphicFrame>
        <p:nvGraphicFramePr>
          <p:cNvPr id="6" name="Tabla 5">
            <a:extLst>
              <a:ext uri="{FF2B5EF4-FFF2-40B4-BE49-F238E27FC236}">
                <a16:creationId xmlns:a16="http://schemas.microsoft.com/office/drawing/2014/main" id="{4EA38692-9CEF-4E1D-A87C-C4E1793568D1}"/>
              </a:ext>
            </a:extLst>
          </p:cNvPr>
          <p:cNvGraphicFramePr>
            <a:graphicFrameLocks noGrp="1"/>
          </p:cNvGraphicFramePr>
          <p:nvPr>
            <p:extLst>
              <p:ext uri="{D42A27DB-BD31-4B8C-83A1-F6EECF244321}">
                <p14:modId xmlns:p14="http://schemas.microsoft.com/office/powerpoint/2010/main" val="3340043089"/>
              </p:ext>
            </p:extLst>
          </p:nvPr>
        </p:nvGraphicFramePr>
        <p:xfrm>
          <a:off x="307744" y="934454"/>
          <a:ext cx="11555812" cy="4001285"/>
        </p:xfrm>
        <a:graphic>
          <a:graphicData uri="http://schemas.openxmlformats.org/drawingml/2006/table">
            <a:tbl>
              <a:tblPr/>
              <a:tblGrid>
                <a:gridCol w="476440">
                  <a:extLst>
                    <a:ext uri="{9D8B030D-6E8A-4147-A177-3AD203B41FA5}">
                      <a16:colId xmlns:a16="http://schemas.microsoft.com/office/drawing/2014/main" val="1679333959"/>
                    </a:ext>
                  </a:extLst>
                </a:gridCol>
                <a:gridCol w="1419277">
                  <a:extLst>
                    <a:ext uri="{9D8B030D-6E8A-4147-A177-3AD203B41FA5}">
                      <a16:colId xmlns:a16="http://schemas.microsoft.com/office/drawing/2014/main" val="132562875"/>
                    </a:ext>
                  </a:extLst>
                </a:gridCol>
                <a:gridCol w="1839150">
                  <a:extLst>
                    <a:ext uri="{9D8B030D-6E8A-4147-A177-3AD203B41FA5}">
                      <a16:colId xmlns:a16="http://schemas.microsoft.com/office/drawing/2014/main" val="3962172061"/>
                    </a:ext>
                  </a:extLst>
                </a:gridCol>
                <a:gridCol w="1540042">
                  <a:extLst>
                    <a:ext uri="{9D8B030D-6E8A-4147-A177-3AD203B41FA5}">
                      <a16:colId xmlns:a16="http://schemas.microsoft.com/office/drawing/2014/main" val="1121885685"/>
                    </a:ext>
                  </a:extLst>
                </a:gridCol>
                <a:gridCol w="6280903">
                  <a:extLst>
                    <a:ext uri="{9D8B030D-6E8A-4147-A177-3AD203B41FA5}">
                      <a16:colId xmlns:a16="http://schemas.microsoft.com/office/drawing/2014/main" val="2098101776"/>
                    </a:ext>
                  </a:extLst>
                </a:gridCol>
              </a:tblGrid>
              <a:tr h="371416">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Num.</a:t>
                      </a:r>
                    </a:p>
                    <a:p>
                      <a:pPr algn="ctr" fontAlgn="ctr"/>
                      <a:r>
                        <a:rPr lang="es-ES" sz="1400" b="1" i="0" u="none" strike="noStrike" dirty="0">
                          <a:solidFill>
                            <a:srgbClr val="FFFFFF"/>
                          </a:solidFill>
                          <a:effectLst/>
                          <a:latin typeface="+mj-lt"/>
                        </a:rPr>
                        <a:t> Id.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Origen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Destino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Protocolo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Observaciones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2590006"/>
                  </a:ext>
                </a:extLst>
              </a:tr>
              <a:tr h="39684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Oracle</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Protocolo: </a:t>
                      </a:r>
                      <a:r>
                        <a:rPr kumimoji="0" lang="es-ES" sz="1400" b="0" i="0" u="none" strike="noStrike" kern="1200" cap="none" normalizeH="0" baseline="0" dirty="0" err="1">
                          <a:ln>
                            <a:noFill/>
                          </a:ln>
                          <a:solidFill>
                            <a:schemeClr val="tx1"/>
                          </a:solidFill>
                          <a:effectLst/>
                          <a:latin typeface="Arial" charset="0"/>
                          <a:ea typeface="+mn-ea"/>
                          <a:cs typeface="+mn-cs"/>
                        </a:rPr>
                        <a:t>jdbc</a:t>
                      </a:r>
                      <a:endParaRPr kumimoji="0" lang="es-ES" sz="14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Comunicación entre micros del propio PaaS y BD Oracle</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3115856"/>
                  </a:ext>
                </a:extLst>
              </a:tr>
              <a:tr h="1565188">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API </a:t>
                      </a:r>
                      <a:r>
                        <a:rPr kumimoji="0" lang="es-ES" sz="1400" b="0" i="0" u="none" strike="noStrike" cap="none" normalizeH="0" baseline="0" dirty="0" err="1">
                          <a:ln>
                            <a:noFill/>
                          </a:ln>
                          <a:solidFill>
                            <a:schemeClr val="tx1"/>
                          </a:solidFill>
                          <a:effectLst/>
                          <a:latin typeface="Arial" charset="0"/>
                        </a:rPr>
                        <a:t>BaaS</a:t>
                      </a:r>
                      <a:r>
                        <a:rPr kumimoji="0" lang="es-ES" sz="1400" b="0" i="0" u="none" strike="noStrike" cap="none" normalizeH="0" baseline="0" dirty="0">
                          <a:ln>
                            <a:noFill/>
                          </a:ln>
                          <a:solidFill>
                            <a:schemeClr val="tx1"/>
                          </a:solidFill>
                          <a:effectLst/>
                          <a:latin typeface="Arial" charset="0"/>
                        </a:rPr>
                        <a:t> de diferentes</a:t>
                      </a:r>
                    </a:p>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dominios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Protocolo: </a:t>
                      </a:r>
                      <a:r>
                        <a:rPr kumimoji="0" lang="es-ES" sz="1400" b="0" i="0" u="none" strike="noStrike" kern="1200" cap="none" normalizeH="0" baseline="0" dirty="0">
                          <a:ln>
                            <a:noFill/>
                          </a:ln>
                          <a:solidFill>
                            <a:schemeClr val="tx1"/>
                          </a:solidFill>
                          <a:effectLst/>
                          <a:latin typeface="Arial" charset="0"/>
                          <a:ea typeface="+mn-ea"/>
                          <a:cs typeface="+mn-cs"/>
                        </a:rPr>
                        <a:t>https</a:t>
                      </a:r>
                      <a:endParaRPr kumimoji="0" lang="es-ES" sz="14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Comunicación entre micros del propio PaaS y APIS de diferentes dominios</a:t>
                      </a:r>
                    </a:p>
                    <a:p>
                      <a:pPr marL="171450" marR="0" indent="-171450" algn="just" defTabSz="914390" rtl="0" eaLnBrk="1" fontAlgn="auto" latinLnBrk="0" hangingPunct="1">
                        <a:lnSpc>
                          <a:spcPct val="100000"/>
                        </a:lnSpc>
                        <a:spcBef>
                          <a:spcPts val="0"/>
                        </a:spcBef>
                        <a:spcAft>
                          <a:spcPts val="0"/>
                        </a:spcAft>
                        <a:buClrTx/>
                        <a:buSzTx/>
                        <a:buFontTx/>
                        <a:buChar char="-"/>
                        <a:tabLst/>
                        <a:defRPr/>
                      </a:pPr>
                      <a:r>
                        <a:rPr kumimoji="0" lang="es-ES" sz="1400" b="0" i="0" u="none" strike="noStrike" kern="1200" cap="none" normalizeH="0" baseline="0" dirty="0">
                          <a:ln>
                            <a:noFill/>
                          </a:ln>
                          <a:solidFill>
                            <a:schemeClr val="tx1"/>
                          </a:solidFill>
                          <a:effectLst/>
                          <a:latin typeface="Arial" charset="0"/>
                          <a:ea typeface="+mn-ea"/>
                          <a:cs typeface="+mn-cs"/>
                        </a:rPr>
                        <a:t>Micro Hipotecas -&gt; Información de Hipotecas</a:t>
                      </a:r>
                    </a:p>
                    <a:p>
                      <a:pPr marL="171450" marR="0" indent="-171450" algn="just" defTabSz="914390" rtl="0" eaLnBrk="1" fontAlgn="auto" latinLnBrk="0" hangingPunct="1">
                        <a:lnSpc>
                          <a:spcPct val="100000"/>
                        </a:lnSpc>
                        <a:spcBef>
                          <a:spcPts val="0"/>
                        </a:spcBef>
                        <a:spcAft>
                          <a:spcPts val="0"/>
                        </a:spcAft>
                        <a:buClrTx/>
                        <a:buSzTx/>
                        <a:buFontTx/>
                        <a:buChar char="-"/>
                        <a:tabLst/>
                        <a:defRPr/>
                      </a:pPr>
                      <a:r>
                        <a:rPr kumimoji="0" lang="es-ES" sz="1400" b="0" i="0" u="none" strike="noStrike" kern="1200" cap="none" normalizeH="0" baseline="0" dirty="0">
                          <a:ln>
                            <a:noFill/>
                          </a:ln>
                          <a:solidFill>
                            <a:schemeClr val="tx1"/>
                          </a:solidFill>
                          <a:effectLst/>
                          <a:latin typeface="Arial" charset="0"/>
                          <a:ea typeface="+mn-ea"/>
                          <a:cs typeface="+mn-cs"/>
                        </a:rPr>
                        <a:t>Micro GDPR.-&gt; Para ley GDPR</a:t>
                      </a:r>
                    </a:p>
                    <a:p>
                      <a:pPr marL="171450" marR="0" indent="-171450" algn="just" defTabSz="914390" rtl="0" eaLnBrk="1" fontAlgn="auto" latinLnBrk="0" hangingPunct="1">
                        <a:lnSpc>
                          <a:spcPct val="100000"/>
                        </a:lnSpc>
                        <a:spcBef>
                          <a:spcPts val="0"/>
                        </a:spcBef>
                        <a:spcAft>
                          <a:spcPts val="0"/>
                        </a:spcAft>
                        <a:buClrTx/>
                        <a:buSzTx/>
                        <a:buFontTx/>
                        <a:buChar char="-"/>
                        <a:tabLst/>
                        <a:defRPr/>
                      </a:pPr>
                      <a:r>
                        <a:rPr kumimoji="0" lang="es-ES" sz="1400" b="0" i="0" u="none" strike="noStrike" kern="1200" cap="none" normalizeH="0" baseline="0" dirty="0">
                          <a:ln>
                            <a:noFill/>
                          </a:ln>
                          <a:solidFill>
                            <a:schemeClr val="tx1"/>
                          </a:solidFill>
                          <a:effectLst/>
                          <a:latin typeface="Arial" charset="0"/>
                          <a:ea typeface="+mn-ea"/>
                          <a:cs typeface="+mn-cs"/>
                        </a:rPr>
                        <a:t>Micro LAC.-&gt; conversión cuenta Partenon.</a:t>
                      </a:r>
                    </a:p>
                    <a:p>
                      <a:pPr marL="171450" marR="0" indent="-171450" algn="just" defTabSz="914390" rtl="0" eaLnBrk="1" fontAlgn="auto" latinLnBrk="0" hangingPunct="1">
                        <a:lnSpc>
                          <a:spcPct val="100000"/>
                        </a:lnSpc>
                        <a:spcBef>
                          <a:spcPts val="0"/>
                        </a:spcBef>
                        <a:spcAft>
                          <a:spcPts val="0"/>
                        </a:spcAft>
                        <a:buClrTx/>
                        <a:buSzTx/>
                        <a:buFontTx/>
                        <a:buChar char="-"/>
                        <a:tabLst/>
                        <a:defRPr/>
                      </a:pPr>
                      <a:r>
                        <a:rPr kumimoji="0" lang="es-ES" sz="1400" b="0" i="0" u="none" strike="noStrike" kern="1200" cap="none" normalizeH="0" baseline="0" dirty="0">
                          <a:ln>
                            <a:noFill/>
                          </a:ln>
                          <a:solidFill>
                            <a:schemeClr val="tx1"/>
                          </a:solidFill>
                          <a:effectLst/>
                          <a:latin typeface="Arial" charset="0"/>
                          <a:ea typeface="+mn-ea"/>
                          <a:cs typeface="+mn-cs"/>
                        </a:rPr>
                        <a:t>Micro OCR -&gt; Operaciones de OCR con imágenes. En la primera versión se llamará al servicio OCR ,en el TO BE se debe llamar al </a:t>
                      </a:r>
                      <a:r>
                        <a:rPr kumimoji="0" lang="es-ES" sz="1400" b="0" i="0" u="none" strike="noStrike" kern="1200" cap="none" normalizeH="0" baseline="0" dirty="0" err="1">
                          <a:ln>
                            <a:noFill/>
                          </a:ln>
                          <a:solidFill>
                            <a:schemeClr val="tx1"/>
                          </a:solidFill>
                          <a:effectLst/>
                          <a:latin typeface="Arial" charset="0"/>
                          <a:ea typeface="+mn-ea"/>
                          <a:cs typeface="+mn-cs"/>
                        </a:rPr>
                        <a:t>Broker</a:t>
                      </a:r>
                      <a:r>
                        <a:rPr kumimoji="0" lang="es-ES" sz="1400" b="0" i="0" u="none" strike="noStrike" kern="1200" cap="none" normalizeH="0" baseline="0" dirty="0">
                          <a:ln>
                            <a:noFill/>
                          </a:ln>
                          <a:solidFill>
                            <a:schemeClr val="tx1"/>
                          </a:solidFill>
                          <a:effectLst/>
                          <a:latin typeface="Arial" charset="0"/>
                          <a:ea typeface="+mn-ea"/>
                          <a:cs typeface="+mn-cs"/>
                        </a:rPr>
                        <a:t> OCR.</a:t>
                      </a:r>
                    </a:p>
                    <a:p>
                      <a:pPr marL="171450" marR="0" indent="-171450" algn="just" defTabSz="914390" rtl="0" eaLnBrk="1" fontAlgn="auto" latinLnBrk="0" hangingPunct="1">
                        <a:lnSpc>
                          <a:spcPct val="100000"/>
                        </a:lnSpc>
                        <a:spcBef>
                          <a:spcPts val="0"/>
                        </a:spcBef>
                        <a:spcAft>
                          <a:spcPts val="0"/>
                        </a:spcAft>
                        <a:buClrTx/>
                        <a:buSzTx/>
                        <a:buFontTx/>
                        <a:buChar char="-"/>
                        <a:tabLst/>
                        <a:defRPr/>
                      </a:pPr>
                      <a:r>
                        <a:rPr kumimoji="0" lang="es-ES" sz="1400" b="0" i="0" u="none" strike="noStrike" kern="1200" cap="none" normalizeH="0" baseline="0" dirty="0">
                          <a:ln>
                            <a:noFill/>
                          </a:ln>
                          <a:solidFill>
                            <a:schemeClr val="tx1"/>
                          </a:solidFill>
                          <a:effectLst/>
                          <a:latin typeface="Arial" charset="0"/>
                          <a:ea typeface="+mn-ea"/>
                          <a:cs typeface="+mn-cs"/>
                        </a:rPr>
                        <a:t>Micro GESDOC -&gt; Gestión Documental</a:t>
                      </a:r>
                    </a:p>
                    <a:p>
                      <a:pPr marL="171450" marR="0" indent="-171450" algn="just" defTabSz="914390" rtl="0" eaLnBrk="1" fontAlgn="auto" latinLnBrk="0" hangingPunct="1">
                        <a:lnSpc>
                          <a:spcPct val="100000"/>
                        </a:lnSpc>
                        <a:spcBef>
                          <a:spcPts val="0"/>
                        </a:spcBef>
                        <a:spcAft>
                          <a:spcPts val="0"/>
                        </a:spcAft>
                        <a:buClrTx/>
                        <a:buSzTx/>
                        <a:buFontTx/>
                        <a:buChar char="-"/>
                        <a:tabLst/>
                        <a:defRPr/>
                      </a:pPr>
                      <a:r>
                        <a:rPr kumimoji="0" lang="es-ES" sz="1400" b="0" i="0" u="none" strike="noStrike" kern="1200" cap="none" normalizeH="0" baseline="0" dirty="0">
                          <a:ln>
                            <a:noFill/>
                          </a:ln>
                          <a:solidFill>
                            <a:schemeClr val="tx1"/>
                          </a:solidFill>
                          <a:effectLst/>
                          <a:latin typeface="Arial" charset="0"/>
                          <a:ea typeface="+mn-ea"/>
                          <a:cs typeface="+mn-cs"/>
                        </a:rPr>
                        <a:t>Micro ADN360 -&gt; información de clientes , cuentas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3554985"/>
                  </a:ext>
                </a:extLst>
              </a:tr>
              <a:tr h="1379480">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Servicios Estructurales Heredo</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Protocolo: </a:t>
                      </a:r>
                      <a:r>
                        <a:rPr kumimoji="0" lang="es-ES" sz="1400" b="0" i="0" u="none" strike="noStrike" kern="1200" cap="none" normalizeH="0" baseline="0" dirty="0">
                          <a:ln>
                            <a:noFill/>
                          </a:ln>
                          <a:solidFill>
                            <a:schemeClr val="tx1"/>
                          </a:solidFill>
                          <a:effectLst/>
                          <a:latin typeface="Arial" charset="0"/>
                          <a:ea typeface="+mn-ea"/>
                          <a:cs typeface="+mn-cs"/>
                        </a:rPr>
                        <a:t>rest</a:t>
                      </a:r>
                      <a:endParaRPr kumimoji="0" lang="es-ES" sz="14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Acceso a Heredo (Punto 11 flujo funcional de </a:t>
                      </a:r>
                      <a:r>
                        <a:rPr kumimoji="0" lang="es-ES" sz="1400" b="0" i="0" u="none" strike="noStrike" kern="1200" cap="none" normalizeH="0" baseline="0" dirty="0" err="1">
                          <a:ln>
                            <a:noFill/>
                          </a:ln>
                          <a:solidFill>
                            <a:schemeClr val="tx1"/>
                          </a:solidFill>
                          <a:effectLst/>
                          <a:latin typeface="Arial" charset="0"/>
                          <a:ea typeface="+mn-ea"/>
                          <a:cs typeface="+mn-cs"/>
                        </a:rPr>
                        <a:t>slide</a:t>
                      </a:r>
                      <a:r>
                        <a:rPr kumimoji="0" lang="es-ES" sz="1400" b="0" i="0" u="none" strike="noStrike" kern="1200" cap="none" normalizeH="0" baseline="0" dirty="0">
                          <a:ln>
                            <a:noFill/>
                          </a:ln>
                          <a:solidFill>
                            <a:schemeClr val="tx1"/>
                          </a:solidFill>
                          <a:effectLst/>
                          <a:latin typeface="Arial" charset="0"/>
                          <a:ea typeface="+mn-ea"/>
                          <a:cs typeface="+mn-cs"/>
                        </a:rPr>
                        <a:t> 13) para crear un tipo de expediente documental. De esta forma los documentos asociados a esta aplicación quedarían censados en el gestor documental y podrían ser explotados por otros canales y/o negocios. Al crear el expediente se censa el tipo documental asociado al expediente y se indican los documentos que se necesitan para cerrar el mismo.</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388084"/>
                  </a:ext>
                </a:extLst>
              </a:tr>
            </a:tbl>
          </a:graphicData>
        </a:graphic>
      </p:graphicFrame>
    </p:spTree>
    <p:extLst>
      <p:ext uri="{BB962C8B-B14F-4D97-AF65-F5344CB8AC3E}">
        <p14:creationId xmlns:p14="http://schemas.microsoft.com/office/powerpoint/2010/main" val="34293686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arcador de texto 1">
            <a:extLst>
              <a:ext uri="{FF2B5EF4-FFF2-40B4-BE49-F238E27FC236}">
                <a16:creationId xmlns:a16="http://schemas.microsoft.com/office/drawing/2014/main" id="{E6EC0FA8-14B6-42CA-8357-9E45D12256CF}"/>
              </a:ext>
            </a:extLst>
          </p:cNvPr>
          <p:cNvSpPr txBox="1">
            <a:spLocks/>
          </p:cNvSpPr>
          <p:nvPr/>
        </p:nvSpPr>
        <p:spPr>
          <a:xfrm>
            <a:off x="632930" y="294942"/>
            <a:ext cx="10833365" cy="1279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dirty="0">
                <a:solidFill>
                  <a:srgbClr val="EB0000"/>
                </a:solidFill>
                <a:ea typeface="Segoe UI" panose="020B0502040204020203" pitchFamily="34" charset="0"/>
                <a:cs typeface="Segoe UI" panose="020B0502040204020203" pitchFamily="34" charset="0"/>
              </a:rPr>
              <a:t>Solución </a:t>
            </a:r>
            <a:r>
              <a:rPr lang="es-ES" sz="1400" b="1" dirty="0">
                <a:solidFill>
                  <a:srgbClr val="EB0000"/>
                </a:solidFill>
                <a:cs typeface="Segoe UI" panose="020B0502040204020203" pitchFamily="34" charset="0"/>
              </a:rPr>
              <a:t>técnica</a:t>
            </a:r>
          </a:p>
          <a:p>
            <a:pPr marL="0" indent="0">
              <a:spcBef>
                <a:spcPts val="300"/>
              </a:spcBef>
              <a:buNone/>
            </a:pPr>
            <a:r>
              <a:rPr lang="es-ES" altLang="es-ES" sz="1800" b="1" dirty="0">
                <a:solidFill>
                  <a:srgbClr val="EB0000"/>
                </a:solidFill>
                <a:cs typeface="Segoe UI" panose="020B0502040204020203" pitchFamily="34" charset="0"/>
              </a:rPr>
              <a:t>Interfaces entre Sistemas</a:t>
            </a:r>
            <a:endParaRPr lang="es-ES" sz="1800" b="1" dirty="0">
              <a:solidFill>
                <a:srgbClr val="EB0000"/>
              </a:solidFill>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19" name="Rectangle 55" descr="Ángulos">
            <a:extLst>
              <a:ext uri="{FF2B5EF4-FFF2-40B4-BE49-F238E27FC236}">
                <a16:creationId xmlns:a16="http://schemas.microsoft.com/office/drawing/2014/main" id="{B95F56D6-D4D4-4ACB-8C24-FD94FF480038}"/>
              </a:ext>
            </a:extLst>
          </p:cNvPr>
          <p:cNvSpPr>
            <a:spLocks noChangeArrowheads="1"/>
          </p:cNvSpPr>
          <p:nvPr/>
        </p:nvSpPr>
        <p:spPr bwMode="auto">
          <a:xfrm flipV="1">
            <a:off x="9313899" y="6476243"/>
            <a:ext cx="317927" cy="171450"/>
          </a:xfrm>
          <a:prstGeom prst="rect">
            <a:avLst/>
          </a:prstGeom>
          <a:noFill/>
          <a:ln>
            <a:noFill/>
          </a:ln>
          <a:effectLst>
            <a:prstShdw prst="shdw17" dist="17961" dir="2700000">
              <a:srgbClr val="990000"/>
            </a:prstShdw>
          </a:effectLst>
        </p:spPr>
        <p:txBody>
          <a:bodyPr rot="10800000"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spcBef>
                <a:spcPct val="0"/>
              </a:spcBef>
              <a:buClr>
                <a:schemeClr val="accent2"/>
              </a:buClr>
              <a:buFont typeface="Wingdings" panose="05000000000000000000" pitchFamily="2" charset="2"/>
              <a:buNone/>
            </a:pPr>
            <a:endParaRPr lang="es-ES" altLang="es-ES" sz="1108">
              <a:solidFill>
                <a:schemeClr val="tx1"/>
              </a:solidFill>
            </a:endParaRPr>
          </a:p>
        </p:txBody>
      </p:sp>
      <p:graphicFrame>
        <p:nvGraphicFramePr>
          <p:cNvPr id="6" name="Tabla 5">
            <a:extLst>
              <a:ext uri="{FF2B5EF4-FFF2-40B4-BE49-F238E27FC236}">
                <a16:creationId xmlns:a16="http://schemas.microsoft.com/office/drawing/2014/main" id="{4EA38692-9CEF-4E1D-A87C-C4E1793568D1}"/>
              </a:ext>
            </a:extLst>
          </p:cNvPr>
          <p:cNvGraphicFramePr>
            <a:graphicFrameLocks noGrp="1"/>
          </p:cNvGraphicFramePr>
          <p:nvPr>
            <p:extLst>
              <p:ext uri="{D42A27DB-BD31-4B8C-83A1-F6EECF244321}">
                <p14:modId xmlns:p14="http://schemas.microsoft.com/office/powerpoint/2010/main" val="1430574812"/>
              </p:ext>
            </p:extLst>
          </p:nvPr>
        </p:nvGraphicFramePr>
        <p:xfrm>
          <a:off x="271706" y="973088"/>
          <a:ext cx="11555812" cy="4876648"/>
        </p:xfrm>
        <a:graphic>
          <a:graphicData uri="http://schemas.openxmlformats.org/drawingml/2006/table">
            <a:tbl>
              <a:tblPr/>
              <a:tblGrid>
                <a:gridCol w="476440">
                  <a:extLst>
                    <a:ext uri="{9D8B030D-6E8A-4147-A177-3AD203B41FA5}">
                      <a16:colId xmlns:a16="http://schemas.microsoft.com/office/drawing/2014/main" val="1679333959"/>
                    </a:ext>
                  </a:extLst>
                </a:gridCol>
                <a:gridCol w="1419277">
                  <a:extLst>
                    <a:ext uri="{9D8B030D-6E8A-4147-A177-3AD203B41FA5}">
                      <a16:colId xmlns:a16="http://schemas.microsoft.com/office/drawing/2014/main" val="132562875"/>
                    </a:ext>
                  </a:extLst>
                </a:gridCol>
                <a:gridCol w="1718777">
                  <a:extLst>
                    <a:ext uri="{9D8B030D-6E8A-4147-A177-3AD203B41FA5}">
                      <a16:colId xmlns:a16="http://schemas.microsoft.com/office/drawing/2014/main" val="3962172061"/>
                    </a:ext>
                  </a:extLst>
                </a:gridCol>
                <a:gridCol w="1409700">
                  <a:extLst>
                    <a:ext uri="{9D8B030D-6E8A-4147-A177-3AD203B41FA5}">
                      <a16:colId xmlns:a16="http://schemas.microsoft.com/office/drawing/2014/main" val="1121885685"/>
                    </a:ext>
                  </a:extLst>
                </a:gridCol>
                <a:gridCol w="6531618">
                  <a:extLst>
                    <a:ext uri="{9D8B030D-6E8A-4147-A177-3AD203B41FA5}">
                      <a16:colId xmlns:a16="http://schemas.microsoft.com/office/drawing/2014/main" val="2098101776"/>
                    </a:ext>
                  </a:extLst>
                </a:gridCol>
              </a:tblGrid>
              <a:tr h="38930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Num.</a:t>
                      </a:r>
                    </a:p>
                    <a:p>
                      <a:pPr algn="ctr" fontAlgn="ctr"/>
                      <a:r>
                        <a:rPr lang="es-ES" sz="1400" b="1" i="0" u="none" strike="noStrike" dirty="0">
                          <a:solidFill>
                            <a:srgbClr val="FFFFFF"/>
                          </a:solidFill>
                          <a:effectLst/>
                          <a:latin typeface="+mj-lt"/>
                        </a:rPr>
                        <a:t> Id.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Origen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Destino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Protocolo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Observaciones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2590006"/>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PaaS HC2.0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S3 OHE</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Protocolo: </a:t>
                      </a:r>
                      <a:r>
                        <a:rPr kumimoji="0" lang="es-ES" sz="1400" b="0" i="0" u="none" strike="noStrike" kern="1200" cap="none" normalizeH="0" baseline="0" dirty="0">
                          <a:ln>
                            <a:noFill/>
                          </a:ln>
                          <a:solidFill>
                            <a:schemeClr val="tx1"/>
                          </a:solidFill>
                          <a:effectLst/>
                          <a:latin typeface="Arial" charset="0"/>
                          <a:ea typeface="+mn-ea"/>
                          <a:cs typeface="+mn-cs"/>
                        </a:rPr>
                        <a:t>https</a:t>
                      </a:r>
                      <a:endParaRPr kumimoji="0" lang="es-ES" sz="14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Acceso a Blob S3 de OHE para almacenamiento de ficheros de forma temporal. Esta subida de ficheros se realiza en el punto 11 flujo funcional de </a:t>
                      </a:r>
                      <a:r>
                        <a:rPr kumimoji="0" lang="es-ES" sz="1400" b="0" i="0" u="none" strike="noStrike" kern="1200" cap="none" normalizeH="0" baseline="0" dirty="0" err="1">
                          <a:ln>
                            <a:noFill/>
                          </a:ln>
                          <a:solidFill>
                            <a:schemeClr val="tx1"/>
                          </a:solidFill>
                          <a:effectLst/>
                          <a:latin typeface="Arial" charset="0"/>
                          <a:ea typeface="+mn-ea"/>
                          <a:cs typeface="+mn-cs"/>
                        </a:rPr>
                        <a:t>slide</a:t>
                      </a:r>
                      <a:r>
                        <a:rPr kumimoji="0" lang="es-ES" sz="1400" b="0" i="0" u="none" strike="noStrike" kern="1200" cap="none" normalizeH="0" baseline="0" dirty="0">
                          <a:ln>
                            <a:noFill/>
                          </a:ln>
                          <a:solidFill>
                            <a:schemeClr val="tx1"/>
                          </a:solidFill>
                          <a:effectLst/>
                          <a:latin typeface="Arial" charset="0"/>
                          <a:ea typeface="+mn-ea"/>
                          <a:cs typeface="+mn-cs"/>
                        </a:rPr>
                        <a:t> 13 justo después de la creación del expediente Heredo.</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Una vez que se suba la documentación al repositorio temporal en Azure , la documentación es revisada por el personal de </a:t>
                      </a:r>
                      <a:r>
                        <a:rPr kumimoji="0" lang="es-ES" sz="1400" b="0" i="0" u="none" strike="noStrike" kern="1200" cap="none" normalizeH="0" baseline="0" dirty="0" err="1">
                          <a:ln>
                            <a:noFill/>
                          </a:ln>
                          <a:solidFill>
                            <a:schemeClr val="tx1"/>
                          </a:solidFill>
                          <a:effectLst/>
                          <a:latin typeface="Arial" charset="0"/>
                          <a:ea typeface="+mn-ea"/>
                          <a:cs typeface="+mn-cs"/>
                        </a:rPr>
                        <a:t>Backoffice</a:t>
                      </a:r>
                      <a:r>
                        <a:rPr kumimoji="0" lang="es-ES" sz="1400" b="0" i="0" u="none" strike="noStrike" kern="1200" cap="none" normalizeH="0" baseline="0" dirty="0">
                          <a:ln>
                            <a:noFill/>
                          </a:ln>
                          <a:solidFill>
                            <a:schemeClr val="tx1"/>
                          </a:solidFill>
                          <a:effectLst/>
                          <a:latin typeface="Arial" charset="0"/>
                          <a:ea typeface="+mn-ea"/>
                          <a:cs typeface="+mn-cs"/>
                        </a:rPr>
                        <a:t> y se comprueba que esta toda la documentación que vienen reflejada en el expediente de Heredo. En ese momento desde </a:t>
                      </a:r>
                      <a:r>
                        <a:rPr kumimoji="0" lang="es-ES" sz="1400" b="0" i="0" u="none" strike="noStrike" kern="1200" cap="none" normalizeH="0" baseline="0" dirty="0" err="1">
                          <a:ln>
                            <a:noFill/>
                          </a:ln>
                          <a:solidFill>
                            <a:schemeClr val="tx1"/>
                          </a:solidFill>
                          <a:effectLst/>
                          <a:latin typeface="Arial" charset="0"/>
                          <a:ea typeface="+mn-ea"/>
                          <a:cs typeface="+mn-cs"/>
                        </a:rPr>
                        <a:t>Backoffice</a:t>
                      </a:r>
                      <a:r>
                        <a:rPr kumimoji="0" lang="es-ES" sz="1400" b="0" i="0" u="none" strike="noStrike" kern="1200" cap="none" normalizeH="0" baseline="0" dirty="0">
                          <a:ln>
                            <a:noFill/>
                          </a:ln>
                          <a:solidFill>
                            <a:schemeClr val="tx1"/>
                          </a:solidFill>
                          <a:effectLst/>
                          <a:latin typeface="Arial" charset="0"/>
                          <a:ea typeface="+mn-ea"/>
                          <a:cs typeface="+mn-cs"/>
                        </a:rPr>
                        <a:t> se sube la documentación a FileNet y se cierra el expediente automáticamente. </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(punto 13 del flujo funcional del </a:t>
                      </a:r>
                      <a:r>
                        <a:rPr kumimoji="0" lang="es-ES" sz="1400" b="0" i="0" u="none" strike="noStrike" kern="1200" cap="none" normalizeH="0" baseline="0" dirty="0" err="1">
                          <a:ln>
                            <a:noFill/>
                          </a:ln>
                          <a:solidFill>
                            <a:schemeClr val="tx1"/>
                          </a:solidFill>
                          <a:effectLst/>
                          <a:latin typeface="Arial" charset="0"/>
                          <a:ea typeface="+mn-ea"/>
                          <a:cs typeface="+mn-cs"/>
                        </a:rPr>
                        <a:t>slide</a:t>
                      </a:r>
                      <a:r>
                        <a:rPr kumimoji="0" lang="es-ES" sz="1400" b="0" i="0" u="none" strike="noStrike" kern="1200" cap="none" normalizeH="0" baseline="0" dirty="0">
                          <a:ln>
                            <a:noFill/>
                          </a:ln>
                          <a:solidFill>
                            <a:schemeClr val="tx1"/>
                          </a:solidFill>
                          <a:effectLst/>
                          <a:latin typeface="Arial" charset="0"/>
                          <a:ea typeface="+mn-ea"/>
                          <a:cs typeface="+mn-cs"/>
                        </a:rPr>
                        <a:t> 13).</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2895803"/>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PaaS HC2.0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API Firma</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Protocolo: </a:t>
                      </a:r>
                      <a:r>
                        <a:rPr kumimoji="0" lang="es-ES" sz="1400" b="0" i="0" u="none" strike="noStrike" kern="1200" cap="none" normalizeH="0" baseline="0" dirty="0">
                          <a:ln>
                            <a:noFill/>
                          </a:ln>
                          <a:solidFill>
                            <a:schemeClr val="tx1"/>
                          </a:solidFill>
                          <a:effectLst/>
                          <a:latin typeface="Arial" charset="0"/>
                          <a:ea typeface="+mn-ea"/>
                          <a:cs typeface="+mn-cs"/>
                        </a:rPr>
                        <a:t>https</a:t>
                      </a:r>
                      <a:endParaRPr kumimoji="0" lang="es-ES" sz="14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Este punto corresponde al punto 14 del flujo funcional del </a:t>
                      </a:r>
                      <a:r>
                        <a:rPr kumimoji="0" lang="es-ES" sz="1400" b="0" i="0" u="none" strike="noStrike" kern="1200" cap="none" normalizeH="0" baseline="0" dirty="0" err="1">
                          <a:ln>
                            <a:noFill/>
                          </a:ln>
                          <a:solidFill>
                            <a:schemeClr val="tx1"/>
                          </a:solidFill>
                          <a:effectLst/>
                          <a:latin typeface="Arial" charset="0"/>
                          <a:ea typeface="+mn-ea"/>
                          <a:cs typeface="+mn-cs"/>
                        </a:rPr>
                        <a:t>slide</a:t>
                      </a:r>
                      <a:r>
                        <a:rPr kumimoji="0" lang="es-ES" sz="1400" b="0" i="0" u="none" strike="noStrike" kern="1200" cap="none" normalizeH="0" baseline="0" dirty="0">
                          <a:ln>
                            <a:noFill/>
                          </a:ln>
                          <a:solidFill>
                            <a:schemeClr val="tx1"/>
                          </a:solidFill>
                          <a:effectLst/>
                          <a:latin typeface="Arial" charset="0"/>
                          <a:ea typeface="+mn-ea"/>
                          <a:cs typeface="+mn-cs"/>
                        </a:rPr>
                        <a:t> 13.</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En este caso :</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1 – Se crea el expediente de firma llamando al API correspondiente.</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2 – Se creará un documento a través de PI Online para ello se necesita una plantilla.</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3 – Se debe guarda el documento la versión 0 en FileNet.</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4 – Se recupera el documento y se firma y se guarda (esto lo hace el servicio de Firma).</a:t>
                      </a:r>
                    </a:p>
                    <a:p>
                      <a:pPr marL="0" marR="0" indent="0" algn="just" defTabSz="914390" rtl="0" eaLnBrk="1" fontAlgn="auto" latinLnBrk="0" hangingPunct="1">
                        <a:lnSpc>
                          <a:spcPct val="100000"/>
                        </a:lnSpc>
                        <a:spcBef>
                          <a:spcPts val="0"/>
                        </a:spcBef>
                        <a:spcAft>
                          <a:spcPts val="0"/>
                        </a:spcAft>
                        <a:buClrTx/>
                        <a:buSzTx/>
                        <a:buFontTx/>
                        <a:buNone/>
                        <a:tabLst/>
                        <a:defRPr/>
                      </a:pPr>
                      <a:endParaRPr kumimoji="0" lang="es-ES" sz="1400" b="0" i="0" u="none" strike="noStrike" kern="1200" cap="none" normalizeH="0" baseline="0" dirty="0">
                        <a:ln>
                          <a:noFill/>
                        </a:ln>
                        <a:solidFill>
                          <a:schemeClr val="tx1"/>
                        </a:solidFill>
                        <a:effectLst/>
                        <a:latin typeface="Arial" charset="0"/>
                        <a:ea typeface="+mn-ea"/>
                        <a:cs typeface="+mn-cs"/>
                      </a:endParaRP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Con esta operativa de firma implementada se podría aprovechar el flujo para firmar por la Wacom si se necesitará en un futuro.</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3115856"/>
                  </a:ext>
                </a:extLst>
              </a:tr>
            </a:tbl>
          </a:graphicData>
        </a:graphic>
      </p:graphicFrame>
      <p:sp>
        <p:nvSpPr>
          <p:cNvPr id="7" name="CuadroTexto 6">
            <a:extLst>
              <a:ext uri="{FF2B5EF4-FFF2-40B4-BE49-F238E27FC236}">
                <a16:creationId xmlns:a16="http://schemas.microsoft.com/office/drawing/2014/main" id="{3F777B6E-41EC-4D8F-B6C9-1AE2F31AB5FF}"/>
              </a:ext>
            </a:extLst>
          </p:cNvPr>
          <p:cNvSpPr txBox="1"/>
          <p:nvPr/>
        </p:nvSpPr>
        <p:spPr>
          <a:xfrm>
            <a:off x="3001612" y="5962934"/>
            <a:ext cx="6096000" cy="400110"/>
          </a:xfrm>
          <a:prstGeom prst="rect">
            <a:avLst/>
          </a:prstGeom>
          <a:noFill/>
        </p:spPr>
        <p:txBody>
          <a:bodyPr wrap="square">
            <a:spAutoFit/>
          </a:bodyPr>
          <a:lstStyle/>
          <a:p>
            <a:pPr marL="0" marR="0" lvl="0" indent="0" algn="just" defTabSz="914390" rtl="0" eaLnBrk="1" fontAlgn="auto" latinLnBrk="0" hangingPunct="1">
              <a:lnSpc>
                <a:spcPct val="100000"/>
              </a:lnSpc>
              <a:spcBef>
                <a:spcPts val="0"/>
              </a:spcBef>
              <a:spcAft>
                <a:spcPts val="0"/>
              </a:spcAft>
              <a:buClrTx/>
              <a:buSzTx/>
              <a:buFontTx/>
              <a:buNone/>
              <a:tabLst/>
              <a:defRPr/>
            </a:pPr>
            <a:r>
              <a:rPr kumimoji="0" lang="es-ES" sz="1000" b="0" i="0" u="none" strike="noStrike" kern="1200" cap="none" normalizeH="0" baseline="0" dirty="0">
                <a:ln>
                  <a:noFill/>
                </a:ln>
                <a:solidFill>
                  <a:schemeClr val="tx1"/>
                </a:solidFill>
                <a:effectLst/>
                <a:latin typeface="Arial" charset="0"/>
                <a:ea typeface="+mn-ea"/>
                <a:cs typeface="+mn-cs"/>
              </a:rPr>
              <a:t>En Ref 8 y Ref 9 se define los micros de Filenet y PiOnline</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000" b="0" i="0" u="none" strike="noStrike" kern="1200" cap="none" normalizeH="0" baseline="0" dirty="0">
                <a:ln>
                  <a:noFill/>
                </a:ln>
                <a:solidFill>
                  <a:schemeClr val="tx1"/>
                </a:solidFill>
                <a:effectLst/>
                <a:latin typeface="Arial" charset="0"/>
                <a:ea typeface="+mn-ea"/>
                <a:cs typeface="+mn-cs"/>
              </a:rPr>
              <a:t>En Ref 6 y Ref 7 se indica todo lo relativo al expediente de firma.</a:t>
            </a:r>
          </a:p>
        </p:txBody>
      </p:sp>
    </p:spTree>
    <p:extLst>
      <p:ext uri="{BB962C8B-B14F-4D97-AF65-F5344CB8AC3E}">
        <p14:creationId xmlns:p14="http://schemas.microsoft.com/office/powerpoint/2010/main" val="1885143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arcador de texto 1">
            <a:extLst>
              <a:ext uri="{FF2B5EF4-FFF2-40B4-BE49-F238E27FC236}">
                <a16:creationId xmlns:a16="http://schemas.microsoft.com/office/drawing/2014/main" id="{E6EC0FA8-14B6-42CA-8357-9E45D12256CF}"/>
              </a:ext>
            </a:extLst>
          </p:cNvPr>
          <p:cNvSpPr txBox="1">
            <a:spLocks/>
          </p:cNvSpPr>
          <p:nvPr/>
        </p:nvSpPr>
        <p:spPr>
          <a:xfrm>
            <a:off x="632930" y="294942"/>
            <a:ext cx="10833365" cy="1279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dirty="0">
                <a:solidFill>
                  <a:srgbClr val="EB0000"/>
                </a:solidFill>
                <a:ea typeface="Segoe UI" panose="020B0502040204020203" pitchFamily="34" charset="0"/>
                <a:cs typeface="Segoe UI" panose="020B0502040204020203" pitchFamily="34" charset="0"/>
              </a:rPr>
              <a:t>Solución </a:t>
            </a:r>
            <a:r>
              <a:rPr lang="es-ES" sz="1400" b="1" dirty="0">
                <a:solidFill>
                  <a:srgbClr val="EB0000"/>
                </a:solidFill>
                <a:cs typeface="Segoe UI" panose="020B0502040204020203" pitchFamily="34" charset="0"/>
              </a:rPr>
              <a:t>técnica</a:t>
            </a:r>
          </a:p>
          <a:p>
            <a:pPr marL="0" indent="0">
              <a:spcBef>
                <a:spcPts val="300"/>
              </a:spcBef>
              <a:buNone/>
            </a:pPr>
            <a:r>
              <a:rPr lang="es-ES" altLang="es-ES" sz="1800" b="1" dirty="0">
                <a:solidFill>
                  <a:srgbClr val="EB0000"/>
                </a:solidFill>
                <a:cs typeface="Segoe UI" panose="020B0502040204020203" pitchFamily="34" charset="0"/>
              </a:rPr>
              <a:t>Interfaces entre Sistemas</a:t>
            </a:r>
            <a:endParaRPr lang="es-ES" sz="1800" b="1" dirty="0">
              <a:solidFill>
                <a:srgbClr val="EB0000"/>
              </a:solidFill>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19" name="Rectangle 55" descr="Ángulos">
            <a:extLst>
              <a:ext uri="{FF2B5EF4-FFF2-40B4-BE49-F238E27FC236}">
                <a16:creationId xmlns:a16="http://schemas.microsoft.com/office/drawing/2014/main" id="{B95F56D6-D4D4-4ACB-8C24-FD94FF480038}"/>
              </a:ext>
            </a:extLst>
          </p:cNvPr>
          <p:cNvSpPr>
            <a:spLocks noChangeArrowheads="1"/>
          </p:cNvSpPr>
          <p:nvPr/>
        </p:nvSpPr>
        <p:spPr bwMode="auto">
          <a:xfrm flipV="1">
            <a:off x="9313899" y="6476243"/>
            <a:ext cx="317927" cy="171450"/>
          </a:xfrm>
          <a:prstGeom prst="rect">
            <a:avLst/>
          </a:prstGeom>
          <a:noFill/>
          <a:ln>
            <a:noFill/>
          </a:ln>
          <a:effectLst>
            <a:prstShdw prst="shdw17" dist="17961" dir="2700000">
              <a:srgbClr val="990000"/>
            </a:prstShdw>
          </a:effectLst>
        </p:spPr>
        <p:txBody>
          <a:bodyPr rot="10800000"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spcBef>
                <a:spcPct val="0"/>
              </a:spcBef>
              <a:buClr>
                <a:schemeClr val="accent2"/>
              </a:buClr>
              <a:buFont typeface="Wingdings" panose="05000000000000000000" pitchFamily="2" charset="2"/>
              <a:buNone/>
            </a:pPr>
            <a:endParaRPr lang="es-ES" altLang="es-ES" sz="1108">
              <a:solidFill>
                <a:schemeClr val="tx1"/>
              </a:solidFill>
            </a:endParaRPr>
          </a:p>
        </p:txBody>
      </p:sp>
      <p:graphicFrame>
        <p:nvGraphicFramePr>
          <p:cNvPr id="6" name="Tabla 5">
            <a:extLst>
              <a:ext uri="{FF2B5EF4-FFF2-40B4-BE49-F238E27FC236}">
                <a16:creationId xmlns:a16="http://schemas.microsoft.com/office/drawing/2014/main" id="{4EA38692-9CEF-4E1D-A87C-C4E1793568D1}"/>
              </a:ext>
            </a:extLst>
          </p:cNvPr>
          <p:cNvGraphicFramePr>
            <a:graphicFrameLocks noGrp="1"/>
          </p:cNvGraphicFramePr>
          <p:nvPr>
            <p:extLst>
              <p:ext uri="{D42A27DB-BD31-4B8C-83A1-F6EECF244321}">
                <p14:modId xmlns:p14="http://schemas.microsoft.com/office/powerpoint/2010/main" val="1756934445"/>
              </p:ext>
            </p:extLst>
          </p:nvPr>
        </p:nvGraphicFramePr>
        <p:xfrm>
          <a:off x="271706" y="973088"/>
          <a:ext cx="11555812" cy="2909837"/>
        </p:xfrm>
        <a:graphic>
          <a:graphicData uri="http://schemas.openxmlformats.org/drawingml/2006/table">
            <a:tbl>
              <a:tblPr/>
              <a:tblGrid>
                <a:gridCol w="476440">
                  <a:extLst>
                    <a:ext uri="{9D8B030D-6E8A-4147-A177-3AD203B41FA5}">
                      <a16:colId xmlns:a16="http://schemas.microsoft.com/office/drawing/2014/main" val="1679333959"/>
                    </a:ext>
                  </a:extLst>
                </a:gridCol>
                <a:gridCol w="1419277">
                  <a:extLst>
                    <a:ext uri="{9D8B030D-6E8A-4147-A177-3AD203B41FA5}">
                      <a16:colId xmlns:a16="http://schemas.microsoft.com/office/drawing/2014/main" val="132562875"/>
                    </a:ext>
                  </a:extLst>
                </a:gridCol>
                <a:gridCol w="1718777">
                  <a:extLst>
                    <a:ext uri="{9D8B030D-6E8A-4147-A177-3AD203B41FA5}">
                      <a16:colId xmlns:a16="http://schemas.microsoft.com/office/drawing/2014/main" val="3962172061"/>
                    </a:ext>
                  </a:extLst>
                </a:gridCol>
                <a:gridCol w="1409700">
                  <a:extLst>
                    <a:ext uri="{9D8B030D-6E8A-4147-A177-3AD203B41FA5}">
                      <a16:colId xmlns:a16="http://schemas.microsoft.com/office/drawing/2014/main" val="1121885685"/>
                    </a:ext>
                  </a:extLst>
                </a:gridCol>
                <a:gridCol w="6531618">
                  <a:extLst>
                    <a:ext uri="{9D8B030D-6E8A-4147-A177-3AD203B41FA5}">
                      <a16:colId xmlns:a16="http://schemas.microsoft.com/office/drawing/2014/main" val="2098101776"/>
                    </a:ext>
                  </a:extLst>
                </a:gridCol>
              </a:tblGrid>
              <a:tr h="38930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Num.</a:t>
                      </a:r>
                    </a:p>
                    <a:p>
                      <a:pPr algn="ctr" fontAlgn="ctr"/>
                      <a:r>
                        <a:rPr lang="es-ES" sz="1400" b="1" i="0" u="none" strike="noStrike" dirty="0">
                          <a:solidFill>
                            <a:srgbClr val="FFFFFF"/>
                          </a:solidFill>
                          <a:effectLst/>
                          <a:latin typeface="+mj-lt"/>
                        </a:rPr>
                        <a:t> Id.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Origen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Destino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Protocolo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Observaciones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2590006"/>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APPIAN</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Protocolo: </a:t>
                      </a:r>
                      <a:r>
                        <a:rPr kumimoji="0" lang="es-ES" sz="1400" b="0" i="0" u="none" strike="noStrike" cap="none" normalizeH="0" baseline="0" dirty="0" err="1">
                          <a:ln>
                            <a:noFill/>
                          </a:ln>
                          <a:solidFill>
                            <a:schemeClr val="tx1"/>
                          </a:solidFill>
                          <a:effectLst/>
                          <a:latin typeface="Arial" charset="0"/>
                        </a:rPr>
                        <a:t>Rest</a:t>
                      </a:r>
                      <a:endParaRPr kumimoji="0" lang="es-ES" sz="14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Acceso a los procesos de BPMN definidos en el APPIAN y que es responsable de la navegabilidad, comportamiento y los procesos de negocio del producto </a:t>
                      </a:r>
                      <a:r>
                        <a:rPr kumimoji="0" lang="es-ES" sz="1400" b="0" i="0" u="none" strike="noStrike" kern="1200" cap="none" normalizeH="0" baseline="0" dirty="0" err="1">
                          <a:ln>
                            <a:noFill/>
                          </a:ln>
                          <a:solidFill>
                            <a:schemeClr val="tx1"/>
                          </a:solidFill>
                          <a:effectLst/>
                          <a:latin typeface="Arial" charset="0"/>
                          <a:ea typeface="+mn-ea"/>
                          <a:cs typeface="+mn-cs"/>
                        </a:rPr>
                        <a:t>Onboarding</a:t>
                      </a:r>
                      <a:r>
                        <a:rPr kumimoji="0" lang="es-ES" sz="1400" b="0" i="0" u="none" strike="noStrike" kern="1200" cap="none" normalizeH="0" baseline="0" dirty="0">
                          <a:ln>
                            <a:noFill/>
                          </a:ln>
                          <a:solidFill>
                            <a:schemeClr val="tx1"/>
                          </a:solidFill>
                          <a:effectLst/>
                          <a:latin typeface="Arial" charset="0"/>
                          <a:ea typeface="+mn-ea"/>
                          <a:cs typeface="+mn-cs"/>
                        </a:rPr>
                        <a:t> de clientes.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724415"/>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a:ln>
                            <a:noFill/>
                          </a:ln>
                          <a:solidFill>
                            <a:schemeClr val="tx1"/>
                          </a:solidFill>
                          <a:effectLst/>
                          <a:latin typeface="Arial" charset="0"/>
                        </a:rPr>
                        <a:t>Edw-accounts</a:t>
                      </a:r>
                      <a:endParaRPr kumimoji="0" lang="es-ES" sz="1400" b="0" i="0" u="none" strike="noStrike" cap="none" normalizeH="0" baseline="0" dirty="0">
                        <a:ln>
                          <a:noFill/>
                        </a:ln>
                        <a:solidFill>
                          <a:schemeClr val="tx1"/>
                        </a:solidFill>
                        <a:effectLst/>
                        <a:latin typeface="Arial" charset="0"/>
                      </a:endParaRP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Protocolo </a:t>
                      </a:r>
                      <a:r>
                        <a:rPr kumimoji="0" lang="es-ES" sz="1400" b="0" i="0" u="none" strike="noStrike" cap="none" normalizeH="0" baseline="0" dirty="0" err="1">
                          <a:ln>
                            <a:noFill/>
                          </a:ln>
                          <a:solidFill>
                            <a:schemeClr val="tx1"/>
                          </a:solidFill>
                          <a:effectLst/>
                          <a:latin typeface="Arial" charset="0"/>
                        </a:rPr>
                        <a:t>Rest</a:t>
                      </a:r>
                      <a:endParaRPr kumimoji="0" lang="es-ES" sz="14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Acceso al bloqueo de cuentas.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556543"/>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err="1">
                          <a:ln>
                            <a:noFill/>
                          </a:ln>
                          <a:solidFill>
                            <a:schemeClr val="tx1"/>
                          </a:solidFill>
                          <a:effectLst/>
                          <a:latin typeface="Arial" charset="0"/>
                        </a:rPr>
                        <a:t>Paas</a:t>
                      </a:r>
                      <a:r>
                        <a:rPr kumimoji="0" lang="es-ES" sz="1400" b="0" i="0" u="none" strike="noStrike" cap="none" normalizeH="0" baseline="0" dirty="0">
                          <a:ln>
                            <a:noFill/>
                          </a:ln>
                          <a:solidFill>
                            <a:schemeClr val="tx1"/>
                          </a:solidFill>
                          <a:effectLst/>
                          <a:latin typeface="Arial" charset="0"/>
                        </a:rPr>
                        <a:t>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err="1">
                          <a:ln>
                            <a:noFill/>
                          </a:ln>
                          <a:solidFill>
                            <a:schemeClr val="tx1"/>
                          </a:solidFill>
                          <a:effectLst/>
                          <a:latin typeface="Arial" charset="0"/>
                        </a:rPr>
                        <a:t>ApiGee</a:t>
                      </a:r>
                      <a:r>
                        <a:rPr kumimoji="0" lang="es-ES" sz="1400" b="0" i="0" u="none" strike="noStrike" cap="none" normalizeH="0" baseline="0" dirty="0">
                          <a:ln>
                            <a:noFill/>
                          </a:ln>
                          <a:solidFill>
                            <a:schemeClr val="tx1"/>
                          </a:solidFill>
                          <a:effectLst/>
                          <a:latin typeface="Arial" charset="0"/>
                        </a:rPr>
                        <a:t> </a:t>
                      </a:r>
                      <a:r>
                        <a:rPr kumimoji="0" lang="es-ES" sz="1400" b="0" i="0" u="none" strike="noStrike" cap="none" normalizeH="0" baseline="0" dirty="0">
                          <a:ln>
                            <a:noFill/>
                          </a:ln>
                          <a:solidFill>
                            <a:schemeClr val="tx1"/>
                          </a:solidFill>
                          <a:effectLst/>
                          <a:latin typeface="Arial" charset="0"/>
                          <a:sym typeface="Wingdings" panose="05000000000000000000" pitchFamily="2" charset="2"/>
                        </a:rPr>
                        <a:t> </a:t>
                      </a:r>
                      <a:r>
                        <a:rPr kumimoji="0" lang="es-ES" sz="1400" b="0" i="0" u="none" strike="noStrike" cap="none" normalizeH="0" baseline="0" dirty="0">
                          <a:ln>
                            <a:noFill/>
                          </a:ln>
                          <a:solidFill>
                            <a:schemeClr val="tx1"/>
                          </a:solidFill>
                          <a:effectLst/>
                          <a:latin typeface="Arial" charset="0"/>
                        </a:rPr>
                        <a:t>PagoNxt</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Protocolo </a:t>
                      </a:r>
                      <a:r>
                        <a:rPr kumimoji="0" lang="es-ES" sz="1400" b="0" i="0" u="none" strike="noStrike" cap="none" normalizeH="0" baseline="0" dirty="0" err="1">
                          <a:ln>
                            <a:noFill/>
                          </a:ln>
                          <a:solidFill>
                            <a:schemeClr val="tx1"/>
                          </a:solidFill>
                          <a:effectLst/>
                          <a:latin typeface="Arial" charset="0"/>
                        </a:rPr>
                        <a:t>Rest</a:t>
                      </a:r>
                      <a:endParaRPr kumimoji="0" lang="es-ES" sz="14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Confirmación de cuentas por transferencias, sustituye a pagos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6606382"/>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Volumen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Volumen Persistente</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Nativo</a:t>
                      </a: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Volumen persistente para sustituir el S3 y el almacenamiento temporal de documentos e imágenes durante el proceso de alta</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5700663"/>
                  </a:ext>
                </a:extLst>
              </a:tr>
            </a:tbl>
          </a:graphicData>
        </a:graphic>
      </p:graphicFrame>
      <p:pic>
        <p:nvPicPr>
          <p:cNvPr id="5" name="Picture 662" descr="MC900434391[1]">
            <a:extLst>
              <a:ext uri="{FF2B5EF4-FFF2-40B4-BE49-F238E27FC236}">
                <a16:creationId xmlns:a16="http://schemas.microsoft.com/office/drawing/2014/main" id="{BE557E23-D5C9-4994-92B8-B019422AFC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686898" y="120511"/>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uadroTexto 6">
            <a:extLst>
              <a:ext uri="{FF2B5EF4-FFF2-40B4-BE49-F238E27FC236}">
                <a16:creationId xmlns:a16="http://schemas.microsoft.com/office/drawing/2014/main" id="{3F777B6E-41EC-4D8F-B6C9-1AE2F31AB5FF}"/>
              </a:ext>
            </a:extLst>
          </p:cNvPr>
          <p:cNvSpPr txBox="1"/>
          <p:nvPr/>
        </p:nvSpPr>
        <p:spPr>
          <a:xfrm>
            <a:off x="7519543" y="530362"/>
            <a:ext cx="6096000" cy="400110"/>
          </a:xfrm>
          <a:prstGeom prst="rect">
            <a:avLst/>
          </a:prstGeom>
          <a:noFill/>
        </p:spPr>
        <p:txBody>
          <a:bodyPr wrap="square">
            <a:spAutoFit/>
          </a:bodyPr>
          <a:lstStyle/>
          <a:p>
            <a:pPr marL="0" marR="0" lvl="0" indent="0" algn="just" defTabSz="914390" rtl="0" eaLnBrk="1" fontAlgn="auto" latinLnBrk="0" hangingPunct="1">
              <a:lnSpc>
                <a:spcPct val="100000"/>
              </a:lnSpc>
              <a:spcBef>
                <a:spcPts val="0"/>
              </a:spcBef>
              <a:spcAft>
                <a:spcPts val="0"/>
              </a:spcAft>
              <a:buClrTx/>
              <a:buSzTx/>
              <a:buFontTx/>
              <a:buNone/>
              <a:tabLst/>
              <a:defRPr/>
            </a:pPr>
            <a:r>
              <a:rPr kumimoji="0" lang="es-ES" sz="1000" b="0" i="0" u="none" strike="noStrike" kern="1200" cap="none" normalizeH="0" baseline="0" dirty="0">
                <a:ln>
                  <a:noFill/>
                </a:ln>
                <a:solidFill>
                  <a:schemeClr val="tx1"/>
                </a:solidFill>
                <a:effectLst/>
                <a:latin typeface="Arial" charset="0"/>
                <a:ea typeface="+mn-ea"/>
                <a:cs typeface="+mn-cs"/>
              </a:rPr>
              <a:t>En Ref 8 y Ref 9 se define los micros de Filenet y PiOnline</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000" b="0" i="0" u="none" strike="noStrike" kern="1200" cap="none" normalizeH="0" baseline="0" dirty="0">
                <a:ln>
                  <a:noFill/>
                </a:ln>
                <a:solidFill>
                  <a:schemeClr val="tx1"/>
                </a:solidFill>
                <a:effectLst/>
                <a:latin typeface="Arial" charset="0"/>
                <a:ea typeface="+mn-ea"/>
                <a:cs typeface="+mn-cs"/>
              </a:rPr>
              <a:t>En Ref 6 y Ref 7 se indica todo lo relativo al expediente de firma.</a:t>
            </a:r>
          </a:p>
        </p:txBody>
      </p:sp>
      <p:pic>
        <p:nvPicPr>
          <p:cNvPr id="2" name="Picture 662" descr="MC900434391[1]">
            <a:extLst>
              <a:ext uri="{FF2B5EF4-FFF2-40B4-BE49-F238E27FC236}">
                <a16:creationId xmlns:a16="http://schemas.microsoft.com/office/drawing/2014/main" id="{EDD800F9-196F-F49D-AB2C-2B9FD856CB9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80210" y="3429000"/>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8087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155" name="2 Marcador de contenido"/>
          <p:cNvSpPr txBox="1">
            <a:spLocks/>
          </p:cNvSpPr>
          <p:nvPr/>
        </p:nvSpPr>
        <p:spPr bwMode="auto">
          <a:xfrm>
            <a:off x="274563" y="549600"/>
            <a:ext cx="9353666" cy="387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spcBef>
                <a:spcPts val="300"/>
              </a:spcBef>
              <a:buNone/>
            </a:pPr>
            <a:r>
              <a:rPr lang="es-ES" sz="2000" b="1" dirty="0">
                <a:solidFill>
                  <a:srgbClr val="EB0000"/>
                </a:solidFill>
                <a:ea typeface="Segoe UI" panose="020B0502040204020203" pitchFamily="34" charset="0"/>
                <a:cs typeface="Segoe UI" panose="020B0502040204020203" pitchFamily="34" charset="0"/>
              </a:rPr>
              <a:t>Mapa técnico de arquitectura: </a:t>
            </a:r>
            <a:r>
              <a:rPr lang="en-GB" sz="2000" b="1" dirty="0">
                <a:solidFill>
                  <a:srgbClr val="EB0000"/>
                </a:solidFill>
                <a:cs typeface="Segoe UI" panose="020B0502040204020203" pitchFamily="34" charset="0"/>
              </a:rPr>
              <a:t>procesos </a:t>
            </a:r>
            <a:r>
              <a:rPr lang="en-GB" sz="2000" b="1" dirty="0" err="1">
                <a:solidFill>
                  <a:srgbClr val="EB0000"/>
                </a:solidFill>
                <a:cs typeface="Segoe UI" panose="020B0502040204020203" pitchFamily="34" charset="0"/>
              </a:rPr>
              <a:t>planificados</a:t>
            </a:r>
            <a:r>
              <a:rPr lang="en-GB" sz="2000" b="1" dirty="0">
                <a:solidFill>
                  <a:srgbClr val="EB0000"/>
                </a:solidFill>
                <a:cs typeface="Segoe UI" panose="020B0502040204020203" pitchFamily="34" charset="0"/>
              </a:rPr>
              <a:t>.</a:t>
            </a:r>
          </a:p>
          <a:p>
            <a:pPr marL="0" indent="0">
              <a:spcBef>
                <a:spcPts val="300"/>
              </a:spcBef>
            </a:pPr>
            <a:r>
              <a:rPr lang="es-ES" altLang="es-ES" sz="2000" dirty="0">
                <a:solidFill>
                  <a:srgbClr val="FF0000"/>
                </a:solidFill>
              </a:rPr>
              <a:t>Proceso de cancelación de solicitud por caducidad</a:t>
            </a:r>
            <a:endParaRPr lang="es-ES_tradnl" altLang="es-ES" sz="2000" dirty="0">
              <a:solidFill>
                <a:srgbClr val="FF0000"/>
              </a:solidFill>
            </a:endParaRPr>
          </a:p>
          <a:p>
            <a:pPr marL="0" indent="0">
              <a:spcBef>
                <a:spcPts val="300"/>
              </a:spcBef>
              <a:buNone/>
            </a:pPr>
            <a:endParaRPr lang="es-ES" sz="2000" b="1" dirty="0">
              <a:solidFill>
                <a:srgbClr val="EB0000"/>
              </a:solidFill>
              <a:cs typeface="Segoe UI" panose="020B0502040204020203" pitchFamily="34" charset="0"/>
            </a:endParaRPr>
          </a:p>
          <a:p>
            <a:pPr algn="ctr">
              <a:buClr>
                <a:srgbClr val="FF0000"/>
              </a:buClr>
              <a:buFont typeface="Wingdings" pitchFamily="2" charset="2"/>
              <a:buChar char="w"/>
              <a:defRPr/>
            </a:pPr>
            <a:endParaRPr lang="es-ES" sz="2200" dirty="0">
              <a:solidFill>
                <a:srgbClr val="FF0000"/>
              </a:solidFill>
            </a:endParaRPr>
          </a:p>
        </p:txBody>
      </p:sp>
      <p:sp>
        <p:nvSpPr>
          <p:cNvPr id="54" name="Rectangle 331">
            <a:extLst>
              <a:ext uri="{FF2B5EF4-FFF2-40B4-BE49-F238E27FC236}">
                <a16:creationId xmlns:a16="http://schemas.microsoft.com/office/drawing/2014/main" id="{08D803E7-4D55-4E27-8BF9-54DEDEC69874}"/>
              </a:ext>
            </a:extLst>
          </p:cNvPr>
          <p:cNvSpPr>
            <a:spLocks noChangeArrowheads="1"/>
          </p:cNvSpPr>
          <p:nvPr/>
        </p:nvSpPr>
        <p:spPr bwMode="auto">
          <a:xfrm>
            <a:off x="9316398" y="549600"/>
            <a:ext cx="2754263" cy="723395"/>
          </a:xfrm>
          <a:prstGeom prst="rect">
            <a:avLst/>
          </a:prstGeom>
          <a:solidFill>
            <a:schemeClr val="bg1"/>
          </a:solidFill>
          <a:ln>
            <a:solidFill>
              <a:srgbClr val="FF0000"/>
            </a:solidFill>
            <a:headEnd/>
            <a:tailEnd/>
          </a:ln>
        </p:spPr>
        <p:style>
          <a:lnRef idx="1">
            <a:schemeClr val="accent2"/>
          </a:lnRef>
          <a:fillRef idx="2">
            <a:schemeClr val="accent2"/>
          </a:fillRef>
          <a:effectRef idx="1">
            <a:schemeClr val="accent2"/>
          </a:effectRef>
          <a:fontRef idx="minor">
            <a:schemeClr val="dk1"/>
          </a:fontRef>
        </p:style>
        <p:txBody>
          <a:bodyPr wrap="none">
            <a:flatTx/>
          </a:bodyPr>
          <a:lstStyle/>
          <a:p>
            <a:pPr defTabSz="914395">
              <a:defRPr/>
            </a:pPr>
            <a:endParaRPr lang="en-US" sz="1100" b="1" dirty="0">
              <a:solidFill>
                <a:sysClr val="windowText" lastClr="000000"/>
              </a:solidFill>
              <a:latin typeface="Calibri" panose="020F0502020204030204"/>
            </a:endParaRPr>
          </a:p>
        </p:txBody>
      </p:sp>
      <p:sp>
        <p:nvSpPr>
          <p:cNvPr id="55" name="TextBox 181">
            <a:extLst>
              <a:ext uri="{FF2B5EF4-FFF2-40B4-BE49-F238E27FC236}">
                <a16:creationId xmlns:a16="http://schemas.microsoft.com/office/drawing/2014/main" id="{B0993E16-2E6E-48B2-B8D0-B92CF9975265}"/>
              </a:ext>
            </a:extLst>
          </p:cNvPr>
          <p:cNvSpPr txBox="1">
            <a:spLocks noChangeArrowheads="1"/>
          </p:cNvSpPr>
          <p:nvPr/>
        </p:nvSpPr>
        <p:spPr bwMode="auto">
          <a:xfrm>
            <a:off x="11307949" y="839810"/>
            <a:ext cx="3497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FILE</a:t>
            </a:r>
          </a:p>
        </p:txBody>
      </p:sp>
      <p:cxnSp>
        <p:nvCxnSpPr>
          <p:cNvPr id="56" name="25 Conector recto de flecha">
            <a:extLst>
              <a:ext uri="{FF2B5EF4-FFF2-40B4-BE49-F238E27FC236}">
                <a16:creationId xmlns:a16="http://schemas.microsoft.com/office/drawing/2014/main" id="{129F735C-883A-485B-90AF-307FBA15EABA}"/>
              </a:ext>
            </a:extLst>
          </p:cNvPr>
          <p:cNvCxnSpPr/>
          <p:nvPr/>
        </p:nvCxnSpPr>
        <p:spPr bwMode="auto">
          <a:xfrm>
            <a:off x="11072320" y="726657"/>
            <a:ext cx="255395" cy="40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181">
            <a:extLst>
              <a:ext uri="{FF2B5EF4-FFF2-40B4-BE49-F238E27FC236}">
                <a16:creationId xmlns:a16="http://schemas.microsoft.com/office/drawing/2014/main" id="{862E7350-5B4B-4C2A-9C65-ACBA613A7C36}"/>
              </a:ext>
            </a:extLst>
          </p:cNvPr>
          <p:cNvSpPr txBox="1">
            <a:spLocks noChangeArrowheads="1"/>
          </p:cNvSpPr>
          <p:nvPr/>
        </p:nvSpPr>
        <p:spPr bwMode="auto">
          <a:xfrm>
            <a:off x="11330854" y="622950"/>
            <a:ext cx="39466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err="1">
                <a:solidFill>
                  <a:srgbClr val="000000"/>
                </a:solidFill>
                <a:latin typeface="Calibri" pitchFamily="34" charset="0"/>
                <a:cs typeface="Arial" charset="0"/>
              </a:rPr>
              <a:t>smtp</a:t>
            </a:r>
            <a:endParaRPr lang="es-ES" altLang="es-ES" sz="800" b="0" dirty="0">
              <a:solidFill>
                <a:srgbClr val="000000"/>
              </a:solidFill>
              <a:latin typeface="Calibri" pitchFamily="34" charset="0"/>
              <a:cs typeface="Arial" charset="0"/>
            </a:endParaRPr>
          </a:p>
        </p:txBody>
      </p:sp>
      <p:sp>
        <p:nvSpPr>
          <p:cNvPr id="58" name="CuadroTexto 57">
            <a:extLst>
              <a:ext uri="{FF2B5EF4-FFF2-40B4-BE49-F238E27FC236}">
                <a16:creationId xmlns:a16="http://schemas.microsoft.com/office/drawing/2014/main" id="{0F25A5E7-CD35-4DB0-9C2C-9E9E6D17C515}"/>
              </a:ext>
            </a:extLst>
          </p:cNvPr>
          <p:cNvSpPr txBox="1"/>
          <p:nvPr/>
        </p:nvSpPr>
        <p:spPr>
          <a:xfrm>
            <a:off x="10492204" y="61029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Nuevo</a:t>
            </a:r>
          </a:p>
        </p:txBody>
      </p:sp>
      <p:cxnSp>
        <p:nvCxnSpPr>
          <p:cNvPr id="90" name="25 Conector recto de flecha">
            <a:extLst>
              <a:ext uri="{FF2B5EF4-FFF2-40B4-BE49-F238E27FC236}">
                <a16:creationId xmlns:a16="http://schemas.microsoft.com/office/drawing/2014/main" id="{BF5E2641-20C5-4F1C-9BD8-8B3EEF040753}"/>
              </a:ext>
            </a:extLst>
          </p:cNvPr>
          <p:cNvCxnSpPr>
            <a:cxnSpLocks/>
          </p:cNvCxnSpPr>
          <p:nvPr/>
        </p:nvCxnSpPr>
        <p:spPr bwMode="auto">
          <a:xfrm>
            <a:off x="11072320" y="1101128"/>
            <a:ext cx="235629" cy="75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Oval 18">
            <a:extLst>
              <a:ext uri="{FF2B5EF4-FFF2-40B4-BE49-F238E27FC236}">
                <a16:creationId xmlns:a16="http://schemas.microsoft.com/office/drawing/2014/main" id="{365B39D2-0F6C-4078-A60F-9207B71586A2}"/>
              </a:ext>
            </a:extLst>
          </p:cNvPr>
          <p:cNvSpPr>
            <a:spLocks noChangeArrowheads="1"/>
          </p:cNvSpPr>
          <p:nvPr/>
        </p:nvSpPr>
        <p:spPr bwMode="auto">
          <a:xfrm>
            <a:off x="10237971" y="578862"/>
            <a:ext cx="226800" cy="227917"/>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N</a:t>
            </a:r>
          </a:p>
        </p:txBody>
      </p:sp>
      <p:cxnSp>
        <p:nvCxnSpPr>
          <p:cNvPr id="107" name="25 Conector recto de flecha">
            <a:extLst>
              <a:ext uri="{FF2B5EF4-FFF2-40B4-BE49-F238E27FC236}">
                <a16:creationId xmlns:a16="http://schemas.microsoft.com/office/drawing/2014/main" id="{62E7BDDC-5F97-42D8-AA36-484B8970DFC1}"/>
              </a:ext>
            </a:extLst>
          </p:cNvPr>
          <p:cNvCxnSpPr/>
          <p:nvPr/>
        </p:nvCxnSpPr>
        <p:spPr bwMode="auto">
          <a:xfrm>
            <a:off x="11072320" y="954936"/>
            <a:ext cx="255395" cy="4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8" name="TextBox 181">
            <a:extLst>
              <a:ext uri="{FF2B5EF4-FFF2-40B4-BE49-F238E27FC236}">
                <a16:creationId xmlns:a16="http://schemas.microsoft.com/office/drawing/2014/main" id="{B37783E5-57BC-43F8-B89C-415B9E4FBF70}"/>
              </a:ext>
            </a:extLst>
          </p:cNvPr>
          <p:cNvSpPr txBox="1">
            <a:spLocks noChangeArrowheads="1"/>
          </p:cNvSpPr>
          <p:nvPr/>
        </p:nvSpPr>
        <p:spPr bwMode="auto">
          <a:xfrm>
            <a:off x="11330855" y="1004457"/>
            <a:ext cx="61427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FTP / SFTP</a:t>
            </a:r>
          </a:p>
        </p:txBody>
      </p:sp>
      <p:sp>
        <p:nvSpPr>
          <p:cNvPr id="99" name="5 Marcador de número de diapositiva">
            <a:extLst>
              <a:ext uri="{FF2B5EF4-FFF2-40B4-BE49-F238E27FC236}">
                <a16:creationId xmlns:a16="http://schemas.microsoft.com/office/drawing/2014/main" id="{4E3BA852-17D8-4F6E-8C0E-8FA6502E525D}"/>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23</a:t>
            </a:fld>
            <a:endParaRPr lang="es-ES" sz="1292" dirty="0"/>
          </a:p>
        </p:txBody>
      </p:sp>
      <p:sp>
        <p:nvSpPr>
          <p:cNvPr id="122" name="Oval 18">
            <a:extLst>
              <a:ext uri="{FF2B5EF4-FFF2-40B4-BE49-F238E27FC236}">
                <a16:creationId xmlns:a16="http://schemas.microsoft.com/office/drawing/2014/main" id="{72065270-A747-4C06-BAD5-0AF90182670E}"/>
              </a:ext>
            </a:extLst>
          </p:cNvPr>
          <p:cNvSpPr>
            <a:spLocks noChangeArrowheads="1"/>
          </p:cNvSpPr>
          <p:nvPr/>
        </p:nvSpPr>
        <p:spPr bwMode="auto">
          <a:xfrm>
            <a:off x="10255782" y="819635"/>
            <a:ext cx="226800" cy="227917"/>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M</a:t>
            </a:r>
          </a:p>
        </p:txBody>
      </p:sp>
      <p:sp>
        <p:nvSpPr>
          <p:cNvPr id="123" name="CuadroTexto 122">
            <a:extLst>
              <a:ext uri="{FF2B5EF4-FFF2-40B4-BE49-F238E27FC236}">
                <a16:creationId xmlns:a16="http://schemas.microsoft.com/office/drawing/2014/main" id="{EA79CB3B-5B2B-45C0-AE11-038DA3E27C7A}"/>
              </a:ext>
            </a:extLst>
          </p:cNvPr>
          <p:cNvSpPr txBox="1"/>
          <p:nvPr/>
        </p:nvSpPr>
        <p:spPr>
          <a:xfrm>
            <a:off x="10482583" y="837147"/>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Modificado</a:t>
            </a:r>
          </a:p>
        </p:txBody>
      </p:sp>
      <p:sp>
        <p:nvSpPr>
          <p:cNvPr id="124" name="Oval 18">
            <a:extLst>
              <a:ext uri="{FF2B5EF4-FFF2-40B4-BE49-F238E27FC236}">
                <a16:creationId xmlns:a16="http://schemas.microsoft.com/office/drawing/2014/main" id="{18ABAF1B-F41F-4894-BF67-0E1CC94E4F41}"/>
              </a:ext>
            </a:extLst>
          </p:cNvPr>
          <p:cNvSpPr>
            <a:spLocks noChangeArrowheads="1"/>
          </p:cNvSpPr>
          <p:nvPr/>
        </p:nvSpPr>
        <p:spPr bwMode="auto">
          <a:xfrm>
            <a:off x="10267356" y="1045998"/>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25" name="CuadroTexto 124">
            <a:extLst>
              <a:ext uri="{FF2B5EF4-FFF2-40B4-BE49-F238E27FC236}">
                <a16:creationId xmlns:a16="http://schemas.microsoft.com/office/drawing/2014/main" id="{71391F6D-C5BB-4299-8552-3DCD23C661D9}"/>
              </a:ext>
            </a:extLst>
          </p:cNvPr>
          <p:cNvSpPr txBox="1"/>
          <p:nvPr/>
        </p:nvSpPr>
        <p:spPr>
          <a:xfrm>
            <a:off x="10505488" y="106141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Existente</a:t>
            </a:r>
          </a:p>
        </p:txBody>
      </p:sp>
      <p:pic>
        <p:nvPicPr>
          <p:cNvPr id="7" name="Imagen 6">
            <a:extLst>
              <a:ext uri="{FF2B5EF4-FFF2-40B4-BE49-F238E27FC236}">
                <a16:creationId xmlns:a16="http://schemas.microsoft.com/office/drawing/2014/main" id="{D65E0D2A-D80B-4A96-B04A-BA4BEEEAAAA2}"/>
              </a:ext>
            </a:extLst>
          </p:cNvPr>
          <p:cNvPicPr>
            <a:picLocks noChangeAspect="1"/>
          </p:cNvPicPr>
          <p:nvPr/>
        </p:nvPicPr>
        <p:blipFill>
          <a:blip r:embed="rId3"/>
          <a:stretch>
            <a:fillRect/>
          </a:stretch>
        </p:blipFill>
        <p:spPr>
          <a:xfrm>
            <a:off x="8268599" y="3996776"/>
            <a:ext cx="694592" cy="1134208"/>
          </a:xfrm>
          <a:prstGeom prst="rect">
            <a:avLst/>
          </a:prstGeom>
        </p:spPr>
      </p:pic>
      <p:grpSp>
        <p:nvGrpSpPr>
          <p:cNvPr id="105" name="Grupo 104">
            <a:extLst>
              <a:ext uri="{FF2B5EF4-FFF2-40B4-BE49-F238E27FC236}">
                <a16:creationId xmlns:a16="http://schemas.microsoft.com/office/drawing/2014/main" id="{6B3F35BD-AA75-449C-83D3-826C0703AB6E}"/>
              </a:ext>
            </a:extLst>
          </p:cNvPr>
          <p:cNvGrpSpPr/>
          <p:nvPr/>
        </p:nvGrpSpPr>
        <p:grpSpPr>
          <a:xfrm>
            <a:off x="9379329" y="618385"/>
            <a:ext cx="288789" cy="128483"/>
            <a:chOff x="10457075" y="2470064"/>
            <a:chExt cx="431319" cy="225978"/>
          </a:xfrm>
        </p:grpSpPr>
        <p:sp>
          <p:nvSpPr>
            <p:cNvPr id="109" name="Rectángulo 108">
              <a:extLst>
                <a:ext uri="{FF2B5EF4-FFF2-40B4-BE49-F238E27FC236}">
                  <a16:creationId xmlns:a16="http://schemas.microsoft.com/office/drawing/2014/main" id="{6AA7EC62-B94F-4ACA-B951-CF9C0CAE6AD4}"/>
                </a:ext>
              </a:extLst>
            </p:cNvPr>
            <p:cNvSpPr/>
            <p:nvPr/>
          </p:nvSpPr>
          <p:spPr>
            <a:xfrm>
              <a:off x="10457075" y="2470064"/>
              <a:ext cx="431319" cy="22597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16" name="Rectángulo 115">
              <a:extLst>
                <a:ext uri="{FF2B5EF4-FFF2-40B4-BE49-F238E27FC236}">
                  <a16:creationId xmlns:a16="http://schemas.microsoft.com/office/drawing/2014/main" id="{83589C93-02FD-4524-8067-F9259B54C3DD}"/>
                </a:ext>
              </a:extLst>
            </p:cNvPr>
            <p:cNvSpPr/>
            <p:nvPr/>
          </p:nvSpPr>
          <p:spPr>
            <a:xfrm>
              <a:off x="10526091"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grpSp>
      <p:sp>
        <p:nvSpPr>
          <p:cNvPr id="119" name="CuadroTexto 118">
            <a:extLst>
              <a:ext uri="{FF2B5EF4-FFF2-40B4-BE49-F238E27FC236}">
                <a16:creationId xmlns:a16="http://schemas.microsoft.com/office/drawing/2014/main" id="{FB877C06-5586-43A2-89A2-7C60EF752D54}"/>
              </a:ext>
            </a:extLst>
          </p:cNvPr>
          <p:cNvSpPr txBox="1"/>
          <p:nvPr/>
        </p:nvSpPr>
        <p:spPr>
          <a:xfrm>
            <a:off x="9676536" y="596009"/>
            <a:ext cx="617932" cy="191719"/>
          </a:xfrm>
          <a:prstGeom prst="rect">
            <a:avLst/>
          </a:prstGeom>
          <a:noFill/>
        </p:spPr>
        <p:txBody>
          <a:bodyPr wrap="square" rtlCol="0">
            <a:spAutoFit/>
          </a:bodyPr>
          <a:lstStyle/>
          <a:p>
            <a:r>
              <a:rPr lang="es-ES" sz="646" dirty="0"/>
              <a:t>Token JWT </a:t>
            </a:r>
          </a:p>
        </p:txBody>
      </p:sp>
      <p:cxnSp>
        <p:nvCxnSpPr>
          <p:cNvPr id="128" name="25 Conector recto de flecha">
            <a:extLst>
              <a:ext uri="{FF2B5EF4-FFF2-40B4-BE49-F238E27FC236}">
                <a16:creationId xmlns:a16="http://schemas.microsoft.com/office/drawing/2014/main" id="{E3FB340E-2A12-4BEB-A7E8-42C13F420025}"/>
              </a:ext>
            </a:extLst>
          </p:cNvPr>
          <p:cNvCxnSpPr/>
          <p:nvPr/>
        </p:nvCxnSpPr>
        <p:spPr bwMode="auto">
          <a:xfrm>
            <a:off x="9408489" y="976226"/>
            <a:ext cx="255395" cy="4015"/>
          </a:xfrm>
          <a:prstGeom prst="straightConnector1">
            <a:avLst/>
          </a:prstGeom>
          <a:ln>
            <a:solidFill>
              <a:srgbClr val="FFFF00"/>
            </a:solidFill>
            <a:tailEnd type="triangle"/>
          </a:ln>
        </p:spPr>
        <p:style>
          <a:lnRef idx="3">
            <a:schemeClr val="dk1"/>
          </a:lnRef>
          <a:fillRef idx="0">
            <a:schemeClr val="dk1"/>
          </a:fillRef>
          <a:effectRef idx="2">
            <a:schemeClr val="dk1"/>
          </a:effectRef>
          <a:fontRef idx="minor">
            <a:schemeClr val="tx1"/>
          </a:fontRef>
        </p:style>
      </p:cxnSp>
      <p:sp>
        <p:nvSpPr>
          <p:cNvPr id="140" name="TextBox 181">
            <a:extLst>
              <a:ext uri="{FF2B5EF4-FFF2-40B4-BE49-F238E27FC236}">
                <a16:creationId xmlns:a16="http://schemas.microsoft.com/office/drawing/2014/main" id="{9FD8555C-3ED4-4B6A-8793-1E0E45735F43}"/>
              </a:ext>
            </a:extLst>
          </p:cNvPr>
          <p:cNvSpPr txBox="1">
            <a:spLocks noChangeArrowheads="1"/>
          </p:cNvSpPr>
          <p:nvPr/>
        </p:nvSpPr>
        <p:spPr bwMode="auto">
          <a:xfrm>
            <a:off x="9672521" y="861350"/>
            <a:ext cx="397866" cy="343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31" b="0" dirty="0">
                <a:solidFill>
                  <a:srgbClr val="000000"/>
                </a:solidFill>
                <a:latin typeface="Calibri" pitchFamily="34" charset="0"/>
                <a:cs typeface="Arial" charset="0"/>
              </a:rPr>
              <a:t>JDBC</a:t>
            </a:r>
          </a:p>
          <a:p>
            <a:pPr defTabSz="914395">
              <a:defRPr/>
            </a:pPr>
            <a:endParaRPr lang="es-ES" altLang="es-ES" sz="800" b="0" dirty="0">
              <a:solidFill>
                <a:srgbClr val="000000"/>
              </a:solidFill>
              <a:latin typeface="Calibri" pitchFamily="34" charset="0"/>
              <a:cs typeface="Arial" charset="0"/>
            </a:endParaRPr>
          </a:p>
        </p:txBody>
      </p:sp>
      <p:sp>
        <p:nvSpPr>
          <p:cNvPr id="103" name="Rectángulo: esquinas redondeadas 102">
            <a:extLst>
              <a:ext uri="{FF2B5EF4-FFF2-40B4-BE49-F238E27FC236}">
                <a16:creationId xmlns:a16="http://schemas.microsoft.com/office/drawing/2014/main" id="{B6B2F949-3DCA-40F0-B4B1-04F288B30D26}"/>
              </a:ext>
            </a:extLst>
          </p:cNvPr>
          <p:cNvSpPr/>
          <p:nvPr/>
        </p:nvSpPr>
        <p:spPr>
          <a:xfrm>
            <a:off x="4346279" y="1782162"/>
            <a:ext cx="6118491" cy="3648942"/>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a:p>
        </p:txBody>
      </p:sp>
      <p:grpSp>
        <p:nvGrpSpPr>
          <p:cNvPr id="150" name="Grupo 149">
            <a:extLst>
              <a:ext uri="{FF2B5EF4-FFF2-40B4-BE49-F238E27FC236}">
                <a16:creationId xmlns:a16="http://schemas.microsoft.com/office/drawing/2014/main" id="{7BC4577D-E3E6-468C-9E95-66F30DA9214B}"/>
              </a:ext>
            </a:extLst>
          </p:cNvPr>
          <p:cNvGrpSpPr/>
          <p:nvPr/>
        </p:nvGrpSpPr>
        <p:grpSpPr>
          <a:xfrm>
            <a:off x="6186360" y="1861374"/>
            <a:ext cx="1425131" cy="1365033"/>
            <a:chOff x="4214162" y="2214374"/>
            <a:chExt cx="3501284" cy="3857088"/>
          </a:xfrm>
        </p:grpSpPr>
        <p:sp>
          <p:nvSpPr>
            <p:cNvPr id="151" name="Oval 465">
              <a:extLst>
                <a:ext uri="{FF2B5EF4-FFF2-40B4-BE49-F238E27FC236}">
                  <a16:creationId xmlns:a16="http://schemas.microsoft.com/office/drawing/2014/main" id="{4FCC1F58-BEF2-4355-A29D-C9DF443C487E}"/>
                </a:ext>
              </a:extLst>
            </p:cNvPr>
            <p:cNvSpPr>
              <a:spLocks noChangeArrowheads="1"/>
            </p:cNvSpPr>
            <p:nvPr/>
          </p:nvSpPr>
          <p:spPr bwMode="auto">
            <a:xfrm>
              <a:off x="6152189" y="3941550"/>
              <a:ext cx="148851" cy="150886"/>
            </a:xfrm>
            <a:prstGeom prst="ellipse">
              <a:avLst/>
            </a:prstGeom>
            <a:solidFill>
              <a:schemeClr val="tx1"/>
            </a:solidFill>
            <a:ln w="9525">
              <a:solidFill>
                <a:schemeClr val="tx1"/>
              </a:solidFill>
              <a:round/>
              <a:headEnd/>
              <a:tailEnd/>
            </a:ln>
          </p:spPr>
          <p:txBody>
            <a:bodyPr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710" b="0" dirty="0">
                  <a:solidFill>
                    <a:schemeClr val="bg1"/>
                  </a:solidFill>
                </a:rPr>
                <a:t>9</a:t>
              </a:r>
            </a:p>
          </p:txBody>
        </p:sp>
        <p:grpSp>
          <p:nvGrpSpPr>
            <p:cNvPr id="152" name="Grupo 151">
              <a:extLst>
                <a:ext uri="{FF2B5EF4-FFF2-40B4-BE49-F238E27FC236}">
                  <a16:creationId xmlns:a16="http://schemas.microsoft.com/office/drawing/2014/main" id="{A6E20238-53ED-4FDD-A3D3-93A512F043A1}"/>
                </a:ext>
              </a:extLst>
            </p:cNvPr>
            <p:cNvGrpSpPr/>
            <p:nvPr/>
          </p:nvGrpSpPr>
          <p:grpSpPr>
            <a:xfrm>
              <a:off x="4214162" y="2214374"/>
              <a:ext cx="3501284" cy="3857088"/>
              <a:chOff x="4484038" y="3393298"/>
              <a:chExt cx="2193246" cy="2458882"/>
            </a:xfrm>
          </p:grpSpPr>
          <p:sp>
            <p:nvSpPr>
              <p:cNvPr id="153" name="Rectángulo: esquinas redondeadas 152">
                <a:extLst>
                  <a:ext uri="{FF2B5EF4-FFF2-40B4-BE49-F238E27FC236}">
                    <a16:creationId xmlns:a16="http://schemas.microsoft.com/office/drawing/2014/main" id="{E918FAAA-EE70-4506-9174-97C86755B4FB}"/>
                  </a:ext>
                </a:extLst>
              </p:cNvPr>
              <p:cNvSpPr/>
              <p:nvPr/>
            </p:nvSpPr>
            <p:spPr>
              <a:xfrm>
                <a:off x="4484038" y="3393298"/>
                <a:ext cx="2193246" cy="2458882"/>
              </a:xfrm>
              <a:prstGeom prst="roundRect">
                <a:avLst/>
              </a:prstGeom>
              <a:solidFill>
                <a:schemeClr val="bg1"/>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54" name="CuadroTexto 153">
                <a:extLst>
                  <a:ext uri="{FF2B5EF4-FFF2-40B4-BE49-F238E27FC236}">
                    <a16:creationId xmlns:a16="http://schemas.microsoft.com/office/drawing/2014/main" id="{E3A8925E-622B-4671-97E0-41AFF66F9BB5}"/>
                  </a:ext>
                </a:extLst>
              </p:cNvPr>
              <p:cNvSpPr txBox="1"/>
              <p:nvPr/>
            </p:nvSpPr>
            <p:spPr>
              <a:xfrm>
                <a:off x="4866700" y="3608586"/>
                <a:ext cx="1471642" cy="1185842"/>
              </a:xfrm>
              <a:prstGeom prst="rect">
                <a:avLst/>
              </a:prstGeom>
              <a:noFill/>
            </p:spPr>
            <p:txBody>
              <a:bodyPr wrap="square" rtlCol="0">
                <a:spAutoFit/>
              </a:bodyPr>
              <a:lstStyle/>
              <a:p>
                <a:pPr algn="ctr"/>
                <a:r>
                  <a:rPr lang="es-ES" sz="923" b="1" dirty="0">
                    <a:solidFill>
                      <a:srgbClr val="1BB3BC"/>
                    </a:solidFill>
                  </a:rPr>
                  <a:t>Servidor Procesos BATCH</a:t>
                </a:r>
              </a:p>
              <a:p>
                <a:pPr algn="ctr"/>
                <a:r>
                  <a:rPr lang="es-ES" sz="923" b="1" dirty="0">
                    <a:solidFill>
                      <a:srgbClr val="1BB3BC"/>
                    </a:solidFill>
                  </a:rPr>
                  <a:t>Linux</a:t>
                </a:r>
              </a:p>
              <a:p>
                <a:endParaRPr lang="es-ES" sz="923" b="1" dirty="0">
                  <a:solidFill>
                    <a:srgbClr val="1BB3BC"/>
                  </a:solidFill>
                </a:endParaRPr>
              </a:p>
            </p:txBody>
          </p:sp>
        </p:grpSp>
      </p:grpSp>
      <p:pic>
        <p:nvPicPr>
          <p:cNvPr id="156" name="Imagen 155">
            <a:extLst>
              <a:ext uri="{FF2B5EF4-FFF2-40B4-BE49-F238E27FC236}">
                <a16:creationId xmlns:a16="http://schemas.microsoft.com/office/drawing/2014/main" id="{482C29D0-042D-4119-B604-FBA2E093EB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15715" y="2767258"/>
            <a:ext cx="385446" cy="386633"/>
          </a:xfrm>
          <a:prstGeom prst="rect">
            <a:avLst/>
          </a:prstGeom>
        </p:spPr>
      </p:pic>
      <p:cxnSp>
        <p:nvCxnSpPr>
          <p:cNvPr id="157" name="Conector recto de flecha 156">
            <a:extLst>
              <a:ext uri="{FF2B5EF4-FFF2-40B4-BE49-F238E27FC236}">
                <a16:creationId xmlns:a16="http://schemas.microsoft.com/office/drawing/2014/main" id="{80713E8B-0320-4F00-B249-317D1C3D4512}"/>
              </a:ext>
            </a:extLst>
          </p:cNvPr>
          <p:cNvCxnSpPr>
            <a:cxnSpLocks/>
            <a:stCxn id="153" idx="1"/>
          </p:cNvCxnSpPr>
          <p:nvPr/>
        </p:nvCxnSpPr>
        <p:spPr>
          <a:xfrm flipH="1">
            <a:off x="4008086" y="2543891"/>
            <a:ext cx="2178274" cy="192252"/>
          </a:xfrm>
          <a:prstGeom prst="straightConnector1">
            <a:avLst/>
          </a:prstGeom>
          <a:ln>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59" name="Group 605">
            <a:extLst>
              <a:ext uri="{FF2B5EF4-FFF2-40B4-BE49-F238E27FC236}">
                <a16:creationId xmlns:a16="http://schemas.microsoft.com/office/drawing/2014/main" id="{797620A9-3414-4DC0-817D-08288421F68F}"/>
              </a:ext>
            </a:extLst>
          </p:cNvPr>
          <p:cNvGrpSpPr>
            <a:grpSpLocks/>
          </p:cNvGrpSpPr>
          <p:nvPr/>
        </p:nvGrpSpPr>
        <p:grpSpPr bwMode="auto">
          <a:xfrm>
            <a:off x="6520223" y="4183136"/>
            <a:ext cx="708276" cy="636587"/>
            <a:chOff x="2769" y="1896"/>
            <a:chExt cx="530" cy="493"/>
          </a:xfrm>
        </p:grpSpPr>
        <p:pic>
          <p:nvPicPr>
            <p:cNvPr id="160" name="Picture 577" descr="j0431637">
              <a:extLst>
                <a:ext uri="{FF2B5EF4-FFF2-40B4-BE49-F238E27FC236}">
                  <a16:creationId xmlns:a16="http://schemas.microsoft.com/office/drawing/2014/main" id="{0AFBC39F-AC7B-45B0-A551-96F6FFC421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4" y="1934"/>
              <a:ext cx="35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 name="Picture 578" descr="j0432635">
              <a:extLst>
                <a:ext uri="{FF2B5EF4-FFF2-40B4-BE49-F238E27FC236}">
                  <a16:creationId xmlns:a16="http://schemas.microsoft.com/office/drawing/2014/main" id="{AD52BF99-86E2-42C6-B178-114A668DB5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5" y="1896"/>
              <a:ext cx="20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Text Box 579">
              <a:extLst>
                <a:ext uri="{FF2B5EF4-FFF2-40B4-BE49-F238E27FC236}">
                  <a16:creationId xmlns:a16="http://schemas.microsoft.com/office/drawing/2014/main" id="{28689D5A-1CA1-4C13-BE22-883DBDFD8C8A}"/>
                </a:ext>
              </a:extLst>
            </p:cNvPr>
            <p:cNvSpPr txBox="1">
              <a:spLocks noChangeArrowheads="1"/>
            </p:cNvSpPr>
            <p:nvPr/>
          </p:nvSpPr>
          <p:spPr bwMode="auto">
            <a:xfrm>
              <a:off x="2769" y="2270"/>
              <a:ext cx="53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sp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eaLnBrk="1" hangingPunct="1">
                <a:buClr>
                  <a:schemeClr val="accent2"/>
                </a:buClr>
                <a:buFont typeface="Wingdings" panose="05000000000000000000" pitchFamily="2" charset="2"/>
                <a:buNone/>
              </a:pPr>
              <a:r>
                <a:rPr lang="es-ES" altLang="es-ES" sz="1000" dirty="0">
                  <a:solidFill>
                    <a:schemeClr val="tx1"/>
                  </a:solidFill>
                  <a:latin typeface="Verdana" panose="020B0604030504040204" pitchFamily="34" charset="0"/>
                </a:rPr>
                <a:t>Control-M</a:t>
              </a:r>
            </a:p>
          </p:txBody>
        </p:sp>
      </p:grpSp>
      <p:cxnSp>
        <p:nvCxnSpPr>
          <p:cNvPr id="163" name="Conector recto 162">
            <a:extLst>
              <a:ext uri="{FF2B5EF4-FFF2-40B4-BE49-F238E27FC236}">
                <a16:creationId xmlns:a16="http://schemas.microsoft.com/office/drawing/2014/main" id="{9D6ECA07-8448-478A-B529-377FBE5BF8D9}"/>
              </a:ext>
            </a:extLst>
          </p:cNvPr>
          <p:cNvCxnSpPr>
            <a:cxnSpLocks/>
            <a:endCxn id="153" idx="2"/>
          </p:cNvCxnSpPr>
          <p:nvPr/>
        </p:nvCxnSpPr>
        <p:spPr>
          <a:xfrm flipV="1">
            <a:off x="6898925" y="3226407"/>
            <a:ext cx="1" cy="849966"/>
          </a:xfrm>
          <a:prstGeom prst="line">
            <a:avLst/>
          </a:prstGeom>
          <a:ln w="9525" cap="flat" cmpd="sng" algn="ctr">
            <a:solidFill>
              <a:schemeClr val="dk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64" name="Conector recto de flecha 163">
            <a:extLst>
              <a:ext uri="{FF2B5EF4-FFF2-40B4-BE49-F238E27FC236}">
                <a16:creationId xmlns:a16="http://schemas.microsoft.com/office/drawing/2014/main" id="{788932D7-DEEA-4DD8-AE5C-2DBC74022164}"/>
              </a:ext>
            </a:extLst>
          </p:cNvPr>
          <p:cNvCxnSpPr>
            <a:cxnSpLocks/>
            <a:stCxn id="51" idx="2"/>
          </p:cNvCxnSpPr>
          <p:nvPr/>
        </p:nvCxnSpPr>
        <p:spPr>
          <a:xfrm flipH="1">
            <a:off x="5543394" y="2933650"/>
            <a:ext cx="3703190" cy="1071929"/>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6" name="AutoShape 206">
            <a:extLst>
              <a:ext uri="{FF2B5EF4-FFF2-40B4-BE49-F238E27FC236}">
                <a16:creationId xmlns:a16="http://schemas.microsoft.com/office/drawing/2014/main" id="{615C7E4E-5579-4BA9-9BCC-982D2912D82D}"/>
              </a:ext>
            </a:extLst>
          </p:cNvPr>
          <p:cNvSpPr>
            <a:spLocks noChangeArrowheads="1"/>
          </p:cNvSpPr>
          <p:nvPr/>
        </p:nvSpPr>
        <p:spPr bwMode="auto">
          <a:xfrm>
            <a:off x="4597335" y="4005579"/>
            <a:ext cx="1240008" cy="997338"/>
          </a:xfrm>
          <a:prstGeom prst="can">
            <a:avLst>
              <a:gd name="adj" fmla="val 24963"/>
            </a:avLst>
          </a:prstGeom>
          <a:solidFill>
            <a:srgbClr val="C00000">
              <a:alpha val="49019"/>
            </a:srgbClr>
          </a:solidFill>
          <a:ln w="9525">
            <a:solidFill>
              <a:schemeClr val="tx1"/>
            </a:solidFill>
            <a:round/>
            <a:headEnd/>
            <a:tailEnd/>
          </a:ln>
        </p:spPr>
        <p:txBody>
          <a:bodyPr wrap="none" anchor="ctr"/>
          <a:lstStyle/>
          <a:p>
            <a:pPr algn="ctr" defTabSz="914395">
              <a:defRPr/>
            </a:pPr>
            <a:endParaRPr lang="es-ES" sz="800" dirty="0">
              <a:solidFill>
                <a:prstClr val="black"/>
              </a:solidFill>
              <a:latin typeface="Verdana" pitchFamily="34" charset="0"/>
            </a:endParaRPr>
          </a:p>
          <a:p>
            <a:pPr algn="ctr" defTabSz="914395">
              <a:defRPr/>
            </a:pPr>
            <a:endParaRPr lang="es-ES" sz="800" dirty="0">
              <a:solidFill>
                <a:prstClr val="black"/>
              </a:solidFill>
              <a:latin typeface="Verdana" pitchFamily="34" charset="0"/>
            </a:endParaRPr>
          </a:p>
        </p:txBody>
      </p:sp>
      <p:pic>
        <p:nvPicPr>
          <p:cNvPr id="168" name="Imagen 167">
            <a:extLst>
              <a:ext uri="{FF2B5EF4-FFF2-40B4-BE49-F238E27FC236}">
                <a16:creationId xmlns:a16="http://schemas.microsoft.com/office/drawing/2014/main" id="{DB14F2C3-E494-4216-AED9-454CEFFA113F}"/>
              </a:ext>
            </a:extLst>
          </p:cNvPr>
          <p:cNvPicPr>
            <a:picLocks noChangeAspect="1"/>
          </p:cNvPicPr>
          <p:nvPr/>
        </p:nvPicPr>
        <p:blipFill>
          <a:blip r:embed="rId7"/>
          <a:stretch>
            <a:fillRect/>
          </a:stretch>
        </p:blipFill>
        <p:spPr>
          <a:xfrm>
            <a:off x="5140519" y="5098453"/>
            <a:ext cx="192401" cy="286971"/>
          </a:xfrm>
          <a:prstGeom prst="rect">
            <a:avLst/>
          </a:prstGeom>
        </p:spPr>
      </p:pic>
      <p:sp>
        <p:nvSpPr>
          <p:cNvPr id="170" name="Oval 18">
            <a:extLst>
              <a:ext uri="{FF2B5EF4-FFF2-40B4-BE49-F238E27FC236}">
                <a16:creationId xmlns:a16="http://schemas.microsoft.com/office/drawing/2014/main" id="{9DBA7D7C-DF32-4D3D-A945-4124E3303068}"/>
              </a:ext>
            </a:extLst>
          </p:cNvPr>
          <p:cNvSpPr>
            <a:spLocks noChangeArrowheads="1"/>
          </p:cNvSpPr>
          <p:nvPr/>
        </p:nvSpPr>
        <p:spPr bwMode="auto">
          <a:xfrm>
            <a:off x="5135491" y="3822072"/>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4" name="Oval 18">
            <a:extLst>
              <a:ext uri="{FF2B5EF4-FFF2-40B4-BE49-F238E27FC236}">
                <a16:creationId xmlns:a16="http://schemas.microsoft.com/office/drawing/2014/main" id="{ADAD2F46-0649-4098-BAC7-AA92086CB20A}"/>
              </a:ext>
            </a:extLst>
          </p:cNvPr>
          <p:cNvSpPr>
            <a:spLocks noChangeArrowheads="1"/>
          </p:cNvSpPr>
          <p:nvPr/>
        </p:nvSpPr>
        <p:spPr bwMode="auto">
          <a:xfrm>
            <a:off x="3635061" y="1893101"/>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6" name="Elipse 175">
            <a:extLst>
              <a:ext uri="{FF2B5EF4-FFF2-40B4-BE49-F238E27FC236}">
                <a16:creationId xmlns:a16="http://schemas.microsoft.com/office/drawing/2014/main" id="{9A34815B-FA6E-4AAB-9966-B0F96E2E8B49}"/>
              </a:ext>
            </a:extLst>
          </p:cNvPr>
          <p:cNvSpPr/>
          <p:nvPr/>
        </p:nvSpPr>
        <p:spPr>
          <a:xfrm>
            <a:off x="5904786" y="2335597"/>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1</a:t>
            </a:r>
          </a:p>
        </p:txBody>
      </p:sp>
      <p:grpSp>
        <p:nvGrpSpPr>
          <p:cNvPr id="63" name="Grupo 50212">
            <a:extLst>
              <a:ext uri="{FF2B5EF4-FFF2-40B4-BE49-F238E27FC236}">
                <a16:creationId xmlns:a16="http://schemas.microsoft.com/office/drawing/2014/main" id="{885B33CB-49CF-4989-8226-D881404A3FD1}"/>
              </a:ext>
            </a:extLst>
          </p:cNvPr>
          <p:cNvGrpSpPr>
            <a:grpSpLocks/>
          </p:cNvGrpSpPr>
          <p:nvPr/>
        </p:nvGrpSpPr>
        <p:grpSpPr bwMode="auto">
          <a:xfrm>
            <a:off x="4813339" y="4414194"/>
            <a:ext cx="812800" cy="423863"/>
            <a:chOff x="374824" y="2549525"/>
            <a:chExt cx="812800" cy="424128"/>
          </a:xfrm>
        </p:grpSpPr>
        <p:sp>
          <p:nvSpPr>
            <p:cNvPr id="64" name="7 Cilindro">
              <a:extLst>
                <a:ext uri="{FF2B5EF4-FFF2-40B4-BE49-F238E27FC236}">
                  <a16:creationId xmlns:a16="http://schemas.microsoft.com/office/drawing/2014/main" id="{96A39BA0-B072-43E0-B6DE-FEB5C0B24E05}"/>
                </a:ext>
              </a:extLst>
            </p:cNvPr>
            <p:cNvSpPr/>
            <p:nvPr/>
          </p:nvSpPr>
          <p:spPr>
            <a:xfrm>
              <a:off x="374824" y="2549525"/>
              <a:ext cx="812800" cy="424128"/>
            </a:xfrm>
            <a:prstGeom prst="can">
              <a:avLst/>
            </a:prstGeom>
            <a:solidFill>
              <a:schemeClr val="accent2">
                <a:lumMod val="40000"/>
                <a:lumOff val="6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100" dirty="0">
                <a:solidFill>
                  <a:srgbClr val="FFFF99"/>
                </a:solidFill>
              </a:endParaRPr>
            </a:p>
          </p:txBody>
        </p:sp>
        <p:pic>
          <p:nvPicPr>
            <p:cNvPr id="65" name="Imagen 27">
              <a:extLst>
                <a:ext uri="{FF2B5EF4-FFF2-40B4-BE49-F238E27FC236}">
                  <a16:creationId xmlns:a16="http://schemas.microsoft.com/office/drawing/2014/main" id="{B916105C-52FD-4296-838D-F045185F2B01}"/>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7049" y="2691012"/>
              <a:ext cx="7905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0" name="6 Grupo">
            <a:extLst>
              <a:ext uri="{FF2B5EF4-FFF2-40B4-BE49-F238E27FC236}">
                <a16:creationId xmlns:a16="http://schemas.microsoft.com/office/drawing/2014/main" id="{298FE6F3-8B74-461E-AF38-FD0E7F2FAE63}"/>
              </a:ext>
            </a:extLst>
          </p:cNvPr>
          <p:cNvGrpSpPr>
            <a:grpSpLocks/>
          </p:cNvGrpSpPr>
          <p:nvPr/>
        </p:nvGrpSpPr>
        <p:grpSpPr bwMode="auto">
          <a:xfrm>
            <a:off x="3197447" y="2265000"/>
            <a:ext cx="1081088" cy="1341633"/>
            <a:chOff x="4860032" y="2332633"/>
            <a:chExt cx="1080120" cy="1342204"/>
          </a:xfrm>
        </p:grpSpPr>
        <p:pic>
          <p:nvPicPr>
            <p:cNvPr id="71" name="Picture 2" descr="https://encrypted-tbn1.gstatic.com/images?q=tbn:ANd9GcQ_EmDAgy0MlIJq7OL9ITYa4e-G-E4ouXKCrS2optmIh03rsKX21eWDHO0">
              <a:hlinkClick r:id="rId9"/>
              <a:extLst>
                <a:ext uri="{FF2B5EF4-FFF2-40B4-BE49-F238E27FC236}">
                  <a16:creationId xmlns:a16="http://schemas.microsoft.com/office/drawing/2014/main" id="{5D776C46-99A9-4FEE-984C-7E4CA48BDB9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9038" y="2332633"/>
              <a:ext cx="648072" cy="872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5 CuadroTexto">
              <a:extLst>
                <a:ext uri="{FF2B5EF4-FFF2-40B4-BE49-F238E27FC236}">
                  <a16:creationId xmlns:a16="http://schemas.microsoft.com/office/drawing/2014/main" id="{79B7C92E-8BD0-47DC-9B7B-0C80CFE29BF3}"/>
                </a:ext>
              </a:extLst>
            </p:cNvPr>
            <p:cNvSpPr txBox="1">
              <a:spLocks noChangeArrowheads="1"/>
            </p:cNvSpPr>
            <p:nvPr/>
          </p:nvSpPr>
          <p:spPr bwMode="auto">
            <a:xfrm>
              <a:off x="4860032" y="3212976"/>
              <a:ext cx="1080120" cy="46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s-ES" altLang="es-ES" sz="1200" b="0" dirty="0">
                  <a:solidFill>
                    <a:schemeClr val="tx1"/>
                  </a:solidFill>
                </a:rPr>
                <a:t>Relay  de correo</a:t>
              </a:r>
            </a:p>
          </p:txBody>
        </p:sp>
      </p:grpSp>
      <p:sp>
        <p:nvSpPr>
          <p:cNvPr id="51" name="Rectángulo 50">
            <a:extLst>
              <a:ext uri="{FF2B5EF4-FFF2-40B4-BE49-F238E27FC236}">
                <a16:creationId xmlns:a16="http://schemas.microsoft.com/office/drawing/2014/main" id="{80BE3394-354B-4070-8815-545E729264BB}"/>
              </a:ext>
            </a:extLst>
          </p:cNvPr>
          <p:cNvSpPr/>
          <p:nvPr/>
        </p:nvSpPr>
        <p:spPr bwMode="auto">
          <a:xfrm>
            <a:off x="8522255" y="2274788"/>
            <a:ext cx="1448657" cy="658862"/>
          </a:xfrm>
          <a:prstGeom prst="rect">
            <a:avLst/>
          </a:prstGeom>
          <a:noFill/>
          <a:ln w="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vert="horz" wrap="square" lIns="97749" tIns="48875" rIns="97749" bIns="48875" numCol="1" rtlCol="0" anchor="t" anchorCtr="0" compatLnSpc="1">
            <a:prstTxWarp prst="textNoShape">
              <a:avLst/>
            </a:prstTxWarp>
            <a:spAutoFit/>
          </a:bodyPr>
          <a:lstStyle>
            <a:defPPr>
              <a:defRPr lang="es-ES"/>
            </a:defPPr>
            <a:lvl1pPr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1pPr>
            <a:lvl2pPr marL="4572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2pPr>
            <a:lvl3pPr marL="9144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3pPr>
            <a:lvl4pPr marL="13716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4pPr>
            <a:lvl5pPr marL="18288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5pPr>
            <a:lvl6pPr marL="2286000" algn="l" defTabSz="914400" rtl="0" eaLnBrk="1" latinLnBrk="0" hangingPunct="1">
              <a:defRPr sz="2400" kern="1200">
                <a:solidFill>
                  <a:schemeClr val="dk1"/>
                </a:solidFill>
                <a:latin typeface="+mn-lt"/>
                <a:ea typeface="+mn-ea"/>
                <a:cs typeface="+mn-cs"/>
              </a:defRPr>
            </a:lvl6pPr>
            <a:lvl7pPr marL="2743200" algn="l" defTabSz="914400" rtl="0" eaLnBrk="1" latinLnBrk="0" hangingPunct="1">
              <a:defRPr sz="2400" kern="1200">
                <a:solidFill>
                  <a:schemeClr val="dk1"/>
                </a:solidFill>
                <a:latin typeface="+mn-lt"/>
                <a:ea typeface="+mn-ea"/>
                <a:cs typeface="+mn-cs"/>
              </a:defRPr>
            </a:lvl7pPr>
            <a:lvl8pPr marL="3200400" algn="l" defTabSz="914400" rtl="0" eaLnBrk="1" latinLnBrk="0" hangingPunct="1">
              <a:defRPr sz="2400" kern="1200">
                <a:solidFill>
                  <a:schemeClr val="dk1"/>
                </a:solidFill>
                <a:latin typeface="+mn-lt"/>
                <a:ea typeface="+mn-ea"/>
                <a:cs typeface="+mn-cs"/>
              </a:defRPr>
            </a:lvl8pPr>
            <a:lvl9pPr marL="3657600" algn="l" defTabSz="914400" rtl="0" eaLnBrk="1" latinLnBrk="0" hangingPunct="1">
              <a:defRPr sz="2400" kern="1200">
                <a:solidFill>
                  <a:schemeClr val="dk1"/>
                </a:solidFill>
                <a:latin typeface="+mn-lt"/>
                <a:ea typeface="+mn-ea"/>
                <a:cs typeface="+mn-cs"/>
              </a:defRPr>
            </a:lvl9pPr>
          </a:lstStyle>
          <a:p>
            <a:pPr defTabSz="977900"/>
            <a:endParaRPr lang="es-ES">
              <a:solidFill>
                <a:schemeClr val="tx1"/>
              </a:solidFill>
              <a:latin typeface="Arial" charset="0"/>
            </a:endParaRPr>
          </a:p>
        </p:txBody>
      </p:sp>
      <p:pic>
        <p:nvPicPr>
          <p:cNvPr id="52" name="Picture 10" descr="Resultado de imagen de Openshift icon">
            <a:extLst>
              <a:ext uri="{FF2B5EF4-FFF2-40B4-BE49-F238E27FC236}">
                <a16:creationId xmlns:a16="http://schemas.microsoft.com/office/drawing/2014/main" id="{720E6A99-6CD2-404F-95A0-BB8996D72290}"/>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9030006" y="2543306"/>
            <a:ext cx="239828" cy="282164"/>
          </a:xfrm>
          <a:prstGeom prst="rect">
            <a:avLst/>
          </a:prstGeom>
          <a:noFill/>
          <a:extLst>
            <a:ext uri="{909E8E84-426E-40DD-AFC4-6F175D3DCCD1}">
              <a14:hiddenFill xmlns:a14="http://schemas.microsoft.com/office/drawing/2010/main">
                <a:solidFill>
                  <a:srgbClr val="FFFFFF"/>
                </a:solidFill>
              </a14:hiddenFill>
            </a:ext>
          </a:extLst>
        </p:spPr>
      </p:pic>
      <p:sp>
        <p:nvSpPr>
          <p:cNvPr id="53" name="CuadroTexto 52">
            <a:extLst>
              <a:ext uri="{FF2B5EF4-FFF2-40B4-BE49-F238E27FC236}">
                <a16:creationId xmlns:a16="http://schemas.microsoft.com/office/drawing/2014/main" id="{3140F700-7729-498D-8375-810E72A17C2F}"/>
              </a:ext>
            </a:extLst>
          </p:cNvPr>
          <p:cNvSpPr txBox="1"/>
          <p:nvPr/>
        </p:nvSpPr>
        <p:spPr>
          <a:xfrm>
            <a:off x="8642320" y="2288170"/>
            <a:ext cx="1685929" cy="248530"/>
          </a:xfrm>
          <a:prstGeom prst="rect">
            <a:avLst/>
          </a:prstGeom>
          <a:noFill/>
        </p:spPr>
        <p:txBody>
          <a:bodyPr wrap="square" rtlCol="0">
            <a:spAutoFit/>
          </a:bodyPr>
          <a:lstStyle/>
          <a:p>
            <a:r>
              <a:rPr lang="es-ES" sz="1015" b="1" dirty="0">
                <a:solidFill>
                  <a:srgbClr val="1BB3BC"/>
                </a:solidFill>
              </a:rPr>
              <a:t>PaaS Intranet HC 2.0</a:t>
            </a:r>
          </a:p>
        </p:txBody>
      </p:sp>
      <p:cxnSp>
        <p:nvCxnSpPr>
          <p:cNvPr id="59" name="451 Conector recto de flecha">
            <a:extLst>
              <a:ext uri="{FF2B5EF4-FFF2-40B4-BE49-F238E27FC236}">
                <a16:creationId xmlns:a16="http://schemas.microsoft.com/office/drawing/2014/main" id="{4DBE1889-3CB7-4D09-A600-CE7AFC4E1395}"/>
              </a:ext>
            </a:extLst>
          </p:cNvPr>
          <p:cNvCxnSpPr>
            <a:cxnSpLocks/>
            <a:endCxn id="51" idx="1"/>
          </p:cNvCxnSpPr>
          <p:nvPr/>
        </p:nvCxnSpPr>
        <p:spPr bwMode="auto">
          <a:xfrm flipV="1">
            <a:off x="7600172" y="2604219"/>
            <a:ext cx="922083" cy="60462"/>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0" name="Rectángulo: esquinas redondeadas 59">
            <a:extLst>
              <a:ext uri="{FF2B5EF4-FFF2-40B4-BE49-F238E27FC236}">
                <a16:creationId xmlns:a16="http://schemas.microsoft.com/office/drawing/2014/main" id="{995A0E92-993C-44EE-960D-31504134D76E}"/>
              </a:ext>
            </a:extLst>
          </p:cNvPr>
          <p:cNvSpPr/>
          <p:nvPr/>
        </p:nvSpPr>
        <p:spPr>
          <a:xfrm>
            <a:off x="8597052" y="3639356"/>
            <a:ext cx="1375989" cy="399068"/>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cxnSp>
        <p:nvCxnSpPr>
          <p:cNvPr id="62" name="25 Conector recto de flecha">
            <a:extLst>
              <a:ext uri="{FF2B5EF4-FFF2-40B4-BE49-F238E27FC236}">
                <a16:creationId xmlns:a16="http://schemas.microsoft.com/office/drawing/2014/main" id="{5CD12FD3-3EC0-4948-9487-780C82E40319}"/>
              </a:ext>
            </a:extLst>
          </p:cNvPr>
          <p:cNvCxnSpPr>
            <a:cxnSpLocks/>
            <a:stCxn id="51" idx="2"/>
            <a:endCxn id="60" idx="0"/>
          </p:cNvCxnSpPr>
          <p:nvPr/>
        </p:nvCxnSpPr>
        <p:spPr bwMode="auto">
          <a:xfrm>
            <a:off x="9246584" y="2933650"/>
            <a:ext cx="38463" cy="705706"/>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pic>
        <p:nvPicPr>
          <p:cNvPr id="66" name="Imagen 65">
            <a:extLst>
              <a:ext uri="{FF2B5EF4-FFF2-40B4-BE49-F238E27FC236}">
                <a16:creationId xmlns:a16="http://schemas.microsoft.com/office/drawing/2014/main" id="{8A4ED42E-4DDB-4593-AE66-A57DE0B47456}"/>
              </a:ext>
            </a:extLst>
          </p:cNvPr>
          <p:cNvPicPr>
            <a:picLocks noChangeAspect="1"/>
          </p:cNvPicPr>
          <p:nvPr/>
        </p:nvPicPr>
        <p:blipFill>
          <a:blip r:embed="rId12"/>
          <a:stretch>
            <a:fillRect/>
          </a:stretch>
        </p:blipFill>
        <p:spPr>
          <a:xfrm>
            <a:off x="9116763" y="3656282"/>
            <a:ext cx="443292" cy="349297"/>
          </a:xfrm>
          <a:prstGeom prst="rect">
            <a:avLst/>
          </a:prstGeom>
        </p:spPr>
      </p:pic>
      <p:pic>
        <p:nvPicPr>
          <p:cNvPr id="68" name="Picture 662" descr="MC900434391[1]">
            <a:extLst>
              <a:ext uri="{FF2B5EF4-FFF2-40B4-BE49-F238E27FC236}">
                <a16:creationId xmlns:a16="http://schemas.microsoft.com/office/drawing/2014/main" id="{F78B6DF5-0BE9-4586-A101-8C3063CAEEDE}"/>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981652" y="3659504"/>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Oval 18">
            <a:extLst>
              <a:ext uri="{FF2B5EF4-FFF2-40B4-BE49-F238E27FC236}">
                <a16:creationId xmlns:a16="http://schemas.microsoft.com/office/drawing/2014/main" id="{968A9D5F-067C-4829-BAA1-E341FDAF926C}"/>
              </a:ext>
            </a:extLst>
          </p:cNvPr>
          <p:cNvSpPr>
            <a:spLocks noChangeArrowheads="1"/>
          </p:cNvSpPr>
          <p:nvPr/>
        </p:nvSpPr>
        <p:spPr bwMode="auto">
          <a:xfrm>
            <a:off x="7451227" y="2294266"/>
            <a:ext cx="377345" cy="286364"/>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Tree>
    <p:extLst>
      <p:ext uri="{BB962C8B-B14F-4D97-AF65-F5344CB8AC3E}">
        <p14:creationId xmlns:p14="http://schemas.microsoft.com/office/powerpoint/2010/main" val="363466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8636000"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4" name="2 Marcador de contenido"/>
          <p:cNvSpPr txBox="1">
            <a:spLocks/>
          </p:cNvSpPr>
          <p:nvPr/>
        </p:nvSpPr>
        <p:spPr bwMode="auto">
          <a:xfrm>
            <a:off x="265674" y="619107"/>
            <a:ext cx="9608866" cy="564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_tradnl" altLang="es-ES" sz="2000" dirty="0">
                <a:solidFill>
                  <a:srgbClr val="FF0000"/>
                </a:solidFill>
              </a:rPr>
              <a:t>Descripción </a:t>
            </a:r>
            <a:r>
              <a:rPr lang="es-ES" altLang="es-ES" sz="2000" dirty="0">
                <a:solidFill>
                  <a:srgbClr val="FF0000"/>
                </a:solidFill>
              </a:rPr>
              <a:t>de cancelación de solicitud por caducidad</a:t>
            </a:r>
            <a:endParaRPr lang="es-ES_tradnl" altLang="es-ES" sz="2000" u="sng" dirty="0">
              <a:solidFill>
                <a:srgbClr val="FF0000"/>
              </a:solidFill>
            </a:endParaRPr>
          </a:p>
          <a:p>
            <a:pPr marL="0" indent="0">
              <a:buClr>
                <a:srgbClr val="FF0000"/>
              </a:buClr>
              <a:defRPr/>
            </a:pPr>
            <a:r>
              <a:rPr lang="es-ES_tradnl" altLang="es-ES" sz="2000" dirty="0">
                <a:solidFill>
                  <a:srgbClr val="FF0000"/>
                </a:solidFill>
              </a:rPr>
              <a:t> </a:t>
            </a:r>
            <a:endParaRPr lang="es-ES" sz="1600" dirty="0">
              <a:solidFill>
                <a:srgbClr val="808080"/>
              </a:solidFill>
            </a:endParaRPr>
          </a:p>
        </p:txBody>
      </p:sp>
      <p:graphicFrame>
        <p:nvGraphicFramePr>
          <p:cNvPr id="6" name="Group 6"/>
          <p:cNvGraphicFramePr>
            <a:graphicFrameLocks/>
          </p:cNvGraphicFramePr>
          <p:nvPr>
            <p:extLst>
              <p:ext uri="{D42A27DB-BD31-4B8C-83A1-F6EECF244321}">
                <p14:modId xmlns:p14="http://schemas.microsoft.com/office/powerpoint/2010/main" val="4166770739"/>
              </p:ext>
            </p:extLst>
          </p:nvPr>
        </p:nvGraphicFramePr>
        <p:xfrm>
          <a:off x="358094" y="1024831"/>
          <a:ext cx="11255784" cy="5522853"/>
        </p:xfrm>
        <a:graphic>
          <a:graphicData uri="http://schemas.openxmlformats.org/drawingml/2006/table">
            <a:tbl>
              <a:tblPr/>
              <a:tblGrid>
                <a:gridCol w="1069653">
                  <a:extLst>
                    <a:ext uri="{9D8B030D-6E8A-4147-A177-3AD203B41FA5}">
                      <a16:colId xmlns:a16="http://schemas.microsoft.com/office/drawing/2014/main" val="20000"/>
                    </a:ext>
                  </a:extLst>
                </a:gridCol>
                <a:gridCol w="10186131">
                  <a:extLst>
                    <a:ext uri="{9D8B030D-6E8A-4147-A177-3AD203B41FA5}">
                      <a16:colId xmlns:a16="http://schemas.microsoft.com/office/drawing/2014/main" val="20001"/>
                    </a:ext>
                  </a:extLst>
                </a:gridCol>
              </a:tblGrid>
              <a:tr h="392361">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Paso</a:t>
                      </a:r>
                    </a:p>
                  </a:txBody>
                  <a:tcPr marL="90007" marR="90007"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Descripción </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661447">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3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88900" indent="-88900" eaLnBrk="1" hangingPunct="1">
                        <a:defRPr/>
                      </a:pPr>
                      <a:r>
                        <a:rPr lang="es-ES" sz="2400" kern="1200" baseline="0" dirty="0">
                          <a:solidFill>
                            <a:schemeClr val="bg1">
                              <a:lumMod val="50000"/>
                            </a:schemeClr>
                          </a:solidFill>
                          <a:latin typeface="Arial" charset="0"/>
                          <a:ea typeface="+mn-ea"/>
                          <a:cs typeface="Arial" charset="0"/>
                        </a:rPr>
                        <a:t>Procesos Batch realizados en Java(periodicidad: diaria)</a:t>
                      </a:r>
                    </a:p>
                    <a:p>
                      <a:pPr marL="88900" indent="-88900" eaLnBrk="1" hangingPunct="1">
                        <a:defRPr/>
                      </a:pPr>
                      <a:endParaRPr lang="es-ES" sz="2400" kern="1200" baseline="0" dirty="0">
                        <a:solidFill>
                          <a:schemeClr val="bg1">
                            <a:lumMod val="50000"/>
                          </a:schemeClr>
                        </a:solidFill>
                        <a:latin typeface="Arial" charset="0"/>
                        <a:ea typeface="+mn-ea"/>
                        <a:cs typeface="Arial" charset="0"/>
                      </a:endParaRPr>
                    </a:p>
                    <a:p>
                      <a:r>
                        <a:rPr lang="es-ES" sz="2400" kern="1200" baseline="0" dirty="0">
                          <a:solidFill>
                            <a:schemeClr val="bg1">
                              <a:lumMod val="50000"/>
                            </a:schemeClr>
                          </a:solidFill>
                          <a:latin typeface="Arial" charset="0"/>
                          <a:ea typeface="+mn-ea"/>
                          <a:cs typeface="Arial" charset="0"/>
                        </a:rPr>
                        <a:t>El proceso de cancelación cambia el estado de los expedientes a cancelados automáticamente realizando las siguientes tareas por cada uno de ellos:</a:t>
                      </a:r>
                    </a:p>
                    <a:p>
                      <a:r>
                        <a:rPr lang="es-ES" sz="2400" kern="1200" baseline="0" dirty="0">
                          <a:solidFill>
                            <a:schemeClr val="bg1">
                              <a:lumMod val="50000"/>
                            </a:schemeClr>
                          </a:solidFill>
                          <a:latin typeface="Arial" charset="0"/>
                          <a:ea typeface="+mn-ea"/>
                          <a:cs typeface="Arial" charset="0"/>
                        </a:rPr>
                        <a:t>- Una llamada al servicio de </a:t>
                      </a:r>
                      <a:r>
                        <a:rPr lang="es-ES" sz="2400" kern="1200" baseline="0" dirty="0" err="1">
                          <a:solidFill>
                            <a:schemeClr val="bg1">
                              <a:lumMod val="50000"/>
                            </a:schemeClr>
                          </a:solidFill>
                          <a:latin typeface="Arial" charset="0"/>
                          <a:ea typeface="+mn-ea"/>
                          <a:cs typeface="Arial" charset="0"/>
                        </a:rPr>
                        <a:t>bajaCliente</a:t>
                      </a:r>
                      <a:r>
                        <a:rPr lang="es-ES" sz="2400" kern="1200" baseline="0" dirty="0">
                          <a:solidFill>
                            <a:schemeClr val="bg1">
                              <a:lumMod val="50000"/>
                            </a:schemeClr>
                          </a:solidFill>
                          <a:latin typeface="Arial" charset="0"/>
                          <a:ea typeface="+mn-ea"/>
                          <a:cs typeface="Arial" charset="0"/>
                        </a:rPr>
                        <a:t> para cancelar la reserva de cuenta y el alta de clientes.</a:t>
                      </a:r>
                    </a:p>
                    <a:p>
                      <a:br>
                        <a:rPr lang="es-ES" sz="2400" kern="1200" baseline="0" dirty="0">
                          <a:solidFill>
                            <a:schemeClr val="bg1">
                              <a:lumMod val="50000"/>
                            </a:schemeClr>
                          </a:solidFill>
                          <a:latin typeface="Arial" charset="0"/>
                          <a:ea typeface="+mn-ea"/>
                          <a:cs typeface="Arial" charset="0"/>
                        </a:rPr>
                      </a:br>
                      <a:r>
                        <a:rPr lang="es-ES" sz="2400" kern="1200" baseline="0" dirty="0">
                          <a:solidFill>
                            <a:schemeClr val="bg1">
                              <a:lumMod val="50000"/>
                            </a:schemeClr>
                          </a:solidFill>
                          <a:latin typeface="Arial" charset="0"/>
                          <a:ea typeface="+mn-ea"/>
                          <a:cs typeface="Arial" charset="0"/>
                        </a:rPr>
                        <a:t>- Envía un mail al cliente indicando que el expediente se ha cancelado por caducidad a través de servidor de Relay.</a:t>
                      </a:r>
                    </a:p>
                    <a:p>
                      <a:br>
                        <a:rPr lang="es-ES" sz="2400" kern="1200" baseline="0" dirty="0">
                          <a:solidFill>
                            <a:schemeClr val="bg1">
                              <a:lumMod val="50000"/>
                            </a:schemeClr>
                          </a:solidFill>
                          <a:latin typeface="Arial" charset="0"/>
                          <a:ea typeface="+mn-ea"/>
                          <a:cs typeface="Arial" charset="0"/>
                        </a:rPr>
                      </a:br>
                      <a:r>
                        <a:rPr lang="es-ES" sz="2400" kern="1200" baseline="0" dirty="0">
                          <a:solidFill>
                            <a:schemeClr val="bg1">
                              <a:lumMod val="50000"/>
                            </a:schemeClr>
                          </a:solidFill>
                          <a:latin typeface="Arial" charset="0"/>
                          <a:ea typeface="+mn-ea"/>
                          <a:cs typeface="Arial" charset="0"/>
                        </a:rPr>
                        <a:t>- Se borran del sistema todos aquellos archivos que el cliente haya subido a Azure Storage.</a:t>
                      </a:r>
                    </a:p>
                    <a:p>
                      <a:pPr eaLnBrk="1" hangingPunct="1">
                        <a:defRPr/>
                      </a:pPr>
                      <a:endParaRPr lang="es-ES" sz="1800" kern="1200" baseline="0" dirty="0">
                        <a:solidFill>
                          <a:schemeClr val="bg1">
                            <a:lumMod val="50000"/>
                          </a:schemeClr>
                        </a:solidFill>
                        <a:latin typeface="Arial" charset="0"/>
                        <a:ea typeface="+mn-ea"/>
                        <a:cs typeface="Arial" charset="0"/>
                      </a:endParaRP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 name="Oval 18">
            <a:extLst>
              <a:ext uri="{FF2B5EF4-FFF2-40B4-BE49-F238E27FC236}">
                <a16:creationId xmlns:a16="http://schemas.microsoft.com/office/drawing/2014/main" id="{9629D2C5-4837-432A-BBB8-82F2A7DB0499}"/>
              </a:ext>
            </a:extLst>
          </p:cNvPr>
          <p:cNvSpPr>
            <a:spLocks noChangeArrowheads="1"/>
          </p:cNvSpPr>
          <p:nvPr/>
        </p:nvSpPr>
        <p:spPr bwMode="auto">
          <a:xfrm>
            <a:off x="770264" y="3459661"/>
            <a:ext cx="252000" cy="252000"/>
          </a:xfrm>
          <a:prstGeom prst="ellipse">
            <a:avLst/>
          </a:prstGeom>
          <a:solidFill>
            <a:srgbClr val="FF0000"/>
          </a:solidFill>
          <a:ln w="9525">
            <a:solidFill>
              <a:srgbClr val="000000"/>
            </a:solidFill>
            <a:round/>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a:buNone/>
            </a:pPr>
            <a:r>
              <a:rPr lang="es-ES" altLang="es-ES" sz="1200" dirty="0">
                <a:solidFill>
                  <a:schemeClr val="lt1"/>
                </a:solidFill>
              </a:rPr>
              <a:t>1</a:t>
            </a:r>
          </a:p>
        </p:txBody>
      </p:sp>
      <p:sp>
        <p:nvSpPr>
          <p:cNvPr id="10" name="Rectángulo 9">
            <a:extLst>
              <a:ext uri="{FF2B5EF4-FFF2-40B4-BE49-F238E27FC236}">
                <a16:creationId xmlns:a16="http://schemas.microsoft.com/office/drawing/2014/main" id="{BEDA10CD-5182-4CE8-8369-9B8F7A7F886C}"/>
              </a:ext>
            </a:extLst>
          </p:cNvPr>
          <p:cNvSpPr/>
          <p:nvPr/>
        </p:nvSpPr>
        <p:spPr>
          <a:xfrm>
            <a:off x="1179371" y="5852333"/>
            <a:ext cx="11381231" cy="307777"/>
          </a:xfrm>
          <a:prstGeom prst="rect">
            <a:avLst/>
          </a:prstGeom>
        </p:spPr>
        <p:txBody>
          <a:bodyPr wrap="square">
            <a:spAutoFit/>
          </a:bodyPr>
          <a:lstStyle/>
          <a:p>
            <a:r>
              <a:rPr lang="en-US" sz="1400" dirty="0">
                <a:solidFill>
                  <a:schemeClr val="bg1">
                    <a:lumMod val="50000"/>
                  </a:schemeClr>
                </a:solidFill>
                <a:latin typeface="Arial" charset="0"/>
                <a:cs typeface="Arial" charset="0"/>
              </a:rPr>
              <a:t>. </a:t>
            </a:r>
            <a:endParaRPr lang="es-ES" sz="1400" dirty="0"/>
          </a:p>
        </p:txBody>
      </p:sp>
      <p:sp>
        <p:nvSpPr>
          <p:cNvPr id="11" name="5 Marcador de número de diapositiva">
            <a:extLst>
              <a:ext uri="{FF2B5EF4-FFF2-40B4-BE49-F238E27FC236}">
                <a16:creationId xmlns:a16="http://schemas.microsoft.com/office/drawing/2014/main" id="{28929CFE-186F-40F5-B726-8BD9061345C1}"/>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24</a:t>
            </a:fld>
            <a:endParaRPr lang="es-ES" sz="1292" dirty="0"/>
          </a:p>
        </p:txBody>
      </p:sp>
    </p:spTree>
    <p:extLst>
      <p:ext uri="{BB962C8B-B14F-4D97-AF65-F5344CB8AC3E}">
        <p14:creationId xmlns:p14="http://schemas.microsoft.com/office/powerpoint/2010/main" val="3939959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155" name="2 Marcador de contenido"/>
          <p:cNvSpPr txBox="1">
            <a:spLocks/>
          </p:cNvSpPr>
          <p:nvPr/>
        </p:nvSpPr>
        <p:spPr bwMode="auto">
          <a:xfrm>
            <a:off x="274563" y="549600"/>
            <a:ext cx="9353666" cy="387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spcBef>
                <a:spcPts val="300"/>
              </a:spcBef>
              <a:buNone/>
            </a:pPr>
            <a:r>
              <a:rPr lang="es-ES" sz="2000" b="1" dirty="0">
                <a:solidFill>
                  <a:srgbClr val="EB0000"/>
                </a:solidFill>
                <a:ea typeface="Segoe UI" panose="020B0502040204020203" pitchFamily="34" charset="0"/>
                <a:cs typeface="Segoe UI" panose="020B0502040204020203" pitchFamily="34" charset="0"/>
              </a:rPr>
              <a:t>Mapa técnico de arquitectura: </a:t>
            </a:r>
            <a:r>
              <a:rPr lang="en-GB" sz="2000" b="1" dirty="0">
                <a:solidFill>
                  <a:srgbClr val="EB0000"/>
                </a:solidFill>
                <a:cs typeface="Segoe UI" panose="020B0502040204020203" pitchFamily="34" charset="0"/>
              </a:rPr>
              <a:t>procesos </a:t>
            </a:r>
            <a:r>
              <a:rPr lang="en-GB" sz="2000" b="1" dirty="0" err="1">
                <a:solidFill>
                  <a:srgbClr val="EB0000"/>
                </a:solidFill>
                <a:cs typeface="Segoe UI" panose="020B0502040204020203" pitchFamily="34" charset="0"/>
              </a:rPr>
              <a:t>planificados</a:t>
            </a:r>
            <a:r>
              <a:rPr lang="en-GB" sz="2000" b="1" dirty="0">
                <a:solidFill>
                  <a:srgbClr val="EB0000"/>
                </a:solidFill>
                <a:cs typeface="Segoe UI" panose="020B0502040204020203" pitchFamily="34" charset="0"/>
              </a:rPr>
              <a:t>.</a:t>
            </a:r>
          </a:p>
          <a:p>
            <a:pPr eaLnBrk="1" hangingPunct="1">
              <a:lnSpc>
                <a:spcPts val="2400"/>
              </a:lnSpc>
              <a:buFontTx/>
              <a:buNone/>
            </a:pPr>
            <a:r>
              <a:rPr lang="es-ES" altLang="es-ES" sz="2000" dirty="0">
                <a:solidFill>
                  <a:srgbClr val="FF0000"/>
                </a:solidFill>
              </a:rPr>
              <a:t>Proceso recordatorio de documentación</a:t>
            </a:r>
            <a:endParaRPr lang="es-ES_tradnl" altLang="es-ES" u="sng" dirty="0">
              <a:solidFill>
                <a:srgbClr val="FF0000"/>
              </a:solidFill>
            </a:endParaRPr>
          </a:p>
          <a:p>
            <a:pPr marL="0" indent="0">
              <a:spcBef>
                <a:spcPts val="300"/>
              </a:spcBef>
              <a:buNone/>
            </a:pPr>
            <a:endParaRPr lang="es-ES" sz="2000" b="1" dirty="0">
              <a:solidFill>
                <a:srgbClr val="EB0000"/>
              </a:solidFill>
              <a:cs typeface="Segoe UI" panose="020B0502040204020203" pitchFamily="34" charset="0"/>
            </a:endParaRPr>
          </a:p>
          <a:p>
            <a:pPr algn="ctr">
              <a:buClr>
                <a:srgbClr val="FF0000"/>
              </a:buClr>
              <a:buFont typeface="Wingdings" pitchFamily="2" charset="2"/>
              <a:buChar char="w"/>
              <a:defRPr/>
            </a:pPr>
            <a:endParaRPr lang="es-ES" sz="2200" dirty="0">
              <a:solidFill>
                <a:srgbClr val="FF0000"/>
              </a:solidFill>
            </a:endParaRPr>
          </a:p>
        </p:txBody>
      </p:sp>
      <p:sp>
        <p:nvSpPr>
          <p:cNvPr id="54" name="Rectangle 331">
            <a:extLst>
              <a:ext uri="{FF2B5EF4-FFF2-40B4-BE49-F238E27FC236}">
                <a16:creationId xmlns:a16="http://schemas.microsoft.com/office/drawing/2014/main" id="{08D803E7-4D55-4E27-8BF9-54DEDEC69874}"/>
              </a:ext>
            </a:extLst>
          </p:cNvPr>
          <p:cNvSpPr>
            <a:spLocks noChangeArrowheads="1"/>
          </p:cNvSpPr>
          <p:nvPr/>
        </p:nvSpPr>
        <p:spPr bwMode="auto">
          <a:xfrm>
            <a:off x="9316398" y="549600"/>
            <a:ext cx="2754263" cy="723395"/>
          </a:xfrm>
          <a:prstGeom prst="rect">
            <a:avLst/>
          </a:prstGeom>
          <a:solidFill>
            <a:schemeClr val="bg1"/>
          </a:solidFill>
          <a:ln>
            <a:solidFill>
              <a:srgbClr val="FF0000"/>
            </a:solidFill>
            <a:headEnd/>
            <a:tailEnd/>
          </a:ln>
        </p:spPr>
        <p:style>
          <a:lnRef idx="1">
            <a:schemeClr val="accent2"/>
          </a:lnRef>
          <a:fillRef idx="2">
            <a:schemeClr val="accent2"/>
          </a:fillRef>
          <a:effectRef idx="1">
            <a:schemeClr val="accent2"/>
          </a:effectRef>
          <a:fontRef idx="minor">
            <a:schemeClr val="dk1"/>
          </a:fontRef>
        </p:style>
        <p:txBody>
          <a:bodyPr wrap="none">
            <a:flatTx/>
          </a:bodyPr>
          <a:lstStyle/>
          <a:p>
            <a:pPr defTabSz="914395">
              <a:defRPr/>
            </a:pPr>
            <a:endParaRPr lang="en-US" sz="1100" b="1" dirty="0">
              <a:solidFill>
                <a:sysClr val="windowText" lastClr="000000"/>
              </a:solidFill>
              <a:latin typeface="Calibri" panose="020F0502020204030204"/>
            </a:endParaRPr>
          </a:p>
        </p:txBody>
      </p:sp>
      <p:sp>
        <p:nvSpPr>
          <p:cNvPr id="55" name="TextBox 181">
            <a:extLst>
              <a:ext uri="{FF2B5EF4-FFF2-40B4-BE49-F238E27FC236}">
                <a16:creationId xmlns:a16="http://schemas.microsoft.com/office/drawing/2014/main" id="{B0993E16-2E6E-48B2-B8D0-B92CF9975265}"/>
              </a:ext>
            </a:extLst>
          </p:cNvPr>
          <p:cNvSpPr txBox="1">
            <a:spLocks noChangeArrowheads="1"/>
          </p:cNvSpPr>
          <p:nvPr/>
        </p:nvSpPr>
        <p:spPr bwMode="auto">
          <a:xfrm>
            <a:off x="11307949" y="839810"/>
            <a:ext cx="3497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FILE</a:t>
            </a:r>
          </a:p>
        </p:txBody>
      </p:sp>
      <p:cxnSp>
        <p:nvCxnSpPr>
          <p:cNvPr id="56" name="25 Conector recto de flecha">
            <a:extLst>
              <a:ext uri="{FF2B5EF4-FFF2-40B4-BE49-F238E27FC236}">
                <a16:creationId xmlns:a16="http://schemas.microsoft.com/office/drawing/2014/main" id="{129F735C-883A-485B-90AF-307FBA15EABA}"/>
              </a:ext>
            </a:extLst>
          </p:cNvPr>
          <p:cNvCxnSpPr/>
          <p:nvPr/>
        </p:nvCxnSpPr>
        <p:spPr bwMode="auto">
          <a:xfrm>
            <a:off x="11072320" y="726657"/>
            <a:ext cx="255395" cy="40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181">
            <a:extLst>
              <a:ext uri="{FF2B5EF4-FFF2-40B4-BE49-F238E27FC236}">
                <a16:creationId xmlns:a16="http://schemas.microsoft.com/office/drawing/2014/main" id="{862E7350-5B4B-4C2A-9C65-ACBA613A7C36}"/>
              </a:ext>
            </a:extLst>
          </p:cNvPr>
          <p:cNvSpPr txBox="1">
            <a:spLocks noChangeArrowheads="1"/>
          </p:cNvSpPr>
          <p:nvPr/>
        </p:nvSpPr>
        <p:spPr bwMode="auto">
          <a:xfrm>
            <a:off x="11330854" y="622950"/>
            <a:ext cx="39466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err="1">
                <a:solidFill>
                  <a:srgbClr val="000000"/>
                </a:solidFill>
                <a:latin typeface="Calibri" pitchFamily="34" charset="0"/>
                <a:cs typeface="Arial" charset="0"/>
              </a:rPr>
              <a:t>smtp</a:t>
            </a:r>
            <a:endParaRPr lang="es-ES" altLang="es-ES" sz="800" b="0" dirty="0">
              <a:solidFill>
                <a:srgbClr val="000000"/>
              </a:solidFill>
              <a:latin typeface="Calibri" pitchFamily="34" charset="0"/>
              <a:cs typeface="Arial" charset="0"/>
            </a:endParaRPr>
          </a:p>
        </p:txBody>
      </p:sp>
      <p:sp>
        <p:nvSpPr>
          <p:cNvPr id="58" name="CuadroTexto 57">
            <a:extLst>
              <a:ext uri="{FF2B5EF4-FFF2-40B4-BE49-F238E27FC236}">
                <a16:creationId xmlns:a16="http://schemas.microsoft.com/office/drawing/2014/main" id="{0F25A5E7-CD35-4DB0-9C2C-9E9E6D17C515}"/>
              </a:ext>
            </a:extLst>
          </p:cNvPr>
          <p:cNvSpPr txBox="1"/>
          <p:nvPr/>
        </p:nvSpPr>
        <p:spPr>
          <a:xfrm>
            <a:off x="10492204" y="61029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Nuevo</a:t>
            </a:r>
          </a:p>
        </p:txBody>
      </p:sp>
      <p:cxnSp>
        <p:nvCxnSpPr>
          <p:cNvPr id="90" name="25 Conector recto de flecha">
            <a:extLst>
              <a:ext uri="{FF2B5EF4-FFF2-40B4-BE49-F238E27FC236}">
                <a16:creationId xmlns:a16="http://schemas.microsoft.com/office/drawing/2014/main" id="{BF5E2641-20C5-4F1C-9BD8-8B3EEF040753}"/>
              </a:ext>
            </a:extLst>
          </p:cNvPr>
          <p:cNvCxnSpPr>
            <a:cxnSpLocks/>
          </p:cNvCxnSpPr>
          <p:nvPr/>
        </p:nvCxnSpPr>
        <p:spPr bwMode="auto">
          <a:xfrm>
            <a:off x="11072320" y="1101128"/>
            <a:ext cx="235629" cy="75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Oval 18">
            <a:extLst>
              <a:ext uri="{FF2B5EF4-FFF2-40B4-BE49-F238E27FC236}">
                <a16:creationId xmlns:a16="http://schemas.microsoft.com/office/drawing/2014/main" id="{365B39D2-0F6C-4078-A60F-9207B71586A2}"/>
              </a:ext>
            </a:extLst>
          </p:cNvPr>
          <p:cNvSpPr>
            <a:spLocks noChangeArrowheads="1"/>
          </p:cNvSpPr>
          <p:nvPr/>
        </p:nvSpPr>
        <p:spPr bwMode="auto">
          <a:xfrm>
            <a:off x="10237971" y="578862"/>
            <a:ext cx="226800" cy="227917"/>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N</a:t>
            </a:r>
          </a:p>
        </p:txBody>
      </p:sp>
      <p:cxnSp>
        <p:nvCxnSpPr>
          <p:cNvPr id="107" name="25 Conector recto de flecha">
            <a:extLst>
              <a:ext uri="{FF2B5EF4-FFF2-40B4-BE49-F238E27FC236}">
                <a16:creationId xmlns:a16="http://schemas.microsoft.com/office/drawing/2014/main" id="{62E7BDDC-5F97-42D8-AA36-484B8970DFC1}"/>
              </a:ext>
            </a:extLst>
          </p:cNvPr>
          <p:cNvCxnSpPr/>
          <p:nvPr/>
        </p:nvCxnSpPr>
        <p:spPr bwMode="auto">
          <a:xfrm>
            <a:off x="11072320" y="954936"/>
            <a:ext cx="255395" cy="4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8" name="TextBox 181">
            <a:extLst>
              <a:ext uri="{FF2B5EF4-FFF2-40B4-BE49-F238E27FC236}">
                <a16:creationId xmlns:a16="http://schemas.microsoft.com/office/drawing/2014/main" id="{B37783E5-57BC-43F8-B89C-415B9E4FBF70}"/>
              </a:ext>
            </a:extLst>
          </p:cNvPr>
          <p:cNvSpPr txBox="1">
            <a:spLocks noChangeArrowheads="1"/>
          </p:cNvSpPr>
          <p:nvPr/>
        </p:nvSpPr>
        <p:spPr bwMode="auto">
          <a:xfrm>
            <a:off x="11330855" y="1004457"/>
            <a:ext cx="61427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FTP / SFTP</a:t>
            </a:r>
          </a:p>
        </p:txBody>
      </p:sp>
      <p:sp>
        <p:nvSpPr>
          <p:cNvPr id="99" name="5 Marcador de número de diapositiva">
            <a:extLst>
              <a:ext uri="{FF2B5EF4-FFF2-40B4-BE49-F238E27FC236}">
                <a16:creationId xmlns:a16="http://schemas.microsoft.com/office/drawing/2014/main" id="{4E3BA852-17D8-4F6E-8C0E-8FA6502E525D}"/>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25</a:t>
            </a:fld>
            <a:endParaRPr lang="es-ES" sz="1292" dirty="0"/>
          </a:p>
        </p:txBody>
      </p:sp>
      <p:sp>
        <p:nvSpPr>
          <p:cNvPr id="122" name="Oval 18">
            <a:extLst>
              <a:ext uri="{FF2B5EF4-FFF2-40B4-BE49-F238E27FC236}">
                <a16:creationId xmlns:a16="http://schemas.microsoft.com/office/drawing/2014/main" id="{72065270-A747-4C06-BAD5-0AF90182670E}"/>
              </a:ext>
            </a:extLst>
          </p:cNvPr>
          <p:cNvSpPr>
            <a:spLocks noChangeArrowheads="1"/>
          </p:cNvSpPr>
          <p:nvPr/>
        </p:nvSpPr>
        <p:spPr bwMode="auto">
          <a:xfrm>
            <a:off x="10255782" y="819635"/>
            <a:ext cx="226800" cy="227917"/>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M</a:t>
            </a:r>
          </a:p>
        </p:txBody>
      </p:sp>
      <p:sp>
        <p:nvSpPr>
          <p:cNvPr id="123" name="CuadroTexto 122">
            <a:extLst>
              <a:ext uri="{FF2B5EF4-FFF2-40B4-BE49-F238E27FC236}">
                <a16:creationId xmlns:a16="http://schemas.microsoft.com/office/drawing/2014/main" id="{EA79CB3B-5B2B-45C0-AE11-038DA3E27C7A}"/>
              </a:ext>
            </a:extLst>
          </p:cNvPr>
          <p:cNvSpPr txBox="1"/>
          <p:nvPr/>
        </p:nvSpPr>
        <p:spPr>
          <a:xfrm>
            <a:off x="10482583" y="837147"/>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Modificado</a:t>
            </a:r>
          </a:p>
        </p:txBody>
      </p:sp>
      <p:sp>
        <p:nvSpPr>
          <p:cNvPr id="124" name="Oval 18">
            <a:extLst>
              <a:ext uri="{FF2B5EF4-FFF2-40B4-BE49-F238E27FC236}">
                <a16:creationId xmlns:a16="http://schemas.microsoft.com/office/drawing/2014/main" id="{18ABAF1B-F41F-4894-BF67-0E1CC94E4F41}"/>
              </a:ext>
            </a:extLst>
          </p:cNvPr>
          <p:cNvSpPr>
            <a:spLocks noChangeArrowheads="1"/>
          </p:cNvSpPr>
          <p:nvPr/>
        </p:nvSpPr>
        <p:spPr bwMode="auto">
          <a:xfrm>
            <a:off x="10267356" y="1045998"/>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25" name="CuadroTexto 124">
            <a:extLst>
              <a:ext uri="{FF2B5EF4-FFF2-40B4-BE49-F238E27FC236}">
                <a16:creationId xmlns:a16="http://schemas.microsoft.com/office/drawing/2014/main" id="{71391F6D-C5BB-4299-8552-3DCD23C661D9}"/>
              </a:ext>
            </a:extLst>
          </p:cNvPr>
          <p:cNvSpPr txBox="1"/>
          <p:nvPr/>
        </p:nvSpPr>
        <p:spPr>
          <a:xfrm>
            <a:off x="10505488" y="106141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Existente</a:t>
            </a:r>
          </a:p>
        </p:txBody>
      </p:sp>
      <p:pic>
        <p:nvPicPr>
          <p:cNvPr id="7" name="Imagen 6">
            <a:extLst>
              <a:ext uri="{FF2B5EF4-FFF2-40B4-BE49-F238E27FC236}">
                <a16:creationId xmlns:a16="http://schemas.microsoft.com/office/drawing/2014/main" id="{D65E0D2A-D80B-4A96-B04A-BA4BEEEAAAA2}"/>
              </a:ext>
            </a:extLst>
          </p:cNvPr>
          <p:cNvPicPr>
            <a:picLocks noChangeAspect="1"/>
          </p:cNvPicPr>
          <p:nvPr/>
        </p:nvPicPr>
        <p:blipFill>
          <a:blip r:embed="rId3"/>
          <a:stretch>
            <a:fillRect/>
          </a:stretch>
        </p:blipFill>
        <p:spPr>
          <a:xfrm>
            <a:off x="8268599" y="3996776"/>
            <a:ext cx="694592" cy="1134208"/>
          </a:xfrm>
          <a:prstGeom prst="rect">
            <a:avLst/>
          </a:prstGeom>
        </p:spPr>
      </p:pic>
      <p:grpSp>
        <p:nvGrpSpPr>
          <p:cNvPr id="105" name="Grupo 104">
            <a:extLst>
              <a:ext uri="{FF2B5EF4-FFF2-40B4-BE49-F238E27FC236}">
                <a16:creationId xmlns:a16="http://schemas.microsoft.com/office/drawing/2014/main" id="{6B3F35BD-AA75-449C-83D3-826C0703AB6E}"/>
              </a:ext>
            </a:extLst>
          </p:cNvPr>
          <p:cNvGrpSpPr/>
          <p:nvPr/>
        </p:nvGrpSpPr>
        <p:grpSpPr>
          <a:xfrm>
            <a:off x="9379329" y="618385"/>
            <a:ext cx="288789" cy="128483"/>
            <a:chOff x="10457075" y="2470064"/>
            <a:chExt cx="431319" cy="225978"/>
          </a:xfrm>
        </p:grpSpPr>
        <p:sp>
          <p:nvSpPr>
            <p:cNvPr id="109" name="Rectángulo 108">
              <a:extLst>
                <a:ext uri="{FF2B5EF4-FFF2-40B4-BE49-F238E27FC236}">
                  <a16:creationId xmlns:a16="http://schemas.microsoft.com/office/drawing/2014/main" id="{6AA7EC62-B94F-4ACA-B951-CF9C0CAE6AD4}"/>
                </a:ext>
              </a:extLst>
            </p:cNvPr>
            <p:cNvSpPr/>
            <p:nvPr/>
          </p:nvSpPr>
          <p:spPr>
            <a:xfrm>
              <a:off x="10457075" y="2470064"/>
              <a:ext cx="431319" cy="22597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16" name="Rectángulo 115">
              <a:extLst>
                <a:ext uri="{FF2B5EF4-FFF2-40B4-BE49-F238E27FC236}">
                  <a16:creationId xmlns:a16="http://schemas.microsoft.com/office/drawing/2014/main" id="{83589C93-02FD-4524-8067-F9259B54C3DD}"/>
                </a:ext>
              </a:extLst>
            </p:cNvPr>
            <p:cNvSpPr/>
            <p:nvPr/>
          </p:nvSpPr>
          <p:spPr>
            <a:xfrm>
              <a:off x="10526091"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grpSp>
      <p:sp>
        <p:nvSpPr>
          <p:cNvPr id="119" name="CuadroTexto 118">
            <a:extLst>
              <a:ext uri="{FF2B5EF4-FFF2-40B4-BE49-F238E27FC236}">
                <a16:creationId xmlns:a16="http://schemas.microsoft.com/office/drawing/2014/main" id="{FB877C06-5586-43A2-89A2-7C60EF752D54}"/>
              </a:ext>
            </a:extLst>
          </p:cNvPr>
          <p:cNvSpPr txBox="1"/>
          <p:nvPr/>
        </p:nvSpPr>
        <p:spPr>
          <a:xfrm>
            <a:off x="9676536" y="596009"/>
            <a:ext cx="617932" cy="191719"/>
          </a:xfrm>
          <a:prstGeom prst="rect">
            <a:avLst/>
          </a:prstGeom>
          <a:noFill/>
        </p:spPr>
        <p:txBody>
          <a:bodyPr wrap="square" rtlCol="0">
            <a:spAutoFit/>
          </a:bodyPr>
          <a:lstStyle/>
          <a:p>
            <a:r>
              <a:rPr lang="es-ES" sz="646" dirty="0"/>
              <a:t>Token JWT </a:t>
            </a:r>
          </a:p>
        </p:txBody>
      </p:sp>
      <p:cxnSp>
        <p:nvCxnSpPr>
          <p:cNvPr id="128" name="25 Conector recto de flecha">
            <a:extLst>
              <a:ext uri="{FF2B5EF4-FFF2-40B4-BE49-F238E27FC236}">
                <a16:creationId xmlns:a16="http://schemas.microsoft.com/office/drawing/2014/main" id="{E3FB340E-2A12-4BEB-A7E8-42C13F420025}"/>
              </a:ext>
            </a:extLst>
          </p:cNvPr>
          <p:cNvCxnSpPr/>
          <p:nvPr/>
        </p:nvCxnSpPr>
        <p:spPr bwMode="auto">
          <a:xfrm>
            <a:off x="9408489" y="976226"/>
            <a:ext cx="255395" cy="4015"/>
          </a:xfrm>
          <a:prstGeom prst="straightConnector1">
            <a:avLst/>
          </a:prstGeom>
          <a:ln>
            <a:solidFill>
              <a:srgbClr val="FFFF00"/>
            </a:solidFill>
            <a:tailEnd type="triangle"/>
          </a:ln>
        </p:spPr>
        <p:style>
          <a:lnRef idx="3">
            <a:schemeClr val="dk1"/>
          </a:lnRef>
          <a:fillRef idx="0">
            <a:schemeClr val="dk1"/>
          </a:fillRef>
          <a:effectRef idx="2">
            <a:schemeClr val="dk1"/>
          </a:effectRef>
          <a:fontRef idx="minor">
            <a:schemeClr val="tx1"/>
          </a:fontRef>
        </p:style>
      </p:cxnSp>
      <p:sp>
        <p:nvSpPr>
          <p:cNvPr id="140" name="TextBox 181">
            <a:extLst>
              <a:ext uri="{FF2B5EF4-FFF2-40B4-BE49-F238E27FC236}">
                <a16:creationId xmlns:a16="http://schemas.microsoft.com/office/drawing/2014/main" id="{9FD8555C-3ED4-4B6A-8793-1E0E45735F43}"/>
              </a:ext>
            </a:extLst>
          </p:cNvPr>
          <p:cNvSpPr txBox="1">
            <a:spLocks noChangeArrowheads="1"/>
          </p:cNvSpPr>
          <p:nvPr/>
        </p:nvSpPr>
        <p:spPr bwMode="auto">
          <a:xfrm>
            <a:off x="9672521" y="861350"/>
            <a:ext cx="397866" cy="343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31" b="0" dirty="0">
                <a:solidFill>
                  <a:srgbClr val="000000"/>
                </a:solidFill>
                <a:latin typeface="Calibri" pitchFamily="34" charset="0"/>
                <a:cs typeface="Arial" charset="0"/>
              </a:rPr>
              <a:t>JDBC</a:t>
            </a:r>
          </a:p>
          <a:p>
            <a:pPr defTabSz="914395">
              <a:defRPr/>
            </a:pPr>
            <a:endParaRPr lang="es-ES" altLang="es-ES" sz="800" b="0" dirty="0">
              <a:solidFill>
                <a:srgbClr val="000000"/>
              </a:solidFill>
              <a:latin typeface="Calibri" pitchFamily="34" charset="0"/>
              <a:cs typeface="Arial" charset="0"/>
            </a:endParaRPr>
          </a:p>
        </p:txBody>
      </p:sp>
      <p:sp>
        <p:nvSpPr>
          <p:cNvPr id="103" name="Rectángulo: esquinas redondeadas 102">
            <a:extLst>
              <a:ext uri="{FF2B5EF4-FFF2-40B4-BE49-F238E27FC236}">
                <a16:creationId xmlns:a16="http://schemas.microsoft.com/office/drawing/2014/main" id="{B6B2F949-3DCA-40F0-B4B1-04F288B30D26}"/>
              </a:ext>
            </a:extLst>
          </p:cNvPr>
          <p:cNvSpPr/>
          <p:nvPr/>
        </p:nvSpPr>
        <p:spPr>
          <a:xfrm>
            <a:off x="5838196" y="1204649"/>
            <a:ext cx="5970512" cy="3648942"/>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a:p>
        </p:txBody>
      </p:sp>
      <p:grpSp>
        <p:nvGrpSpPr>
          <p:cNvPr id="150" name="Grupo 149">
            <a:extLst>
              <a:ext uri="{FF2B5EF4-FFF2-40B4-BE49-F238E27FC236}">
                <a16:creationId xmlns:a16="http://schemas.microsoft.com/office/drawing/2014/main" id="{7BC4577D-E3E6-468C-9E95-66F30DA9214B}"/>
              </a:ext>
            </a:extLst>
          </p:cNvPr>
          <p:cNvGrpSpPr/>
          <p:nvPr/>
        </p:nvGrpSpPr>
        <p:grpSpPr>
          <a:xfrm>
            <a:off x="7678276" y="1283861"/>
            <a:ext cx="1425131" cy="1663935"/>
            <a:chOff x="4214162" y="2214374"/>
            <a:chExt cx="3501284" cy="3857088"/>
          </a:xfrm>
        </p:grpSpPr>
        <p:sp>
          <p:nvSpPr>
            <p:cNvPr id="151" name="Oval 465">
              <a:extLst>
                <a:ext uri="{FF2B5EF4-FFF2-40B4-BE49-F238E27FC236}">
                  <a16:creationId xmlns:a16="http://schemas.microsoft.com/office/drawing/2014/main" id="{4FCC1F58-BEF2-4355-A29D-C9DF443C487E}"/>
                </a:ext>
              </a:extLst>
            </p:cNvPr>
            <p:cNvSpPr>
              <a:spLocks noChangeArrowheads="1"/>
            </p:cNvSpPr>
            <p:nvPr/>
          </p:nvSpPr>
          <p:spPr bwMode="auto">
            <a:xfrm>
              <a:off x="6152189" y="3941550"/>
              <a:ext cx="148851" cy="150886"/>
            </a:xfrm>
            <a:prstGeom prst="ellipse">
              <a:avLst/>
            </a:prstGeom>
            <a:solidFill>
              <a:schemeClr val="tx1"/>
            </a:solidFill>
            <a:ln w="9525">
              <a:solidFill>
                <a:schemeClr val="tx1"/>
              </a:solidFill>
              <a:round/>
              <a:headEnd/>
              <a:tailEnd/>
            </a:ln>
          </p:spPr>
          <p:txBody>
            <a:bodyPr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710" b="0" dirty="0">
                  <a:solidFill>
                    <a:schemeClr val="bg1"/>
                  </a:solidFill>
                </a:rPr>
                <a:t>9</a:t>
              </a:r>
            </a:p>
          </p:txBody>
        </p:sp>
        <p:grpSp>
          <p:nvGrpSpPr>
            <p:cNvPr id="152" name="Grupo 151">
              <a:extLst>
                <a:ext uri="{FF2B5EF4-FFF2-40B4-BE49-F238E27FC236}">
                  <a16:creationId xmlns:a16="http://schemas.microsoft.com/office/drawing/2014/main" id="{A6E20238-53ED-4FDD-A3D3-93A512F043A1}"/>
                </a:ext>
              </a:extLst>
            </p:cNvPr>
            <p:cNvGrpSpPr/>
            <p:nvPr/>
          </p:nvGrpSpPr>
          <p:grpSpPr>
            <a:xfrm>
              <a:off x="4214162" y="2214374"/>
              <a:ext cx="3501284" cy="3857088"/>
              <a:chOff x="4484038" y="3393298"/>
              <a:chExt cx="2193246" cy="2458882"/>
            </a:xfrm>
          </p:grpSpPr>
          <p:sp>
            <p:nvSpPr>
              <p:cNvPr id="153" name="Rectángulo: esquinas redondeadas 152">
                <a:extLst>
                  <a:ext uri="{FF2B5EF4-FFF2-40B4-BE49-F238E27FC236}">
                    <a16:creationId xmlns:a16="http://schemas.microsoft.com/office/drawing/2014/main" id="{E918FAAA-EE70-4506-9174-97C86755B4FB}"/>
                  </a:ext>
                </a:extLst>
              </p:cNvPr>
              <p:cNvSpPr/>
              <p:nvPr/>
            </p:nvSpPr>
            <p:spPr>
              <a:xfrm>
                <a:off x="4484038" y="3393298"/>
                <a:ext cx="2193246" cy="2458882"/>
              </a:xfrm>
              <a:prstGeom prst="roundRect">
                <a:avLst/>
              </a:prstGeom>
              <a:solidFill>
                <a:schemeClr val="bg1"/>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54" name="CuadroTexto 153">
                <a:extLst>
                  <a:ext uri="{FF2B5EF4-FFF2-40B4-BE49-F238E27FC236}">
                    <a16:creationId xmlns:a16="http://schemas.microsoft.com/office/drawing/2014/main" id="{E3A8925E-622B-4671-97E0-41AFF66F9BB5}"/>
                  </a:ext>
                </a:extLst>
              </p:cNvPr>
              <p:cNvSpPr txBox="1"/>
              <p:nvPr/>
            </p:nvSpPr>
            <p:spPr>
              <a:xfrm>
                <a:off x="4866700" y="3608586"/>
                <a:ext cx="1471642" cy="1185842"/>
              </a:xfrm>
              <a:prstGeom prst="rect">
                <a:avLst/>
              </a:prstGeom>
              <a:noFill/>
            </p:spPr>
            <p:txBody>
              <a:bodyPr wrap="square" rtlCol="0">
                <a:spAutoFit/>
              </a:bodyPr>
              <a:lstStyle/>
              <a:p>
                <a:pPr algn="ctr"/>
                <a:r>
                  <a:rPr lang="es-ES" sz="923" b="1" dirty="0">
                    <a:solidFill>
                      <a:srgbClr val="1BB3BC"/>
                    </a:solidFill>
                  </a:rPr>
                  <a:t>Servidor Procesos BATCH</a:t>
                </a:r>
              </a:p>
              <a:p>
                <a:pPr algn="ctr"/>
                <a:r>
                  <a:rPr lang="es-ES" sz="923" b="1" dirty="0">
                    <a:solidFill>
                      <a:srgbClr val="1BB3BC"/>
                    </a:solidFill>
                  </a:rPr>
                  <a:t>Linux</a:t>
                </a:r>
              </a:p>
              <a:p>
                <a:endParaRPr lang="es-ES" sz="923" b="1" dirty="0">
                  <a:solidFill>
                    <a:srgbClr val="1BB3BC"/>
                  </a:solidFill>
                </a:endParaRPr>
              </a:p>
            </p:txBody>
          </p:sp>
        </p:grpSp>
      </p:grpSp>
      <p:pic>
        <p:nvPicPr>
          <p:cNvPr id="156" name="Imagen 155">
            <a:extLst>
              <a:ext uri="{FF2B5EF4-FFF2-40B4-BE49-F238E27FC236}">
                <a16:creationId xmlns:a16="http://schemas.microsoft.com/office/drawing/2014/main" id="{482C29D0-042D-4119-B604-FBA2E093EB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07631" y="2189745"/>
            <a:ext cx="385446" cy="386633"/>
          </a:xfrm>
          <a:prstGeom prst="rect">
            <a:avLst/>
          </a:prstGeom>
        </p:spPr>
      </p:pic>
      <p:cxnSp>
        <p:nvCxnSpPr>
          <p:cNvPr id="157" name="Conector recto de flecha 156">
            <a:extLst>
              <a:ext uri="{FF2B5EF4-FFF2-40B4-BE49-F238E27FC236}">
                <a16:creationId xmlns:a16="http://schemas.microsoft.com/office/drawing/2014/main" id="{80713E8B-0320-4F00-B249-317D1C3D4512}"/>
              </a:ext>
            </a:extLst>
          </p:cNvPr>
          <p:cNvCxnSpPr>
            <a:cxnSpLocks/>
            <a:stCxn id="153" idx="1"/>
          </p:cNvCxnSpPr>
          <p:nvPr/>
        </p:nvCxnSpPr>
        <p:spPr>
          <a:xfrm flipH="1">
            <a:off x="5500002" y="2115829"/>
            <a:ext cx="2178274" cy="42801"/>
          </a:xfrm>
          <a:prstGeom prst="straightConnector1">
            <a:avLst/>
          </a:prstGeom>
          <a:ln>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59" name="Group 605">
            <a:extLst>
              <a:ext uri="{FF2B5EF4-FFF2-40B4-BE49-F238E27FC236}">
                <a16:creationId xmlns:a16="http://schemas.microsoft.com/office/drawing/2014/main" id="{797620A9-3414-4DC0-817D-08288421F68F}"/>
              </a:ext>
            </a:extLst>
          </p:cNvPr>
          <p:cNvGrpSpPr>
            <a:grpSpLocks/>
          </p:cNvGrpSpPr>
          <p:nvPr/>
        </p:nvGrpSpPr>
        <p:grpSpPr bwMode="auto">
          <a:xfrm>
            <a:off x="8012139" y="3605623"/>
            <a:ext cx="708276" cy="636587"/>
            <a:chOff x="2769" y="1896"/>
            <a:chExt cx="530" cy="493"/>
          </a:xfrm>
        </p:grpSpPr>
        <p:pic>
          <p:nvPicPr>
            <p:cNvPr id="160" name="Picture 577" descr="j0431637">
              <a:extLst>
                <a:ext uri="{FF2B5EF4-FFF2-40B4-BE49-F238E27FC236}">
                  <a16:creationId xmlns:a16="http://schemas.microsoft.com/office/drawing/2014/main" id="{0AFBC39F-AC7B-45B0-A551-96F6FFC421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4" y="1934"/>
              <a:ext cx="35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 name="Picture 578" descr="j0432635">
              <a:extLst>
                <a:ext uri="{FF2B5EF4-FFF2-40B4-BE49-F238E27FC236}">
                  <a16:creationId xmlns:a16="http://schemas.microsoft.com/office/drawing/2014/main" id="{AD52BF99-86E2-42C6-B178-114A668DB5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5" y="1896"/>
              <a:ext cx="20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Text Box 579">
              <a:extLst>
                <a:ext uri="{FF2B5EF4-FFF2-40B4-BE49-F238E27FC236}">
                  <a16:creationId xmlns:a16="http://schemas.microsoft.com/office/drawing/2014/main" id="{28689D5A-1CA1-4C13-BE22-883DBDFD8C8A}"/>
                </a:ext>
              </a:extLst>
            </p:cNvPr>
            <p:cNvSpPr txBox="1">
              <a:spLocks noChangeArrowheads="1"/>
            </p:cNvSpPr>
            <p:nvPr/>
          </p:nvSpPr>
          <p:spPr bwMode="auto">
            <a:xfrm>
              <a:off x="2769" y="2270"/>
              <a:ext cx="53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sp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eaLnBrk="1" hangingPunct="1">
                <a:buClr>
                  <a:schemeClr val="accent2"/>
                </a:buClr>
                <a:buFont typeface="Wingdings" panose="05000000000000000000" pitchFamily="2" charset="2"/>
                <a:buNone/>
              </a:pPr>
              <a:r>
                <a:rPr lang="es-ES" altLang="es-ES" sz="1000" dirty="0">
                  <a:solidFill>
                    <a:schemeClr val="tx1"/>
                  </a:solidFill>
                  <a:latin typeface="Verdana" panose="020B0604030504040204" pitchFamily="34" charset="0"/>
                </a:rPr>
                <a:t>Control-M</a:t>
              </a:r>
            </a:p>
          </p:txBody>
        </p:sp>
      </p:grpSp>
      <p:cxnSp>
        <p:nvCxnSpPr>
          <p:cNvPr id="163" name="Conector recto 162">
            <a:extLst>
              <a:ext uri="{FF2B5EF4-FFF2-40B4-BE49-F238E27FC236}">
                <a16:creationId xmlns:a16="http://schemas.microsoft.com/office/drawing/2014/main" id="{9D6ECA07-8448-478A-B529-377FBE5BF8D9}"/>
              </a:ext>
            </a:extLst>
          </p:cNvPr>
          <p:cNvCxnSpPr>
            <a:cxnSpLocks/>
            <a:endCxn id="153" idx="2"/>
          </p:cNvCxnSpPr>
          <p:nvPr/>
        </p:nvCxnSpPr>
        <p:spPr>
          <a:xfrm flipV="1">
            <a:off x="8390841" y="2947796"/>
            <a:ext cx="0" cy="551064"/>
          </a:xfrm>
          <a:prstGeom prst="line">
            <a:avLst/>
          </a:prstGeom>
          <a:ln w="9525" cap="flat" cmpd="sng" algn="ctr">
            <a:solidFill>
              <a:schemeClr val="dk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64" name="Conector recto de flecha 163">
            <a:extLst>
              <a:ext uri="{FF2B5EF4-FFF2-40B4-BE49-F238E27FC236}">
                <a16:creationId xmlns:a16="http://schemas.microsoft.com/office/drawing/2014/main" id="{788932D7-DEEA-4DD8-AE5C-2DBC74022164}"/>
              </a:ext>
            </a:extLst>
          </p:cNvPr>
          <p:cNvCxnSpPr>
            <a:cxnSpLocks/>
            <a:stCxn id="53" idx="2"/>
          </p:cNvCxnSpPr>
          <p:nvPr/>
        </p:nvCxnSpPr>
        <p:spPr>
          <a:xfrm flipH="1">
            <a:off x="7035311" y="2454680"/>
            <a:ext cx="3691732" cy="973386"/>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6" name="AutoShape 206">
            <a:extLst>
              <a:ext uri="{FF2B5EF4-FFF2-40B4-BE49-F238E27FC236}">
                <a16:creationId xmlns:a16="http://schemas.microsoft.com/office/drawing/2014/main" id="{615C7E4E-5579-4BA9-9BCC-982D2912D82D}"/>
              </a:ext>
            </a:extLst>
          </p:cNvPr>
          <p:cNvSpPr>
            <a:spLocks noChangeArrowheads="1"/>
          </p:cNvSpPr>
          <p:nvPr/>
        </p:nvSpPr>
        <p:spPr bwMode="auto">
          <a:xfrm>
            <a:off x="6089251" y="3428066"/>
            <a:ext cx="1240008" cy="997338"/>
          </a:xfrm>
          <a:prstGeom prst="can">
            <a:avLst>
              <a:gd name="adj" fmla="val 24963"/>
            </a:avLst>
          </a:prstGeom>
          <a:solidFill>
            <a:srgbClr val="C00000">
              <a:alpha val="49019"/>
            </a:srgbClr>
          </a:solidFill>
          <a:ln w="9525">
            <a:solidFill>
              <a:schemeClr val="tx1"/>
            </a:solidFill>
            <a:round/>
            <a:headEnd/>
            <a:tailEnd/>
          </a:ln>
        </p:spPr>
        <p:txBody>
          <a:bodyPr wrap="none" anchor="ctr"/>
          <a:lstStyle/>
          <a:p>
            <a:pPr algn="ctr" defTabSz="914395">
              <a:defRPr/>
            </a:pPr>
            <a:endParaRPr lang="es-ES" sz="800" dirty="0">
              <a:solidFill>
                <a:prstClr val="black"/>
              </a:solidFill>
              <a:latin typeface="Verdana" pitchFamily="34" charset="0"/>
            </a:endParaRPr>
          </a:p>
          <a:p>
            <a:pPr algn="ctr" defTabSz="914395">
              <a:defRPr/>
            </a:pPr>
            <a:endParaRPr lang="es-ES" sz="800" dirty="0">
              <a:solidFill>
                <a:prstClr val="black"/>
              </a:solidFill>
              <a:latin typeface="Verdana" pitchFamily="34" charset="0"/>
            </a:endParaRPr>
          </a:p>
        </p:txBody>
      </p:sp>
      <p:pic>
        <p:nvPicPr>
          <p:cNvPr id="168" name="Imagen 167">
            <a:extLst>
              <a:ext uri="{FF2B5EF4-FFF2-40B4-BE49-F238E27FC236}">
                <a16:creationId xmlns:a16="http://schemas.microsoft.com/office/drawing/2014/main" id="{DB14F2C3-E494-4216-AED9-454CEFFA113F}"/>
              </a:ext>
            </a:extLst>
          </p:cNvPr>
          <p:cNvPicPr>
            <a:picLocks noChangeAspect="1"/>
          </p:cNvPicPr>
          <p:nvPr/>
        </p:nvPicPr>
        <p:blipFill>
          <a:blip r:embed="rId7"/>
          <a:stretch>
            <a:fillRect/>
          </a:stretch>
        </p:blipFill>
        <p:spPr>
          <a:xfrm>
            <a:off x="6632435" y="4520940"/>
            <a:ext cx="192401" cy="286971"/>
          </a:xfrm>
          <a:prstGeom prst="rect">
            <a:avLst/>
          </a:prstGeom>
        </p:spPr>
      </p:pic>
      <p:sp>
        <p:nvSpPr>
          <p:cNvPr id="170" name="Oval 18">
            <a:extLst>
              <a:ext uri="{FF2B5EF4-FFF2-40B4-BE49-F238E27FC236}">
                <a16:creationId xmlns:a16="http://schemas.microsoft.com/office/drawing/2014/main" id="{9DBA7D7C-DF32-4D3D-A945-4124E3303068}"/>
              </a:ext>
            </a:extLst>
          </p:cNvPr>
          <p:cNvSpPr>
            <a:spLocks noChangeArrowheads="1"/>
          </p:cNvSpPr>
          <p:nvPr/>
        </p:nvSpPr>
        <p:spPr bwMode="auto">
          <a:xfrm>
            <a:off x="6627407" y="3244559"/>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1" name="Elipse 170">
            <a:extLst>
              <a:ext uri="{FF2B5EF4-FFF2-40B4-BE49-F238E27FC236}">
                <a16:creationId xmlns:a16="http://schemas.microsoft.com/office/drawing/2014/main" id="{A6D67E47-98A8-4B36-9E60-0CF0D330CBF4}"/>
              </a:ext>
            </a:extLst>
          </p:cNvPr>
          <p:cNvSpPr/>
          <p:nvPr/>
        </p:nvSpPr>
        <p:spPr>
          <a:xfrm>
            <a:off x="5174268" y="3141509"/>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2</a:t>
            </a:r>
          </a:p>
        </p:txBody>
      </p:sp>
      <p:sp>
        <p:nvSpPr>
          <p:cNvPr id="174" name="Oval 18">
            <a:extLst>
              <a:ext uri="{FF2B5EF4-FFF2-40B4-BE49-F238E27FC236}">
                <a16:creationId xmlns:a16="http://schemas.microsoft.com/office/drawing/2014/main" id="{ADAD2F46-0649-4098-BAC7-AA92086CB20A}"/>
              </a:ext>
            </a:extLst>
          </p:cNvPr>
          <p:cNvSpPr>
            <a:spLocks noChangeArrowheads="1"/>
          </p:cNvSpPr>
          <p:nvPr/>
        </p:nvSpPr>
        <p:spPr bwMode="auto">
          <a:xfrm>
            <a:off x="5126977" y="1315588"/>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6" name="Elipse 175">
            <a:extLst>
              <a:ext uri="{FF2B5EF4-FFF2-40B4-BE49-F238E27FC236}">
                <a16:creationId xmlns:a16="http://schemas.microsoft.com/office/drawing/2014/main" id="{9A34815B-FA6E-4AAB-9966-B0F96E2E8B49}"/>
              </a:ext>
            </a:extLst>
          </p:cNvPr>
          <p:cNvSpPr/>
          <p:nvPr/>
        </p:nvSpPr>
        <p:spPr>
          <a:xfrm>
            <a:off x="7910548" y="3331241"/>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1</a:t>
            </a:r>
          </a:p>
        </p:txBody>
      </p:sp>
      <p:grpSp>
        <p:nvGrpSpPr>
          <p:cNvPr id="63" name="Grupo 50212">
            <a:extLst>
              <a:ext uri="{FF2B5EF4-FFF2-40B4-BE49-F238E27FC236}">
                <a16:creationId xmlns:a16="http://schemas.microsoft.com/office/drawing/2014/main" id="{885B33CB-49CF-4989-8226-D881404A3FD1}"/>
              </a:ext>
            </a:extLst>
          </p:cNvPr>
          <p:cNvGrpSpPr>
            <a:grpSpLocks/>
          </p:cNvGrpSpPr>
          <p:nvPr/>
        </p:nvGrpSpPr>
        <p:grpSpPr bwMode="auto">
          <a:xfrm>
            <a:off x="6305255" y="3836681"/>
            <a:ext cx="812800" cy="423863"/>
            <a:chOff x="374824" y="2549525"/>
            <a:chExt cx="812800" cy="424128"/>
          </a:xfrm>
        </p:grpSpPr>
        <p:sp>
          <p:nvSpPr>
            <p:cNvPr id="64" name="7 Cilindro">
              <a:extLst>
                <a:ext uri="{FF2B5EF4-FFF2-40B4-BE49-F238E27FC236}">
                  <a16:creationId xmlns:a16="http://schemas.microsoft.com/office/drawing/2014/main" id="{96A39BA0-B072-43E0-B6DE-FEB5C0B24E05}"/>
                </a:ext>
              </a:extLst>
            </p:cNvPr>
            <p:cNvSpPr/>
            <p:nvPr/>
          </p:nvSpPr>
          <p:spPr>
            <a:xfrm>
              <a:off x="374824" y="2549525"/>
              <a:ext cx="812800" cy="424128"/>
            </a:xfrm>
            <a:prstGeom prst="can">
              <a:avLst/>
            </a:prstGeom>
            <a:solidFill>
              <a:schemeClr val="accent2">
                <a:lumMod val="40000"/>
                <a:lumOff val="6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100" dirty="0">
                <a:solidFill>
                  <a:srgbClr val="FFFF99"/>
                </a:solidFill>
              </a:endParaRPr>
            </a:p>
          </p:txBody>
        </p:sp>
        <p:pic>
          <p:nvPicPr>
            <p:cNvPr id="65" name="Imagen 27">
              <a:extLst>
                <a:ext uri="{FF2B5EF4-FFF2-40B4-BE49-F238E27FC236}">
                  <a16:creationId xmlns:a16="http://schemas.microsoft.com/office/drawing/2014/main" id="{B916105C-52FD-4296-838D-F045185F2B01}"/>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7049" y="2691012"/>
              <a:ext cx="7905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0" name="6 Grupo">
            <a:extLst>
              <a:ext uri="{FF2B5EF4-FFF2-40B4-BE49-F238E27FC236}">
                <a16:creationId xmlns:a16="http://schemas.microsoft.com/office/drawing/2014/main" id="{298FE6F3-8B74-461E-AF38-FD0E7F2FAE63}"/>
              </a:ext>
            </a:extLst>
          </p:cNvPr>
          <p:cNvGrpSpPr>
            <a:grpSpLocks/>
          </p:cNvGrpSpPr>
          <p:nvPr/>
        </p:nvGrpSpPr>
        <p:grpSpPr bwMode="auto">
          <a:xfrm>
            <a:off x="4699833" y="1732452"/>
            <a:ext cx="1081088" cy="1341633"/>
            <a:chOff x="4860032" y="2332633"/>
            <a:chExt cx="1080120" cy="1342204"/>
          </a:xfrm>
        </p:grpSpPr>
        <p:pic>
          <p:nvPicPr>
            <p:cNvPr id="71" name="Picture 2" descr="https://encrypted-tbn1.gstatic.com/images?q=tbn:ANd9GcQ_EmDAgy0MlIJq7OL9ITYa4e-G-E4ouXKCrS2optmIh03rsKX21eWDHO0">
              <a:hlinkClick r:id="rId9"/>
              <a:extLst>
                <a:ext uri="{FF2B5EF4-FFF2-40B4-BE49-F238E27FC236}">
                  <a16:creationId xmlns:a16="http://schemas.microsoft.com/office/drawing/2014/main" id="{5D776C46-99A9-4FEE-984C-7E4CA48BDB9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9038" y="2332633"/>
              <a:ext cx="648072" cy="872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5 CuadroTexto">
              <a:extLst>
                <a:ext uri="{FF2B5EF4-FFF2-40B4-BE49-F238E27FC236}">
                  <a16:creationId xmlns:a16="http://schemas.microsoft.com/office/drawing/2014/main" id="{79B7C92E-8BD0-47DC-9B7B-0C80CFE29BF3}"/>
                </a:ext>
              </a:extLst>
            </p:cNvPr>
            <p:cNvSpPr txBox="1">
              <a:spLocks noChangeArrowheads="1"/>
            </p:cNvSpPr>
            <p:nvPr/>
          </p:nvSpPr>
          <p:spPr bwMode="auto">
            <a:xfrm>
              <a:off x="4860032" y="3212976"/>
              <a:ext cx="1080120" cy="46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s-ES" altLang="es-ES" sz="1200" b="0" dirty="0">
                  <a:solidFill>
                    <a:schemeClr val="tx1"/>
                  </a:solidFill>
                </a:rPr>
                <a:t>Relay  de correo</a:t>
              </a:r>
            </a:p>
          </p:txBody>
        </p:sp>
      </p:grpSp>
      <p:sp>
        <p:nvSpPr>
          <p:cNvPr id="73" name="Rectángulo 72">
            <a:extLst>
              <a:ext uri="{FF2B5EF4-FFF2-40B4-BE49-F238E27FC236}">
                <a16:creationId xmlns:a16="http://schemas.microsoft.com/office/drawing/2014/main" id="{494301FD-799E-465C-845B-62BFBDD94047}"/>
              </a:ext>
            </a:extLst>
          </p:cNvPr>
          <p:cNvSpPr/>
          <p:nvPr/>
        </p:nvSpPr>
        <p:spPr>
          <a:xfrm>
            <a:off x="885881" y="1509559"/>
            <a:ext cx="3397725" cy="4409978"/>
          </a:xfrm>
          <a:prstGeom prst="rect">
            <a:avLst/>
          </a:prstGeom>
          <a:solidFill>
            <a:srgbClr val="FFFF99"/>
          </a:solidFill>
          <a:ln w="6350"/>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s-ES" sz="1600" dirty="0">
                <a:solidFill>
                  <a:schemeClr val="tx1"/>
                </a:solidFill>
              </a:rPr>
              <a:t>Se envía correo recordatorio en las siguientes casuísticas:</a:t>
            </a:r>
          </a:p>
          <a:p>
            <a:pPr marL="171450" indent="-171450">
              <a:buFont typeface="Arial" panose="020B0604020202020204" pitchFamily="34" charset="0"/>
              <a:buChar char="•"/>
              <a:defRPr/>
            </a:pPr>
            <a:r>
              <a:rPr lang="es-ES" sz="1600" dirty="0">
                <a:solidFill>
                  <a:schemeClr val="tx1"/>
                </a:solidFill>
              </a:rPr>
              <a:t>Si el usuario no ha subido toda la documentación solicitada, se envía correo con la siguiente periodicidad (D+1, D+5, D+10 y D+20).</a:t>
            </a:r>
          </a:p>
          <a:p>
            <a:pPr marL="171450" indent="-171450">
              <a:buFont typeface="Arial" panose="020B0604020202020204" pitchFamily="34" charset="0"/>
              <a:buChar char="•"/>
              <a:defRPr/>
            </a:pPr>
            <a:r>
              <a:rPr lang="es-ES" sz="1600" dirty="0">
                <a:solidFill>
                  <a:schemeClr val="tx1"/>
                </a:solidFill>
              </a:rPr>
              <a:t>Si el usuario ha iniciado la tramitación, pero no la ha terminado, se envía correo con la siguiente periodicidad (D+1, D+5, D+10)</a:t>
            </a:r>
          </a:p>
          <a:p>
            <a:pPr marL="171450" indent="-171450">
              <a:buFont typeface="Arial" panose="020B0604020202020204" pitchFamily="34" charset="0"/>
              <a:buChar char="•"/>
              <a:defRPr/>
            </a:pPr>
            <a:endParaRPr lang="es-ES" sz="1600" dirty="0">
              <a:solidFill>
                <a:schemeClr val="tx1"/>
              </a:solidFill>
            </a:endParaRPr>
          </a:p>
          <a:p>
            <a:pPr>
              <a:defRPr/>
            </a:pPr>
            <a:r>
              <a:rPr lang="es-ES" sz="1600" dirty="0">
                <a:solidFill>
                  <a:schemeClr val="tx1"/>
                </a:solidFill>
              </a:rPr>
              <a:t>Se genera tarea para </a:t>
            </a:r>
            <a:r>
              <a:rPr lang="es-ES" sz="1600" dirty="0" err="1">
                <a:solidFill>
                  <a:schemeClr val="tx1"/>
                </a:solidFill>
              </a:rPr>
              <a:t>Contact</a:t>
            </a:r>
            <a:r>
              <a:rPr lang="es-ES" sz="1600" dirty="0">
                <a:solidFill>
                  <a:schemeClr val="tx1"/>
                </a:solidFill>
              </a:rPr>
              <a:t> Center en las siguientes casuísticas:</a:t>
            </a:r>
          </a:p>
          <a:p>
            <a:pPr marL="171450" indent="-171450">
              <a:buFont typeface="Arial" panose="020B0604020202020204" pitchFamily="34" charset="0"/>
              <a:buChar char="•"/>
              <a:defRPr/>
            </a:pPr>
            <a:r>
              <a:rPr lang="es-ES" sz="1600" dirty="0">
                <a:solidFill>
                  <a:schemeClr val="tx1"/>
                </a:solidFill>
              </a:rPr>
              <a:t>Han pasado 3 días desde la reclamación por </a:t>
            </a:r>
            <a:r>
              <a:rPr lang="es-ES" sz="1600" dirty="0" err="1">
                <a:solidFill>
                  <a:schemeClr val="tx1"/>
                </a:solidFill>
              </a:rPr>
              <a:t>eMail</a:t>
            </a:r>
            <a:r>
              <a:rPr lang="es-ES" sz="1600" dirty="0">
                <a:solidFill>
                  <a:schemeClr val="tx1"/>
                </a:solidFill>
              </a:rPr>
              <a:t> y el cliente no ha adjuntado documentación.</a:t>
            </a:r>
          </a:p>
          <a:p>
            <a:pPr marL="171450" indent="-171450">
              <a:buFont typeface="Arial" panose="020B0604020202020204" pitchFamily="34" charset="0"/>
              <a:buChar char="•"/>
              <a:defRPr/>
            </a:pPr>
            <a:endParaRPr lang="es-ES" sz="1200" dirty="0">
              <a:solidFill>
                <a:schemeClr val="tx1"/>
              </a:solidFill>
            </a:endParaRPr>
          </a:p>
        </p:txBody>
      </p:sp>
      <p:sp>
        <p:nvSpPr>
          <p:cNvPr id="53" name="Rectángulo 52">
            <a:extLst>
              <a:ext uri="{FF2B5EF4-FFF2-40B4-BE49-F238E27FC236}">
                <a16:creationId xmlns:a16="http://schemas.microsoft.com/office/drawing/2014/main" id="{E6F5CB96-3C2F-4C76-81AA-38539482FC83}"/>
              </a:ext>
            </a:extLst>
          </p:cNvPr>
          <p:cNvSpPr/>
          <p:nvPr/>
        </p:nvSpPr>
        <p:spPr bwMode="auto">
          <a:xfrm>
            <a:off x="10002714" y="1795818"/>
            <a:ext cx="1448657" cy="658862"/>
          </a:xfrm>
          <a:prstGeom prst="rect">
            <a:avLst/>
          </a:prstGeom>
          <a:noFill/>
          <a:ln w="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vert="horz" wrap="square" lIns="97749" tIns="48875" rIns="97749" bIns="48875" numCol="1" rtlCol="0" anchor="t" anchorCtr="0" compatLnSpc="1">
            <a:prstTxWarp prst="textNoShape">
              <a:avLst/>
            </a:prstTxWarp>
            <a:spAutoFit/>
          </a:bodyPr>
          <a:lstStyle>
            <a:defPPr>
              <a:defRPr lang="es-ES"/>
            </a:defPPr>
            <a:lvl1pPr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1pPr>
            <a:lvl2pPr marL="4572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2pPr>
            <a:lvl3pPr marL="9144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3pPr>
            <a:lvl4pPr marL="13716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4pPr>
            <a:lvl5pPr marL="18288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5pPr>
            <a:lvl6pPr marL="2286000" algn="l" defTabSz="914400" rtl="0" eaLnBrk="1" latinLnBrk="0" hangingPunct="1">
              <a:defRPr sz="2400" kern="1200">
                <a:solidFill>
                  <a:schemeClr val="dk1"/>
                </a:solidFill>
                <a:latin typeface="+mn-lt"/>
                <a:ea typeface="+mn-ea"/>
                <a:cs typeface="+mn-cs"/>
              </a:defRPr>
            </a:lvl6pPr>
            <a:lvl7pPr marL="2743200" algn="l" defTabSz="914400" rtl="0" eaLnBrk="1" latinLnBrk="0" hangingPunct="1">
              <a:defRPr sz="2400" kern="1200">
                <a:solidFill>
                  <a:schemeClr val="dk1"/>
                </a:solidFill>
                <a:latin typeface="+mn-lt"/>
                <a:ea typeface="+mn-ea"/>
                <a:cs typeface="+mn-cs"/>
              </a:defRPr>
            </a:lvl7pPr>
            <a:lvl8pPr marL="3200400" algn="l" defTabSz="914400" rtl="0" eaLnBrk="1" latinLnBrk="0" hangingPunct="1">
              <a:defRPr sz="2400" kern="1200">
                <a:solidFill>
                  <a:schemeClr val="dk1"/>
                </a:solidFill>
                <a:latin typeface="+mn-lt"/>
                <a:ea typeface="+mn-ea"/>
                <a:cs typeface="+mn-cs"/>
              </a:defRPr>
            </a:lvl8pPr>
            <a:lvl9pPr marL="3657600" algn="l" defTabSz="914400" rtl="0" eaLnBrk="1" latinLnBrk="0" hangingPunct="1">
              <a:defRPr sz="2400" kern="1200">
                <a:solidFill>
                  <a:schemeClr val="dk1"/>
                </a:solidFill>
                <a:latin typeface="+mn-lt"/>
                <a:ea typeface="+mn-ea"/>
                <a:cs typeface="+mn-cs"/>
              </a:defRPr>
            </a:lvl9pPr>
          </a:lstStyle>
          <a:p>
            <a:pPr defTabSz="977900"/>
            <a:endParaRPr lang="es-ES">
              <a:solidFill>
                <a:schemeClr val="tx1"/>
              </a:solidFill>
              <a:latin typeface="Arial" charset="0"/>
            </a:endParaRPr>
          </a:p>
        </p:txBody>
      </p:sp>
      <p:pic>
        <p:nvPicPr>
          <p:cNvPr id="59" name="Picture 10" descr="Resultado de imagen de Openshift icon">
            <a:extLst>
              <a:ext uri="{FF2B5EF4-FFF2-40B4-BE49-F238E27FC236}">
                <a16:creationId xmlns:a16="http://schemas.microsoft.com/office/drawing/2014/main" id="{67B516E4-6C08-4275-BCBE-1A5E780F049F}"/>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10510465" y="2064336"/>
            <a:ext cx="239828" cy="282164"/>
          </a:xfrm>
          <a:prstGeom prst="rect">
            <a:avLst/>
          </a:prstGeom>
          <a:noFill/>
          <a:extLst>
            <a:ext uri="{909E8E84-426E-40DD-AFC4-6F175D3DCCD1}">
              <a14:hiddenFill xmlns:a14="http://schemas.microsoft.com/office/drawing/2010/main">
                <a:solidFill>
                  <a:srgbClr val="FFFFFF"/>
                </a:solidFill>
              </a14:hiddenFill>
            </a:ext>
          </a:extLst>
        </p:spPr>
      </p:pic>
      <p:sp>
        <p:nvSpPr>
          <p:cNvPr id="60" name="CuadroTexto 59">
            <a:extLst>
              <a:ext uri="{FF2B5EF4-FFF2-40B4-BE49-F238E27FC236}">
                <a16:creationId xmlns:a16="http://schemas.microsoft.com/office/drawing/2014/main" id="{F2C1CC87-C53B-4198-9060-3C5016E54BD0}"/>
              </a:ext>
            </a:extLst>
          </p:cNvPr>
          <p:cNvSpPr txBox="1"/>
          <p:nvPr/>
        </p:nvSpPr>
        <p:spPr>
          <a:xfrm>
            <a:off x="10122779" y="1809200"/>
            <a:ext cx="1685929" cy="248530"/>
          </a:xfrm>
          <a:prstGeom prst="rect">
            <a:avLst/>
          </a:prstGeom>
          <a:noFill/>
        </p:spPr>
        <p:txBody>
          <a:bodyPr wrap="square" rtlCol="0">
            <a:spAutoFit/>
          </a:bodyPr>
          <a:lstStyle/>
          <a:p>
            <a:r>
              <a:rPr lang="es-ES" sz="1015" b="1" dirty="0">
                <a:solidFill>
                  <a:srgbClr val="1BB3BC"/>
                </a:solidFill>
              </a:rPr>
              <a:t>PaaS Intranet HC 2.0</a:t>
            </a:r>
          </a:p>
        </p:txBody>
      </p:sp>
      <p:cxnSp>
        <p:nvCxnSpPr>
          <p:cNvPr id="61" name="451 Conector recto de flecha">
            <a:extLst>
              <a:ext uri="{FF2B5EF4-FFF2-40B4-BE49-F238E27FC236}">
                <a16:creationId xmlns:a16="http://schemas.microsoft.com/office/drawing/2014/main" id="{D28291FC-6F55-4082-948E-33F40A2C9AF1}"/>
              </a:ext>
            </a:extLst>
          </p:cNvPr>
          <p:cNvCxnSpPr>
            <a:cxnSpLocks/>
            <a:endCxn id="53" idx="1"/>
          </p:cNvCxnSpPr>
          <p:nvPr/>
        </p:nvCxnSpPr>
        <p:spPr bwMode="auto">
          <a:xfrm flipV="1">
            <a:off x="9080631" y="2125249"/>
            <a:ext cx="922083" cy="60462"/>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2" name="Rectángulo: esquinas redondeadas 61">
            <a:extLst>
              <a:ext uri="{FF2B5EF4-FFF2-40B4-BE49-F238E27FC236}">
                <a16:creationId xmlns:a16="http://schemas.microsoft.com/office/drawing/2014/main" id="{A05E2574-266A-4FA9-87AF-7CD3A89B1F37}"/>
              </a:ext>
            </a:extLst>
          </p:cNvPr>
          <p:cNvSpPr/>
          <p:nvPr/>
        </p:nvSpPr>
        <p:spPr>
          <a:xfrm>
            <a:off x="10077511" y="3160386"/>
            <a:ext cx="1375989" cy="399068"/>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pic>
        <p:nvPicPr>
          <p:cNvPr id="66" name="Picture 2" descr="Azure Blob Storage with Xamarin.Forms – Luis Beltran">
            <a:extLst>
              <a:ext uri="{FF2B5EF4-FFF2-40B4-BE49-F238E27FC236}">
                <a16:creationId xmlns:a16="http://schemas.microsoft.com/office/drawing/2014/main" id="{96C59644-813C-4E70-9B01-DAD6A8828A88}"/>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203383" y="3261063"/>
            <a:ext cx="1055389" cy="253478"/>
          </a:xfrm>
          <a:prstGeom prst="rect">
            <a:avLst/>
          </a:prstGeom>
          <a:noFill/>
          <a:extLst>
            <a:ext uri="{909E8E84-426E-40DD-AFC4-6F175D3DCCD1}">
              <a14:hiddenFill xmlns:a14="http://schemas.microsoft.com/office/drawing/2010/main">
                <a:solidFill>
                  <a:srgbClr val="FFFFFF"/>
                </a:solidFill>
              </a14:hiddenFill>
            </a:ext>
          </a:extLst>
        </p:spPr>
      </p:pic>
      <p:cxnSp>
        <p:nvCxnSpPr>
          <p:cNvPr id="67" name="25 Conector recto de flecha">
            <a:extLst>
              <a:ext uri="{FF2B5EF4-FFF2-40B4-BE49-F238E27FC236}">
                <a16:creationId xmlns:a16="http://schemas.microsoft.com/office/drawing/2014/main" id="{21D05A3A-29E6-4475-91C8-97D84F669884}"/>
              </a:ext>
            </a:extLst>
          </p:cNvPr>
          <p:cNvCxnSpPr>
            <a:cxnSpLocks/>
            <a:stCxn id="53" idx="2"/>
            <a:endCxn id="62" idx="0"/>
          </p:cNvCxnSpPr>
          <p:nvPr/>
        </p:nvCxnSpPr>
        <p:spPr bwMode="auto">
          <a:xfrm>
            <a:off x="10727043" y="2454680"/>
            <a:ext cx="38463" cy="705706"/>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68" name="Oval 18">
            <a:extLst>
              <a:ext uri="{FF2B5EF4-FFF2-40B4-BE49-F238E27FC236}">
                <a16:creationId xmlns:a16="http://schemas.microsoft.com/office/drawing/2014/main" id="{D6C82987-65D5-4706-BDA0-CF7A18B8964A}"/>
              </a:ext>
            </a:extLst>
          </p:cNvPr>
          <p:cNvSpPr>
            <a:spLocks noChangeArrowheads="1"/>
          </p:cNvSpPr>
          <p:nvPr/>
        </p:nvSpPr>
        <p:spPr bwMode="auto">
          <a:xfrm>
            <a:off x="8776434" y="2038107"/>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Tree>
    <p:extLst>
      <p:ext uri="{BB962C8B-B14F-4D97-AF65-F5344CB8AC3E}">
        <p14:creationId xmlns:p14="http://schemas.microsoft.com/office/powerpoint/2010/main" val="24084029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8636000"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4" name="2 Marcador de contenido"/>
          <p:cNvSpPr txBox="1">
            <a:spLocks/>
          </p:cNvSpPr>
          <p:nvPr/>
        </p:nvSpPr>
        <p:spPr bwMode="auto">
          <a:xfrm>
            <a:off x="265674" y="619107"/>
            <a:ext cx="9608866" cy="564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_tradnl" altLang="es-ES" sz="2000" dirty="0">
                <a:solidFill>
                  <a:srgbClr val="FF0000"/>
                </a:solidFill>
              </a:rPr>
              <a:t>Descripción </a:t>
            </a:r>
            <a:r>
              <a:rPr lang="es-ES" altLang="es-ES" sz="2000" dirty="0">
                <a:solidFill>
                  <a:srgbClr val="FF0000"/>
                </a:solidFill>
              </a:rPr>
              <a:t>proceso recordatorio de documentación</a:t>
            </a:r>
            <a:endParaRPr lang="es-ES_tradnl" altLang="es-ES" sz="2000" u="sng" dirty="0">
              <a:solidFill>
                <a:srgbClr val="FF0000"/>
              </a:solidFill>
            </a:endParaRPr>
          </a:p>
          <a:p>
            <a:pPr marL="0" indent="0">
              <a:buClr>
                <a:srgbClr val="FF0000"/>
              </a:buClr>
              <a:defRPr/>
            </a:pPr>
            <a:r>
              <a:rPr lang="es-ES_tradnl" altLang="es-ES" sz="2000" dirty="0">
                <a:solidFill>
                  <a:srgbClr val="FF0000"/>
                </a:solidFill>
              </a:rPr>
              <a:t> </a:t>
            </a:r>
            <a:endParaRPr lang="es-ES" sz="1600" dirty="0">
              <a:solidFill>
                <a:srgbClr val="808080"/>
              </a:solidFill>
            </a:endParaRPr>
          </a:p>
        </p:txBody>
      </p:sp>
      <p:graphicFrame>
        <p:nvGraphicFramePr>
          <p:cNvPr id="6" name="Group 6"/>
          <p:cNvGraphicFramePr>
            <a:graphicFrameLocks/>
          </p:cNvGraphicFramePr>
          <p:nvPr>
            <p:extLst>
              <p:ext uri="{D42A27DB-BD31-4B8C-83A1-F6EECF244321}">
                <p14:modId xmlns:p14="http://schemas.microsoft.com/office/powerpoint/2010/main" val="679979809"/>
              </p:ext>
            </p:extLst>
          </p:nvPr>
        </p:nvGraphicFramePr>
        <p:xfrm>
          <a:off x="358094" y="1024831"/>
          <a:ext cx="11255784" cy="3890925"/>
        </p:xfrm>
        <a:graphic>
          <a:graphicData uri="http://schemas.openxmlformats.org/drawingml/2006/table">
            <a:tbl>
              <a:tblPr/>
              <a:tblGrid>
                <a:gridCol w="1098917">
                  <a:extLst>
                    <a:ext uri="{9D8B030D-6E8A-4147-A177-3AD203B41FA5}">
                      <a16:colId xmlns:a16="http://schemas.microsoft.com/office/drawing/2014/main" val="20000"/>
                    </a:ext>
                  </a:extLst>
                </a:gridCol>
                <a:gridCol w="10156867">
                  <a:extLst>
                    <a:ext uri="{9D8B030D-6E8A-4147-A177-3AD203B41FA5}">
                      <a16:colId xmlns:a16="http://schemas.microsoft.com/office/drawing/2014/main" val="20001"/>
                    </a:ext>
                  </a:extLst>
                </a:gridCol>
              </a:tblGrid>
              <a:tr h="392361">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Paso</a:t>
                      </a:r>
                    </a:p>
                  </a:txBody>
                  <a:tcPr marL="90007" marR="90007"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Descripción </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661447">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3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88900" indent="-88900" eaLnBrk="1" hangingPunct="1">
                        <a:defRPr/>
                      </a:pPr>
                      <a:r>
                        <a:rPr lang="es-ES" sz="1800" kern="1200" baseline="0" dirty="0">
                          <a:solidFill>
                            <a:schemeClr val="bg1">
                              <a:lumMod val="50000"/>
                            </a:schemeClr>
                          </a:solidFill>
                          <a:latin typeface="Arial" charset="0"/>
                          <a:ea typeface="+mn-ea"/>
                          <a:cs typeface="Arial" charset="0"/>
                        </a:rPr>
                        <a:t>Procesos Batch realizados en Java(periodicidad: diaria)</a:t>
                      </a:r>
                    </a:p>
                    <a:p>
                      <a:pPr marL="88900" indent="-88900" eaLnBrk="1" hangingPunct="1">
                        <a:defRPr/>
                      </a:pPr>
                      <a:endParaRPr lang="es-ES" sz="1800" kern="1200" baseline="0" dirty="0">
                        <a:solidFill>
                          <a:schemeClr val="bg1">
                            <a:lumMod val="50000"/>
                          </a:schemeClr>
                        </a:solidFill>
                        <a:latin typeface="Arial" charset="0"/>
                        <a:ea typeface="+mn-ea"/>
                        <a:cs typeface="Arial" charset="0"/>
                      </a:endParaRPr>
                    </a:p>
                    <a:p>
                      <a:pPr marL="0" indent="0" eaLnBrk="1" hangingPunct="1">
                        <a:buFont typeface="Arial" panose="020B0604020202020204" pitchFamily="34" charset="0"/>
                        <a:buNone/>
                        <a:defRPr/>
                      </a:pPr>
                      <a:r>
                        <a:rPr lang="es-ES" sz="1800" kern="1200" baseline="0" dirty="0">
                          <a:solidFill>
                            <a:schemeClr val="bg1">
                              <a:lumMod val="50000"/>
                            </a:schemeClr>
                          </a:solidFill>
                          <a:latin typeface="Arial" charset="0"/>
                          <a:ea typeface="+mn-ea"/>
                          <a:cs typeface="Arial" charset="0"/>
                        </a:rPr>
                        <a:t>Identifica las solicitudes que hay que enviar recordatorio por correo electrónico y lo notifica, actualizando en modelo de datos la fecha de notificación.</a:t>
                      </a:r>
                    </a:p>
                    <a:p>
                      <a:pPr marL="0" indent="0" eaLnBrk="1" hangingPunct="1">
                        <a:buFont typeface="Arial" panose="020B0604020202020204" pitchFamily="34" charset="0"/>
                        <a:buNone/>
                        <a:defRPr/>
                      </a:pPr>
                      <a:endParaRPr lang="es-ES" sz="1800" kern="1200" baseline="0" dirty="0">
                        <a:solidFill>
                          <a:schemeClr val="bg1">
                            <a:lumMod val="50000"/>
                          </a:schemeClr>
                        </a:solidFill>
                        <a:latin typeface="Arial" charset="0"/>
                        <a:ea typeface="+mn-ea"/>
                        <a:cs typeface="Arial" charset="0"/>
                      </a:endParaRPr>
                    </a:p>
                    <a:p>
                      <a:pPr marL="0" indent="0" eaLnBrk="1" hangingPunct="1">
                        <a:buFont typeface="Arial" panose="020B0604020202020204" pitchFamily="34" charset="0"/>
                        <a:buNone/>
                        <a:defRPr/>
                      </a:pPr>
                      <a:r>
                        <a:rPr lang="es-ES" sz="1800" kern="1200" baseline="0" dirty="0">
                          <a:solidFill>
                            <a:schemeClr val="bg1">
                              <a:lumMod val="50000"/>
                            </a:schemeClr>
                          </a:solidFill>
                          <a:latin typeface="Arial" charset="0"/>
                          <a:ea typeface="+mn-ea"/>
                          <a:cs typeface="Arial" charset="0"/>
                        </a:rPr>
                        <a:t>Identifica las solicitudes que hay que crear una tarea para Contact Center y la da de alta en la BBDD.</a:t>
                      </a:r>
                    </a:p>
                    <a:p>
                      <a:pPr marL="228600" indent="-228600" eaLnBrk="1" hangingPunct="1">
                        <a:buFont typeface="Arial" panose="020B0604020202020204" pitchFamily="34" charset="0"/>
                        <a:buChar char="•"/>
                        <a:defRPr/>
                      </a:pPr>
                      <a:endParaRPr lang="es-ES" sz="1800" kern="1200" baseline="0" dirty="0">
                        <a:solidFill>
                          <a:schemeClr val="bg1">
                            <a:lumMod val="50000"/>
                          </a:schemeClr>
                        </a:solidFill>
                        <a:latin typeface="Arial" charset="0"/>
                        <a:ea typeface="+mn-ea"/>
                        <a:cs typeface="Arial" charset="0"/>
                      </a:endParaRPr>
                    </a:p>
                    <a:p>
                      <a:pPr eaLnBrk="1" hangingPunct="1">
                        <a:defRPr/>
                      </a:pPr>
                      <a:r>
                        <a:rPr lang="es-ES" sz="1800" kern="1200" baseline="0" dirty="0">
                          <a:solidFill>
                            <a:schemeClr val="bg1">
                              <a:lumMod val="50000"/>
                            </a:schemeClr>
                          </a:solidFill>
                          <a:latin typeface="Arial" charset="0"/>
                          <a:ea typeface="+mn-ea"/>
                          <a:cs typeface="Arial" charset="0"/>
                        </a:rPr>
                        <a:t>Nota: Para la ejecución de este proceso, no se integra con ningún sistema corporativo.</a:t>
                      </a:r>
                    </a:p>
                    <a:p>
                      <a:pPr eaLnBrk="1" hangingPunct="1">
                        <a:defRPr/>
                      </a:pPr>
                      <a:endParaRPr lang="es-ES" sz="1800" kern="1200" baseline="0" dirty="0">
                        <a:solidFill>
                          <a:schemeClr val="bg1">
                            <a:lumMod val="50000"/>
                          </a:schemeClr>
                        </a:solidFill>
                        <a:latin typeface="Arial" charset="0"/>
                        <a:ea typeface="+mn-ea"/>
                        <a:cs typeface="Arial" charset="0"/>
                      </a:endParaRP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4072">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endParaRPr lang="es-ES" altLang="es-ES" sz="13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s-ES_tradnl" sz="1800" kern="1200" baseline="0" dirty="0">
                          <a:solidFill>
                            <a:schemeClr val="bg1">
                              <a:lumMod val="50000"/>
                            </a:schemeClr>
                          </a:solidFill>
                          <a:latin typeface="Arial" charset="0"/>
                          <a:ea typeface="+mn-ea"/>
                          <a:cs typeface="Arial" charset="0"/>
                        </a:rPr>
                        <a:t>Envío de correo a través de Relay</a:t>
                      </a:r>
                    </a:p>
                  </a:txBody>
                  <a:tcPr marL="100584" marR="100584" marT="45682" marB="456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2" name="Oval 18">
            <a:extLst>
              <a:ext uri="{FF2B5EF4-FFF2-40B4-BE49-F238E27FC236}">
                <a16:creationId xmlns:a16="http://schemas.microsoft.com/office/drawing/2014/main" id="{9629D2C5-4837-432A-BBB8-82F2A7DB0499}"/>
              </a:ext>
            </a:extLst>
          </p:cNvPr>
          <p:cNvSpPr>
            <a:spLocks noChangeArrowheads="1"/>
          </p:cNvSpPr>
          <p:nvPr/>
        </p:nvSpPr>
        <p:spPr bwMode="auto">
          <a:xfrm>
            <a:off x="738180" y="2422499"/>
            <a:ext cx="252000" cy="252000"/>
          </a:xfrm>
          <a:prstGeom prst="ellipse">
            <a:avLst/>
          </a:prstGeom>
          <a:solidFill>
            <a:srgbClr val="FF0000"/>
          </a:solidFill>
          <a:ln w="9525">
            <a:solidFill>
              <a:srgbClr val="000000"/>
            </a:solidFill>
            <a:round/>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a:buNone/>
            </a:pPr>
            <a:r>
              <a:rPr lang="es-ES" altLang="es-ES" sz="1200" dirty="0">
                <a:solidFill>
                  <a:schemeClr val="lt1"/>
                </a:solidFill>
              </a:rPr>
              <a:t>1</a:t>
            </a:r>
          </a:p>
        </p:txBody>
      </p:sp>
      <p:sp>
        <p:nvSpPr>
          <p:cNvPr id="13" name="Oval 18">
            <a:extLst>
              <a:ext uri="{FF2B5EF4-FFF2-40B4-BE49-F238E27FC236}">
                <a16:creationId xmlns:a16="http://schemas.microsoft.com/office/drawing/2014/main" id="{4F191247-3DD3-4FB8-99EB-5E4215336E4C}"/>
              </a:ext>
            </a:extLst>
          </p:cNvPr>
          <p:cNvSpPr>
            <a:spLocks noChangeArrowheads="1"/>
          </p:cNvSpPr>
          <p:nvPr/>
        </p:nvSpPr>
        <p:spPr bwMode="auto">
          <a:xfrm>
            <a:off x="738180" y="4436590"/>
            <a:ext cx="242257" cy="252000"/>
          </a:xfrm>
          <a:prstGeom prst="ellipse">
            <a:avLst/>
          </a:prstGeom>
          <a:solidFill>
            <a:srgbClr val="FF0000"/>
          </a:solidFill>
          <a:ln w="9525">
            <a:solidFill>
              <a:srgbClr val="000000"/>
            </a:solidFill>
            <a:round/>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a:buNone/>
            </a:pPr>
            <a:r>
              <a:rPr lang="es-ES" altLang="es-ES" sz="1200" dirty="0">
                <a:solidFill>
                  <a:schemeClr val="lt1"/>
                </a:solidFill>
              </a:rPr>
              <a:t>2</a:t>
            </a:r>
          </a:p>
        </p:txBody>
      </p:sp>
      <p:sp>
        <p:nvSpPr>
          <p:cNvPr id="10" name="Rectángulo 9">
            <a:extLst>
              <a:ext uri="{FF2B5EF4-FFF2-40B4-BE49-F238E27FC236}">
                <a16:creationId xmlns:a16="http://schemas.microsoft.com/office/drawing/2014/main" id="{BEDA10CD-5182-4CE8-8369-9B8F7A7F886C}"/>
              </a:ext>
            </a:extLst>
          </p:cNvPr>
          <p:cNvSpPr/>
          <p:nvPr/>
        </p:nvSpPr>
        <p:spPr>
          <a:xfrm>
            <a:off x="1179371" y="5852333"/>
            <a:ext cx="11381231" cy="307777"/>
          </a:xfrm>
          <a:prstGeom prst="rect">
            <a:avLst/>
          </a:prstGeom>
        </p:spPr>
        <p:txBody>
          <a:bodyPr wrap="square">
            <a:spAutoFit/>
          </a:bodyPr>
          <a:lstStyle/>
          <a:p>
            <a:r>
              <a:rPr lang="en-US" sz="1400" dirty="0">
                <a:solidFill>
                  <a:schemeClr val="bg1">
                    <a:lumMod val="50000"/>
                  </a:schemeClr>
                </a:solidFill>
                <a:latin typeface="Arial" charset="0"/>
                <a:cs typeface="Arial" charset="0"/>
              </a:rPr>
              <a:t>. </a:t>
            </a:r>
            <a:endParaRPr lang="es-ES" sz="1400" dirty="0"/>
          </a:p>
        </p:txBody>
      </p:sp>
      <p:sp>
        <p:nvSpPr>
          <p:cNvPr id="11" name="5 Marcador de número de diapositiva">
            <a:extLst>
              <a:ext uri="{FF2B5EF4-FFF2-40B4-BE49-F238E27FC236}">
                <a16:creationId xmlns:a16="http://schemas.microsoft.com/office/drawing/2014/main" id="{28929CFE-186F-40F5-B726-8BD9061345C1}"/>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26</a:t>
            </a:fld>
            <a:endParaRPr lang="es-ES" sz="1292" dirty="0"/>
          </a:p>
        </p:txBody>
      </p:sp>
    </p:spTree>
    <p:extLst>
      <p:ext uri="{BB962C8B-B14F-4D97-AF65-F5344CB8AC3E}">
        <p14:creationId xmlns:p14="http://schemas.microsoft.com/office/powerpoint/2010/main" val="3482618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155" name="2 Marcador de contenido"/>
          <p:cNvSpPr txBox="1">
            <a:spLocks/>
          </p:cNvSpPr>
          <p:nvPr/>
        </p:nvSpPr>
        <p:spPr bwMode="auto">
          <a:xfrm>
            <a:off x="274563" y="549600"/>
            <a:ext cx="9353666" cy="387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spcBef>
                <a:spcPts val="300"/>
              </a:spcBef>
              <a:buNone/>
            </a:pPr>
            <a:r>
              <a:rPr lang="es-ES" sz="2000" b="1" dirty="0">
                <a:solidFill>
                  <a:srgbClr val="EB0000"/>
                </a:solidFill>
                <a:ea typeface="Segoe UI" panose="020B0502040204020203" pitchFamily="34" charset="0"/>
                <a:cs typeface="Segoe UI" panose="020B0502040204020203" pitchFamily="34" charset="0"/>
              </a:rPr>
              <a:t>Mapa técnico de arquitectura: </a:t>
            </a:r>
            <a:r>
              <a:rPr lang="en-GB" sz="2000" b="1" dirty="0">
                <a:solidFill>
                  <a:srgbClr val="EB0000"/>
                </a:solidFill>
                <a:cs typeface="Segoe UI" panose="020B0502040204020203" pitchFamily="34" charset="0"/>
              </a:rPr>
              <a:t>procesos </a:t>
            </a:r>
            <a:r>
              <a:rPr lang="en-GB" sz="2000" b="1" dirty="0" err="1">
                <a:solidFill>
                  <a:srgbClr val="EB0000"/>
                </a:solidFill>
                <a:cs typeface="Segoe UI" panose="020B0502040204020203" pitchFamily="34" charset="0"/>
              </a:rPr>
              <a:t>planificados</a:t>
            </a:r>
            <a:r>
              <a:rPr lang="en-GB" sz="2000" b="1" dirty="0">
                <a:solidFill>
                  <a:srgbClr val="EB0000"/>
                </a:solidFill>
                <a:cs typeface="Segoe UI" panose="020B0502040204020203" pitchFamily="34" charset="0"/>
              </a:rPr>
              <a:t>.</a:t>
            </a:r>
          </a:p>
          <a:p>
            <a:pPr eaLnBrk="1" hangingPunct="1">
              <a:lnSpc>
                <a:spcPts val="2400"/>
              </a:lnSpc>
            </a:pPr>
            <a:r>
              <a:rPr lang="es-ES" altLang="es-ES" sz="2000" dirty="0">
                <a:solidFill>
                  <a:srgbClr val="FF0000"/>
                </a:solidFill>
              </a:rPr>
              <a:t>Proceso Listado de contrataciones para Marketing</a:t>
            </a:r>
            <a:endParaRPr lang="es-ES_tradnl" altLang="es-ES" sz="2000" dirty="0">
              <a:solidFill>
                <a:srgbClr val="FF0000"/>
              </a:solidFill>
            </a:endParaRPr>
          </a:p>
          <a:p>
            <a:pPr eaLnBrk="1" hangingPunct="1">
              <a:lnSpc>
                <a:spcPts val="2400"/>
              </a:lnSpc>
              <a:buFontTx/>
              <a:buNone/>
            </a:pPr>
            <a:endParaRPr lang="es-ES_tradnl" altLang="es-ES" u="sng" dirty="0">
              <a:solidFill>
                <a:srgbClr val="FF0000"/>
              </a:solidFill>
            </a:endParaRPr>
          </a:p>
          <a:p>
            <a:pPr marL="0" indent="0">
              <a:spcBef>
                <a:spcPts val="300"/>
              </a:spcBef>
              <a:buNone/>
            </a:pPr>
            <a:endParaRPr lang="es-ES" sz="2000" b="1" dirty="0">
              <a:solidFill>
                <a:srgbClr val="EB0000"/>
              </a:solidFill>
              <a:cs typeface="Segoe UI" panose="020B0502040204020203" pitchFamily="34" charset="0"/>
            </a:endParaRPr>
          </a:p>
          <a:p>
            <a:pPr algn="ctr">
              <a:buClr>
                <a:srgbClr val="FF0000"/>
              </a:buClr>
              <a:buFont typeface="Wingdings" pitchFamily="2" charset="2"/>
              <a:buChar char="w"/>
              <a:defRPr/>
            </a:pPr>
            <a:endParaRPr lang="es-ES" sz="2200" dirty="0">
              <a:solidFill>
                <a:srgbClr val="FF0000"/>
              </a:solidFill>
            </a:endParaRPr>
          </a:p>
        </p:txBody>
      </p:sp>
      <p:sp>
        <p:nvSpPr>
          <p:cNvPr id="54" name="Rectangle 331">
            <a:extLst>
              <a:ext uri="{FF2B5EF4-FFF2-40B4-BE49-F238E27FC236}">
                <a16:creationId xmlns:a16="http://schemas.microsoft.com/office/drawing/2014/main" id="{08D803E7-4D55-4E27-8BF9-54DEDEC69874}"/>
              </a:ext>
            </a:extLst>
          </p:cNvPr>
          <p:cNvSpPr>
            <a:spLocks noChangeArrowheads="1"/>
          </p:cNvSpPr>
          <p:nvPr/>
        </p:nvSpPr>
        <p:spPr bwMode="auto">
          <a:xfrm>
            <a:off x="9316398" y="549600"/>
            <a:ext cx="2754263" cy="723395"/>
          </a:xfrm>
          <a:prstGeom prst="rect">
            <a:avLst/>
          </a:prstGeom>
          <a:solidFill>
            <a:schemeClr val="bg1"/>
          </a:solidFill>
          <a:ln>
            <a:solidFill>
              <a:srgbClr val="FF0000"/>
            </a:solidFill>
            <a:headEnd/>
            <a:tailEnd/>
          </a:ln>
        </p:spPr>
        <p:style>
          <a:lnRef idx="1">
            <a:schemeClr val="accent2"/>
          </a:lnRef>
          <a:fillRef idx="2">
            <a:schemeClr val="accent2"/>
          </a:fillRef>
          <a:effectRef idx="1">
            <a:schemeClr val="accent2"/>
          </a:effectRef>
          <a:fontRef idx="minor">
            <a:schemeClr val="dk1"/>
          </a:fontRef>
        </p:style>
        <p:txBody>
          <a:bodyPr wrap="none">
            <a:flatTx/>
          </a:bodyPr>
          <a:lstStyle/>
          <a:p>
            <a:pPr defTabSz="914395">
              <a:defRPr/>
            </a:pPr>
            <a:endParaRPr lang="en-US" sz="1100" b="1" dirty="0">
              <a:solidFill>
                <a:sysClr val="windowText" lastClr="000000"/>
              </a:solidFill>
              <a:latin typeface="Calibri" panose="020F0502020204030204"/>
            </a:endParaRPr>
          </a:p>
        </p:txBody>
      </p:sp>
      <p:sp>
        <p:nvSpPr>
          <p:cNvPr id="55" name="TextBox 181">
            <a:extLst>
              <a:ext uri="{FF2B5EF4-FFF2-40B4-BE49-F238E27FC236}">
                <a16:creationId xmlns:a16="http://schemas.microsoft.com/office/drawing/2014/main" id="{B0993E16-2E6E-48B2-B8D0-B92CF9975265}"/>
              </a:ext>
            </a:extLst>
          </p:cNvPr>
          <p:cNvSpPr txBox="1">
            <a:spLocks noChangeArrowheads="1"/>
          </p:cNvSpPr>
          <p:nvPr/>
        </p:nvSpPr>
        <p:spPr bwMode="auto">
          <a:xfrm>
            <a:off x="11307949" y="839810"/>
            <a:ext cx="3497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FILE</a:t>
            </a:r>
          </a:p>
        </p:txBody>
      </p:sp>
      <p:cxnSp>
        <p:nvCxnSpPr>
          <p:cNvPr id="56" name="25 Conector recto de flecha">
            <a:extLst>
              <a:ext uri="{FF2B5EF4-FFF2-40B4-BE49-F238E27FC236}">
                <a16:creationId xmlns:a16="http://schemas.microsoft.com/office/drawing/2014/main" id="{129F735C-883A-485B-90AF-307FBA15EABA}"/>
              </a:ext>
            </a:extLst>
          </p:cNvPr>
          <p:cNvCxnSpPr/>
          <p:nvPr/>
        </p:nvCxnSpPr>
        <p:spPr bwMode="auto">
          <a:xfrm>
            <a:off x="11072320" y="726657"/>
            <a:ext cx="255395" cy="40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181">
            <a:extLst>
              <a:ext uri="{FF2B5EF4-FFF2-40B4-BE49-F238E27FC236}">
                <a16:creationId xmlns:a16="http://schemas.microsoft.com/office/drawing/2014/main" id="{862E7350-5B4B-4C2A-9C65-ACBA613A7C36}"/>
              </a:ext>
            </a:extLst>
          </p:cNvPr>
          <p:cNvSpPr txBox="1">
            <a:spLocks noChangeArrowheads="1"/>
          </p:cNvSpPr>
          <p:nvPr/>
        </p:nvSpPr>
        <p:spPr bwMode="auto">
          <a:xfrm>
            <a:off x="11330854" y="622950"/>
            <a:ext cx="39466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err="1">
                <a:solidFill>
                  <a:srgbClr val="000000"/>
                </a:solidFill>
                <a:latin typeface="Calibri" pitchFamily="34" charset="0"/>
                <a:cs typeface="Arial" charset="0"/>
              </a:rPr>
              <a:t>smtp</a:t>
            </a:r>
            <a:endParaRPr lang="es-ES" altLang="es-ES" sz="800" b="0" dirty="0">
              <a:solidFill>
                <a:srgbClr val="000000"/>
              </a:solidFill>
              <a:latin typeface="Calibri" pitchFamily="34" charset="0"/>
              <a:cs typeface="Arial" charset="0"/>
            </a:endParaRPr>
          </a:p>
        </p:txBody>
      </p:sp>
      <p:sp>
        <p:nvSpPr>
          <p:cNvPr id="58" name="CuadroTexto 57">
            <a:extLst>
              <a:ext uri="{FF2B5EF4-FFF2-40B4-BE49-F238E27FC236}">
                <a16:creationId xmlns:a16="http://schemas.microsoft.com/office/drawing/2014/main" id="{0F25A5E7-CD35-4DB0-9C2C-9E9E6D17C515}"/>
              </a:ext>
            </a:extLst>
          </p:cNvPr>
          <p:cNvSpPr txBox="1"/>
          <p:nvPr/>
        </p:nvSpPr>
        <p:spPr>
          <a:xfrm>
            <a:off x="10492204" y="61029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Nuevo</a:t>
            </a:r>
          </a:p>
        </p:txBody>
      </p:sp>
      <p:cxnSp>
        <p:nvCxnSpPr>
          <p:cNvPr id="90" name="25 Conector recto de flecha">
            <a:extLst>
              <a:ext uri="{FF2B5EF4-FFF2-40B4-BE49-F238E27FC236}">
                <a16:creationId xmlns:a16="http://schemas.microsoft.com/office/drawing/2014/main" id="{BF5E2641-20C5-4F1C-9BD8-8B3EEF040753}"/>
              </a:ext>
            </a:extLst>
          </p:cNvPr>
          <p:cNvCxnSpPr>
            <a:cxnSpLocks/>
          </p:cNvCxnSpPr>
          <p:nvPr/>
        </p:nvCxnSpPr>
        <p:spPr bwMode="auto">
          <a:xfrm>
            <a:off x="11072320" y="1101128"/>
            <a:ext cx="235629" cy="75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Oval 18">
            <a:extLst>
              <a:ext uri="{FF2B5EF4-FFF2-40B4-BE49-F238E27FC236}">
                <a16:creationId xmlns:a16="http://schemas.microsoft.com/office/drawing/2014/main" id="{365B39D2-0F6C-4078-A60F-9207B71586A2}"/>
              </a:ext>
            </a:extLst>
          </p:cNvPr>
          <p:cNvSpPr>
            <a:spLocks noChangeArrowheads="1"/>
          </p:cNvSpPr>
          <p:nvPr/>
        </p:nvSpPr>
        <p:spPr bwMode="auto">
          <a:xfrm>
            <a:off x="10237971" y="578862"/>
            <a:ext cx="226800" cy="227917"/>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N</a:t>
            </a:r>
          </a:p>
        </p:txBody>
      </p:sp>
      <p:cxnSp>
        <p:nvCxnSpPr>
          <p:cNvPr id="107" name="25 Conector recto de flecha">
            <a:extLst>
              <a:ext uri="{FF2B5EF4-FFF2-40B4-BE49-F238E27FC236}">
                <a16:creationId xmlns:a16="http://schemas.microsoft.com/office/drawing/2014/main" id="{62E7BDDC-5F97-42D8-AA36-484B8970DFC1}"/>
              </a:ext>
            </a:extLst>
          </p:cNvPr>
          <p:cNvCxnSpPr/>
          <p:nvPr/>
        </p:nvCxnSpPr>
        <p:spPr bwMode="auto">
          <a:xfrm>
            <a:off x="11072320" y="954936"/>
            <a:ext cx="255395" cy="4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8" name="TextBox 181">
            <a:extLst>
              <a:ext uri="{FF2B5EF4-FFF2-40B4-BE49-F238E27FC236}">
                <a16:creationId xmlns:a16="http://schemas.microsoft.com/office/drawing/2014/main" id="{B37783E5-57BC-43F8-B89C-415B9E4FBF70}"/>
              </a:ext>
            </a:extLst>
          </p:cNvPr>
          <p:cNvSpPr txBox="1">
            <a:spLocks noChangeArrowheads="1"/>
          </p:cNvSpPr>
          <p:nvPr/>
        </p:nvSpPr>
        <p:spPr bwMode="auto">
          <a:xfrm>
            <a:off x="11330855" y="1004457"/>
            <a:ext cx="61427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FTP / SFTP</a:t>
            </a:r>
          </a:p>
        </p:txBody>
      </p:sp>
      <p:sp>
        <p:nvSpPr>
          <p:cNvPr id="99" name="5 Marcador de número de diapositiva">
            <a:extLst>
              <a:ext uri="{FF2B5EF4-FFF2-40B4-BE49-F238E27FC236}">
                <a16:creationId xmlns:a16="http://schemas.microsoft.com/office/drawing/2014/main" id="{4E3BA852-17D8-4F6E-8C0E-8FA6502E525D}"/>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27</a:t>
            </a:fld>
            <a:endParaRPr lang="es-ES" sz="1292" dirty="0"/>
          </a:p>
        </p:txBody>
      </p:sp>
      <p:sp>
        <p:nvSpPr>
          <p:cNvPr id="122" name="Oval 18">
            <a:extLst>
              <a:ext uri="{FF2B5EF4-FFF2-40B4-BE49-F238E27FC236}">
                <a16:creationId xmlns:a16="http://schemas.microsoft.com/office/drawing/2014/main" id="{72065270-A747-4C06-BAD5-0AF90182670E}"/>
              </a:ext>
            </a:extLst>
          </p:cNvPr>
          <p:cNvSpPr>
            <a:spLocks noChangeArrowheads="1"/>
          </p:cNvSpPr>
          <p:nvPr/>
        </p:nvSpPr>
        <p:spPr bwMode="auto">
          <a:xfrm>
            <a:off x="10255782" y="819635"/>
            <a:ext cx="226800" cy="227917"/>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M</a:t>
            </a:r>
          </a:p>
        </p:txBody>
      </p:sp>
      <p:sp>
        <p:nvSpPr>
          <p:cNvPr id="123" name="CuadroTexto 122">
            <a:extLst>
              <a:ext uri="{FF2B5EF4-FFF2-40B4-BE49-F238E27FC236}">
                <a16:creationId xmlns:a16="http://schemas.microsoft.com/office/drawing/2014/main" id="{EA79CB3B-5B2B-45C0-AE11-038DA3E27C7A}"/>
              </a:ext>
            </a:extLst>
          </p:cNvPr>
          <p:cNvSpPr txBox="1"/>
          <p:nvPr/>
        </p:nvSpPr>
        <p:spPr>
          <a:xfrm>
            <a:off x="10482583" y="837147"/>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Modificado</a:t>
            </a:r>
          </a:p>
        </p:txBody>
      </p:sp>
      <p:sp>
        <p:nvSpPr>
          <p:cNvPr id="124" name="Oval 18">
            <a:extLst>
              <a:ext uri="{FF2B5EF4-FFF2-40B4-BE49-F238E27FC236}">
                <a16:creationId xmlns:a16="http://schemas.microsoft.com/office/drawing/2014/main" id="{18ABAF1B-F41F-4894-BF67-0E1CC94E4F41}"/>
              </a:ext>
            </a:extLst>
          </p:cNvPr>
          <p:cNvSpPr>
            <a:spLocks noChangeArrowheads="1"/>
          </p:cNvSpPr>
          <p:nvPr/>
        </p:nvSpPr>
        <p:spPr bwMode="auto">
          <a:xfrm>
            <a:off x="10267356" y="1045998"/>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25" name="CuadroTexto 124">
            <a:extLst>
              <a:ext uri="{FF2B5EF4-FFF2-40B4-BE49-F238E27FC236}">
                <a16:creationId xmlns:a16="http://schemas.microsoft.com/office/drawing/2014/main" id="{71391F6D-C5BB-4299-8552-3DCD23C661D9}"/>
              </a:ext>
            </a:extLst>
          </p:cNvPr>
          <p:cNvSpPr txBox="1"/>
          <p:nvPr/>
        </p:nvSpPr>
        <p:spPr>
          <a:xfrm>
            <a:off x="10505488" y="106141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Existente</a:t>
            </a:r>
          </a:p>
        </p:txBody>
      </p:sp>
      <p:pic>
        <p:nvPicPr>
          <p:cNvPr id="7" name="Imagen 6">
            <a:extLst>
              <a:ext uri="{FF2B5EF4-FFF2-40B4-BE49-F238E27FC236}">
                <a16:creationId xmlns:a16="http://schemas.microsoft.com/office/drawing/2014/main" id="{D65E0D2A-D80B-4A96-B04A-BA4BEEEAAAA2}"/>
              </a:ext>
            </a:extLst>
          </p:cNvPr>
          <p:cNvPicPr>
            <a:picLocks noChangeAspect="1"/>
          </p:cNvPicPr>
          <p:nvPr/>
        </p:nvPicPr>
        <p:blipFill>
          <a:blip r:embed="rId3"/>
          <a:stretch>
            <a:fillRect/>
          </a:stretch>
        </p:blipFill>
        <p:spPr>
          <a:xfrm>
            <a:off x="7017315" y="4590330"/>
            <a:ext cx="694592" cy="1134208"/>
          </a:xfrm>
          <a:prstGeom prst="rect">
            <a:avLst/>
          </a:prstGeom>
        </p:spPr>
      </p:pic>
      <p:grpSp>
        <p:nvGrpSpPr>
          <p:cNvPr id="105" name="Grupo 104">
            <a:extLst>
              <a:ext uri="{FF2B5EF4-FFF2-40B4-BE49-F238E27FC236}">
                <a16:creationId xmlns:a16="http://schemas.microsoft.com/office/drawing/2014/main" id="{6B3F35BD-AA75-449C-83D3-826C0703AB6E}"/>
              </a:ext>
            </a:extLst>
          </p:cNvPr>
          <p:cNvGrpSpPr/>
          <p:nvPr/>
        </p:nvGrpSpPr>
        <p:grpSpPr>
          <a:xfrm>
            <a:off x="9379329" y="618385"/>
            <a:ext cx="288789" cy="128483"/>
            <a:chOff x="10457075" y="2470064"/>
            <a:chExt cx="431319" cy="225978"/>
          </a:xfrm>
        </p:grpSpPr>
        <p:sp>
          <p:nvSpPr>
            <p:cNvPr id="109" name="Rectángulo 108">
              <a:extLst>
                <a:ext uri="{FF2B5EF4-FFF2-40B4-BE49-F238E27FC236}">
                  <a16:creationId xmlns:a16="http://schemas.microsoft.com/office/drawing/2014/main" id="{6AA7EC62-B94F-4ACA-B951-CF9C0CAE6AD4}"/>
                </a:ext>
              </a:extLst>
            </p:cNvPr>
            <p:cNvSpPr/>
            <p:nvPr/>
          </p:nvSpPr>
          <p:spPr>
            <a:xfrm>
              <a:off x="10457075" y="2470064"/>
              <a:ext cx="431319" cy="22597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16" name="Rectángulo 115">
              <a:extLst>
                <a:ext uri="{FF2B5EF4-FFF2-40B4-BE49-F238E27FC236}">
                  <a16:creationId xmlns:a16="http://schemas.microsoft.com/office/drawing/2014/main" id="{83589C93-02FD-4524-8067-F9259B54C3DD}"/>
                </a:ext>
              </a:extLst>
            </p:cNvPr>
            <p:cNvSpPr/>
            <p:nvPr/>
          </p:nvSpPr>
          <p:spPr>
            <a:xfrm>
              <a:off x="10526091"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grpSp>
      <p:sp>
        <p:nvSpPr>
          <p:cNvPr id="119" name="CuadroTexto 118">
            <a:extLst>
              <a:ext uri="{FF2B5EF4-FFF2-40B4-BE49-F238E27FC236}">
                <a16:creationId xmlns:a16="http://schemas.microsoft.com/office/drawing/2014/main" id="{FB877C06-5586-43A2-89A2-7C60EF752D54}"/>
              </a:ext>
            </a:extLst>
          </p:cNvPr>
          <p:cNvSpPr txBox="1"/>
          <p:nvPr/>
        </p:nvSpPr>
        <p:spPr>
          <a:xfrm>
            <a:off x="9676536" y="596009"/>
            <a:ext cx="617932" cy="191719"/>
          </a:xfrm>
          <a:prstGeom prst="rect">
            <a:avLst/>
          </a:prstGeom>
          <a:noFill/>
        </p:spPr>
        <p:txBody>
          <a:bodyPr wrap="square" rtlCol="0">
            <a:spAutoFit/>
          </a:bodyPr>
          <a:lstStyle/>
          <a:p>
            <a:r>
              <a:rPr lang="es-ES" sz="646" dirty="0"/>
              <a:t>Token JWT </a:t>
            </a:r>
          </a:p>
        </p:txBody>
      </p:sp>
      <p:cxnSp>
        <p:nvCxnSpPr>
          <p:cNvPr id="128" name="25 Conector recto de flecha">
            <a:extLst>
              <a:ext uri="{FF2B5EF4-FFF2-40B4-BE49-F238E27FC236}">
                <a16:creationId xmlns:a16="http://schemas.microsoft.com/office/drawing/2014/main" id="{E3FB340E-2A12-4BEB-A7E8-42C13F420025}"/>
              </a:ext>
            </a:extLst>
          </p:cNvPr>
          <p:cNvCxnSpPr/>
          <p:nvPr/>
        </p:nvCxnSpPr>
        <p:spPr bwMode="auto">
          <a:xfrm>
            <a:off x="9408489" y="976226"/>
            <a:ext cx="255395" cy="4015"/>
          </a:xfrm>
          <a:prstGeom prst="straightConnector1">
            <a:avLst/>
          </a:prstGeom>
          <a:ln>
            <a:solidFill>
              <a:srgbClr val="FFFF00"/>
            </a:solidFill>
            <a:tailEnd type="triangle"/>
          </a:ln>
        </p:spPr>
        <p:style>
          <a:lnRef idx="3">
            <a:schemeClr val="dk1"/>
          </a:lnRef>
          <a:fillRef idx="0">
            <a:schemeClr val="dk1"/>
          </a:fillRef>
          <a:effectRef idx="2">
            <a:schemeClr val="dk1"/>
          </a:effectRef>
          <a:fontRef idx="minor">
            <a:schemeClr val="tx1"/>
          </a:fontRef>
        </p:style>
      </p:cxnSp>
      <p:sp>
        <p:nvSpPr>
          <p:cNvPr id="140" name="TextBox 181">
            <a:extLst>
              <a:ext uri="{FF2B5EF4-FFF2-40B4-BE49-F238E27FC236}">
                <a16:creationId xmlns:a16="http://schemas.microsoft.com/office/drawing/2014/main" id="{9FD8555C-3ED4-4B6A-8793-1E0E45735F43}"/>
              </a:ext>
            </a:extLst>
          </p:cNvPr>
          <p:cNvSpPr txBox="1">
            <a:spLocks noChangeArrowheads="1"/>
          </p:cNvSpPr>
          <p:nvPr/>
        </p:nvSpPr>
        <p:spPr bwMode="auto">
          <a:xfrm>
            <a:off x="9672521" y="861350"/>
            <a:ext cx="397866" cy="343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31" b="0" dirty="0">
                <a:solidFill>
                  <a:srgbClr val="000000"/>
                </a:solidFill>
                <a:latin typeface="Calibri" pitchFamily="34" charset="0"/>
                <a:cs typeface="Arial" charset="0"/>
              </a:rPr>
              <a:t>JDBC</a:t>
            </a:r>
          </a:p>
          <a:p>
            <a:pPr defTabSz="914395">
              <a:defRPr/>
            </a:pPr>
            <a:endParaRPr lang="es-ES" altLang="es-ES" sz="800" b="0" dirty="0">
              <a:solidFill>
                <a:srgbClr val="000000"/>
              </a:solidFill>
              <a:latin typeface="Calibri" pitchFamily="34" charset="0"/>
              <a:cs typeface="Arial" charset="0"/>
            </a:endParaRPr>
          </a:p>
        </p:txBody>
      </p:sp>
      <p:sp>
        <p:nvSpPr>
          <p:cNvPr id="103" name="Rectángulo: esquinas redondeadas 102">
            <a:extLst>
              <a:ext uri="{FF2B5EF4-FFF2-40B4-BE49-F238E27FC236}">
                <a16:creationId xmlns:a16="http://schemas.microsoft.com/office/drawing/2014/main" id="{B6B2F949-3DCA-40F0-B4B1-04F288B30D26}"/>
              </a:ext>
            </a:extLst>
          </p:cNvPr>
          <p:cNvSpPr/>
          <p:nvPr/>
        </p:nvSpPr>
        <p:spPr>
          <a:xfrm>
            <a:off x="4586912" y="1798203"/>
            <a:ext cx="5918576" cy="3648942"/>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a:p>
        </p:txBody>
      </p:sp>
      <p:grpSp>
        <p:nvGrpSpPr>
          <p:cNvPr id="150" name="Grupo 149">
            <a:extLst>
              <a:ext uri="{FF2B5EF4-FFF2-40B4-BE49-F238E27FC236}">
                <a16:creationId xmlns:a16="http://schemas.microsoft.com/office/drawing/2014/main" id="{7BC4577D-E3E6-468C-9E95-66F30DA9214B}"/>
              </a:ext>
            </a:extLst>
          </p:cNvPr>
          <p:cNvGrpSpPr/>
          <p:nvPr/>
        </p:nvGrpSpPr>
        <p:grpSpPr>
          <a:xfrm>
            <a:off x="6426992" y="1877415"/>
            <a:ext cx="1425131" cy="1663935"/>
            <a:chOff x="4214162" y="2214374"/>
            <a:chExt cx="3501284" cy="3857088"/>
          </a:xfrm>
        </p:grpSpPr>
        <p:sp>
          <p:nvSpPr>
            <p:cNvPr id="151" name="Oval 465">
              <a:extLst>
                <a:ext uri="{FF2B5EF4-FFF2-40B4-BE49-F238E27FC236}">
                  <a16:creationId xmlns:a16="http://schemas.microsoft.com/office/drawing/2014/main" id="{4FCC1F58-BEF2-4355-A29D-C9DF443C487E}"/>
                </a:ext>
              </a:extLst>
            </p:cNvPr>
            <p:cNvSpPr>
              <a:spLocks noChangeArrowheads="1"/>
            </p:cNvSpPr>
            <p:nvPr/>
          </p:nvSpPr>
          <p:spPr bwMode="auto">
            <a:xfrm>
              <a:off x="6152189" y="3941550"/>
              <a:ext cx="148851" cy="150886"/>
            </a:xfrm>
            <a:prstGeom prst="ellipse">
              <a:avLst/>
            </a:prstGeom>
            <a:solidFill>
              <a:schemeClr val="tx1"/>
            </a:solidFill>
            <a:ln w="9525">
              <a:solidFill>
                <a:schemeClr val="tx1"/>
              </a:solidFill>
              <a:round/>
              <a:headEnd/>
              <a:tailEnd/>
            </a:ln>
          </p:spPr>
          <p:txBody>
            <a:bodyPr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710" b="0" dirty="0">
                  <a:solidFill>
                    <a:schemeClr val="bg1"/>
                  </a:solidFill>
                </a:rPr>
                <a:t>9</a:t>
              </a:r>
            </a:p>
          </p:txBody>
        </p:sp>
        <p:grpSp>
          <p:nvGrpSpPr>
            <p:cNvPr id="152" name="Grupo 151">
              <a:extLst>
                <a:ext uri="{FF2B5EF4-FFF2-40B4-BE49-F238E27FC236}">
                  <a16:creationId xmlns:a16="http://schemas.microsoft.com/office/drawing/2014/main" id="{A6E20238-53ED-4FDD-A3D3-93A512F043A1}"/>
                </a:ext>
              </a:extLst>
            </p:cNvPr>
            <p:cNvGrpSpPr/>
            <p:nvPr/>
          </p:nvGrpSpPr>
          <p:grpSpPr>
            <a:xfrm>
              <a:off x="4214162" y="2214374"/>
              <a:ext cx="3501284" cy="3857088"/>
              <a:chOff x="4484038" y="3393298"/>
              <a:chExt cx="2193246" cy="2458882"/>
            </a:xfrm>
          </p:grpSpPr>
          <p:sp>
            <p:nvSpPr>
              <p:cNvPr id="153" name="Rectángulo: esquinas redondeadas 152">
                <a:extLst>
                  <a:ext uri="{FF2B5EF4-FFF2-40B4-BE49-F238E27FC236}">
                    <a16:creationId xmlns:a16="http://schemas.microsoft.com/office/drawing/2014/main" id="{E918FAAA-EE70-4506-9174-97C86755B4FB}"/>
                  </a:ext>
                </a:extLst>
              </p:cNvPr>
              <p:cNvSpPr/>
              <p:nvPr/>
            </p:nvSpPr>
            <p:spPr>
              <a:xfrm>
                <a:off x="4484038" y="3393298"/>
                <a:ext cx="2193246" cy="2458882"/>
              </a:xfrm>
              <a:prstGeom prst="roundRect">
                <a:avLst/>
              </a:prstGeom>
              <a:solidFill>
                <a:schemeClr val="bg1"/>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54" name="CuadroTexto 153">
                <a:extLst>
                  <a:ext uri="{FF2B5EF4-FFF2-40B4-BE49-F238E27FC236}">
                    <a16:creationId xmlns:a16="http://schemas.microsoft.com/office/drawing/2014/main" id="{E3A8925E-622B-4671-97E0-41AFF66F9BB5}"/>
                  </a:ext>
                </a:extLst>
              </p:cNvPr>
              <p:cNvSpPr txBox="1"/>
              <p:nvPr/>
            </p:nvSpPr>
            <p:spPr>
              <a:xfrm>
                <a:off x="4866700" y="3608586"/>
                <a:ext cx="1471642" cy="1185842"/>
              </a:xfrm>
              <a:prstGeom prst="rect">
                <a:avLst/>
              </a:prstGeom>
              <a:noFill/>
            </p:spPr>
            <p:txBody>
              <a:bodyPr wrap="square" rtlCol="0">
                <a:spAutoFit/>
              </a:bodyPr>
              <a:lstStyle/>
              <a:p>
                <a:pPr algn="ctr"/>
                <a:r>
                  <a:rPr lang="es-ES" sz="923" b="1" dirty="0">
                    <a:solidFill>
                      <a:srgbClr val="1BB3BC"/>
                    </a:solidFill>
                  </a:rPr>
                  <a:t>Servidor Procesos BATCH</a:t>
                </a:r>
              </a:p>
              <a:p>
                <a:pPr algn="ctr"/>
                <a:r>
                  <a:rPr lang="es-ES" sz="923" b="1" dirty="0">
                    <a:solidFill>
                      <a:srgbClr val="1BB3BC"/>
                    </a:solidFill>
                  </a:rPr>
                  <a:t>Linux</a:t>
                </a:r>
              </a:p>
              <a:p>
                <a:endParaRPr lang="es-ES" sz="923" b="1" dirty="0">
                  <a:solidFill>
                    <a:srgbClr val="1BB3BC"/>
                  </a:solidFill>
                </a:endParaRPr>
              </a:p>
            </p:txBody>
          </p:sp>
        </p:grpSp>
      </p:grpSp>
      <p:pic>
        <p:nvPicPr>
          <p:cNvPr id="156" name="Imagen 155">
            <a:extLst>
              <a:ext uri="{FF2B5EF4-FFF2-40B4-BE49-F238E27FC236}">
                <a16:creationId xmlns:a16="http://schemas.microsoft.com/office/drawing/2014/main" id="{482C29D0-042D-4119-B604-FBA2E093EB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56347" y="2783299"/>
            <a:ext cx="385446" cy="386633"/>
          </a:xfrm>
          <a:prstGeom prst="rect">
            <a:avLst/>
          </a:prstGeom>
        </p:spPr>
      </p:pic>
      <p:cxnSp>
        <p:nvCxnSpPr>
          <p:cNvPr id="157" name="Conector recto de flecha 156">
            <a:extLst>
              <a:ext uri="{FF2B5EF4-FFF2-40B4-BE49-F238E27FC236}">
                <a16:creationId xmlns:a16="http://schemas.microsoft.com/office/drawing/2014/main" id="{80713E8B-0320-4F00-B249-317D1C3D4512}"/>
              </a:ext>
            </a:extLst>
          </p:cNvPr>
          <p:cNvCxnSpPr>
            <a:cxnSpLocks/>
            <a:stCxn id="153" idx="1"/>
          </p:cNvCxnSpPr>
          <p:nvPr/>
        </p:nvCxnSpPr>
        <p:spPr>
          <a:xfrm flipH="1">
            <a:off x="4248718" y="2709383"/>
            <a:ext cx="2178274" cy="42801"/>
          </a:xfrm>
          <a:prstGeom prst="straightConnector1">
            <a:avLst/>
          </a:prstGeom>
          <a:ln>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59" name="Group 605">
            <a:extLst>
              <a:ext uri="{FF2B5EF4-FFF2-40B4-BE49-F238E27FC236}">
                <a16:creationId xmlns:a16="http://schemas.microsoft.com/office/drawing/2014/main" id="{797620A9-3414-4DC0-817D-08288421F68F}"/>
              </a:ext>
            </a:extLst>
          </p:cNvPr>
          <p:cNvGrpSpPr>
            <a:grpSpLocks/>
          </p:cNvGrpSpPr>
          <p:nvPr/>
        </p:nvGrpSpPr>
        <p:grpSpPr bwMode="auto">
          <a:xfrm>
            <a:off x="6760855" y="4199177"/>
            <a:ext cx="708276" cy="636587"/>
            <a:chOff x="2769" y="1896"/>
            <a:chExt cx="530" cy="493"/>
          </a:xfrm>
        </p:grpSpPr>
        <p:pic>
          <p:nvPicPr>
            <p:cNvPr id="160" name="Picture 577" descr="j0431637">
              <a:extLst>
                <a:ext uri="{FF2B5EF4-FFF2-40B4-BE49-F238E27FC236}">
                  <a16:creationId xmlns:a16="http://schemas.microsoft.com/office/drawing/2014/main" id="{0AFBC39F-AC7B-45B0-A551-96F6FFC421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4" y="1934"/>
              <a:ext cx="35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 name="Picture 578" descr="j0432635">
              <a:extLst>
                <a:ext uri="{FF2B5EF4-FFF2-40B4-BE49-F238E27FC236}">
                  <a16:creationId xmlns:a16="http://schemas.microsoft.com/office/drawing/2014/main" id="{AD52BF99-86E2-42C6-B178-114A668DB5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5" y="1896"/>
              <a:ext cx="20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Text Box 579">
              <a:extLst>
                <a:ext uri="{FF2B5EF4-FFF2-40B4-BE49-F238E27FC236}">
                  <a16:creationId xmlns:a16="http://schemas.microsoft.com/office/drawing/2014/main" id="{28689D5A-1CA1-4C13-BE22-883DBDFD8C8A}"/>
                </a:ext>
              </a:extLst>
            </p:cNvPr>
            <p:cNvSpPr txBox="1">
              <a:spLocks noChangeArrowheads="1"/>
            </p:cNvSpPr>
            <p:nvPr/>
          </p:nvSpPr>
          <p:spPr bwMode="auto">
            <a:xfrm>
              <a:off x="2769" y="2270"/>
              <a:ext cx="53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sp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eaLnBrk="1" hangingPunct="1">
                <a:buClr>
                  <a:schemeClr val="accent2"/>
                </a:buClr>
                <a:buFont typeface="Wingdings" panose="05000000000000000000" pitchFamily="2" charset="2"/>
                <a:buNone/>
              </a:pPr>
              <a:r>
                <a:rPr lang="es-ES" altLang="es-ES" sz="1000" dirty="0">
                  <a:solidFill>
                    <a:schemeClr val="tx1"/>
                  </a:solidFill>
                  <a:latin typeface="Verdana" panose="020B0604030504040204" pitchFamily="34" charset="0"/>
                </a:rPr>
                <a:t>Control-M</a:t>
              </a:r>
            </a:p>
          </p:txBody>
        </p:sp>
      </p:grpSp>
      <p:cxnSp>
        <p:nvCxnSpPr>
          <p:cNvPr id="163" name="Conector recto 162">
            <a:extLst>
              <a:ext uri="{FF2B5EF4-FFF2-40B4-BE49-F238E27FC236}">
                <a16:creationId xmlns:a16="http://schemas.microsoft.com/office/drawing/2014/main" id="{9D6ECA07-8448-478A-B529-377FBE5BF8D9}"/>
              </a:ext>
            </a:extLst>
          </p:cNvPr>
          <p:cNvCxnSpPr>
            <a:cxnSpLocks/>
            <a:endCxn id="153" idx="2"/>
          </p:cNvCxnSpPr>
          <p:nvPr/>
        </p:nvCxnSpPr>
        <p:spPr>
          <a:xfrm flipV="1">
            <a:off x="7139557" y="3541350"/>
            <a:ext cx="0" cy="551064"/>
          </a:xfrm>
          <a:prstGeom prst="line">
            <a:avLst/>
          </a:prstGeom>
          <a:ln w="9525" cap="flat" cmpd="sng" algn="ctr">
            <a:solidFill>
              <a:schemeClr val="dk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64" name="Conector recto de flecha 163">
            <a:extLst>
              <a:ext uri="{FF2B5EF4-FFF2-40B4-BE49-F238E27FC236}">
                <a16:creationId xmlns:a16="http://schemas.microsoft.com/office/drawing/2014/main" id="{788932D7-DEEA-4DD8-AE5C-2DBC74022164}"/>
              </a:ext>
            </a:extLst>
          </p:cNvPr>
          <p:cNvCxnSpPr>
            <a:cxnSpLocks/>
            <a:stCxn id="52" idx="2"/>
            <a:endCxn id="166" idx="1"/>
          </p:cNvCxnSpPr>
          <p:nvPr/>
        </p:nvCxnSpPr>
        <p:spPr>
          <a:xfrm flipH="1">
            <a:off x="9434887" y="2846566"/>
            <a:ext cx="29413" cy="1175054"/>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6" name="AutoShape 206">
            <a:extLst>
              <a:ext uri="{FF2B5EF4-FFF2-40B4-BE49-F238E27FC236}">
                <a16:creationId xmlns:a16="http://schemas.microsoft.com/office/drawing/2014/main" id="{615C7E4E-5579-4BA9-9BCC-982D2912D82D}"/>
              </a:ext>
            </a:extLst>
          </p:cNvPr>
          <p:cNvSpPr>
            <a:spLocks noChangeArrowheads="1"/>
          </p:cNvSpPr>
          <p:nvPr/>
        </p:nvSpPr>
        <p:spPr bwMode="auto">
          <a:xfrm>
            <a:off x="8814883" y="4021620"/>
            <a:ext cx="1240008" cy="997338"/>
          </a:xfrm>
          <a:prstGeom prst="can">
            <a:avLst>
              <a:gd name="adj" fmla="val 24963"/>
            </a:avLst>
          </a:prstGeom>
          <a:solidFill>
            <a:srgbClr val="C00000">
              <a:alpha val="49019"/>
            </a:srgbClr>
          </a:solidFill>
          <a:ln w="9525">
            <a:solidFill>
              <a:schemeClr val="tx1"/>
            </a:solidFill>
            <a:round/>
            <a:headEnd/>
            <a:tailEnd/>
          </a:ln>
        </p:spPr>
        <p:txBody>
          <a:bodyPr wrap="none" anchor="ctr"/>
          <a:lstStyle/>
          <a:p>
            <a:pPr algn="ctr" defTabSz="914395">
              <a:defRPr/>
            </a:pPr>
            <a:endParaRPr lang="es-ES" sz="800" dirty="0">
              <a:solidFill>
                <a:prstClr val="black"/>
              </a:solidFill>
              <a:latin typeface="Verdana" pitchFamily="34" charset="0"/>
            </a:endParaRPr>
          </a:p>
          <a:p>
            <a:pPr algn="ctr" defTabSz="914395">
              <a:defRPr/>
            </a:pPr>
            <a:endParaRPr lang="es-ES" sz="800" dirty="0">
              <a:solidFill>
                <a:prstClr val="black"/>
              </a:solidFill>
              <a:latin typeface="Verdana" pitchFamily="34" charset="0"/>
            </a:endParaRPr>
          </a:p>
        </p:txBody>
      </p:sp>
      <p:pic>
        <p:nvPicPr>
          <p:cNvPr id="168" name="Imagen 167">
            <a:extLst>
              <a:ext uri="{FF2B5EF4-FFF2-40B4-BE49-F238E27FC236}">
                <a16:creationId xmlns:a16="http://schemas.microsoft.com/office/drawing/2014/main" id="{DB14F2C3-E494-4216-AED9-454CEFFA113F}"/>
              </a:ext>
            </a:extLst>
          </p:cNvPr>
          <p:cNvPicPr>
            <a:picLocks noChangeAspect="1"/>
          </p:cNvPicPr>
          <p:nvPr/>
        </p:nvPicPr>
        <p:blipFill>
          <a:blip r:embed="rId7"/>
          <a:stretch>
            <a:fillRect/>
          </a:stretch>
        </p:blipFill>
        <p:spPr>
          <a:xfrm>
            <a:off x="8532616" y="4803953"/>
            <a:ext cx="192401" cy="286971"/>
          </a:xfrm>
          <a:prstGeom prst="rect">
            <a:avLst/>
          </a:prstGeom>
        </p:spPr>
      </p:pic>
      <p:sp>
        <p:nvSpPr>
          <p:cNvPr id="170" name="Oval 18">
            <a:extLst>
              <a:ext uri="{FF2B5EF4-FFF2-40B4-BE49-F238E27FC236}">
                <a16:creationId xmlns:a16="http://schemas.microsoft.com/office/drawing/2014/main" id="{9DBA7D7C-DF32-4D3D-A945-4124E3303068}"/>
              </a:ext>
            </a:extLst>
          </p:cNvPr>
          <p:cNvSpPr>
            <a:spLocks noChangeArrowheads="1"/>
          </p:cNvSpPr>
          <p:nvPr/>
        </p:nvSpPr>
        <p:spPr bwMode="auto">
          <a:xfrm>
            <a:off x="8408351" y="4166445"/>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1" name="Elipse 170">
            <a:extLst>
              <a:ext uri="{FF2B5EF4-FFF2-40B4-BE49-F238E27FC236}">
                <a16:creationId xmlns:a16="http://schemas.microsoft.com/office/drawing/2014/main" id="{A6D67E47-98A8-4B36-9E60-0CF0D330CBF4}"/>
              </a:ext>
            </a:extLst>
          </p:cNvPr>
          <p:cNvSpPr/>
          <p:nvPr/>
        </p:nvSpPr>
        <p:spPr>
          <a:xfrm>
            <a:off x="3922984" y="3735063"/>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2</a:t>
            </a:r>
          </a:p>
        </p:txBody>
      </p:sp>
      <p:sp>
        <p:nvSpPr>
          <p:cNvPr id="174" name="Oval 18">
            <a:extLst>
              <a:ext uri="{FF2B5EF4-FFF2-40B4-BE49-F238E27FC236}">
                <a16:creationId xmlns:a16="http://schemas.microsoft.com/office/drawing/2014/main" id="{ADAD2F46-0649-4098-BAC7-AA92086CB20A}"/>
              </a:ext>
            </a:extLst>
          </p:cNvPr>
          <p:cNvSpPr>
            <a:spLocks noChangeArrowheads="1"/>
          </p:cNvSpPr>
          <p:nvPr/>
        </p:nvSpPr>
        <p:spPr bwMode="auto">
          <a:xfrm>
            <a:off x="3875693" y="1909142"/>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6" name="Elipse 175">
            <a:extLst>
              <a:ext uri="{FF2B5EF4-FFF2-40B4-BE49-F238E27FC236}">
                <a16:creationId xmlns:a16="http://schemas.microsoft.com/office/drawing/2014/main" id="{9A34815B-FA6E-4AAB-9966-B0F96E2E8B49}"/>
              </a:ext>
            </a:extLst>
          </p:cNvPr>
          <p:cNvSpPr/>
          <p:nvPr/>
        </p:nvSpPr>
        <p:spPr>
          <a:xfrm>
            <a:off x="6659264" y="3924795"/>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1</a:t>
            </a:r>
          </a:p>
        </p:txBody>
      </p:sp>
      <p:grpSp>
        <p:nvGrpSpPr>
          <p:cNvPr id="63" name="Grupo 50212">
            <a:extLst>
              <a:ext uri="{FF2B5EF4-FFF2-40B4-BE49-F238E27FC236}">
                <a16:creationId xmlns:a16="http://schemas.microsoft.com/office/drawing/2014/main" id="{885B33CB-49CF-4989-8226-D881404A3FD1}"/>
              </a:ext>
            </a:extLst>
          </p:cNvPr>
          <p:cNvGrpSpPr>
            <a:grpSpLocks/>
          </p:cNvGrpSpPr>
          <p:nvPr/>
        </p:nvGrpSpPr>
        <p:grpSpPr bwMode="auto">
          <a:xfrm>
            <a:off x="9058730" y="4411901"/>
            <a:ext cx="812800" cy="423863"/>
            <a:chOff x="374824" y="2549525"/>
            <a:chExt cx="812800" cy="424128"/>
          </a:xfrm>
        </p:grpSpPr>
        <p:sp>
          <p:nvSpPr>
            <p:cNvPr id="64" name="7 Cilindro">
              <a:extLst>
                <a:ext uri="{FF2B5EF4-FFF2-40B4-BE49-F238E27FC236}">
                  <a16:creationId xmlns:a16="http://schemas.microsoft.com/office/drawing/2014/main" id="{96A39BA0-B072-43E0-B6DE-FEB5C0B24E05}"/>
                </a:ext>
              </a:extLst>
            </p:cNvPr>
            <p:cNvSpPr/>
            <p:nvPr/>
          </p:nvSpPr>
          <p:spPr>
            <a:xfrm>
              <a:off x="374824" y="2549525"/>
              <a:ext cx="812800" cy="424128"/>
            </a:xfrm>
            <a:prstGeom prst="can">
              <a:avLst/>
            </a:prstGeom>
            <a:solidFill>
              <a:schemeClr val="accent2">
                <a:lumMod val="40000"/>
                <a:lumOff val="6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100" dirty="0">
                <a:solidFill>
                  <a:srgbClr val="FFFF99"/>
                </a:solidFill>
              </a:endParaRPr>
            </a:p>
          </p:txBody>
        </p:sp>
        <p:pic>
          <p:nvPicPr>
            <p:cNvPr id="65" name="Imagen 27">
              <a:extLst>
                <a:ext uri="{FF2B5EF4-FFF2-40B4-BE49-F238E27FC236}">
                  <a16:creationId xmlns:a16="http://schemas.microsoft.com/office/drawing/2014/main" id="{B916105C-52FD-4296-838D-F045185F2B01}"/>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7049" y="2691012"/>
              <a:ext cx="7905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0" name="6 Grupo">
            <a:extLst>
              <a:ext uri="{FF2B5EF4-FFF2-40B4-BE49-F238E27FC236}">
                <a16:creationId xmlns:a16="http://schemas.microsoft.com/office/drawing/2014/main" id="{298FE6F3-8B74-461E-AF38-FD0E7F2FAE63}"/>
              </a:ext>
            </a:extLst>
          </p:cNvPr>
          <p:cNvGrpSpPr>
            <a:grpSpLocks/>
          </p:cNvGrpSpPr>
          <p:nvPr/>
        </p:nvGrpSpPr>
        <p:grpSpPr bwMode="auto">
          <a:xfrm>
            <a:off x="3383856" y="2347099"/>
            <a:ext cx="1081088" cy="1341633"/>
            <a:chOff x="4860032" y="2332633"/>
            <a:chExt cx="1080120" cy="1342204"/>
          </a:xfrm>
        </p:grpSpPr>
        <p:pic>
          <p:nvPicPr>
            <p:cNvPr id="71" name="Picture 2" descr="https://encrypted-tbn1.gstatic.com/images?q=tbn:ANd9GcQ_EmDAgy0MlIJq7OL9ITYa4e-G-E4ouXKCrS2optmIh03rsKX21eWDHO0">
              <a:hlinkClick r:id="rId9"/>
              <a:extLst>
                <a:ext uri="{FF2B5EF4-FFF2-40B4-BE49-F238E27FC236}">
                  <a16:creationId xmlns:a16="http://schemas.microsoft.com/office/drawing/2014/main" id="{5D776C46-99A9-4FEE-984C-7E4CA48BDB9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9038" y="2332633"/>
              <a:ext cx="648072" cy="872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5 CuadroTexto">
              <a:extLst>
                <a:ext uri="{FF2B5EF4-FFF2-40B4-BE49-F238E27FC236}">
                  <a16:creationId xmlns:a16="http://schemas.microsoft.com/office/drawing/2014/main" id="{79B7C92E-8BD0-47DC-9B7B-0C80CFE29BF3}"/>
                </a:ext>
              </a:extLst>
            </p:cNvPr>
            <p:cNvSpPr txBox="1">
              <a:spLocks noChangeArrowheads="1"/>
            </p:cNvSpPr>
            <p:nvPr/>
          </p:nvSpPr>
          <p:spPr bwMode="auto">
            <a:xfrm>
              <a:off x="4860032" y="3212976"/>
              <a:ext cx="1080120" cy="46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s-ES" altLang="es-ES" sz="1200" b="0" dirty="0">
                  <a:solidFill>
                    <a:schemeClr val="tx1"/>
                  </a:solidFill>
                </a:rPr>
                <a:t>Relay  de correo</a:t>
              </a:r>
            </a:p>
          </p:txBody>
        </p:sp>
      </p:grpSp>
      <p:sp>
        <p:nvSpPr>
          <p:cNvPr id="52" name="Rectángulo 51">
            <a:extLst>
              <a:ext uri="{FF2B5EF4-FFF2-40B4-BE49-F238E27FC236}">
                <a16:creationId xmlns:a16="http://schemas.microsoft.com/office/drawing/2014/main" id="{759C17E6-BFE1-4303-B48D-E4FFD636971C}"/>
              </a:ext>
            </a:extLst>
          </p:cNvPr>
          <p:cNvSpPr/>
          <p:nvPr/>
        </p:nvSpPr>
        <p:spPr bwMode="auto">
          <a:xfrm>
            <a:off x="8739971" y="2187704"/>
            <a:ext cx="1448657" cy="658862"/>
          </a:xfrm>
          <a:prstGeom prst="rect">
            <a:avLst/>
          </a:prstGeom>
          <a:noFill/>
          <a:ln w="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vert="horz" wrap="square" lIns="97749" tIns="48875" rIns="97749" bIns="48875" numCol="1" rtlCol="0" anchor="t" anchorCtr="0" compatLnSpc="1">
            <a:prstTxWarp prst="textNoShape">
              <a:avLst/>
            </a:prstTxWarp>
            <a:spAutoFit/>
          </a:bodyPr>
          <a:lstStyle>
            <a:defPPr>
              <a:defRPr lang="es-ES"/>
            </a:defPPr>
            <a:lvl1pPr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1pPr>
            <a:lvl2pPr marL="4572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2pPr>
            <a:lvl3pPr marL="9144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3pPr>
            <a:lvl4pPr marL="13716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4pPr>
            <a:lvl5pPr marL="18288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5pPr>
            <a:lvl6pPr marL="2286000" algn="l" defTabSz="914400" rtl="0" eaLnBrk="1" latinLnBrk="0" hangingPunct="1">
              <a:defRPr sz="2400" kern="1200">
                <a:solidFill>
                  <a:schemeClr val="dk1"/>
                </a:solidFill>
                <a:latin typeface="+mn-lt"/>
                <a:ea typeface="+mn-ea"/>
                <a:cs typeface="+mn-cs"/>
              </a:defRPr>
            </a:lvl6pPr>
            <a:lvl7pPr marL="2743200" algn="l" defTabSz="914400" rtl="0" eaLnBrk="1" latinLnBrk="0" hangingPunct="1">
              <a:defRPr sz="2400" kern="1200">
                <a:solidFill>
                  <a:schemeClr val="dk1"/>
                </a:solidFill>
                <a:latin typeface="+mn-lt"/>
                <a:ea typeface="+mn-ea"/>
                <a:cs typeface="+mn-cs"/>
              </a:defRPr>
            </a:lvl7pPr>
            <a:lvl8pPr marL="3200400" algn="l" defTabSz="914400" rtl="0" eaLnBrk="1" latinLnBrk="0" hangingPunct="1">
              <a:defRPr sz="2400" kern="1200">
                <a:solidFill>
                  <a:schemeClr val="dk1"/>
                </a:solidFill>
                <a:latin typeface="+mn-lt"/>
                <a:ea typeface="+mn-ea"/>
                <a:cs typeface="+mn-cs"/>
              </a:defRPr>
            </a:lvl8pPr>
            <a:lvl9pPr marL="3657600" algn="l" defTabSz="914400" rtl="0" eaLnBrk="1" latinLnBrk="0" hangingPunct="1">
              <a:defRPr sz="2400" kern="1200">
                <a:solidFill>
                  <a:schemeClr val="dk1"/>
                </a:solidFill>
                <a:latin typeface="+mn-lt"/>
                <a:ea typeface="+mn-ea"/>
                <a:cs typeface="+mn-cs"/>
              </a:defRPr>
            </a:lvl9pPr>
          </a:lstStyle>
          <a:p>
            <a:pPr defTabSz="977900"/>
            <a:endParaRPr lang="es-ES">
              <a:solidFill>
                <a:schemeClr val="tx1"/>
              </a:solidFill>
              <a:latin typeface="Arial" charset="0"/>
            </a:endParaRPr>
          </a:p>
        </p:txBody>
      </p:sp>
      <p:pic>
        <p:nvPicPr>
          <p:cNvPr id="53" name="Picture 10" descr="Resultado de imagen de Openshift icon">
            <a:extLst>
              <a:ext uri="{FF2B5EF4-FFF2-40B4-BE49-F238E27FC236}">
                <a16:creationId xmlns:a16="http://schemas.microsoft.com/office/drawing/2014/main" id="{3E45703F-226C-4618-8831-2D23E60F8AE4}"/>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9247722" y="2456222"/>
            <a:ext cx="239828" cy="282164"/>
          </a:xfrm>
          <a:prstGeom prst="rect">
            <a:avLst/>
          </a:prstGeom>
          <a:noFill/>
          <a:extLst>
            <a:ext uri="{909E8E84-426E-40DD-AFC4-6F175D3DCCD1}">
              <a14:hiddenFill xmlns:a14="http://schemas.microsoft.com/office/drawing/2010/main">
                <a:solidFill>
                  <a:srgbClr val="FFFFFF"/>
                </a:solidFill>
              </a14:hiddenFill>
            </a:ext>
          </a:extLst>
        </p:spPr>
      </p:pic>
      <p:sp>
        <p:nvSpPr>
          <p:cNvPr id="59" name="CuadroTexto 58">
            <a:extLst>
              <a:ext uri="{FF2B5EF4-FFF2-40B4-BE49-F238E27FC236}">
                <a16:creationId xmlns:a16="http://schemas.microsoft.com/office/drawing/2014/main" id="{1AE80AA5-5DBB-4DE6-A75B-68E40A42B585}"/>
              </a:ext>
            </a:extLst>
          </p:cNvPr>
          <p:cNvSpPr txBox="1"/>
          <p:nvPr/>
        </p:nvSpPr>
        <p:spPr>
          <a:xfrm>
            <a:off x="8860036" y="2201086"/>
            <a:ext cx="1685929" cy="248530"/>
          </a:xfrm>
          <a:prstGeom prst="rect">
            <a:avLst/>
          </a:prstGeom>
          <a:noFill/>
        </p:spPr>
        <p:txBody>
          <a:bodyPr wrap="square" rtlCol="0">
            <a:spAutoFit/>
          </a:bodyPr>
          <a:lstStyle/>
          <a:p>
            <a:r>
              <a:rPr lang="es-ES" sz="1015" b="1" dirty="0">
                <a:solidFill>
                  <a:srgbClr val="1BB3BC"/>
                </a:solidFill>
              </a:rPr>
              <a:t>PaaS Intranet HC 2.0</a:t>
            </a:r>
          </a:p>
        </p:txBody>
      </p:sp>
      <p:cxnSp>
        <p:nvCxnSpPr>
          <p:cNvPr id="60" name="451 Conector recto de flecha">
            <a:extLst>
              <a:ext uri="{FF2B5EF4-FFF2-40B4-BE49-F238E27FC236}">
                <a16:creationId xmlns:a16="http://schemas.microsoft.com/office/drawing/2014/main" id="{D89D6197-3023-497A-B09B-A196FF8B5281}"/>
              </a:ext>
            </a:extLst>
          </p:cNvPr>
          <p:cNvCxnSpPr>
            <a:cxnSpLocks/>
            <a:endCxn id="52" idx="1"/>
          </p:cNvCxnSpPr>
          <p:nvPr/>
        </p:nvCxnSpPr>
        <p:spPr bwMode="auto">
          <a:xfrm flipV="1">
            <a:off x="7817888" y="2517135"/>
            <a:ext cx="922083" cy="60462"/>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1" name="Oval 18">
            <a:extLst>
              <a:ext uri="{FF2B5EF4-FFF2-40B4-BE49-F238E27FC236}">
                <a16:creationId xmlns:a16="http://schemas.microsoft.com/office/drawing/2014/main" id="{1B1C2BBB-FC48-4FCE-9114-A96300605F45}"/>
              </a:ext>
            </a:extLst>
          </p:cNvPr>
          <p:cNvSpPr>
            <a:spLocks noChangeArrowheads="1"/>
          </p:cNvSpPr>
          <p:nvPr/>
        </p:nvSpPr>
        <p:spPr bwMode="auto">
          <a:xfrm>
            <a:off x="7485107" y="2826431"/>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Tree>
    <p:extLst>
      <p:ext uri="{BB962C8B-B14F-4D97-AF65-F5344CB8AC3E}">
        <p14:creationId xmlns:p14="http://schemas.microsoft.com/office/powerpoint/2010/main" val="2156883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8636000"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4" name="2 Marcador de contenido"/>
          <p:cNvSpPr txBox="1">
            <a:spLocks/>
          </p:cNvSpPr>
          <p:nvPr/>
        </p:nvSpPr>
        <p:spPr bwMode="auto">
          <a:xfrm>
            <a:off x="265674" y="619107"/>
            <a:ext cx="9608866" cy="564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eaLnBrk="1" hangingPunct="1">
              <a:lnSpc>
                <a:spcPts val="2400"/>
              </a:lnSpc>
            </a:pPr>
            <a:r>
              <a:rPr lang="es-ES_tradnl" altLang="es-ES" sz="2000" dirty="0">
                <a:solidFill>
                  <a:srgbClr val="FF0000"/>
                </a:solidFill>
              </a:rPr>
              <a:t>Descripción </a:t>
            </a:r>
            <a:r>
              <a:rPr lang="es-ES" altLang="es-ES" sz="2000" dirty="0">
                <a:solidFill>
                  <a:srgbClr val="FF0000"/>
                </a:solidFill>
              </a:rPr>
              <a:t>proceso Listado de contrataciones para Marketing</a:t>
            </a:r>
            <a:endParaRPr lang="es-ES_tradnl" altLang="es-ES" sz="2000" dirty="0">
              <a:solidFill>
                <a:srgbClr val="FF0000"/>
              </a:solidFill>
            </a:endParaRPr>
          </a:p>
          <a:p>
            <a:pPr eaLnBrk="1" hangingPunct="1">
              <a:lnSpc>
                <a:spcPts val="2400"/>
              </a:lnSpc>
              <a:buFontTx/>
              <a:buNone/>
            </a:pPr>
            <a:endParaRPr lang="es-ES_tradnl" altLang="es-ES" sz="2000" u="sng" dirty="0">
              <a:solidFill>
                <a:srgbClr val="FF0000"/>
              </a:solidFill>
            </a:endParaRPr>
          </a:p>
          <a:p>
            <a:pPr marL="0" indent="0">
              <a:buClr>
                <a:srgbClr val="FF0000"/>
              </a:buClr>
              <a:defRPr/>
            </a:pPr>
            <a:endParaRPr lang="es-ES_tradnl" altLang="es-ES" sz="2000" u="sng" dirty="0">
              <a:solidFill>
                <a:srgbClr val="FF0000"/>
              </a:solidFill>
            </a:endParaRPr>
          </a:p>
          <a:p>
            <a:pPr marL="0" indent="0">
              <a:buClr>
                <a:srgbClr val="FF0000"/>
              </a:buClr>
              <a:defRPr/>
            </a:pPr>
            <a:r>
              <a:rPr lang="es-ES_tradnl" altLang="es-ES" sz="2000" dirty="0">
                <a:solidFill>
                  <a:srgbClr val="FF0000"/>
                </a:solidFill>
              </a:rPr>
              <a:t> </a:t>
            </a:r>
            <a:endParaRPr lang="es-ES" sz="1600" dirty="0">
              <a:solidFill>
                <a:srgbClr val="808080"/>
              </a:solidFill>
            </a:endParaRPr>
          </a:p>
        </p:txBody>
      </p:sp>
      <p:graphicFrame>
        <p:nvGraphicFramePr>
          <p:cNvPr id="6" name="Group 6"/>
          <p:cNvGraphicFramePr>
            <a:graphicFrameLocks/>
          </p:cNvGraphicFramePr>
          <p:nvPr>
            <p:extLst>
              <p:ext uri="{D42A27DB-BD31-4B8C-83A1-F6EECF244321}">
                <p14:modId xmlns:p14="http://schemas.microsoft.com/office/powerpoint/2010/main" val="2175965575"/>
              </p:ext>
            </p:extLst>
          </p:nvPr>
        </p:nvGraphicFramePr>
        <p:xfrm>
          <a:off x="358094" y="1024831"/>
          <a:ext cx="11255784" cy="4439565"/>
        </p:xfrm>
        <a:graphic>
          <a:graphicData uri="http://schemas.openxmlformats.org/drawingml/2006/table">
            <a:tbl>
              <a:tblPr/>
              <a:tblGrid>
                <a:gridCol w="1098917">
                  <a:extLst>
                    <a:ext uri="{9D8B030D-6E8A-4147-A177-3AD203B41FA5}">
                      <a16:colId xmlns:a16="http://schemas.microsoft.com/office/drawing/2014/main" val="20000"/>
                    </a:ext>
                  </a:extLst>
                </a:gridCol>
                <a:gridCol w="10156867">
                  <a:extLst>
                    <a:ext uri="{9D8B030D-6E8A-4147-A177-3AD203B41FA5}">
                      <a16:colId xmlns:a16="http://schemas.microsoft.com/office/drawing/2014/main" val="20001"/>
                    </a:ext>
                  </a:extLst>
                </a:gridCol>
              </a:tblGrid>
              <a:tr h="392361">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Paso</a:t>
                      </a:r>
                    </a:p>
                  </a:txBody>
                  <a:tcPr marL="90007" marR="90007"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Descripción </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661447">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3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88900" indent="-88900" eaLnBrk="1" hangingPunct="1">
                        <a:defRPr/>
                      </a:pPr>
                      <a:r>
                        <a:rPr lang="es-ES" sz="1800" kern="1200" baseline="0" dirty="0">
                          <a:solidFill>
                            <a:schemeClr val="bg1">
                              <a:lumMod val="50000"/>
                            </a:schemeClr>
                          </a:solidFill>
                          <a:latin typeface="Arial" charset="0"/>
                          <a:ea typeface="+mn-ea"/>
                          <a:cs typeface="Arial" charset="0"/>
                        </a:rPr>
                        <a:t>Procesos Batch realizados en Java(periodicidad: diaria)</a:t>
                      </a:r>
                    </a:p>
                    <a:p>
                      <a:pPr marL="88900" indent="-88900" eaLnBrk="1" hangingPunct="1">
                        <a:defRPr/>
                      </a:pPr>
                      <a:endParaRPr lang="es-ES" sz="1800" kern="1200" baseline="0" dirty="0">
                        <a:solidFill>
                          <a:schemeClr val="bg1">
                            <a:lumMod val="50000"/>
                          </a:schemeClr>
                        </a:solidFill>
                        <a:latin typeface="Arial" charset="0"/>
                        <a:ea typeface="+mn-ea"/>
                        <a:cs typeface="Arial" charset="0"/>
                      </a:endParaRPr>
                    </a:p>
                    <a:p>
                      <a:pPr>
                        <a:defRPr/>
                      </a:pPr>
                      <a:r>
                        <a:rPr lang="es-ES" sz="1800" kern="1200" baseline="0" dirty="0">
                          <a:solidFill>
                            <a:schemeClr val="bg1">
                              <a:lumMod val="50000"/>
                            </a:schemeClr>
                          </a:solidFill>
                          <a:latin typeface="Arial" charset="0"/>
                          <a:ea typeface="+mn-ea"/>
                          <a:cs typeface="Arial" charset="0"/>
                        </a:rPr>
                        <a:t>Descripción:</a:t>
                      </a:r>
                    </a:p>
                    <a:p>
                      <a:pPr>
                        <a:defRPr/>
                      </a:pPr>
                      <a:r>
                        <a:rPr lang="es-ES" sz="1800" kern="1200" baseline="0" dirty="0">
                          <a:solidFill>
                            <a:schemeClr val="bg1">
                              <a:lumMod val="50000"/>
                            </a:schemeClr>
                          </a:solidFill>
                          <a:latin typeface="Arial" charset="0"/>
                          <a:ea typeface="+mn-ea"/>
                          <a:cs typeface="Arial" charset="0"/>
                        </a:rPr>
                        <a:t>Generar Excel (un fichero al día) con las contrataciones realizada durante el día. Se envían por correo a Marketing. </a:t>
                      </a:r>
                    </a:p>
                    <a:p>
                      <a:pPr>
                        <a:defRPr/>
                      </a:pPr>
                      <a:endParaRPr lang="es-ES" sz="1800" kern="1200" baseline="0" dirty="0">
                        <a:solidFill>
                          <a:schemeClr val="bg1">
                            <a:lumMod val="50000"/>
                          </a:schemeClr>
                        </a:solidFill>
                        <a:latin typeface="Arial" charset="0"/>
                        <a:ea typeface="+mn-ea"/>
                        <a:cs typeface="Arial" charset="0"/>
                      </a:endParaRPr>
                    </a:p>
                    <a:p>
                      <a:pPr>
                        <a:defRPr/>
                      </a:pPr>
                      <a:r>
                        <a:rPr lang="es-ES" sz="1800" kern="1200" baseline="0" dirty="0">
                          <a:solidFill>
                            <a:schemeClr val="bg1">
                              <a:lumMod val="50000"/>
                            </a:schemeClr>
                          </a:solidFill>
                          <a:latin typeface="Arial" charset="0"/>
                          <a:ea typeface="+mn-ea"/>
                          <a:cs typeface="Arial" charset="0"/>
                        </a:rPr>
                        <a:t>Planificación:</a:t>
                      </a:r>
                    </a:p>
                    <a:p>
                      <a:pPr>
                        <a:defRPr/>
                      </a:pPr>
                      <a:r>
                        <a:rPr lang="es-ES" sz="1800" kern="1200" baseline="0" dirty="0">
                          <a:solidFill>
                            <a:schemeClr val="bg1">
                              <a:lumMod val="50000"/>
                            </a:schemeClr>
                          </a:solidFill>
                          <a:latin typeface="Arial" charset="0"/>
                          <a:ea typeface="+mn-ea"/>
                          <a:cs typeface="Arial" charset="0"/>
                        </a:rPr>
                        <a:t>Diaria (a las 7:00).</a:t>
                      </a:r>
                    </a:p>
                    <a:p>
                      <a:pPr>
                        <a:defRPr/>
                      </a:pPr>
                      <a:endParaRPr lang="es-ES" sz="1800" kern="1200" baseline="0" dirty="0">
                        <a:solidFill>
                          <a:schemeClr val="bg1">
                            <a:lumMod val="50000"/>
                          </a:schemeClr>
                        </a:solidFill>
                        <a:latin typeface="Arial" charset="0"/>
                        <a:ea typeface="+mn-ea"/>
                        <a:cs typeface="Arial" charset="0"/>
                      </a:endParaRPr>
                    </a:p>
                    <a:p>
                      <a:pPr>
                        <a:defRPr/>
                      </a:pPr>
                      <a:r>
                        <a:rPr lang="es-ES" sz="1800" kern="1200" baseline="0" dirty="0">
                          <a:solidFill>
                            <a:schemeClr val="bg1">
                              <a:lumMod val="50000"/>
                            </a:schemeClr>
                          </a:solidFill>
                          <a:latin typeface="Arial" charset="0"/>
                          <a:ea typeface="+mn-ea"/>
                          <a:cs typeface="Arial" charset="0"/>
                        </a:rPr>
                        <a:t>Volumetría:</a:t>
                      </a:r>
                    </a:p>
                    <a:p>
                      <a:pPr>
                        <a:defRPr/>
                      </a:pPr>
                      <a:r>
                        <a:rPr lang="es-ES" sz="1800" kern="1200" baseline="0" dirty="0">
                          <a:solidFill>
                            <a:schemeClr val="bg1">
                              <a:lumMod val="50000"/>
                            </a:schemeClr>
                          </a:solidFill>
                          <a:latin typeface="Arial" charset="0"/>
                          <a:ea typeface="+mn-ea"/>
                          <a:cs typeface="Arial" charset="0"/>
                        </a:rPr>
                        <a:t>Tamaño medio/máximo del fichero: 50Kb / 200Kb</a:t>
                      </a:r>
                    </a:p>
                    <a:p>
                      <a:pPr eaLnBrk="1" hangingPunct="1">
                        <a:defRPr/>
                      </a:pPr>
                      <a:endParaRPr lang="es-ES" sz="1800" kern="1200" baseline="0" dirty="0">
                        <a:solidFill>
                          <a:schemeClr val="bg1">
                            <a:lumMod val="50000"/>
                          </a:schemeClr>
                        </a:solidFill>
                        <a:latin typeface="Arial" charset="0"/>
                        <a:ea typeface="+mn-ea"/>
                        <a:cs typeface="Arial" charset="0"/>
                      </a:endParaRP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4072">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endParaRPr lang="es-ES" altLang="es-ES" sz="13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s-ES_tradnl" sz="1800" kern="1200" baseline="0" dirty="0">
                          <a:solidFill>
                            <a:schemeClr val="bg1">
                              <a:lumMod val="50000"/>
                            </a:schemeClr>
                          </a:solidFill>
                          <a:latin typeface="Arial" charset="0"/>
                          <a:ea typeface="+mn-ea"/>
                          <a:cs typeface="Arial" charset="0"/>
                        </a:rPr>
                        <a:t>Envío de correo a través de Relay</a:t>
                      </a:r>
                    </a:p>
                  </a:txBody>
                  <a:tcPr marL="100584" marR="100584" marT="45682" marB="456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2" name="Oval 18">
            <a:extLst>
              <a:ext uri="{FF2B5EF4-FFF2-40B4-BE49-F238E27FC236}">
                <a16:creationId xmlns:a16="http://schemas.microsoft.com/office/drawing/2014/main" id="{9629D2C5-4837-432A-BBB8-82F2A7DB0499}"/>
              </a:ext>
            </a:extLst>
          </p:cNvPr>
          <p:cNvSpPr>
            <a:spLocks noChangeArrowheads="1"/>
          </p:cNvSpPr>
          <p:nvPr/>
        </p:nvSpPr>
        <p:spPr bwMode="auto">
          <a:xfrm>
            <a:off x="738180" y="2422499"/>
            <a:ext cx="252000" cy="252000"/>
          </a:xfrm>
          <a:prstGeom prst="ellipse">
            <a:avLst/>
          </a:prstGeom>
          <a:solidFill>
            <a:srgbClr val="FF0000"/>
          </a:solidFill>
          <a:ln w="9525">
            <a:solidFill>
              <a:srgbClr val="000000"/>
            </a:solidFill>
            <a:round/>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a:buNone/>
            </a:pPr>
            <a:r>
              <a:rPr lang="es-ES" altLang="es-ES" sz="1200" dirty="0">
                <a:solidFill>
                  <a:schemeClr val="lt1"/>
                </a:solidFill>
              </a:rPr>
              <a:t>1</a:t>
            </a:r>
          </a:p>
        </p:txBody>
      </p:sp>
      <p:sp>
        <p:nvSpPr>
          <p:cNvPr id="13" name="Oval 18">
            <a:extLst>
              <a:ext uri="{FF2B5EF4-FFF2-40B4-BE49-F238E27FC236}">
                <a16:creationId xmlns:a16="http://schemas.microsoft.com/office/drawing/2014/main" id="{4F191247-3DD3-4FB8-99EB-5E4215336E4C}"/>
              </a:ext>
            </a:extLst>
          </p:cNvPr>
          <p:cNvSpPr>
            <a:spLocks noChangeArrowheads="1"/>
          </p:cNvSpPr>
          <p:nvPr/>
        </p:nvSpPr>
        <p:spPr bwMode="auto">
          <a:xfrm>
            <a:off x="752128" y="4965979"/>
            <a:ext cx="242257" cy="252000"/>
          </a:xfrm>
          <a:prstGeom prst="ellipse">
            <a:avLst/>
          </a:prstGeom>
          <a:solidFill>
            <a:srgbClr val="FF0000"/>
          </a:solidFill>
          <a:ln w="9525">
            <a:solidFill>
              <a:srgbClr val="000000"/>
            </a:solidFill>
            <a:round/>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a:buNone/>
            </a:pPr>
            <a:r>
              <a:rPr lang="es-ES" altLang="es-ES" sz="1200" dirty="0">
                <a:solidFill>
                  <a:schemeClr val="lt1"/>
                </a:solidFill>
              </a:rPr>
              <a:t>2</a:t>
            </a:r>
          </a:p>
        </p:txBody>
      </p:sp>
      <p:sp>
        <p:nvSpPr>
          <p:cNvPr id="10" name="Rectángulo 9">
            <a:extLst>
              <a:ext uri="{FF2B5EF4-FFF2-40B4-BE49-F238E27FC236}">
                <a16:creationId xmlns:a16="http://schemas.microsoft.com/office/drawing/2014/main" id="{BEDA10CD-5182-4CE8-8369-9B8F7A7F886C}"/>
              </a:ext>
            </a:extLst>
          </p:cNvPr>
          <p:cNvSpPr/>
          <p:nvPr/>
        </p:nvSpPr>
        <p:spPr>
          <a:xfrm>
            <a:off x="1179371" y="5852333"/>
            <a:ext cx="11381231" cy="307777"/>
          </a:xfrm>
          <a:prstGeom prst="rect">
            <a:avLst/>
          </a:prstGeom>
        </p:spPr>
        <p:txBody>
          <a:bodyPr wrap="square">
            <a:spAutoFit/>
          </a:bodyPr>
          <a:lstStyle/>
          <a:p>
            <a:r>
              <a:rPr lang="en-US" sz="1400" dirty="0">
                <a:solidFill>
                  <a:schemeClr val="bg1">
                    <a:lumMod val="50000"/>
                  </a:schemeClr>
                </a:solidFill>
                <a:latin typeface="Arial" charset="0"/>
                <a:cs typeface="Arial" charset="0"/>
              </a:rPr>
              <a:t>. </a:t>
            </a:r>
            <a:endParaRPr lang="es-ES" sz="1400" dirty="0"/>
          </a:p>
        </p:txBody>
      </p:sp>
      <p:sp>
        <p:nvSpPr>
          <p:cNvPr id="11" name="5 Marcador de número de diapositiva">
            <a:extLst>
              <a:ext uri="{FF2B5EF4-FFF2-40B4-BE49-F238E27FC236}">
                <a16:creationId xmlns:a16="http://schemas.microsoft.com/office/drawing/2014/main" id="{28929CFE-186F-40F5-B726-8BD9061345C1}"/>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28</a:t>
            </a:fld>
            <a:endParaRPr lang="es-ES" sz="1292" dirty="0"/>
          </a:p>
        </p:txBody>
      </p:sp>
    </p:spTree>
    <p:extLst>
      <p:ext uri="{BB962C8B-B14F-4D97-AF65-F5344CB8AC3E}">
        <p14:creationId xmlns:p14="http://schemas.microsoft.com/office/powerpoint/2010/main" val="3691149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155" name="2 Marcador de contenido"/>
          <p:cNvSpPr txBox="1">
            <a:spLocks/>
          </p:cNvSpPr>
          <p:nvPr/>
        </p:nvSpPr>
        <p:spPr bwMode="auto">
          <a:xfrm>
            <a:off x="274563" y="549600"/>
            <a:ext cx="9353666" cy="387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spcBef>
                <a:spcPts val="300"/>
              </a:spcBef>
              <a:buNone/>
            </a:pPr>
            <a:r>
              <a:rPr lang="es-ES" sz="2000" b="1" dirty="0">
                <a:solidFill>
                  <a:srgbClr val="EB0000"/>
                </a:solidFill>
                <a:ea typeface="Segoe UI" panose="020B0502040204020203" pitchFamily="34" charset="0"/>
                <a:cs typeface="Segoe UI" panose="020B0502040204020203" pitchFamily="34" charset="0"/>
              </a:rPr>
              <a:t>Mapa técnico de arquitectura: </a:t>
            </a:r>
            <a:r>
              <a:rPr lang="en-GB" sz="2000" b="1" dirty="0">
                <a:solidFill>
                  <a:srgbClr val="EB0000"/>
                </a:solidFill>
                <a:cs typeface="Segoe UI" panose="020B0502040204020203" pitchFamily="34" charset="0"/>
              </a:rPr>
              <a:t>procesos </a:t>
            </a:r>
            <a:r>
              <a:rPr lang="en-GB" sz="2000" b="1" dirty="0" err="1">
                <a:solidFill>
                  <a:srgbClr val="EB0000"/>
                </a:solidFill>
                <a:cs typeface="Segoe UI" panose="020B0502040204020203" pitchFamily="34" charset="0"/>
              </a:rPr>
              <a:t>planificados</a:t>
            </a:r>
            <a:r>
              <a:rPr lang="en-GB" sz="2000" b="1" dirty="0">
                <a:solidFill>
                  <a:srgbClr val="EB0000"/>
                </a:solidFill>
                <a:cs typeface="Segoe UI" panose="020B0502040204020203" pitchFamily="34" charset="0"/>
              </a:rPr>
              <a:t>.</a:t>
            </a:r>
          </a:p>
          <a:p>
            <a:pPr eaLnBrk="1" hangingPunct="1">
              <a:lnSpc>
                <a:spcPts val="2400"/>
              </a:lnSpc>
            </a:pPr>
            <a:r>
              <a:rPr lang="es-ES" altLang="es-ES" sz="2000" dirty="0">
                <a:solidFill>
                  <a:srgbClr val="FF0000"/>
                </a:solidFill>
              </a:rPr>
              <a:t>Proceso Envío de información a servidor FTP de Universia y Confirma</a:t>
            </a:r>
            <a:endParaRPr lang="es-ES_tradnl" altLang="es-ES" sz="2000" dirty="0">
              <a:solidFill>
                <a:srgbClr val="FF0000"/>
              </a:solidFill>
            </a:endParaRPr>
          </a:p>
          <a:p>
            <a:pPr eaLnBrk="1" hangingPunct="1">
              <a:lnSpc>
                <a:spcPts val="2400"/>
              </a:lnSpc>
            </a:pPr>
            <a:endParaRPr lang="es-ES_tradnl" altLang="es-ES" sz="2000" dirty="0">
              <a:solidFill>
                <a:srgbClr val="FF0000"/>
              </a:solidFill>
            </a:endParaRPr>
          </a:p>
          <a:p>
            <a:pPr eaLnBrk="1" hangingPunct="1">
              <a:lnSpc>
                <a:spcPts val="2400"/>
              </a:lnSpc>
              <a:buFontTx/>
              <a:buNone/>
            </a:pPr>
            <a:endParaRPr lang="es-ES_tradnl" altLang="es-ES" u="sng" dirty="0">
              <a:solidFill>
                <a:srgbClr val="FF0000"/>
              </a:solidFill>
            </a:endParaRPr>
          </a:p>
          <a:p>
            <a:pPr marL="0" indent="0">
              <a:spcBef>
                <a:spcPts val="300"/>
              </a:spcBef>
              <a:buNone/>
            </a:pPr>
            <a:endParaRPr lang="es-ES" sz="2000" b="1" dirty="0">
              <a:solidFill>
                <a:srgbClr val="EB0000"/>
              </a:solidFill>
              <a:cs typeface="Segoe UI" panose="020B0502040204020203" pitchFamily="34" charset="0"/>
            </a:endParaRPr>
          </a:p>
          <a:p>
            <a:pPr algn="ctr">
              <a:buClr>
                <a:srgbClr val="FF0000"/>
              </a:buClr>
              <a:buFont typeface="Wingdings" pitchFamily="2" charset="2"/>
              <a:buChar char="w"/>
              <a:defRPr/>
            </a:pPr>
            <a:endParaRPr lang="es-ES" sz="2200" dirty="0">
              <a:solidFill>
                <a:srgbClr val="FF0000"/>
              </a:solidFill>
            </a:endParaRPr>
          </a:p>
        </p:txBody>
      </p:sp>
      <p:sp>
        <p:nvSpPr>
          <p:cNvPr id="54" name="Rectangle 331">
            <a:extLst>
              <a:ext uri="{FF2B5EF4-FFF2-40B4-BE49-F238E27FC236}">
                <a16:creationId xmlns:a16="http://schemas.microsoft.com/office/drawing/2014/main" id="{08D803E7-4D55-4E27-8BF9-54DEDEC69874}"/>
              </a:ext>
            </a:extLst>
          </p:cNvPr>
          <p:cNvSpPr>
            <a:spLocks noChangeArrowheads="1"/>
          </p:cNvSpPr>
          <p:nvPr/>
        </p:nvSpPr>
        <p:spPr bwMode="auto">
          <a:xfrm>
            <a:off x="9316398" y="549600"/>
            <a:ext cx="2754263" cy="723395"/>
          </a:xfrm>
          <a:prstGeom prst="rect">
            <a:avLst/>
          </a:prstGeom>
          <a:solidFill>
            <a:schemeClr val="bg1"/>
          </a:solidFill>
          <a:ln>
            <a:solidFill>
              <a:srgbClr val="FF0000"/>
            </a:solidFill>
            <a:headEnd/>
            <a:tailEnd/>
          </a:ln>
        </p:spPr>
        <p:style>
          <a:lnRef idx="1">
            <a:schemeClr val="accent2"/>
          </a:lnRef>
          <a:fillRef idx="2">
            <a:schemeClr val="accent2"/>
          </a:fillRef>
          <a:effectRef idx="1">
            <a:schemeClr val="accent2"/>
          </a:effectRef>
          <a:fontRef idx="minor">
            <a:schemeClr val="dk1"/>
          </a:fontRef>
        </p:style>
        <p:txBody>
          <a:bodyPr wrap="none">
            <a:flatTx/>
          </a:bodyPr>
          <a:lstStyle/>
          <a:p>
            <a:pPr defTabSz="914395">
              <a:defRPr/>
            </a:pPr>
            <a:endParaRPr lang="en-US" sz="1100" b="1" dirty="0">
              <a:solidFill>
                <a:sysClr val="windowText" lastClr="000000"/>
              </a:solidFill>
              <a:latin typeface="Calibri" panose="020F0502020204030204"/>
            </a:endParaRPr>
          </a:p>
        </p:txBody>
      </p:sp>
      <p:sp>
        <p:nvSpPr>
          <p:cNvPr id="55" name="TextBox 181">
            <a:extLst>
              <a:ext uri="{FF2B5EF4-FFF2-40B4-BE49-F238E27FC236}">
                <a16:creationId xmlns:a16="http://schemas.microsoft.com/office/drawing/2014/main" id="{B0993E16-2E6E-48B2-B8D0-B92CF9975265}"/>
              </a:ext>
            </a:extLst>
          </p:cNvPr>
          <p:cNvSpPr txBox="1">
            <a:spLocks noChangeArrowheads="1"/>
          </p:cNvSpPr>
          <p:nvPr/>
        </p:nvSpPr>
        <p:spPr bwMode="auto">
          <a:xfrm>
            <a:off x="11307949" y="839810"/>
            <a:ext cx="3497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FILE</a:t>
            </a:r>
          </a:p>
        </p:txBody>
      </p:sp>
      <p:cxnSp>
        <p:nvCxnSpPr>
          <p:cNvPr id="56" name="25 Conector recto de flecha">
            <a:extLst>
              <a:ext uri="{FF2B5EF4-FFF2-40B4-BE49-F238E27FC236}">
                <a16:creationId xmlns:a16="http://schemas.microsoft.com/office/drawing/2014/main" id="{129F735C-883A-485B-90AF-307FBA15EABA}"/>
              </a:ext>
            </a:extLst>
          </p:cNvPr>
          <p:cNvCxnSpPr/>
          <p:nvPr/>
        </p:nvCxnSpPr>
        <p:spPr bwMode="auto">
          <a:xfrm>
            <a:off x="11072320" y="726657"/>
            <a:ext cx="255395" cy="40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181">
            <a:extLst>
              <a:ext uri="{FF2B5EF4-FFF2-40B4-BE49-F238E27FC236}">
                <a16:creationId xmlns:a16="http://schemas.microsoft.com/office/drawing/2014/main" id="{862E7350-5B4B-4C2A-9C65-ACBA613A7C36}"/>
              </a:ext>
            </a:extLst>
          </p:cNvPr>
          <p:cNvSpPr txBox="1">
            <a:spLocks noChangeArrowheads="1"/>
          </p:cNvSpPr>
          <p:nvPr/>
        </p:nvSpPr>
        <p:spPr bwMode="auto">
          <a:xfrm>
            <a:off x="11330854" y="622950"/>
            <a:ext cx="39466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err="1">
                <a:solidFill>
                  <a:srgbClr val="000000"/>
                </a:solidFill>
                <a:latin typeface="Calibri" pitchFamily="34" charset="0"/>
                <a:cs typeface="Arial" charset="0"/>
              </a:rPr>
              <a:t>smtp</a:t>
            </a:r>
            <a:endParaRPr lang="es-ES" altLang="es-ES" sz="800" b="0" dirty="0">
              <a:solidFill>
                <a:srgbClr val="000000"/>
              </a:solidFill>
              <a:latin typeface="Calibri" pitchFamily="34" charset="0"/>
              <a:cs typeface="Arial" charset="0"/>
            </a:endParaRPr>
          </a:p>
        </p:txBody>
      </p:sp>
      <p:sp>
        <p:nvSpPr>
          <p:cNvPr id="58" name="CuadroTexto 57">
            <a:extLst>
              <a:ext uri="{FF2B5EF4-FFF2-40B4-BE49-F238E27FC236}">
                <a16:creationId xmlns:a16="http://schemas.microsoft.com/office/drawing/2014/main" id="{0F25A5E7-CD35-4DB0-9C2C-9E9E6D17C515}"/>
              </a:ext>
            </a:extLst>
          </p:cNvPr>
          <p:cNvSpPr txBox="1"/>
          <p:nvPr/>
        </p:nvSpPr>
        <p:spPr>
          <a:xfrm>
            <a:off x="10492204" y="61029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Nuevo</a:t>
            </a:r>
          </a:p>
        </p:txBody>
      </p:sp>
      <p:cxnSp>
        <p:nvCxnSpPr>
          <p:cNvPr id="90" name="25 Conector recto de flecha">
            <a:extLst>
              <a:ext uri="{FF2B5EF4-FFF2-40B4-BE49-F238E27FC236}">
                <a16:creationId xmlns:a16="http://schemas.microsoft.com/office/drawing/2014/main" id="{BF5E2641-20C5-4F1C-9BD8-8B3EEF040753}"/>
              </a:ext>
            </a:extLst>
          </p:cNvPr>
          <p:cNvCxnSpPr>
            <a:cxnSpLocks/>
          </p:cNvCxnSpPr>
          <p:nvPr/>
        </p:nvCxnSpPr>
        <p:spPr bwMode="auto">
          <a:xfrm>
            <a:off x="11072320" y="1101128"/>
            <a:ext cx="235629" cy="75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Oval 18">
            <a:extLst>
              <a:ext uri="{FF2B5EF4-FFF2-40B4-BE49-F238E27FC236}">
                <a16:creationId xmlns:a16="http://schemas.microsoft.com/office/drawing/2014/main" id="{365B39D2-0F6C-4078-A60F-9207B71586A2}"/>
              </a:ext>
            </a:extLst>
          </p:cNvPr>
          <p:cNvSpPr>
            <a:spLocks noChangeArrowheads="1"/>
          </p:cNvSpPr>
          <p:nvPr/>
        </p:nvSpPr>
        <p:spPr bwMode="auto">
          <a:xfrm>
            <a:off x="10237971" y="578862"/>
            <a:ext cx="226800" cy="227917"/>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N</a:t>
            </a:r>
          </a:p>
        </p:txBody>
      </p:sp>
      <p:cxnSp>
        <p:nvCxnSpPr>
          <p:cNvPr id="107" name="25 Conector recto de flecha">
            <a:extLst>
              <a:ext uri="{FF2B5EF4-FFF2-40B4-BE49-F238E27FC236}">
                <a16:creationId xmlns:a16="http://schemas.microsoft.com/office/drawing/2014/main" id="{62E7BDDC-5F97-42D8-AA36-484B8970DFC1}"/>
              </a:ext>
            </a:extLst>
          </p:cNvPr>
          <p:cNvCxnSpPr/>
          <p:nvPr/>
        </p:nvCxnSpPr>
        <p:spPr bwMode="auto">
          <a:xfrm>
            <a:off x="11072320" y="954936"/>
            <a:ext cx="255395" cy="4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8" name="TextBox 181">
            <a:extLst>
              <a:ext uri="{FF2B5EF4-FFF2-40B4-BE49-F238E27FC236}">
                <a16:creationId xmlns:a16="http://schemas.microsoft.com/office/drawing/2014/main" id="{B37783E5-57BC-43F8-B89C-415B9E4FBF70}"/>
              </a:ext>
            </a:extLst>
          </p:cNvPr>
          <p:cNvSpPr txBox="1">
            <a:spLocks noChangeArrowheads="1"/>
          </p:cNvSpPr>
          <p:nvPr/>
        </p:nvSpPr>
        <p:spPr bwMode="auto">
          <a:xfrm>
            <a:off x="11330855" y="1004457"/>
            <a:ext cx="61427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FTP / SFTP</a:t>
            </a:r>
          </a:p>
        </p:txBody>
      </p:sp>
      <p:sp>
        <p:nvSpPr>
          <p:cNvPr id="99" name="5 Marcador de número de diapositiva">
            <a:extLst>
              <a:ext uri="{FF2B5EF4-FFF2-40B4-BE49-F238E27FC236}">
                <a16:creationId xmlns:a16="http://schemas.microsoft.com/office/drawing/2014/main" id="{4E3BA852-17D8-4F6E-8C0E-8FA6502E525D}"/>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29</a:t>
            </a:fld>
            <a:endParaRPr lang="es-ES" sz="1292" dirty="0"/>
          </a:p>
        </p:txBody>
      </p:sp>
      <p:sp>
        <p:nvSpPr>
          <p:cNvPr id="122" name="Oval 18">
            <a:extLst>
              <a:ext uri="{FF2B5EF4-FFF2-40B4-BE49-F238E27FC236}">
                <a16:creationId xmlns:a16="http://schemas.microsoft.com/office/drawing/2014/main" id="{72065270-A747-4C06-BAD5-0AF90182670E}"/>
              </a:ext>
            </a:extLst>
          </p:cNvPr>
          <p:cNvSpPr>
            <a:spLocks noChangeArrowheads="1"/>
          </p:cNvSpPr>
          <p:nvPr/>
        </p:nvSpPr>
        <p:spPr bwMode="auto">
          <a:xfrm>
            <a:off x="10255782" y="819635"/>
            <a:ext cx="226800" cy="227917"/>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M</a:t>
            </a:r>
          </a:p>
        </p:txBody>
      </p:sp>
      <p:sp>
        <p:nvSpPr>
          <p:cNvPr id="123" name="CuadroTexto 122">
            <a:extLst>
              <a:ext uri="{FF2B5EF4-FFF2-40B4-BE49-F238E27FC236}">
                <a16:creationId xmlns:a16="http://schemas.microsoft.com/office/drawing/2014/main" id="{EA79CB3B-5B2B-45C0-AE11-038DA3E27C7A}"/>
              </a:ext>
            </a:extLst>
          </p:cNvPr>
          <p:cNvSpPr txBox="1"/>
          <p:nvPr/>
        </p:nvSpPr>
        <p:spPr>
          <a:xfrm>
            <a:off x="10482583" y="837147"/>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Modificado</a:t>
            </a:r>
          </a:p>
        </p:txBody>
      </p:sp>
      <p:sp>
        <p:nvSpPr>
          <p:cNvPr id="124" name="Oval 18">
            <a:extLst>
              <a:ext uri="{FF2B5EF4-FFF2-40B4-BE49-F238E27FC236}">
                <a16:creationId xmlns:a16="http://schemas.microsoft.com/office/drawing/2014/main" id="{18ABAF1B-F41F-4894-BF67-0E1CC94E4F41}"/>
              </a:ext>
            </a:extLst>
          </p:cNvPr>
          <p:cNvSpPr>
            <a:spLocks noChangeArrowheads="1"/>
          </p:cNvSpPr>
          <p:nvPr/>
        </p:nvSpPr>
        <p:spPr bwMode="auto">
          <a:xfrm>
            <a:off x="10267356" y="1045998"/>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25" name="CuadroTexto 124">
            <a:extLst>
              <a:ext uri="{FF2B5EF4-FFF2-40B4-BE49-F238E27FC236}">
                <a16:creationId xmlns:a16="http://schemas.microsoft.com/office/drawing/2014/main" id="{71391F6D-C5BB-4299-8552-3DCD23C661D9}"/>
              </a:ext>
            </a:extLst>
          </p:cNvPr>
          <p:cNvSpPr txBox="1"/>
          <p:nvPr/>
        </p:nvSpPr>
        <p:spPr>
          <a:xfrm>
            <a:off x="10505488" y="106141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Existente</a:t>
            </a:r>
          </a:p>
        </p:txBody>
      </p:sp>
      <p:pic>
        <p:nvPicPr>
          <p:cNvPr id="7" name="Imagen 6">
            <a:extLst>
              <a:ext uri="{FF2B5EF4-FFF2-40B4-BE49-F238E27FC236}">
                <a16:creationId xmlns:a16="http://schemas.microsoft.com/office/drawing/2014/main" id="{D65E0D2A-D80B-4A96-B04A-BA4BEEEAAAA2}"/>
              </a:ext>
            </a:extLst>
          </p:cNvPr>
          <p:cNvPicPr>
            <a:picLocks noChangeAspect="1"/>
          </p:cNvPicPr>
          <p:nvPr/>
        </p:nvPicPr>
        <p:blipFill>
          <a:blip r:embed="rId6"/>
          <a:stretch>
            <a:fillRect/>
          </a:stretch>
        </p:blipFill>
        <p:spPr>
          <a:xfrm>
            <a:off x="9519884" y="4750750"/>
            <a:ext cx="694592" cy="1134208"/>
          </a:xfrm>
          <a:prstGeom prst="rect">
            <a:avLst/>
          </a:prstGeom>
        </p:spPr>
      </p:pic>
      <p:grpSp>
        <p:nvGrpSpPr>
          <p:cNvPr id="105" name="Grupo 104">
            <a:extLst>
              <a:ext uri="{FF2B5EF4-FFF2-40B4-BE49-F238E27FC236}">
                <a16:creationId xmlns:a16="http://schemas.microsoft.com/office/drawing/2014/main" id="{6B3F35BD-AA75-449C-83D3-826C0703AB6E}"/>
              </a:ext>
            </a:extLst>
          </p:cNvPr>
          <p:cNvGrpSpPr/>
          <p:nvPr/>
        </p:nvGrpSpPr>
        <p:grpSpPr>
          <a:xfrm>
            <a:off x="9379329" y="618385"/>
            <a:ext cx="288789" cy="128483"/>
            <a:chOff x="10457075" y="2470064"/>
            <a:chExt cx="431319" cy="225978"/>
          </a:xfrm>
        </p:grpSpPr>
        <p:sp>
          <p:nvSpPr>
            <p:cNvPr id="109" name="Rectángulo 108">
              <a:extLst>
                <a:ext uri="{FF2B5EF4-FFF2-40B4-BE49-F238E27FC236}">
                  <a16:creationId xmlns:a16="http://schemas.microsoft.com/office/drawing/2014/main" id="{6AA7EC62-B94F-4ACA-B951-CF9C0CAE6AD4}"/>
                </a:ext>
              </a:extLst>
            </p:cNvPr>
            <p:cNvSpPr/>
            <p:nvPr/>
          </p:nvSpPr>
          <p:spPr>
            <a:xfrm>
              <a:off x="10457075" y="2470064"/>
              <a:ext cx="431319" cy="22597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16" name="Rectángulo 115">
              <a:extLst>
                <a:ext uri="{FF2B5EF4-FFF2-40B4-BE49-F238E27FC236}">
                  <a16:creationId xmlns:a16="http://schemas.microsoft.com/office/drawing/2014/main" id="{83589C93-02FD-4524-8067-F9259B54C3DD}"/>
                </a:ext>
              </a:extLst>
            </p:cNvPr>
            <p:cNvSpPr/>
            <p:nvPr/>
          </p:nvSpPr>
          <p:spPr>
            <a:xfrm>
              <a:off x="10526091"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grpSp>
      <p:sp>
        <p:nvSpPr>
          <p:cNvPr id="119" name="CuadroTexto 118">
            <a:extLst>
              <a:ext uri="{FF2B5EF4-FFF2-40B4-BE49-F238E27FC236}">
                <a16:creationId xmlns:a16="http://schemas.microsoft.com/office/drawing/2014/main" id="{FB877C06-5586-43A2-89A2-7C60EF752D54}"/>
              </a:ext>
            </a:extLst>
          </p:cNvPr>
          <p:cNvSpPr txBox="1"/>
          <p:nvPr/>
        </p:nvSpPr>
        <p:spPr>
          <a:xfrm>
            <a:off x="9676536" y="596009"/>
            <a:ext cx="617932" cy="191719"/>
          </a:xfrm>
          <a:prstGeom prst="rect">
            <a:avLst/>
          </a:prstGeom>
          <a:noFill/>
        </p:spPr>
        <p:txBody>
          <a:bodyPr wrap="square" rtlCol="0">
            <a:spAutoFit/>
          </a:bodyPr>
          <a:lstStyle/>
          <a:p>
            <a:r>
              <a:rPr lang="es-ES" sz="646" dirty="0"/>
              <a:t>Token JWT </a:t>
            </a:r>
          </a:p>
        </p:txBody>
      </p:sp>
      <p:cxnSp>
        <p:nvCxnSpPr>
          <p:cNvPr id="128" name="25 Conector recto de flecha">
            <a:extLst>
              <a:ext uri="{FF2B5EF4-FFF2-40B4-BE49-F238E27FC236}">
                <a16:creationId xmlns:a16="http://schemas.microsoft.com/office/drawing/2014/main" id="{E3FB340E-2A12-4BEB-A7E8-42C13F420025}"/>
              </a:ext>
            </a:extLst>
          </p:cNvPr>
          <p:cNvCxnSpPr/>
          <p:nvPr/>
        </p:nvCxnSpPr>
        <p:spPr bwMode="auto">
          <a:xfrm>
            <a:off x="9408489" y="976226"/>
            <a:ext cx="255395" cy="4015"/>
          </a:xfrm>
          <a:prstGeom prst="straightConnector1">
            <a:avLst/>
          </a:prstGeom>
          <a:ln>
            <a:solidFill>
              <a:srgbClr val="FFFF00"/>
            </a:solidFill>
            <a:tailEnd type="triangle"/>
          </a:ln>
        </p:spPr>
        <p:style>
          <a:lnRef idx="3">
            <a:schemeClr val="dk1"/>
          </a:lnRef>
          <a:fillRef idx="0">
            <a:schemeClr val="dk1"/>
          </a:fillRef>
          <a:effectRef idx="2">
            <a:schemeClr val="dk1"/>
          </a:effectRef>
          <a:fontRef idx="minor">
            <a:schemeClr val="tx1"/>
          </a:fontRef>
        </p:style>
      </p:cxnSp>
      <p:sp>
        <p:nvSpPr>
          <p:cNvPr id="140" name="TextBox 181">
            <a:extLst>
              <a:ext uri="{FF2B5EF4-FFF2-40B4-BE49-F238E27FC236}">
                <a16:creationId xmlns:a16="http://schemas.microsoft.com/office/drawing/2014/main" id="{9FD8555C-3ED4-4B6A-8793-1E0E45735F43}"/>
              </a:ext>
            </a:extLst>
          </p:cNvPr>
          <p:cNvSpPr txBox="1">
            <a:spLocks noChangeArrowheads="1"/>
          </p:cNvSpPr>
          <p:nvPr/>
        </p:nvSpPr>
        <p:spPr bwMode="auto">
          <a:xfrm>
            <a:off x="9672521" y="861350"/>
            <a:ext cx="397866" cy="343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31" b="0" dirty="0">
                <a:solidFill>
                  <a:srgbClr val="000000"/>
                </a:solidFill>
                <a:latin typeface="Calibri" pitchFamily="34" charset="0"/>
                <a:cs typeface="Arial" charset="0"/>
              </a:rPr>
              <a:t>JDBC</a:t>
            </a:r>
          </a:p>
          <a:p>
            <a:pPr defTabSz="914395">
              <a:defRPr/>
            </a:pPr>
            <a:endParaRPr lang="es-ES" altLang="es-ES" sz="800" b="0" dirty="0">
              <a:solidFill>
                <a:srgbClr val="000000"/>
              </a:solidFill>
              <a:latin typeface="Calibri" pitchFamily="34" charset="0"/>
              <a:cs typeface="Arial" charset="0"/>
            </a:endParaRPr>
          </a:p>
        </p:txBody>
      </p:sp>
      <p:sp>
        <p:nvSpPr>
          <p:cNvPr id="103" name="Rectángulo: esquinas redondeadas 102">
            <a:extLst>
              <a:ext uri="{FF2B5EF4-FFF2-40B4-BE49-F238E27FC236}">
                <a16:creationId xmlns:a16="http://schemas.microsoft.com/office/drawing/2014/main" id="{B6B2F949-3DCA-40F0-B4B1-04F288B30D26}"/>
              </a:ext>
            </a:extLst>
          </p:cNvPr>
          <p:cNvSpPr/>
          <p:nvPr/>
        </p:nvSpPr>
        <p:spPr>
          <a:xfrm>
            <a:off x="7089481" y="1958623"/>
            <a:ext cx="3524836" cy="3648942"/>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a:p>
        </p:txBody>
      </p:sp>
      <p:grpSp>
        <p:nvGrpSpPr>
          <p:cNvPr id="150" name="Grupo 149">
            <a:extLst>
              <a:ext uri="{FF2B5EF4-FFF2-40B4-BE49-F238E27FC236}">
                <a16:creationId xmlns:a16="http://schemas.microsoft.com/office/drawing/2014/main" id="{7BC4577D-E3E6-468C-9E95-66F30DA9214B}"/>
              </a:ext>
            </a:extLst>
          </p:cNvPr>
          <p:cNvGrpSpPr/>
          <p:nvPr/>
        </p:nvGrpSpPr>
        <p:grpSpPr>
          <a:xfrm>
            <a:off x="8929561" y="2037835"/>
            <a:ext cx="1425131" cy="1663935"/>
            <a:chOff x="4214162" y="2214374"/>
            <a:chExt cx="3501284" cy="3857088"/>
          </a:xfrm>
        </p:grpSpPr>
        <p:sp>
          <p:nvSpPr>
            <p:cNvPr id="151" name="Oval 465">
              <a:extLst>
                <a:ext uri="{FF2B5EF4-FFF2-40B4-BE49-F238E27FC236}">
                  <a16:creationId xmlns:a16="http://schemas.microsoft.com/office/drawing/2014/main" id="{4FCC1F58-BEF2-4355-A29D-C9DF443C487E}"/>
                </a:ext>
              </a:extLst>
            </p:cNvPr>
            <p:cNvSpPr>
              <a:spLocks noChangeArrowheads="1"/>
            </p:cNvSpPr>
            <p:nvPr/>
          </p:nvSpPr>
          <p:spPr bwMode="auto">
            <a:xfrm>
              <a:off x="6152189" y="3941550"/>
              <a:ext cx="148851" cy="150886"/>
            </a:xfrm>
            <a:prstGeom prst="ellipse">
              <a:avLst/>
            </a:prstGeom>
            <a:solidFill>
              <a:schemeClr val="tx1"/>
            </a:solidFill>
            <a:ln w="9525">
              <a:solidFill>
                <a:schemeClr val="tx1"/>
              </a:solidFill>
              <a:round/>
              <a:headEnd/>
              <a:tailEnd/>
            </a:ln>
          </p:spPr>
          <p:txBody>
            <a:bodyPr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710" b="0" dirty="0">
                  <a:solidFill>
                    <a:schemeClr val="bg1"/>
                  </a:solidFill>
                </a:rPr>
                <a:t>9</a:t>
              </a:r>
            </a:p>
          </p:txBody>
        </p:sp>
        <p:grpSp>
          <p:nvGrpSpPr>
            <p:cNvPr id="152" name="Grupo 151">
              <a:extLst>
                <a:ext uri="{FF2B5EF4-FFF2-40B4-BE49-F238E27FC236}">
                  <a16:creationId xmlns:a16="http://schemas.microsoft.com/office/drawing/2014/main" id="{A6E20238-53ED-4FDD-A3D3-93A512F043A1}"/>
                </a:ext>
              </a:extLst>
            </p:cNvPr>
            <p:cNvGrpSpPr/>
            <p:nvPr/>
          </p:nvGrpSpPr>
          <p:grpSpPr>
            <a:xfrm>
              <a:off x="4214162" y="2214374"/>
              <a:ext cx="3501284" cy="3857088"/>
              <a:chOff x="4484038" y="3393298"/>
              <a:chExt cx="2193246" cy="2458882"/>
            </a:xfrm>
          </p:grpSpPr>
          <p:sp>
            <p:nvSpPr>
              <p:cNvPr id="153" name="Rectángulo: esquinas redondeadas 152">
                <a:extLst>
                  <a:ext uri="{FF2B5EF4-FFF2-40B4-BE49-F238E27FC236}">
                    <a16:creationId xmlns:a16="http://schemas.microsoft.com/office/drawing/2014/main" id="{E918FAAA-EE70-4506-9174-97C86755B4FB}"/>
                  </a:ext>
                </a:extLst>
              </p:cNvPr>
              <p:cNvSpPr/>
              <p:nvPr/>
            </p:nvSpPr>
            <p:spPr>
              <a:xfrm>
                <a:off x="4484038" y="3393298"/>
                <a:ext cx="2193246" cy="2458882"/>
              </a:xfrm>
              <a:prstGeom prst="roundRect">
                <a:avLst/>
              </a:prstGeom>
              <a:solidFill>
                <a:schemeClr val="bg1"/>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54" name="CuadroTexto 153">
                <a:extLst>
                  <a:ext uri="{FF2B5EF4-FFF2-40B4-BE49-F238E27FC236}">
                    <a16:creationId xmlns:a16="http://schemas.microsoft.com/office/drawing/2014/main" id="{E3A8925E-622B-4671-97E0-41AFF66F9BB5}"/>
                  </a:ext>
                </a:extLst>
              </p:cNvPr>
              <p:cNvSpPr txBox="1"/>
              <p:nvPr/>
            </p:nvSpPr>
            <p:spPr>
              <a:xfrm>
                <a:off x="4866700" y="3608586"/>
                <a:ext cx="1471642" cy="1185842"/>
              </a:xfrm>
              <a:prstGeom prst="rect">
                <a:avLst/>
              </a:prstGeom>
              <a:noFill/>
            </p:spPr>
            <p:txBody>
              <a:bodyPr wrap="square" rtlCol="0">
                <a:spAutoFit/>
              </a:bodyPr>
              <a:lstStyle/>
              <a:p>
                <a:pPr algn="ctr"/>
                <a:r>
                  <a:rPr lang="es-ES" sz="923" b="1" dirty="0">
                    <a:solidFill>
                      <a:srgbClr val="1BB3BC"/>
                    </a:solidFill>
                  </a:rPr>
                  <a:t>Servidor Procesos BATCH</a:t>
                </a:r>
              </a:p>
              <a:p>
                <a:pPr algn="ctr"/>
                <a:r>
                  <a:rPr lang="es-ES" sz="923" b="1" dirty="0">
                    <a:solidFill>
                      <a:srgbClr val="1BB3BC"/>
                    </a:solidFill>
                  </a:rPr>
                  <a:t>Linux</a:t>
                </a:r>
              </a:p>
              <a:p>
                <a:endParaRPr lang="es-ES" sz="923" b="1" dirty="0">
                  <a:solidFill>
                    <a:srgbClr val="1BB3BC"/>
                  </a:solidFill>
                </a:endParaRPr>
              </a:p>
            </p:txBody>
          </p:sp>
        </p:grpSp>
      </p:grpSp>
      <p:pic>
        <p:nvPicPr>
          <p:cNvPr id="156" name="Imagen 155">
            <a:extLst>
              <a:ext uri="{FF2B5EF4-FFF2-40B4-BE49-F238E27FC236}">
                <a16:creationId xmlns:a16="http://schemas.microsoft.com/office/drawing/2014/main" id="{482C29D0-042D-4119-B604-FBA2E093EB6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8916" y="2943719"/>
            <a:ext cx="385446" cy="386633"/>
          </a:xfrm>
          <a:prstGeom prst="rect">
            <a:avLst/>
          </a:prstGeom>
        </p:spPr>
      </p:pic>
      <p:cxnSp>
        <p:nvCxnSpPr>
          <p:cNvPr id="157" name="Conector recto de flecha 156">
            <a:extLst>
              <a:ext uri="{FF2B5EF4-FFF2-40B4-BE49-F238E27FC236}">
                <a16:creationId xmlns:a16="http://schemas.microsoft.com/office/drawing/2014/main" id="{80713E8B-0320-4F00-B249-317D1C3D4512}"/>
              </a:ext>
            </a:extLst>
          </p:cNvPr>
          <p:cNvCxnSpPr>
            <a:cxnSpLocks/>
            <a:stCxn id="153" idx="1"/>
          </p:cNvCxnSpPr>
          <p:nvPr/>
        </p:nvCxnSpPr>
        <p:spPr>
          <a:xfrm flipH="1">
            <a:off x="6751287" y="2869803"/>
            <a:ext cx="2178274" cy="42801"/>
          </a:xfrm>
          <a:prstGeom prst="straightConnector1">
            <a:avLst/>
          </a:prstGeom>
          <a:ln>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59" name="Group 605">
            <a:extLst>
              <a:ext uri="{FF2B5EF4-FFF2-40B4-BE49-F238E27FC236}">
                <a16:creationId xmlns:a16="http://schemas.microsoft.com/office/drawing/2014/main" id="{797620A9-3414-4DC0-817D-08288421F68F}"/>
              </a:ext>
            </a:extLst>
          </p:cNvPr>
          <p:cNvGrpSpPr>
            <a:grpSpLocks/>
          </p:cNvGrpSpPr>
          <p:nvPr/>
        </p:nvGrpSpPr>
        <p:grpSpPr bwMode="auto">
          <a:xfrm>
            <a:off x="9263424" y="4359597"/>
            <a:ext cx="708276" cy="636587"/>
            <a:chOff x="2769" y="1896"/>
            <a:chExt cx="530" cy="493"/>
          </a:xfrm>
        </p:grpSpPr>
        <p:pic>
          <p:nvPicPr>
            <p:cNvPr id="160" name="Picture 577" descr="j0431637">
              <a:extLst>
                <a:ext uri="{FF2B5EF4-FFF2-40B4-BE49-F238E27FC236}">
                  <a16:creationId xmlns:a16="http://schemas.microsoft.com/office/drawing/2014/main" id="{0AFBC39F-AC7B-45B0-A551-96F6FFC421C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24" y="1934"/>
              <a:ext cx="35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 name="Picture 578" descr="j0432635">
              <a:extLst>
                <a:ext uri="{FF2B5EF4-FFF2-40B4-BE49-F238E27FC236}">
                  <a16:creationId xmlns:a16="http://schemas.microsoft.com/office/drawing/2014/main" id="{AD52BF99-86E2-42C6-B178-114A668DB52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5" y="1896"/>
              <a:ext cx="20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Text Box 579">
              <a:extLst>
                <a:ext uri="{FF2B5EF4-FFF2-40B4-BE49-F238E27FC236}">
                  <a16:creationId xmlns:a16="http://schemas.microsoft.com/office/drawing/2014/main" id="{28689D5A-1CA1-4C13-BE22-883DBDFD8C8A}"/>
                </a:ext>
              </a:extLst>
            </p:cNvPr>
            <p:cNvSpPr txBox="1">
              <a:spLocks noChangeArrowheads="1"/>
            </p:cNvSpPr>
            <p:nvPr/>
          </p:nvSpPr>
          <p:spPr bwMode="auto">
            <a:xfrm>
              <a:off x="2769" y="2270"/>
              <a:ext cx="53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sp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eaLnBrk="1" hangingPunct="1">
                <a:buClr>
                  <a:schemeClr val="accent2"/>
                </a:buClr>
                <a:buFont typeface="Wingdings" panose="05000000000000000000" pitchFamily="2" charset="2"/>
                <a:buNone/>
              </a:pPr>
              <a:r>
                <a:rPr lang="es-ES" altLang="es-ES" sz="1000" dirty="0">
                  <a:solidFill>
                    <a:schemeClr val="tx1"/>
                  </a:solidFill>
                  <a:latin typeface="Verdana" panose="020B0604030504040204" pitchFamily="34" charset="0"/>
                </a:rPr>
                <a:t>Control-M</a:t>
              </a:r>
            </a:p>
          </p:txBody>
        </p:sp>
      </p:grpSp>
      <p:cxnSp>
        <p:nvCxnSpPr>
          <p:cNvPr id="163" name="Conector recto 162">
            <a:extLst>
              <a:ext uri="{FF2B5EF4-FFF2-40B4-BE49-F238E27FC236}">
                <a16:creationId xmlns:a16="http://schemas.microsoft.com/office/drawing/2014/main" id="{9D6ECA07-8448-478A-B529-377FBE5BF8D9}"/>
              </a:ext>
            </a:extLst>
          </p:cNvPr>
          <p:cNvCxnSpPr>
            <a:cxnSpLocks/>
            <a:endCxn id="153" idx="2"/>
          </p:cNvCxnSpPr>
          <p:nvPr/>
        </p:nvCxnSpPr>
        <p:spPr>
          <a:xfrm flipV="1">
            <a:off x="9642126" y="3701770"/>
            <a:ext cx="0" cy="551064"/>
          </a:xfrm>
          <a:prstGeom prst="line">
            <a:avLst/>
          </a:prstGeom>
          <a:ln w="9525" cap="flat" cmpd="sng" algn="ctr">
            <a:solidFill>
              <a:schemeClr val="dk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64" name="Conector recto de flecha 163">
            <a:extLst>
              <a:ext uri="{FF2B5EF4-FFF2-40B4-BE49-F238E27FC236}">
                <a16:creationId xmlns:a16="http://schemas.microsoft.com/office/drawing/2014/main" id="{788932D7-DEEA-4DD8-AE5C-2DBC74022164}"/>
              </a:ext>
            </a:extLst>
          </p:cNvPr>
          <p:cNvCxnSpPr>
            <a:cxnSpLocks/>
          </p:cNvCxnSpPr>
          <p:nvPr/>
        </p:nvCxnSpPr>
        <p:spPr>
          <a:xfrm>
            <a:off x="8116761" y="2697604"/>
            <a:ext cx="169834" cy="1484436"/>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6" name="AutoShape 206">
            <a:extLst>
              <a:ext uri="{FF2B5EF4-FFF2-40B4-BE49-F238E27FC236}">
                <a16:creationId xmlns:a16="http://schemas.microsoft.com/office/drawing/2014/main" id="{615C7E4E-5579-4BA9-9BCC-982D2912D82D}"/>
              </a:ext>
            </a:extLst>
          </p:cNvPr>
          <p:cNvSpPr>
            <a:spLocks noChangeArrowheads="1"/>
          </p:cNvSpPr>
          <p:nvPr/>
        </p:nvSpPr>
        <p:spPr bwMode="auto">
          <a:xfrm>
            <a:off x="7340536" y="4182040"/>
            <a:ext cx="1240008" cy="997338"/>
          </a:xfrm>
          <a:prstGeom prst="can">
            <a:avLst>
              <a:gd name="adj" fmla="val 24963"/>
            </a:avLst>
          </a:prstGeom>
          <a:solidFill>
            <a:srgbClr val="C00000">
              <a:alpha val="49019"/>
            </a:srgbClr>
          </a:solidFill>
          <a:ln w="9525">
            <a:solidFill>
              <a:schemeClr val="tx1"/>
            </a:solidFill>
            <a:round/>
            <a:headEnd/>
            <a:tailEnd/>
          </a:ln>
        </p:spPr>
        <p:txBody>
          <a:bodyPr wrap="none" anchor="ctr"/>
          <a:lstStyle/>
          <a:p>
            <a:pPr algn="ctr" defTabSz="914395">
              <a:defRPr/>
            </a:pPr>
            <a:endParaRPr lang="es-ES" sz="800" dirty="0">
              <a:solidFill>
                <a:prstClr val="black"/>
              </a:solidFill>
              <a:latin typeface="Verdana" pitchFamily="34" charset="0"/>
            </a:endParaRPr>
          </a:p>
          <a:p>
            <a:pPr algn="ctr" defTabSz="914395">
              <a:defRPr/>
            </a:pPr>
            <a:endParaRPr lang="es-ES" sz="800" dirty="0">
              <a:solidFill>
                <a:prstClr val="black"/>
              </a:solidFill>
              <a:latin typeface="Verdana" pitchFamily="34" charset="0"/>
            </a:endParaRPr>
          </a:p>
        </p:txBody>
      </p:sp>
      <p:pic>
        <p:nvPicPr>
          <p:cNvPr id="168" name="Imagen 167">
            <a:extLst>
              <a:ext uri="{FF2B5EF4-FFF2-40B4-BE49-F238E27FC236}">
                <a16:creationId xmlns:a16="http://schemas.microsoft.com/office/drawing/2014/main" id="{DB14F2C3-E494-4216-AED9-454CEFFA113F}"/>
              </a:ext>
            </a:extLst>
          </p:cNvPr>
          <p:cNvPicPr>
            <a:picLocks noChangeAspect="1"/>
          </p:cNvPicPr>
          <p:nvPr/>
        </p:nvPicPr>
        <p:blipFill>
          <a:blip r:embed="rId10"/>
          <a:stretch>
            <a:fillRect/>
          </a:stretch>
        </p:blipFill>
        <p:spPr>
          <a:xfrm>
            <a:off x="7883720" y="5274914"/>
            <a:ext cx="192401" cy="286971"/>
          </a:xfrm>
          <a:prstGeom prst="rect">
            <a:avLst/>
          </a:prstGeom>
        </p:spPr>
      </p:pic>
      <p:sp>
        <p:nvSpPr>
          <p:cNvPr id="170" name="Oval 18">
            <a:extLst>
              <a:ext uri="{FF2B5EF4-FFF2-40B4-BE49-F238E27FC236}">
                <a16:creationId xmlns:a16="http://schemas.microsoft.com/office/drawing/2014/main" id="{9DBA7D7C-DF32-4D3D-A945-4124E3303068}"/>
              </a:ext>
            </a:extLst>
          </p:cNvPr>
          <p:cNvSpPr>
            <a:spLocks noChangeArrowheads="1"/>
          </p:cNvSpPr>
          <p:nvPr/>
        </p:nvSpPr>
        <p:spPr bwMode="auto">
          <a:xfrm>
            <a:off x="7878692" y="3998533"/>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1" name="Elipse 170">
            <a:extLst>
              <a:ext uri="{FF2B5EF4-FFF2-40B4-BE49-F238E27FC236}">
                <a16:creationId xmlns:a16="http://schemas.microsoft.com/office/drawing/2014/main" id="{A6D67E47-98A8-4B36-9E60-0CF0D330CBF4}"/>
              </a:ext>
            </a:extLst>
          </p:cNvPr>
          <p:cNvSpPr/>
          <p:nvPr/>
        </p:nvSpPr>
        <p:spPr>
          <a:xfrm>
            <a:off x="6425553" y="3895483"/>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2</a:t>
            </a:r>
          </a:p>
        </p:txBody>
      </p:sp>
      <p:sp>
        <p:nvSpPr>
          <p:cNvPr id="174" name="Oval 18">
            <a:extLst>
              <a:ext uri="{FF2B5EF4-FFF2-40B4-BE49-F238E27FC236}">
                <a16:creationId xmlns:a16="http://schemas.microsoft.com/office/drawing/2014/main" id="{ADAD2F46-0649-4098-BAC7-AA92086CB20A}"/>
              </a:ext>
            </a:extLst>
          </p:cNvPr>
          <p:cNvSpPr>
            <a:spLocks noChangeArrowheads="1"/>
          </p:cNvSpPr>
          <p:nvPr/>
        </p:nvSpPr>
        <p:spPr bwMode="auto">
          <a:xfrm>
            <a:off x="5592835" y="2487057"/>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6" name="Elipse 175">
            <a:extLst>
              <a:ext uri="{FF2B5EF4-FFF2-40B4-BE49-F238E27FC236}">
                <a16:creationId xmlns:a16="http://schemas.microsoft.com/office/drawing/2014/main" id="{9A34815B-FA6E-4AAB-9966-B0F96E2E8B49}"/>
              </a:ext>
            </a:extLst>
          </p:cNvPr>
          <p:cNvSpPr/>
          <p:nvPr/>
        </p:nvSpPr>
        <p:spPr>
          <a:xfrm>
            <a:off x="9291805" y="3558455"/>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1</a:t>
            </a:r>
          </a:p>
        </p:txBody>
      </p:sp>
      <p:grpSp>
        <p:nvGrpSpPr>
          <p:cNvPr id="63" name="Grupo 50212">
            <a:extLst>
              <a:ext uri="{FF2B5EF4-FFF2-40B4-BE49-F238E27FC236}">
                <a16:creationId xmlns:a16="http://schemas.microsoft.com/office/drawing/2014/main" id="{885B33CB-49CF-4989-8226-D881404A3FD1}"/>
              </a:ext>
            </a:extLst>
          </p:cNvPr>
          <p:cNvGrpSpPr>
            <a:grpSpLocks/>
          </p:cNvGrpSpPr>
          <p:nvPr/>
        </p:nvGrpSpPr>
        <p:grpSpPr bwMode="auto">
          <a:xfrm>
            <a:off x="7556540" y="4590655"/>
            <a:ext cx="812800" cy="423863"/>
            <a:chOff x="374824" y="2549525"/>
            <a:chExt cx="812800" cy="424128"/>
          </a:xfrm>
        </p:grpSpPr>
        <p:sp>
          <p:nvSpPr>
            <p:cNvPr id="64" name="7 Cilindro">
              <a:extLst>
                <a:ext uri="{FF2B5EF4-FFF2-40B4-BE49-F238E27FC236}">
                  <a16:creationId xmlns:a16="http://schemas.microsoft.com/office/drawing/2014/main" id="{96A39BA0-B072-43E0-B6DE-FEB5C0B24E05}"/>
                </a:ext>
              </a:extLst>
            </p:cNvPr>
            <p:cNvSpPr/>
            <p:nvPr/>
          </p:nvSpPr>
          <p:spPr>
            <a:xfrm>
              <a:off x="374824" y="2549525"/>
              <a:ext cx="812800" cy="424128"/>
            </a:xfrm>
            <a:prstGeom prst="can">
              <a:avLst/>
            </a:prstGeom>
            <a:solidFill>
              <a:schemeClr val="accent2">
                <a:lumMod val="40000"/>
                <a:lumOff val="6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100" dirty="0">
                <a:solidFill>
                  <a:srgbClr val="FFFF99"/>
                </a:solidFill>
              </a:endParaRPr>
            </a:p>
          </p:txBody>
        </p:sp>
        <p:pic>
          <p:nvPicPr>
            <p:cNvPr id="65" name="Imagen 27">
              <a:extLst>
                <a:ext uri="{FF2B5EF4-FFF2-40B4-BE49-F238E27FC236}">
                  <a16:creationId xmlns:a16="http://schemas.microsoft.com/office/drawing/2014/main" id="{B916105C-52FD-4296-838D-F045185F2B01}"/>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97049" y="2691012"/>
              <a:ext cx="7905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 name="56 Rectángulo redondeado">
            <a:extLst>
              <a:ext uri="{FF2B5EF4-FFF2-40B4-BE49-F238E27FC236}">
                <a16:creationId xmlns:a16="http://schemas.microsoft.com/office/drawing/2014/main" id="{C2EA1AA2-39BE-438A-9C03-19C01938AF38}"/>
              </a:ext>
            </a:extLst>
          </p:cNvPr>
          <p:cNvSpPr/>
          <p:nvPr>
            <p:custDataLst>
              <p:tags r:id="rId1"/>
            </p:custDataLst>
          </p:nvPr>
        </p:nvSpPr>
        <p:spPr>
          <a:xfrm>
            <a:off x="2662730" y="2241883"/>
            <a:ext cx="1638245" cy="2348772"/>
          </a:xfrm>
          <a:prstGeom prst="roundRect">
            <a:avLst/>
          </a:prstGeom>
          <a:solidFill>
            <a:schemeClr val="accent1">
              <a:lumMod val="40000"/>
              <a:lumOff val="60000"/>
              <a:alpha val="63000"/>
            </a:schemeClr>
          </a:solidFill>
          <a:ln w="12700">
            <a:solidFill>
              <a:srgbClr val="7B9EC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vert="horz" anchor="t" anchorCtr="0"/>
          <a:lstStyle/>
          <a:p>
            <a:pPr algn="ctr" eaLnBrk="1" hangingPunct="1">
              <a:buClr>
                <a:schemeClr val="accent2"/>
              </a:buClr>
              <a:buFont typeface="Wingdings" panose="05000000000000000000" pitchFamily="2" charset="2"/>
              <a:buNone/>
              <a:defRPr/>
            </a:pPr>
            <a:r>
              <a:rPr lang="es-ES" sz="2000" b="1" dirty="0">
                <a:solidFill>
                  <a:schemeClr val="tx1"/>
                </a:solidFill>
              </a:rPr>
              <a:t>Universia</a:t>
            </a:r>
          </a:p>
          <a:p>
            <a:pPr algn="ctr" eaLnBrk="1" hangingPunct="1">
              <a:buClr>
                <a:schemeClr val="accent2"/>
              </a:buClr>
              <a:buFont typeface="Wingdings" panose="05000000000000000000" pitchFamily="2" charset="2"/>
              <a:buNone/>
              <a:defRPr/>
            </a:pPr>
            <a:r>
              <a:rPr lang="es-ES" sz="2000" b="1" dirty="0">
                <a:solidFill>
                  <a:schemeClr val="tx1"/>
                </a:solidFill>
              </a:rPr>
              <a:t>(Fuera de perímetro)</a:t>
            </a:r>
          </a:p>
        </p:txBody>
      </p:sp>
      <p:grpSp>
        <p:nvGrpSpPr>
          <p:cNvPr id="53" name="Grupo 52">
            <a:extLst>
              <a:ext uri="{FF2B5EF4-FFF2-40B4-BE49-F238E27FC236}">
                <a16:creationId xmlns:a16="http://schemas.microsoft.com/office/drawing/2014/main" id="{A67B464F-1D8C-4D24-8FAE-FADC23675B47}"/>
              </a:ext>
            </a:extLst>
          </p:cNvPr>
          <p:cNvGrpSpPr/>
          <p:nvPr/>
        </p:nvGrpSpPr>
        <p:grpSpPr>
          <a:xfrm>
            <a:off x="4232596" y="2969470"/>
            <a:ext cx="558130" cy="420499"/>
            <a:chOff x="6180645" y="3487953"/>
            <a:chExt cx="434670" cy="420499"/>
          </a:xfrm>
        </p:grpSpPr>
        <p:pic>
          <p:nvPicPr>
            <p:cNvPr id="59" name="Imagen 58">
              <a:extLst>
                <a:ext uri="{FF2B5EF4-FFF2-40B4-BE49-F238E27FC236}">
                  <a16:creationId xmlns:a16="http://schemas.microsoft.com/office/drawing/2014/main" id="{0BF2348E-1A21-44DC-86CF-9AA6897C6E5D}"/>
                </a:ext>
              </a:extLst>
            </p:cNvPr>
            <p:cNvPicPr>
              <a:picLocks noChangeAspect="1"/>
            </p:cNvPicPr>
            <p:nvPr/>
          </p:nvPicPr>
          <p:blipFill>
            <a:blip r:embed="rId12"/>
            <a:stretch>
              <a:fillRect/>
            </a:stretch>
          </p:blipFill>
          <p:spPr>
            <a:xfrm>
              <a:off x="6180645" y="3487953"/>
              <a:ext cx="434670" cy="420499"/>
            </a:xfrm>
            <a:prstGeom prst="rect">
              <a:avLst/>
            </a:prstGeom>
            <a:ln w="25400">
              <a:solidFill>
                <a:schemeClr val="tx1"/>
              </a:solidFill>
              <a:tailEnd type="triangle"/>
            </a:ln>
          </p:spPr>
        </p:pic>
        <p:sp>
          <p:nvSpPr>
            <p:cNvPr id="60" name="Rectángulo 59">
              <a:extLst>
                <a:ext uri="{FF2B5EF4-FFF2-40B4-BE49-F238E27FC236}">
                  <a16:creationId xmlns:a16="http://schemas.microsoft.com/office/drawing/2014/main" id="{6EBBE29B-B818-4FA8-AC78-1DD2F815405A}"/>
                </a:ext>
              </a:extLst>
            </p:cNvPr>
            <p:cNvSpPr/>
            <p:nvPr/>
          </p:nvSpPr>
          <p:spPr>
            <a:xfrm>
              <a:off x="6180645" y="3544313"/>
              <a:ext cx="408691" cy="307777"/>
            </a:xfrm>
            <a:prstGeom prst="rect">
              <a:avLst/>
            </a:prstGeom>
          </p:spPr>
          <p:txBody>
            <a:bodyPr wrap="square">
              <a:spAutoFit/>
            </a:bodyPr>
            <a:lstStyle/>
            <a:p>
              <a:r>
                <a:rPr lang="es-ES_tradnl" sz="1400" b="1" dirty="0"/>
                <a:t>(A)</a:t>
              </a:r>
            </a:p>
          </p:txBody>
        </p:sp>
      </p:grpSp>
      <p:sp>
        <p:nvSpPr>
          <p:cNvPr id="61" name="Elipse 60">
            <a:extLst>
              <a:ext uri="{FF2B5EF4-FFF2-40B4-BE49-F238E27FC236}">
                <a16:creationId xmlns:a16="http://schemas.microsoft.com/office/drawing/2014/main" id="{251F2A4D-7C17-4C16-8C51-A81C2140E9C8}"/>
              </a:ext>
            </a:extLst>
          </p:cNvPr>
          <p:cNvSpPr/>
          <p:nvPr/>
        </p:nvSpPr>
        <p:spPr>
          <a:xfrm>
            <a:off x="4394203" y="2454532"/>
            <a:ext cx="252000" cy="26044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s-ES_tradnl" sz="1200" b="1" dirty="0"/>
              <a:t>3</a:t>
            </a:r>
          </a:p>
        </p:txBody>
      </p:sp>
      <p:cxnSp>
        <p:nvCxnSpPr>
          <p:cNvPr id="62" name="Conector recto de flecha 61">
            <a:extLst>
              <a:ext uri="{FF2B5EF4-FFF2-40B4-BE49-F238E27FC236}">
                <a16:creationId xmlns:a16="http://schemas.microsoft.com/office/drawing/2014/main" id="{6E4002CB-AF4D-4B94-BF4C-0AF83BF6635D}"/>
              </a:ext>
            </a:extLst>
          </p:cNvPr>
          <p:cNvCxnSpPr>
            <a:cxnSpLocks/>
            <a:endCxn id="59" idx="3"/>
          </p:cNvCxnSpPr>
          <p:nvPr/>
        </p:nvCxnSpPr>
        <p:spPr>
          <a:xfrm flipH="1">
            <a:off x="4790726" y="3179720"/>
            <a:ext cx="918754"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7" name="56 Rectángulo redondeado">
            <a:extLst>
              <a:ext uri="{FF2B5EF4-FFF2-40B4-BE49-F238E27FC236}">
                <a16:creationId xmlns:a16="http://schemas.microsoft.com/office/drawing/2014/main" id="{323B2C64-04BB-4750-B62C-2145A346AC3B}"/>
              </a:ext>
            </a:extLst>
          </p:cNvPr>
          <p:cNvSpPr/>
          <p:nvPr>
            <p:custDataLst>
              <p:tags r:id="rId2"/>
            </p:custDataLst>
          </p:nvPr>
        </p:nvSpPr>
        <p:spPr>
          <a:xfrm>
            <a:off x="5478443" y="2774374"/>
            <a:ext cx="1432392" cy="831012"/>
          </a:xfrm>
          <a:prstGeom prst="roundRect">
            <a:avLst/>
          </a:prstGeom>
          <a:solidFill>
            <a:schemeClr val="accent1">
              <a:lumMod val="40000"/>
              <a:lumOff val="60000"/>
              <a:alpha val="63000"/>
            </a:schemeClr>
          </a:solidFill>
          <a:ln w="12700">
            <a:solidFill>
              <a:srgbClr val="7B9EC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vert="horz" anchor="t" anchorCtr="0"/>
          <a:lstStyle/>
          <a:p>
            <a:pPr algn="ctr" eaLnBrk="1" hangingPunct="1">
              <a:buClr>
                <a:schemeClr val="accent2"/>
              </a:buClr>
              <a:buFont typeface="Wingdings" panose="05000000000000000000" pitchFamily="2" charset="2"/>
              <a:buNone/>
              <a:defRPr/>
            </a:pPr>
            <a:r>
              <a:rPr lang="es-ES" sz="1200" b="1" dirty="0">
                <a:solidFill>
                  <a:schemeClr val="tx1"/>
                </a:solidFill>
              </a:rPr>
              <a:t>Transmisiones</a:t>
            </a:r>
          </a:p>
        </p:txBody>
      </p:sp>
      <p:cxnSp>
        <p:nvCxnSpPr>
          <p:cNvPr id="68" name="25 Conector recto de flecha">
            <a:extLst>
              <a:ext uri="{FF2B5EF4-FFF2-40B4-BE49-F238E27FC236}">
                <a16:creationId xmlns:a16="http://schemas.microsoft.com/office/drawing/2014/main" id="{9120B803-820E-4B05-B6B8-4D74FD6BBF70}"/>
              </a:ext>
            </a:extLst>
          </p:cNvPr>
          <p:cNvCxnSpPr>
            <a:cxnSpLocks/>
          </p:cNvCxnSpPr>
          <p:nvPr/>
        </p:nvCxnSpPr>
        <p:spPr bwMode="auto">
          <a:xfrm flipV="1">
            <a:off x="5089934" y="1409804"/>
            <a:ext cx="26539" cy="3277518"/>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69" name="Picture 578" descr="j0432635">
            <a:extLst>
              <a:ext uri="{FF2B5EF4-FFF2-40B4-BE49-F238E27FC236}">
                <a16:creationId xmlns:a16="http://schemas.microsoft.com/office/drawing/2014/main" id="{301A16C8-6258-4C2C-AFFE-126CCDD480C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978344" y="3048563"/>
            <a:ext cx="379207" cy="31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56 Rectángulo redondeado">
            <a:extLst>
              <a:ext uri="{FF2B5EF4-FFF2-40B4-BE49-F238E27FC236}">
                <a16:creationId xmlns:a16="http://schemas.microsoft.com/office/drawing/2014/main" id="{2072EEE5-AF86-4988-A4BA-66E38977FA8F}"/>
              </a:ext>
            </a:extLst>
          </p:cNvPr>
          <p:cNvSpPr/>
          <p:nvPr>
            <p:custDataLst>
              <p:tags r:id="rId3"/>
            </p:custDataLst>
          </p:nvPr>
        </p:nvSpPr>
        <p:spPr>
          <a:xfrm>
            <a:off x="514155" y="2279864"/>
            <a:ext cx="1638245" cy="2348772"/>
          </a:xfrm>
          <a:prstGeom prst="roundRect">
            <a:avLst/>
          </a:prstGeom>
          <a:solidFill>
            <a:schemeClr val="accent1">
              <a:lumMod val="40000"/>
              <a:lumOff val="60000"/>
              <a:alpha val="63000"/>
            </a:schemeClr>
          </a:solidFill>
          <a:ln w="12700">
            <a:solidFill>
              <a:srgbClr val="7B9EC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vert="horz" anchor="t" anchorCtr="0"/>
          <a:lstStyle/>
          <a:p>
            <a:pPr algn="ctr" eaLnBrk="1" hangingPunct="1">
              <a:buClr>
                <a:schemeClr val="accent2"/>
              </a:buClr>
              <a:buFont typeface="Wingdings" panose="05000000000000000000" pitchFamily="2" charset="2"/>
              <a:buNone/>
              <a:defRPr/>
            </a:pPr>
            <a:r>
              <a:rPr lang="es-ES" sz="2000" b="1" dirty="0">
                <a:solidFill>
                  <a:schemeClr val="tx1"/>
                </a:solidFill>
              </a:rPr>
              <a:t>Confirma</a:t>
            </a:r>
          </a:p>
          <a:p>
            <a:pPr algn="ctr" eaLnBrk="1" hangingPunct="1">
              <a:buClr>
                <a:schemeClr val="accent2"/>
              </a:buClr>
              <a:buFont typeface="Wingdings" panose="05000000000000000000" pitchFamily="2" charset="2"/>
              <a:buNone/>
              <a:defRPr/>
            </a:pPr>
            <a:r>
              <a:rPr lang="es-ES" sz="2000" b="1" dirty="0">
                <a:solidFill>
                  <a:schemeClr val="tx1"/>
                </a:solidFill>
              </a:rPr>
              <a:t>(Fuera de perímetro)</a:t>
            </a:r>
          </a:p>
        </p:txBody>
      </p:sp>
      <p:grpSp>
        <p:nvGrpSpPr>
          <p:cNvPr id="75" name="Grupo 74">
            <a:extLst>
              <a:ext uri="{FF2B5EF4-FFF2-40B4-BE49-F238E27FC236}">
                <a16:creationId xmlns:a16="http://schemas.microsoft.com/office/drawing/2014/main" id="{C523AFF8-3E67-405D-8EE4-92DBED5D066D}"/>
              </a:ext>
            </a:extLst>
          </p:cNvPr>
          <p:cNvGrpSpPr/>
          <p:nvPr/>
        </p:nvGrpSpPr>
        <p:grpSpPr>
          <a:xfrm>
            <a:off x="1919949" y="3761541"/>
            <a:ext cx="558130" cy="420499"/>
            <a:chOff x="6180645" y="3487953"/>
            <a:chExt cx="434670" cy="420499"/>
          </a:xfrm>
        </p:grpSpPr>
        <p:pic>
          <p:nvPicPr>
            <p:cNvPr id="76" name="Imagen 75">
              <a:extLst>
                <a:ext uri="{FF2B5EF4-FFF2-40B4-BE49-F238E27FC236}">
                  <a16:creationId xmlns:a16="http://schemas.microsoft.com/office/drawing/2014/main" id="{10DBD04F-1180-4DC8-B871-3DA769526391}"/>
                </a:ext>
              </a:extLst>
            </p:cNvPr>
            <p:cNvPicPr>
              <a:picLocks noChangeAspect="1"/>
            </p:cNvPicPr>
            <p:nvPr/>
          </p:nvPicPr>
          <p:blipFill>
            <a:blip r:embed="rId12"/>
            <a:stretch>
              <a:fillRect/>
            </a:stretch>
          </p:blipFill>
          <p:spPr>
            <a:xfrm>
              <a:off x="6180645" y="3487953"/>
              <a:ext cx="434670" cy="420499"/>
            </a:xfrm>
            <a:prstGeom prst="rect">
              <a:avLst/>
            </a:prstGeom>
            <a:ln w="25400">
              <a:solidFill>
                <a:schemeClr val="tx1"/>
              </a:solidFill>
              <a:tailEnd type="triangle"/>
            </a:ln>
          </p:spPr>
        </p:pic>
        <p:sp>
          <p:nvSpPr>
            <p:cNvPr id="77" name="Rectángulo 76">
              <a:extLst>
                <a:ext uri="{FF2B5EF4-FFF2-40B4-BE49-F238E27FC236}">
                  <a16:creationId xmlns:a16="http://schemas.microsoft.com/office/drawing/2014/main" id="{09BADC71-63F3-4D1D-93A5-284C0B7716E5}"/>
                </a:ext>
              </a:extLst>
            </p:cNvPr>
            <p:cNvSpPr/>
            <p:nvPr/>
          </p:nvSpPr>
          <p:spPr>
            <a:xfrm>
              <a:off x="6180645" y="3544313"/>
              <a:ext cx="408691" cy="307777"/>
            </a:xfrm>
            <a:prstGeom prst="rect">
              <a:avLst/>
            </a:prstGeom>
          </p:spPr>
          <p:txBody>
            <a:bodyPr wrap="square">
              <a:spAutoFit/>
            </a:bodyPr>
            <a:lstStyle/>
            <a:p>
              <a:r>
                <a:rPr lang="es-ES_tradnl" sz="1400" b="1" dirty="0"/>
                <a:t>(B)</a:t>
              </a:r>
            </a:p>
          </p:txBody>
        </p:sp>
      </p:grpSp>
      <p:cxnSp>
        <p:nvCxnSpPr>
          <p:cNvPr id="78" name="Conector recto de flecha 77">
            <a:extLst>
              <a:ext uri="{FF2B5EF4-FFF2-40B4-BE49-F238E27FC236}">
                <a16:creationId xmlns:a16="http://schemas.microsoft.com/office/drawing/2014/main" id="{8FC14C4B-E086-47ED-9068-D4C7B665C4CD}"/>
              </a:ext>
            </a:extLst>
          </p:cNvPr>
          <p:cNvCxnSpPr>
            <a:cxnSpLocks/>
            <a:stCxn id="67" idx="1"/>
            <a:endCxn id="76" idx="3"/>
          </p:cNvCxnSpPr>
          <p:nvPr/>
        </p:nvCxnSpPr>
        <p:spPr>
          <a:xfrm flipH="1">
            <a:off x="2478079" y="3189880"/>
            <a:ext cx="3000364" cy="78191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9" name="Rectángulo 78">
            <a:extLst>
              <a:ext uri="{FF2B5EF4-FFF2-40B4-BE49-F238E27FC236}">
                <a16:creationId xmlns:a16="http://schemas.microsoft.com/office/drawing/2014/main" id="{052D21A4-0DFF-4AE1-8FA6-B8B68BF9D34F}"/>
              </a:ext>
            </a:extLst>
          </p:cNvPr>
          <p:cNvSpPr/>
          <p:nvPr/>
        </p:nvSpPr>
        <p:spPr bwMode="auto">
          <a:xfrm>
            <a:off x="7408608" y="2129647"/>
            <a:ext cx="1328592" cy="462763"/>
          </a:xfrm>
          <a:prstGeom prst="rect">
            <a:avLst/>
          </a:prstGeom>
          <a:noFill/>
          <a:ln w="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vert="horz" wrap="square" lIns="97749" tIns="48875" rIns="97749" bIns="48875" numCol="1" rtlCol="0" anchor="t" anchorCtr="0" compatLnSpc="1">
            <a:prstTxWarp prst="textNoShape">
              <a:avLst/>
            </a:prstTxWarp>
            <a:spAutoFit/>
          </a:bodyPr>
          <a:lstStyle>
            <a:defPPr>
              <a:defRPr lang="es-ES"/>
            </a:defPPr>
            <a:lvl1pPr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1pPr>
            <a:lvl2pPr marL="4572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2pPr>
            <a:lvl3pPr marL="9144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3pPr>
            <a:lvl4pPr marL="13716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4pPr>
            <a:lvl5pPr marL="18288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5pPr>
            <a:lvl6pPr marL="2286000" algn="l" defTabSz="914400" rtl="0" eaLnBrk="1" latinLnBrk="0" hangingPunct="1">
              <a:defRPr sz="2400" kern="1200">
                <a:solidFill>
                  <a:schemeClr val="dk1"/>
                </a:solidFill>
                <a:latin typeface="+mn-lt"/>
                <a:ea typeface="+mn-ea"/>
                <a:cs typeface="+mn-cs"/>
              </a:defRPr>
            </a:lvl6pPr>
            <a:lvl7pPr marL="2743200" algn="l" defTabSz="914400" rtl="0" eaLnBrk="1" latinLnBrk="0" hangingPunct="1">
              <a:defRPr sz="2400" kern="1200">
                <a:solidFill>
                  <a:schemeClr val="dk1"/>
                </a:solidFill>
                <a:latin typeface="+mn-lt"/>
                <a:ea typeface="+mn-ea"/>
                <a:cs typeface="+mn-cs"/>
              </a:defRPr>
            </a:lvl7pPr>
            <a:lvl8pPr marL="3200400" algn="l" defTabSz="914400" rtl="0" eaLnBrk="1" latinLnBrk="0" hangingPunct="1">
              <a:defRPr sz="2400" kern="1200">
                <a:solidFill>
                  <a:schemeClr val="dk1"/>
                </a:solidFill>
                <a:latin typeface="+mn-lt"/>
                <a:ea typeface="+mn-ea"/>
                <a:cs typeface="+mn-cs"/>
              </a:defRPr>
            </a:lvl8pPr>
            <a:lvl9pPr marL="3657600" algn="l" defTabSz="914400" rtl="0" eaLnBrk="1" latinLnBrk="0" hangingPunct="1">
              <a:defRPr sz="2400" kern="1200">
                <a:solidFill>
                  <a:schemeClr val="dk1"/>
                </a:solidFill>
                <a:latin typeface="+mn-lt"/>
                <a:ea typeface="+mn-ea"/>
                <a:cs typeface="+mn-cs"/>
              </a:defRPr>
            </a:lvl9pPr>
          </a:lstStyle>
          <a:p>
            <a:pPr defTabSz="977900"/>
            <a:endParaRPr lang="es-ES">
              <a:solidFill>
                <a:schemeClr val="tx1"/>
              </a:solidFill>
              <a:latin typeface="Arial" charset="0"/>
            </a:endParaRPr>
          </a:p>
        </p:txBody>
      </p:sp>
      <p:pic>
        <p:nvPicPr>
          <p:cNvPr id="80" name="Picture 10" descr="Resultado de imagen de Openshift icon">
            <a:extLst>
              <a:ext uri="{FF2B5EF4-FFF2-40B4-BE49-F238E27FC236}">
                <a16:creationId xmlns:a16="http://schemas.microsoft.com/office/drawing/2014/main" id="{750B3EAC-3AFE-47B4-A6B8-0F229BB34F94}"/>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8402029" y="2267294"/>
            <a:ext cx="239828" cy="282164"/>
          </a:xfrm>
          <a:prstGeom prst="rect">
            <a:avLst/>
          </a:prstGeom>
          <a:noFill/>
          <a:extLst>
            <a:ext uri="{909E8E84-426E-40DD-AFC4-6F175D3DCCD1}">
              <a14:hiddenFill xmlns:a14="http://schemas.microsoft.com/office/drawing/2010/main">
                <a:solidFill>
                  <a:srgbClr val="FFFFFF"/>
                </a:solidFill>
              </a14:hiddenFill>
            </a:ext>
          </a:extLst>
        </p:spPr>
      </p:pic>
      <p:sp>
        <p:nvSpPr>
          <p:cNvPr id="81" name="CuadroTexto 80">
            <a:extLst>
              <a:ext uri="{FF2B5EF4-FFF2-40B4-BE49-F238E27FC236}">
                <a16:creationId xmlns:a16="http://schemas.microsoft.com/office/drawing/2014/main" id="{9C39C633-DAF9-442E-95B8-389D0B1B3BD2}"/>
              </a:ext>
            </a:extLst>
          </p:cNvPr>
          <p:cNvSpPr txBox="1"/>
          <p:nvPr/>
        </p:nvSpPr>
        <p:spPr>
          <a:xfrm>
            <a:off x="7408608" y="2143029"/>
            <a:ext cx="1685929" cy="248530"/>
          </a:xfrm>
          <a:prstGeom prst="rect">
            <a:avLst/>
          </a:prstGeom>
          <a:noFill/>
        </p:spPr>
        <p:txBody>
          <a:bodyPr wrap="square" rtlCol="0">
            <a:spAutoFit/>
          </a:bodyPr>
          <a:lstStyle/>
          <a:p>
            <a:r>
              <a:rPr lang="es-ES" sz="1015" b="1" dirty="0">
                <a:solidFill>
                  <a:srgbClr val="1BB3BC"/>
                </a:solidFill>
              </a:rPr>
              <a:t>PaaS Intranet HC 2.0</a:t>
            </a:r>
          </a:p>
        </p:txBody>
      </p:sp>
      <p:cxnSp>
        <p:nvCxnSpPr>
          <p:cNvPr id="82" name="451 Conector recto de flecha">
            <a:extLst>
              <a:ext uri="{FF2B5EF4-FFF2-40B4-BE49-F238E27FC236}">
                <a16:creationId xmlns:a16="http://schemas.microsoft.com/office/drawing/2014/main" id="{FFDC5FF0-2374-499C-A82E-34448F20685A}"/>
              </a:ext>
            </a:extLst>
          </p:cNvPr>
          <p:cNvCxnSpPr>
            <a:cxnSpLocks/>
            <a:stCxn id="153" idx="1"/>
          </p:cNvCxnSpPr>
          <p:nvPr/>
        </p:nvCxnSpPr>
        <p:spPr bwMode="auto">
          <a:xfrm flipH="1" flipV="1">
            <a:off x="8737200" y="2487057"/>
            <a:ext cx="192361" cy="38274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0" name="Oval 18">
            <a:extLst>
              <a:ext uri="{FF2B5EF4-FFF2-40B4-BE49-F238E27FC236}">
                <a16:creationId xmlns:a16="http://schemas.microsoft.com/office/drawing/2014/main" id="{7F46673F-D4A2-492C-9A71-93DC295C8BEC}"/>
              </a:ext>
            </a:extLst>
          </p:cNvPr>
          <p:cNvSpPr>
            <a:spLocks noChangeArrowheads="1"/>
          </p:cNvSpPr>
          <p:nvPr/>
        </p:nvSpPr>
        <p:spPr bwMode="auto">
          <a:xfrm>
            <a:off x="6456902" y="2678430"/>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71" name="Oval 18">
            <a:extLst>
              <a:ext uri="{FF2B5EF4-FFF2-40B4-BE49-F238E27FC236}">
                <a16:creationId xmlns:a16="http://schemas.microsoft.com/office/drawing/2014/main" id="{3442E8B3-B733-403C-8946-628CEE0916C0}"/>
              </a:ext>
            </a:extLst>
          </p:cNvPr>
          <p:cNvSpPr>
            <a:spLocks noChangeArrowheads="1"/>
          </p:cNvSpPr>
          <p:nvPr/>
        </p:nvSpPr>
        <p:spPr bwMode="auto">
          <a:xfrm>
            <a:off x="10021054" y="2601015"/>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Tree>
    <p:extLst>
      <p:ext uri="{BB962C8B-B14F-4D97-AF65-F5344CB8AC3E}">
        <p14:creationId xmlns:p14="http://schemas.microsoft.com/office/powerpoint/2010/main" val="3854082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10758734" cy="304800"/>
          </a:xfrm>
        </p:spPr>
        <p:txBody>
          <a:bodyPr/>
          <a:lstStyle/>
          <a:p>
            <a:r>
              <a:rPr lang="es-ES" sz="1477" dirty="0">
                <a:solidFill>
                  <a:srgbClr val="FF0000"/>
                </a:solidFill>
                <a:latin typeface="Gadugi" panose="020B0502040204020203" pitchFamily="34" charset="0"/>
              </a:rPr>
              <a:t>Solución Técnica – </a:t>
            </a:r>
            <a:r>
              <a:rPr lang="pt-BR" sz="1477" dirty="0">
                <a:solidFill>
                  <a:srgbClr val="FF0000"/>
                </a:solidFill>
                <a:latin typeface="Gadugi" panose="020B0502040204020203" pitchFamily="34" charset="0"/>
              </a:rPr>
              <a:t>Mapa Técnico de Arquitectura </a:t>
            </a:r>
            <a:r>
              <a:rPr lang="es-ES" sz="1477" dirty="0">
                <a:solidFill>
                  <a:srgbClr val="FF0000"/>
                </a:solidFill>
                <a:latin typeface="Gadugi" panose="020B0502040204020203" pitchFamily="34" charset="0"/>
              </a:rPr>
              <a:t>del Proyecto</a:t>
            </a:r>
          </a:p>
        </p:txBody>
      </p:sp>
      <p:sp>
        <p:nvSpPr>
          <p:cNvPr id="230" name="Título 4">
            <a:extLst>
              <a:ext uri="{FF2B5EF4-FFF2-40B4-BE49-F238E27FC236}">
                <a16:creationId xmlns:a16="http://schemas.microsoft.com/office/drawing/2014/main" id="{DC1FAD1E-C729-4AC4-B217-967B5ACFFD49}"/>
              </a:ext>
            </a:extLst>
          </p:cNvPr>
          <p:cNvSpPr txBox="1">
            <a:spLocks/>
          </p:cNvSpPr>
          <p:nvPr/>
        </p:nvSpPr>
        <p:spPr>
          <a:xfrm>
            <a:off x="686870" y="622151"/>
            <a:ext cx="11196488" cy="46800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a:lstStyle>
          <a:p>
            <a:r>
              <a:rPr lang="es-ES" sz="2400" dirty="0">
                <a:solidFill>
                  <a:srgbClr val="FF0000"/>
                </a:solidFill>
              </a:rPr>
              <a:t>Descripción </a:t>
            </a:r>
            <a:r>
              <a:rPr lang="es-ES" altLang="es-ES" sz="2400" dirty="0">
                <a:solidFill>
                  <a:srgbClr val="FF0000"/>
                </a:solidFill>
              </a:rPr>
              <a:t>Proceso Envío de información a servidor FTP de Universia y Confirma</a:t>
            </a:r>
            <a:endParaRPr lang="es-ES_tradnl" altLang="es-ES" sz="2400" dirty="0">
              <a:solidFill>
                <a:srgbClr val="FF0000"/>
              </a:solidFill>
            </a:endParaRPr>
          </a:p>
          <a:p>
            <a:endParaRPr lang="es-ES" sz="2400" dirty="0">
              <a:solidFill>
                <a:srgbClr val="FF0000"/>
              </a:solidFill>
            </a:endParaRPr>
          </a:p>
        </p:txBody>
      </p:sp>
      <p:graphicFrame>
        <p:nvGraphicFramePr>
          <p:cNvPr id="5" name="Group 6">
            <a:extLst>
              <a:ext uri="{FF2B5EF4-FFF2-40B4-BE49-F238E27FC236}">
                <a16:creationId xmlns:a16="http://schemas.microsoft.com/office/drawing/2014/main" id="{11F2916E-E302-4CCE-8E20-2FC50649118A}"/>
              </a:ext>
            </a:extLst>
          </p:cNvPr>
          <p:cNvGraphicFramePr>
            <a:graphicFrameLocks/>
          </p:cNvGraphicFramePr>
          <p:nvPr>
            <p:extLst>
              <p:ext uri="{D42A27DB-BD31-4B8C-83A1-F6EECF244321}">
                <p14:modId xmlns:p14="http://schemas.microsoft.com/office/powerpoint/2010/main" val="2190333768"/>
              </p:ext>
            </p:extLst>
          </p:nvPr>
        </p:nvGraphicFramePr>
        <p:xfrm>
          <a:off x="1173707" y="1318063"/>
          <a:ext cx="9976514" cy="3590015"/>
        </p:xfrm>
        <a:graphic>
          <a:graphicData uri="http://schemas.openxmlformats.org/drawingml/2006/table">
            <a:tbl>
              <a:tblPr/>
              <a:tblGrid>
                <a:gridCol w="1119117">
                  <a:extLst>
                    <a:ext uri="{9D8B030D-6E8A-4147-A177-3AD203B41FA5}">
                      <a16:colId xmlns:a16="http://schemas.microsoft.com/office/drawing/2014/main" val="20000"/>
                    </a:ext>
                  </a:extLst>
                </a:gridCol>
                <a:gridCol w="8857397">
                  <a:extLst>
                    <a:ext uri="{9D8B030D-6E8A-4147-A177-3AD203B41FA5}">
                      <a16:colId xmlns:a16="http://schemas.microsoft.com/office/drawing/2014/main" val="20001"/>
                    </a:ext>
                  </a:extLst>
                </a:gridCol>
              </a:tblGrid>
              <a:tr h="453517">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Paso</a:t>
                      </a:r>
                    </a:p>
                  </a:txBody>
                  <a:tcPr marL="90007" marR="90007"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Descripción </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749090">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6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defRPr/>
                      </a:pPr>
                      <a:r>
                        <a:rPr lang="es-ES_tradnl" altLang="es-ES" sz="1200" kern="1200" dirty="0">
                          <a:solidFill>
                            <a:schemeClr val="bg1">
                              <a:lumMod val="50000"/>
                            </a:schemeClr>
                          </a:solidFill>
                          <a:latin typeface="Arial" charset="0"/>
                          <a:ea typeface="+mn-ea"/>
                          <a:cs typeface="Arial" charset="0"/>
                        </a:rPr>
                        <a:t>En un máquina de procesos Batch en sistemas medios estará alojado el proceso que </a:t>
                      </a:r>
                      <a:r>
                        <a:rPr lang="es-ES" altLang="es-ES" sz="1200" kern="1200" dirty="0">
                          <a:solidFill>
                            <a:schemeClr val="bg1">
                              <a:lumMod val="50000"/>
                            </a:schemeClr>
                          </a:solidFill>
                          <a:latin typeface="Arial" charset="0"/>
                          <a:ea typeface="+mn-ea"/>
                          <a:cs typeface="Arial" charset="0"/>
                        </a:rPr>
                        <a:t>g</a:t>
                      </a:r>
                      <a:r>
                        <a:rPr lang="es-ES" sz="1200" kern="1200" dirty="0">
                          <a:solidFill>
                            <a:schemeClr val="bg1">
                              <a:lumMod val="50000"/>
                            </a:schemeClr>
                          </a:solidFill>
                          <a:latin typeface="Arial" charset="0"/>
                          <a:ea typeface="+mn-ea"/>
                          <a:cs typeface="Arial" charset="0"/>
                        </a:rPr>
                        <a:t>enerar fichero diario con información de los potenciales clientes que seleccionan la opción de “autorizo cesión de datos a Universia”.</a:t>
                      </a:r>
                    </a:p>
                    <a:p>
                      <a:pPr>
                        <a:defRPr/>
                      </a:pPr>
                      <a:endParaRPr lang="es-ES" altLang="es-ES" sz="1200" kern="1200" dirty="0">
                        <a:solidFill>
                          <a:schemeClr val="bg1">
                            <a:lumMod val="50000"/>
                          </a:schemeClr>
                        </a:solidFill>
                        <a:latin typeface="Arial" charset="0"/>
                        <a:ea typeface="+mn-ea"/>
                        <a:cs typeface="Arial"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bg1">
                              <a:lumMod val="50000"/>
                            </a:schemeClr>
                          </a:solidFill>
                          <a:latin typeface="Arial" charset="0"/>
                          <a:ea typeface="+mn-ea"/>
                          <a:cs typeface="Arial" charset="0"/>
                        </a:rPr>
                        <a:t>Para Confirma se genera un archivo con un listado de expedientes activados en las ultimas 24h, indicando el numero de solicitud al realizar la consulta en el fichero Confirma.</a:t>
                      </a:r>
                    </a:p>
                    <a:p>
                      <a:pPr>
                        <a:defRPr/>
                      </a:pPr>
                      <a:endParaRPr lang="es-ES_tradnl" altLang="es-ES" sz="1200" kern="1200" dirty="0">
                        <a:solidFill>
                          <a:schemeClr val="bg1">
                            <a:lumMod val="50000"/>
                          </a:schemeClr>
                        </a:solidFill>
                        <a:latin typeface="Arial" charset="0"/>
                        <a:ea typeface="+mn-ea"/>
                        <a:cs typeface="Arial" charset="0"/>
                      </a:endParaRP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0282">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6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lang="es-ES_tradnl" altLang="es-ES" sz="1200" kern="1200" dirty="0">
                          <a:solidFill>
                            <a:schemeClr val="bg1">
                              <a:lumMod val="50000"/>
                            </a:schemeClr>
                          </a:solidFill>
                          <a:latin typeface="Arial" charset="0"/>
                          <a:ea typeface="+mn-ea"/>
                          <a:cs typeface="Arial" charset="0"/>
                        </a:rPr>
                        <a:t>Desde transmisiones y a través de nuevo proceso planificado se obtiene el fichero desde un FS del servidor Linux de sistemas medios y se envía a Universia y Confirma</a:t>
                      </a: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20947646"/>
                  </a:ext>
                </a:extLst>
              </a:tr>
              <a:tr h="1227644">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6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lang="es-ES_tradnl" altLang="es-ES" sz="1200" kern="1200" dirty="0">
                          <a:solidFill>
                            <a:schemeClr val="bg1">
                              <a:lumMod val="50000"/>
                            </a:schemeClr>
                          </a:solidFill>
                          <a:latin typeface="Arial" charset="0"/>
                          <a:ea typeface="+mn-ea"/>
                          <a:cs typeface="Arial" charset="0"/>
                        </a:rPr>
                        <a:t>Universia expone una carpeta donde el FTP alojará el fichero y Confirma expone </a:t>
                      </a:r>
                      <a:r>
                        <a:rPr lang="es-ES_tradnl" altLang="es-ES" sz="1200" kern="1200" dirty="0" err="1">
                          <a:solidFill>
                            <a:schemeClr val="bg1">
                              <a:lumMod val="50000"/>
                            </a:schemeClr>
                          </a:solidFill>
                          <a:latin typeface="Arial" charset="0"/>
                          <a:ea typeface="+mn-ea"/>
                          <a:cs typeface="Arial" charset="0"/>
                        </a:rPr>
                        <a:t>ua</a:t>
                      </a:r>
                      <a:r>
                        <a:rPr lang="es-ES_tradnl" altLang="es-ES" sz="1200" kern="1200" dirty="0">
                          <a:solidFill>
                            <a:schemeClr val="bg1">
                              <a:lumMod val="50000"/>
                            </a:schemeClr>
                          </a:solidFill>
                          <a:latin typeface="Arial" charset="0"/>
                          <a:ea typeface="+mn-ea"/>
                          <a:cs typeface="Arial" charset="0"/>
                        </a:rPr>
                        <a:t> carpeta donde el FTP alojará el </a:t>
                      </a:r>
                      <a:r>
                        <a:rPr lang="es-ES_tradnl" altLang="es-ES" sz="1200" kern="1200" dirty="0" err="1">
                          <a:solidFill>
                            <a:schemeClr val="bg1">
                              <a:lumMod val="50000"/>
                            </a:schemeClr>
                          </a:solidFill>
                          <a:latin typeface="Arial" charset="0"/>
                          <a:ea typeface="+mn-ea"/>
                          <a:cs typeface="Arial" charset="0"/>
                        </a:rPr>
                        <a:t>fichro</a:t>
                      </a:r>
                      <a:r>
                        <a:rPr lang="es-ES_tradnl" altLang="es-ES" sz="1200" kern="1200" dirty="0">
                          <a:solidFill>
                            <a:schemeClr val="bg1">
                              <a:lumMod val="50000"/>
                            </a:schemeClr>
                          </a:solidFill>
                          <a:latin typeface="Arial" charset="0"/>
                          <a:ea typeface="+mn-ea"/>
                          <a:cs typeface="Arial" charset="0"/>
                        </a:rPr>
                        <a:t>.</a:t>
                      </a: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93965434"/>
                  </a:ext>
                </a:extLst>
              </a:tr>
            </a:tbl>
          </a:graphicData>
        </a:graphic>
      </p:graphicFrame>
      <p:sp>
        <p:nvSpPr>
          <p:cNvPr id="7" name="Oval 18">
            <a:extLst>
              <a:ext uri="{FF2B5EF4-FFF2-40B4-BE49-F238E27FC236}">
                <a16:creationId xmlns:a16="http://schemas.microsoft.com/office/drawing/2014/main" id="{921EBAC9-B09B-4214-B61E-FA7BB41D1960}"/>
              </a:ext>
            </a:extLst>
          </p:cNvPr>
          <p:cNvSpPr>
            <a:spLocks noChangeArrowheads="1"/>
          </p:cNvSpPr>
          <p:nvPr/>
        </p:nvSpPr>
        <p:spPr bwMode="auto">
          <a:xfrm>
            <a:off x="1598024" y="1935312"/>
            <a:ext cx="252000" cy="2520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a:buNone/>
            </a:pPr>
            <a:r>
              <a:rPr lang="es-ES" altLang="es-ES" sz="1200" dirty="0">
                <a:solidFill>
                  <a:schemeClr val="lt1"/>
                </a:solidFill>
              </a:rPr>
              <a:t>1</a:t>
            </a:r>
          </a:p>
        </p:txBody>
      </p:sp>
      <p:sp>
        <p:nvSpPr>
          <p:cNvPr id="9" name="Elipse 8">
            <a:extLst>
              <a:ext uri="{FF2B5EF4-FFF2-40B4-BE49-F238E27FC236}">
                <a16:creationId xmlns:a16="http://schemas.microsoft.com/office/drawing/2014/main" id="{98BD64C7-0D94-4570-933C-8921B284064A}"/>
              </a:ext>
            </a:extLst>
          </p:cNvPr>
          <p:cNvSpPr/>
          <p:nvPr/>
        </p:nvSpPr>
        <p:spPr>
          <a:xfrm>
            <a:off x="1605790" y="3049666"/>
            <a:ext cx="252000" cy="26044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s-ES_tradnl" sz="1200" b="1" dirty="0"/>
              <a:t>2</a:t>
            </a:r>
          </a:p>
        </p:txBody>
      </p:sp>
      <p:sp>
        <p:nvSpPr>
          <p:cNvPr id="10" name="Elipse 9">
            <a:extLst>
              <a:ext uri="{FF2B5EF4-FFF2-40B4-BE49-F238E27FC236}">
                <a16:creationId xmlns:a16="http://schemas.microsoft.com/office/drawing/2014/main" id="{07F2F1EC-C639-4114-ACF4-05DA82F8B094}"/>
              </a:ext>
            </a:extLst>
          </p:cNvPr>
          <p:cNvSpPr/>
          <p:nvPr/>
        </p:nvSpPr>
        <p:spPr>
          <a:xfrm>
            <a:off x="1613309" y="3915467"/>
            <a:ext cx="252000" cy="26044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s-ES_tradnl" sz="1200" b="1" dirty="0"/>
              <a:t>3</a:t>
            </a:r>
          </a:p>
        </p:txBody>
      </p:sp>
    </p:spTree>
    <p:extLst>
      <p:ext uri="{BB962C8B-B14F-4D97-AF65-F5344CB8AC3E}">
        <p14:creationId xmlns:p14="http://schemas.microsoft.com/office/powerpoint/2010/main" val="3674967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155" name="2 Marcador de contenido"/>
          <p:cNvSpPr txBox="1">
            <a:spLocks/>
          </p:cNvSpPr>
          <p:nvPr/>
        </p:nvSpPr>
        <p:spPr bwMode="auto">
          <a:xfrm>
            <a:off x="274563" y="549600"/>
            <a:ext cx="9353666" cy="387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spcBef>
                <a:spcPts val="300"/>
              </a:spcBef>
              <a:buNone/>
            </a:pPr>
            <a:r>
              <a:rPr lang="es-ES" sz="2000" b="1" dirty="0">
                <a:solidFill>
                  <a:srgbClr val="EB0000"/>
                </a:solidFill>
                <a:ea typeface="Segoe UI" panose="020B0502040204020203" pitchFamily="34" charset="0"/>
                <a:cs typeface="Segoe UI" panose="020B0502040204020203" pitchFamily="34" charset="0"/>
              </a:rPr>
              <a:t>Mapa técnico de arquitectura: </a:t>
            </a:r>
            <a:r>
              <a:rPr lang="en-GB" sz="2000" b="1" dirty="0">
                <a:solidFill>
                  <a:srgbClr val="EB0000"/>
                </a:solidFill>
                <a:cs typeface="Segoe UI" panose="020B0502040204020203" pitchFamily="34" charset="0"/>
              </a:rPr>
              <a:t>procesos </a:t>
            </a:r>
            <a:r>
              <a:rPr lang="en-GB" sz="2000" b="1" dirty="0" err="1">
                <a:solidFill>
                  <a:srgbClr val="EB0000"/>
                </a:solidFill>
                <a:cs typeface="Segoe UI" panose="020B0502040204020203" pitchFamily="34" charset="0"/>
              </a:rPr>
              <a:t>planificados</a:t>
            </a:r>
            <a:r>
              <a:rPr lang="en-GB" sz="2000" b="1" dirty="0">
                <a:solidFill>
                  <a:srgbClr val="EB0000"/>
                </a:solidFill>
                <a:cs typeface="Segoe UI" panose="020B0502040204020203" pitchFamily="34" charset="0"/>
              </a:rPr>
              <a:t>.</a:t>
            </a:r>
          </a:p>
          <a:p>
            <a:pPr marL="0" indent="0">
              <a:spcBef>
                <a:spcPts val="300"/>
              </a:spcBef>
              <a:buNone/>
            </a:pPr>
            <a:r>
              <a:rPr lang="es-ES" altLang="es-ES" sz="1800" dirty="0">
                <a:solidFill>
                  <a:srgbClr val="FF0000"/>
                </a:solidFill>
              </a:rPr>
              <a:t>Proceso de e</a:t>
            </a:r>
            <a:r>
              <a:rPr lang="es-ES" sz="1800" dirty="0">
                <a:solidFill>
                  <a:srgbClr val="FF0000"/>
                </a:solidFill>
              </a:rPr>
              <a:t>nvío de información a Sistema de adhesión de campañas por MGM</a:t>
            </a:r>
            <a:endParaRPr lang="es-ES_tradnl" altLang="es-ES" sz="1800" dirty="0">
              <a:solidFill>
                <a:srgbClr val="FF0000"/>
              </a:solidFill>
            </a:endParaRPr>
          </a:p>
          <a:p>
            <a:pPr marL="0" indent="0">
              <a:spcBef>
                <a:spcPts val="300"/>
              </a:spcBef>
            </a:pPr>
            <a:endParaRPr lang="es-ES_tradnl" altLang="es-ES" sz="1800" dirty="0">
              <a:solidFill>
                <a:srgbClr val="FF0000"/>
              </a:solidFill>
            </a:endParaRPr>
          </a:p>
          <a:p>
            <a:pPr marL="0" indent="0">
              <a:spcBef>
                <a:spcPts val="300"/>
              </a:spcBef>
              <a:buNone/>
            </a:pPr>
            <a:endParaRPr lang="es-ES" sz="1800" b="1" dirty="0">
              <a:solidFill>
                <a:srgbClr val="EB0000"/>
              </a:solidFill>
              <a:cs typeface="Segoe UI" panose="020B0502040204020203" pitchFamily="34" charset="0"/>
            </a:endParaRPr>
          </a:p>
          <a:p>
            <a:pPr algn="ctr">
              <a:buClr>
                <a:srgbClr val="FF0000"/>
              </a:buClr>
              <a:buFont typeface="Wingdings" pitchFamily="2" charset="2"/>
              <a:buChar char="w"/>
              <a:defRPr/>
            </a:pPr>
            <a:endParaRPr lang="es-ES" sz="2200" dirty="0">
              <a:solidFill>
                <a:srgbClr val="FF0000"/>
              </a:solidFill>
            </a:endParaRPr>
          </a:p>
        </p:txBody>
      </p:sp>
      <p:sp>
        <p:nvSpPr>
          <p:cNvPr id="54" name="Rectangle 331">
            <a:extLst>
              <a:ext uri="{FF2B5EF4-FFF2-40B4-BE49-F238E27FC236}">
                <a16:creationId xmlns:a16="http://schemas.microsoft.com/office/drawing/2014/main" id="{08D803E7-4D55-4E27-8BF9-54DEDEC69874}"/>
              </a:ext>
            </a:extLst>
          </p:cNvPr>
          <p:cNvSpPr>
            <a:spLocks noChangeArrowheads="1"/>
          </p:cNvSpPr>
          <p:nvPr/>
        </p:nvSpPr>
        <p:spPr bwMode="auto">
          <a:xfrm>
            <a:off x="9316398" y="549600"/>
            <a:ext cx="2754263" cy="723395"/>
          </a:xfrm>
          <a:prstGeom prst="rect">
            <a:avLst/>
          </a:prstGeom>
          <a:solidFill>
            <a:schemeClr val="bg1"/>
          </a:solidFill>
          <a:ln>
            <a:solidFill>
              <a:srgbClr val="FF0000"/>
            </a:solidFill>
            <a:headEnd/>
            <a:tailEnd/>
          </a:ln>
        </p:spPr>
        <p:style>
          <a:lnRef idx="1">
            <a:schemeClr val="accent2"/>
          </a:lnRef>
          <a:fillRef idx="2">
            <a:schemeClr val="accent2"/>
          </a:fillRef>
          <a:effectRef idx="1">
            <a:schemeClr val="accent2"/>
          </a:effectRef>
          <a:fontRef idx="minor">
            <a:schemeClr val="dk1"/>
          </a:fontRef>
        </p:style>
        <p:txBody>
          <a:bodyPr wrap="none">
            <a:flatTx/>
          </a:bodyPr>
          <a:lstStyle/>
          <a:p>
            <a:pPr defTabSz="914395">
              <a:defRPr/>
            </a:pPr>
            <a:endParaRPr lang="en-US" sz="1100" b="1" dirty="0">
              <a:solidFill>
                <a:sysClr val="windowText" lastClr="000000"/>
              </a:solidFill>
              <a:latin typeface="Calibri" panose="020F0502020204030204"/>
            </a:endParaRPr>
          </a:p>
        </p:txBody>
      </p:sp>
      <p:sp>
        <p:nvSpPr>
          <p:cNvPr id="55" name="TextBox 181">
            <a:extLst>
              <a:ext uri="{FF2B5EF4-FFF2-40B4-BE49-F238E27FC236}">
                <a16:creationId xmlns:a16="http://schemas.microsoft.com/office/drawing/2014/main" id="{B0993E16-2E6E-48B2-B8D0-B92CF9975265}"/>
              </a:ext>
            </a:extLst>
          </p:cNvPr>
          <p:cNvSpPr txBox="1">
            <a:spLocks noChangeArrowheads="1"/>
          </p:cNvSpPr>
          <p:nvPr/>
        </p:nvSpPr>
        <p:spPr bwMode="auto">
          <a:xfrm>
            <a:off x="11307949" y="839810"/>
            <a:ext cx="3497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FILE</a:t>
            </a:r>
          </a:p>
        </p:txBody>
      </p:sp>
      <p:cxnSp>
        <p:nvCxnSpPr>
          <p:cNvPr id="56" name="25 Conector recto de flecha">
            <a:extLst>
              <a:ext uri="{FF2B5EF4-FFF2-40B4-BE49-F238E27FC236}">
                <a16:creationId xmlns:a16="http://schemas.microsoft.com/office/drawing/2014/main" id="{129F735C-883A-485B-90AF-307FBA15EABA}"/>
              </a:ext>
            </a:extLst>
          </p:cNvPr>
          <p:cNvCxnSpPr/>
          <p:nvPr/>
        </p:nvCxnSpPr>
        <p:spPr bwMode="auto">
          <a:xfrm>
            <a:off x="11072320" y="726657"/>
            <a:ext cx="255395" cy="40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181">
            <a:extLst>
              <a:ext uri="{FF2B5EF4-FFF2-40B4-BE49-F238E27FC236}">
                <a16:creationId xmlns:a16="http://schemas.microsoft.com/office/drawing/2014/main" id="{862E7350-5B4B-4C2A-9C65-ACBA613A7C36}"/>
              </a:ext>
            </a:extLst>
          </p:cNvPr>
          <p:cNvSpPr txBox="1">
            <a:spLocks noChangeArrowheads="1"/>
          </p:cNvSpPr>
          <p:nvPr/>
        </p:nvSpPr>
        <p:spPr bwMode="auto">
          <a:xfrm>
            <a:off x="11330854" y="622950"/>
            <a:ext cx="57900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Rest/json</a:t>
            </a:r>
          </a:p>
        </p:txBody>
      </p:sp>
      <p:sp>
        <p:nvSpPr>
          <p:cNvPr id="58" name="CuadroTexto 57">
            <a:extLst>
              <a:ext uri="{FF2B5EF4-FFF2-40B4-BE49-F238E27FC236}">
                <a16:creationId xmlns:a16="http://schemas.microsoft.com/office/drawing/2014/main" id="{0F25A5E7-CD35-4DB0-9C2C-9E9E6D17C515}"/>
              </a:ext>
            </a:extLst>
          </p:cNvPr>
          <p:cNvSpPr txBox="1"/>
          <p:nvPr/>
        </p:nvSpPr>
        <p:spPr>
          <a:xfrm>
            <a:off x="10492204" y="61029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Nuevo</a:t>
            </a:r>
          </a:p>
        </p:txBody>
      </p:sp>
      <p:cxnSp>
        <p:nvCxnSpPr>
          <p:cNvPr id="90" name="25 Conector recto de flecha">
            <a:extLst>
              <a:ext uri="{FF2B5EF4-FFF2-40B4-BE49-F238E27FC236}">
                <a16:creationId xmlns:a16="http://schemas.microsoft.com/office/drawing/2014/main" id="{BF5E2641-20C5-4F1C-9BD8-8B3EEF040753}"/>
              </a:ext>
            </a:extLst>
          </p:cNvPr>
          <p:cNvCxnSpPr>
            <a:cxnSpLocks/>
          </p:cNvCxnSpPr>
          <p:nvPr/>
        </p:nvCxnSpPr>
        <p:spPr bwMode="auto">
          <a:xfrm>
            <a:off x="11072320" y="1101128"/>
            <a:ext cx="235629" cy="75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Oval 18">
            <a:extLst>
              <a:ext uri="{FF2B5EF4-FFF2-40B4-BE49-F238E27FC236}">
                <a16:creationId xmlns:a16="http://schemas.microsoft.com/office/drawing/2014/main" id="{365B39D2-0F6C-4078-A60F-9207B71586A2}"/>
              </a:ext>
            </a:extLst>
          </p:cNvPr>
          <p:cNvSpPr>
            <a:spLocks noChangeArrowheads="1"/>
          </p:cNvSpPr>
          <p:nvPr/>
        </p:nvSpPr>
        <p:spPr bwMode="auto">
          <a:xfrm>
            <a:off x="10237971" y="578862"/>
            <a:ext cx="226800" cy="227917"/>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N</a:t>
            </a:r>
          </a:p>
        </p:txBody>
      </p:sp>
      <p:cxnSp>
        <p:nvCxnSpPr>
          <p:cNvPr id="107" name="25 Conector recto de flecha">
            <a:extLst>
              <a:ext uri="{FF2B5EF4-FFF2-40B4-BE49-F238E27FC236}">
                <a16:creationId xmlns:a16="http://schemas.microsoft.com/office/drawing/2014/main" id="{62E7BDDC-5F97-42D8-AA36-484B8970DFC1}"/>
              </a:ext>
            </a:extLst>
          </p:cNvPr>
          <p:cNvCxnSpPr/>
          <p:nvPr/>
        </p:nvCxnSpPr>
        <p:spPr bwMode="auto">
          <a:xfrm>
            <a:off x="11072320" y="954936"/>
            <a:ext cx="255395" cy="4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8" name="TextBox 181">
            <a:extLst>
              <a:ext uri="{FF2B5EF4-FFF2-40B4-BE49-F238E27FC236}">
                <a16:creationId xmlns:a16="http://schemas.microsoft.com/office/drawing/2014/main" id="{B37783E5-57BC-43F8-B89C-415B9E4FBF70}"/>
              </a:ext>
            </a:extLst>
          </p:cNvPr>
          <p:cNvSpPr txBox="1">
            <a:spLocks noChangeArrowheads="1"/>
          </p:cNvSpPr>
          <p:nvPr/>
        </p:nvSpPr>
        <p:spPr bwMode="auto">
          <a:xfrm>
            <a:off x="11330855" y="1004457"/>
            <a:ext cx="61427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FTP / SFTP</a:t>
            </a:r>
          </a:p>
        </p:txBody>
      </p:sp>
      <p:sp>
        <p:nvSpPr>
          <p:cNvPr id="99" name="5 Marcador de número de diapositiva">
            <a:extLst>
              <a:ext uri="{FF2B5EF4-FFF2-40B4-BE49-F238E27FC236}">
                <a16:creationId xmlns:a16="http://schemas.microsoft.com/office/drawing/2014/main" id="{4E3BA852-17D8-4F6E-8C0E-8FA6502E525D}"/>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31</a:t>
            </a:fld>
            <a:endParaRPr lang="es-ES" sz="1292" dirty="0"/>
          </a:p>
        </p:txBody>
      </p:sp>
      <p:sp>
        <p:nvSpPr>
          <p:cNvPr id="122" name="Oval 18">
            <a:extLst>
              <a:ext uri="{FF2B5EF4-FFF2-40B4-BE49-F238E27FC236}">
                <a16:creationId xmlns:a16="http://schemas.microsoft.com/office/drawing/2014/main" id="{72065270-A747-4C06-BAD5-0AF90182670E}"/>
              </a:ext>
            </a:extLst>
          </p:cNvPr>
          <p:cNvSpPr>
            <a:spLocks noChangeArrowheads="1"/>
          </p:cNvSpPr>
          <p:nvPr/>
        </p:nvSpPr>
        <p:spPr bwMode="auto">
          <a:xfrm>
            <a:off x="10255782" y="819635"/>
            <a:ext cx="226800" cy="227917"/>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M</a:t>
            </a:r>
          </a:p>
        </p:txBody>
      </p:sp>
      <p:sp>
        <p:nvSpPr>
          <p:cNvPr id="123" name="CuadroTexto 122">
            <a:extLst>
              <a:ext uri="{FF2B5EF4-FFF2-40B4-BE49-F238E27FC236}">
                <a16:creationId xmlns:a16="http://schemas.microsoft.com/office/drawing/2014/main" id="{EA79CB3B-5B2B-45C0-AE11-038DA3E27C7A}"/>
              </a:ext>
            </a:extLst>
          </p:cNvPr>
          <p:cNvSpPr txBox="1"/>
          <p:nvPr/>
        </p:nvSpPr>
        <p:spPr>
          <a:xfrm>
            <a:off x="10482583" y="837147"/>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Modificado</a:t>
            </a:r>
          </a:p>
        </p:txBody>
      </p:sp>
      <p:sp>
        <p:nvSpPr>
          <p:cNvPr id="124" name="Oval 18">
            <a:extLst>
              <a:ext uri="{FF2B5EF4-FFF2-40B4-BE49-F238E27FC236}">
                <a16:creationId xmlns:a16="http://schemas.microsoft.com/office/drawing/2014/main" id="{18ABAF1B-F41F-4894-BF67-0E1CC94E4F41}"/>
              </a:ext>
            </a:extLst>
          </p:cNvPr>
          <p:cNvSpPr>
            <a:spLocks noChangeArrowheads="1"/>
          </p:cNvSpPr>
          <p:nvPr/>
        </p:nvSpPr>
        <p:spPr bwMode="auto">
          <a:xfrm>
            <a:off x="10267356" y="1045998"/>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25" name="CuadroTexto 124">
            <a:extLst>
              <a:ext uri="{FF2B5EF4-FFF2-40B4-BE49-F238E27FC236}">
                <a16:creationId xmlns:a16="http://schemas.microsoft.com/office/drawing/2014/main" id="{71391F6D-C5BB-4299-8552-3DCD23C661D9}"/>
              </a:ext>
            </a:extLst>
          </p:cNvPr>
          <p:cNvSpPr txBox="1"/>
          <p:nvPr/>
        </p:nvSpPr>
        <p:spPr>
          <a:xfrm>
            <a:off x="10505488" y="106141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Existente</a:t>
            </a:r>
          </a:p>
        </p:txBody>
      </p:sp>
      <p:pic>
        <p:nvPicPr>
          <p:cNvPr id="7" name="Imagen 6">
            <a:extLst>
              <a:ext uri="{FF2B5EF4-FFF2-40B4-BE49-F238E27FC236}">
                <a16:creationId xmlns:a16="http://schemas.microsoft.com/office/drawing/2014/main" id="{D65E0D2A-D80B-4A96-B04A-BA4BEEEAAAA2}"/>
              </a:ext>
            </a:extLst>
          </p:cNvPr>
          <p:cNvPicPr>
            <a:picLocks noChangeAspect="1"/>
          </p:cNvPicPr>
          <p:nvPr/>
        </p:nvPicPr>
        <p:blipFill>
          <a:blip r:embed="rId3"/>
          <a:stretch>
            <a:fillRect/>
          </a:stretch>
        </p:blipFill>
        <p:spPr>
          <a:xfrm>
            <a:off x="6888985" y="3996776"/>
            <a:ext cx="694592" cy="1134208"/>
          </a:xfrm>
          <a:prstGeom prst="rect">
            <a:avLst/>
          </a:prstGeom>
        </p:spPr>
      </p:pic>
      <p:grpSp>
        <p:nvGrpSpPr>
          <p:cNvPr id="105" name="Grupo 104">
            <a:extLst>
              <a:ext uri="{FF2B5EF4-FFF2-40B4-BE49-F238E27FC236}">
                <a16:creationId xmlns:a16="http://schemas.microsoft.com/office/drawing/2014/main" id="{6B3F35BD-AA75-449C-83D3-826C0703AB6E}"/>
              </a:ext>
            </a:extLst>
          </p:cNvPr>
          <p:cNvGrpSpPr/>
          <p:nvPr/>
        </p:nvGrpSpPr>
        <p:grpSpPr>
          <a:xfrm>
            <a:off x="9379329" y="618385"/>
            <a:ext cx="288789" cy="128483"/>
            <a:chOff x="10457075" y="2470064"/>
            <a:chExt cx="431319" cy="225978"/>
          </a:xfrm>
        </p:grpSpPr>
        <p:sp>
          <p:nvSpPr>
            <p:cNvPr id="109" name="Rectángulo 108">
              <a:extLst>
                <a:ext uri="{FF2B5EF4-FFF2-40B4-BE49-F238E27FC236}">
                  <a16:creationId xmlns:a16="http://schemas.microsoft.com/office/drawing/2014/main" id="{6AA7EC62-B94F-4ACA-B951-CF9C0CAE6AD4}"/>
                </a:ext>
              </a:extLst>
            </p:cNvPr>
            <p:cNvSpPr/>
            <p:nvPr/>
          </p:nvSpPr>
          <p:spPr>
            <a:xfrm>
              <a:off x="10457075" y="2470064"/>
              <a:ext cx="431319" cy="22597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16" name="Rectángulo 115">
              <a:extLst>
                <a:ext uri="{FF2B5EF4-FFF2-40B4-BE49-F238E27FC236}">
                  <a16:creationId xmlns:a16="http://schemas.microsoft.com/office/drawing/2014/main" id="{83589C93-02FD-4524-8067-F9259B54C3DD}"/>
                </a:ext>
              </a:extLst>
            </p:cNvPr>
            <p:cNvSpPr/>
            <p:nvPr/>
          </p:nvSpPr>
          <p:spPr>
            <a:xfrm>
              <a:off x="10526091"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grpSp>
      <p:sp>
        <p:nvSpPr>
          <p:cNvPr id="119" name="CuadroTexto 118">
            <a:extLst>
              <a:ext uri="{FF2B5EF4-FFF2-40B4-BE49-F238E27FC236}">
                <a16:creationId xmlns:a16="http://schemas.microsoft.com/office/drawing/2014/main" id="{FB877C06-5586-43A2-89A2-7C60EF752D54}"/>
              </a:ext>
            </a:extLst>
          </p:cNvPr>
          <p:cNvSpPr txBox="1"/>
          <p:nvPr/>
        </p:nvSpPr>
        <p:spPr>
          <a:xfrm>
            <a:off x="9676536" y="596009"/>
            <a:ext cx="617932" cy="191719"/>
          </a:xfrm>
          <a:prstGeom prst="rect">
            <a:avLst/>
          </a:prstGeom>
          <a:noFill/>
        </p:spPr>
        <p:txBody>
          <a:bodyPr wrap="square" rtlCol="0">
            <a:spAutoFit/>
          </a:bodyPr>
          <a:lstStyle/>
          <a:p>
            <a:r>
              <a:rPr lang="es-ES" sz="646" dirty="0"/>
              <a:t>Token JWT </a:t>
            </a:r>
          </a:p>
        </p:txBody>
      </p:sp>
      <p:cxnSp>
        <p:nvCxnSpPr>
          <p:cNvPr id="128" name="25 Conector recto de flecha">
            <a:extLst>
              <a:ext uri="{FF2B5EF4-FFF2-40B4-BE49-F238E27FC236}">
                <a16:creationId xmlns:a16="http://schemas.microsoft.com/office/drawing/2014/main" id="{E3FB340E-2A12-4BEB-A7E8-42C13F420025}"/>
              </a:ext>
            </a:extLst>
          </p:cNvPr>
          <p:cNvCxnSpPr/>
          <p:nvPr/>
        </p:nvCxnSpPr>
        <p:spPr bwMode="auto">
          <a:xfrm>
            <a:off x="9408489" y="976226"/>
            <a:ext cx="255395" cy="4015"/>
          </a:xfrm>
          <a:prstGeom prst="straightConnector1">
            <a:avLst/>
          </a:prstGeom>
          <a:ln>
            <a:solidFill>
              <a:srgbClr val="FFFF00"/>
            </a:solidFill>
            <a:tailEnd type="triangle"/>
          </a:ln>
        </p:spPr>
        <p:style>
          <a:lnRef idx="3">
            <a:schemeClr val="dk1"/>
          </a:lnRef>
          <a:fillRef idx="0">
            <a:schemeClr val="dk1"/>
          </a:fillRef>
          <a:effectRef idx="2">
            <a:schemeClr val="dk1"/>
          </a:effectRef>
          <a:fontRef idx="minor">
            <a:schemeClr val="tx1"/>
          </a:fontRef>
        </p:style>
      </p:cxnSp>
      <p:sp>
        <p:nvSpPr>
          <p:cNvPr id="140" name="TextBox 181">
            <a:extLst>
              <a:ext uri="{FF2B5EF4-FFF2-40B4-BE49-F238E27FC236}">
                <a16:creationId xmlns:a16="http://schemas.microsoft.com/office/drawing/2014/main" id="{9FD8555C-3ED4-4B6A-8793-1E0E45735F43}"/>
              </a:ext>
            </a:extLst>
          </p:cNvPr>
          <p:cNvSpPr txBox="1">
            <a:spLocks noChangeArrowheads="1"/>
          </p:cNvSpPr>
          <p:nvPr/>
        </p:nvSpPr>
        <p:spPr bwMode="auto">
          <a:xfrm>
            <a:off x="9672521" y="861350"/>
            <a:ext cx="397866" cy="343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31" b="0" dirty="0">
                <a:solidFill>
                  <a:srgbClr val="000000"/>
                </a:solidFill>
                <a:latin typeface="Calibri" pitchFamily="34" charset="0"/>
                <a:cs typeface="Arial" charset="0"/>
              </a:rPr>
              <a:t>JDBC</a:t>
            </a:r>
          </a:p>
          <a:p>
            <a:pPr defTabSz="914395">
              <a:defRPr/>
            </a:pPr>
            <a:endParaRPr lang="es-ES" altLang="es-ES" sz="800" b="0" dirty="0">
              <a:solidFill>
                <a:srgbClr val="000000"/>
              </a:solidFill>
              <a:latin typeface="Calibri" pitchFamily="34" charset="0"/>
              <a:cs typeface="Arial" charset="0"/>
            </a:endParaRPr>
          </a:p>
        </p:txBody>
      </p:sp>
      <p:sp>
        <p:nvSpPr>
          <p:cNvPr id="103" name="Rectángulo: esquinas redondeadas 102">
            <a:extLst>
              <a:ext uri="{FF2B5EF4-FFF2-40B4-BE49-F238E27FC236}">
                <a16:creationId xmlns:a16="http://schemas.microsoft.com/office/drawing/2014/main" id="{B6B2F949-3DCA-40F0-B4B1-04F288B30D26}"/>
              </a:ext>
            </a:extLst>
          </p:cNvPr>
          <p:cNvSpPr/>
          <p:nvPr/>
        </p:nvSpPr>
        <p:spPr>
          <a:xfrm>
            <a:off x="4398558" y="1413808"/>
            <a:ext cx="6673762" cy="4261277"/>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a:p>
        </p:txBody>
      </p:sp>
      <p:sp>
        <p:nvSpPr>
          <p:cNvPr id="104" name="Diagrama de flujo: disco magnético 103">
            <a:extLst>
              <a:ext uri="{FF2B5EF4-FFF2-40B4-BE49-F238E27FC236}">
                <a16:creationId xmlns:a16="http://schemas.microsoft.com/office/drawing/2014/main" id="{A47E222F-1295-4C6F-8A1E-C73E6AA5814C}"/>
              </a:ext>
            </a:extLst>
          </p:cNvPr>
          <p:cNvSpPr/>
          <p:nvPr/>
        </p:nvSpPr>
        <p:spPr>
          <a:xfrm>
            <a:off x="4912235" y="1668645"/>
            <a:ext cx="800777" cy="883018"/>
          </a:xfrm>
          <a:prstGeom prst="flowChartMagneticDisk">
            <a:avLst/>
          </a:prstGeom>
          <a:solidFill>
            <a:srgbClr val="FF5050"/>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8" dirty="0"/>
              <a:t>FILE </a:t>
            </a:r>
            <a:r>
              <a:rPr lang="es-ES" sz="1108" dirty="0" err="1"/>
              <a:t>System</a:t>
            </a:r>
            <a:r>
              <a:rPr lang="es-ES" sz="1108" dirty="0"/>
              <a:t> BATCH</a:t>
            </a:r>
          </a:p>
        </p:txBody>
      </p:sp>
      <p:sp>
        <p:nvSpPr>
          <p:cNvPr id="142" name="CuadroTexto 141">
            <a:extLst>
              <a:ext uri="{FF2B5EF4-FFF2-40B4-BE49-F238E27FC236}">
                <a16:creationId xmlns:a16="http://schemas.microsoft.com/office/drawing/2014/main" id="{7881B931-7F4D-49F0-B91B-0619AA96076D}"/>
              </a:ext>
            </a:extLst>
          </p:cNvPr>
          <p:cNvSpPr txBox="1"/>
          <p:nvPr/>
        </p:nvSpPr>
        <p:spPr>
          <a:xfrm>
            <a:off x="3077055" y="2606875"/>
            <a:ext cx="1025404" cy="348109"/>
          </a:xfrm>
          <a:prstGeom prst="rect">
            <a:avLst/>
          </a:prstGeom>
          <a:noFill/>
        </p:spPr>
        <p:txBody>
          <a:bodyPr wrap="square" rtlCol="0">
            <a:spAutoFit/>
          </a:bodyPr>
          <a:lstStyle/>
          <a:p>
            <a:r>
              <a:rPr lang="es-ES" sz="1662" dirty="0"/>
              <a:t>sFTP</a:t>
            </a:r>
          </a:p>
        </p:txBody>
      </p:sp>
      <p:grpSp>
        <p:nvGrpSpPr>
          <p:cNvPr id="145" name="Grupo 144">
            <a:extLst>
              <a:ext uri="{FF2B5EF4-FFF2-40B4-BE49-F238E27FC236}">
                <a16:creationId xmlns:a16="http://schemas.microsoft.com/office/drawing/2014/main" id="{C644BC4C-990D-48D1-932D-A74CF665DE05}"/>
              </a:ext>
            </a:extLst>
          </p:cNvPr>
          <p:cNvGrpSpPr/>
          <p:nvPr/>
        </p:nvGrpSpPr>
        <p:grpSpPr>
          <a:xfrm>
            <a:off x="2341832" y="4087169"/>
            <a:ext cx="800777" cy="672041"/>
            <a:chOff x="3785964" y="903795"/>
            <a:chExt cx="1485900" cy="1524000"/>
          </a:xfrm>
        </p:grpSpPr>
        <p:pic>
          <p:nvPicPr>
            <p:cNvPr id="146" name="Imagen 145">
              <a:extLst>
                <a:ext uri="{FF2B5EF4-FFF2-40B4-BE49-F238E27FC236}">
                  <a16:creationId xmlns:a16="http://schemas.microsoft.com/office/drawing/2014/main" id="{2EABAFB0-1938-4B3C-98E1-8BCC29EC40AF}"/>
                </a:ext>
              </a:extLst>
            </p:cNvPr>
            <p:cNvPicPr>
              <a:picLocks noChangeAspect="1"/>
            </p:cNvPicPr>
            <p:nvPr/>
          </p:nvPicPr>
          <p:blipFill>
            <a:blip r:embed="rId4"/>
            <a:stretch>
              <a:fillRect/>
            </a:stretch>
          </p:blipFill>
          <p:spPr>
            <a:xfrm>
              <a:off x="3785964" y="903795"/>
              <a:ext cx="1485900" cy="1524000"/>
            </a:xfrm>
            <a:prstGeom prst="rect">
              <a:avLst/>
            </a:prstGeom>
          </p:spPr>
        </p:pic>
        <p:sp>
          <p:nvSpPr>
            <p:cNvPr id="147" name="Rectángulo 146">
              <a:extLst>
                <a:ext uri="{FF2B5EF4-FFF2-40B4-BE49-F238E27FC236}">
                  <a16:creationId xmlns:a16="http://schemas.microsoft.com/office/drawing/2014/main" id="{54482192-0C7A-4666-AF88-FCBF31B97DEA}"/>
                </a:ext>
              </a:extLst>
            </p:cNvPr>
            <p:cNvSpPr/>
            <p:nvPr/>
          </p:nvSpPr>
          <p:spPr>
            <a:xfrm>
              <a:off x="4189289" y="1758462"/>
              <a:ext cx="894209" cy="475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969" dirty="0">
                <a:solidFill>
                  <a:schemeClr val="tx1"/>
                </a:solidFill>
              </a:endParaRPr>
            </a:p>
          </p:txBody>
        </p:sp>
      </p:grpSp>
      <p:grpSp>
        <p:nvGrpSpPr>
          <p:cNvPr id="150" name="Grupo 149">
            <a:extLst>
              <a:ext uri="{FF2B5EF4-FFF2-40B4-BE49-F238E27FC236}">
                <a16:creationId xmlns:a16="http://schemas.microsoft.com/office/drawing/2014/main" id="{7BC4577D-E3E6-468C-9E95-66F30DA9214B}"/>
              </a:ext>
            </a:extLst>
          </p:cNvPr>
          <p:cNvGrpSpPr/>
          <p:nvPr/>
        </p:nvGrpSpPr>
        <p:grpSpPr>
          <a:xfrm>
            <a:off x="6298662" y="1588659"/>
            <a:ext cx="1425131" cy="1663935"/>
            <a:chOff x="4214162" y="2214374"/>
            <a:chExt cx="3501284" cy="3857088"/>
          </a:xfrm>
        </p:grpSpPr>
        <p:sp>
          <p:nvSpPr>
            <p:cNvPr id="151" name="Oval 465">
              <a:extLst>
                <a:ext uri="{FF2B5EF4-FFF2-40B4-BE49-F238E27FC236}">
                  <a16:creationId xmlns:a16="http://schemas.microsoft.com/office/drawing/2014/main" id="{4FCC1F58-BEF2-4355-A29D-C9DF443C487E}"/>
                </a:ext>
              </a:extLst>
            </p:cNvPr>
            <p:cNvSpPr>
              <a:spLocks noChangeArrowheads="1"/>
            </p:cNvSpPr>
            <p:nvPr/>
          </p:nvSpPr>
          <p:spPr bwMode="auto">
            <a:xfrm>
              <a:off x="6152189" y="3941550"/>
              <a:ext cx="148851" cy="150886"/>
            </a:xfrm>
            <a:prstGeom prst="ellipse">
              <a:avLst/>
            </a:prstGeom>
            <a:solidFill>
              <a:schemeClr val="tx1"/>
            </a:solidFill>
            <a:ln w="9525">
              <a:solidFill>
                <a:schemeClr val="tx1"/>
              </a:solidFill>
              <a:round/>
              <a:headEnd/>
              <a:tailEnd/>
            </a:ln>
          </p:spPr>
          <p:txBody>
            <a:bodyPr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710" b="0" dirty="0">
                  <a:solidFill>
                    <a:schemeClr val="bg1"/>
                  </a:solidFill>
                </a:rPr>
                <a:t>9</a:t>
              </a:r>
            </a:p>
          </p:txBody>
        </p:sp>
        <p:grpSp>
          <p:nvGrpSpPr>
            <p:cNvPr id="152" name="Grupo 151">
              <a:extLst>
                <a:ext uri="{FF2B5EF4-FFF2-40B4-BE49-F238E27FC236}">
                  <a16:creationId xmlns:a16="http://schemas.microsoft.com/office/drawing/2014/main" id="{A6E20238-53ED-4FDD-A3D3-93A512F043A1}"/>
                </a:ext>
              </a:extLst>
            </p:cNvPr>
            <p:cNvGrpSpPr/>
            <p:nvPr/>
          </p:nvGrpSpPr>
          <p:grpSpPr>
            <a:xfrm>
              <a:off x="4214162" y="2214374"/>
              <a:ext cx="3501284" cy="3857088"/>
              <a:chOff x="4484038" y="3393298"/>
              <a:chExt cx="2193246" cy="2458882"/>
            </a:xfrm>
          </p:grpSpPr>
          <p:sp>
            <p:nvSpPr>
              <p:cNvPr id="153" name="Rectángulo: esquinas redondeadas 152">
                <a:extLst>
                  <a:ext uri="{FF2B5EF4-FFF2-40B4-BE49-F238E27FC236}">
                    <a16:creationId xmlns:a16="http://schemas.microsoft.com/office/drawing/2014/main" id="{E918FAAA-EE70-4506-9174-97C86755B4FB}"/>
                  </a:ext>
                </a:extLst>
              </p:cNvPr>
              <p:cNvSpPr/>
              <p:nvPr/>
            </p:nvSpPr>
            <p:spPr>
              <a:xfrm>
                <a:off x="4484038" y="3393298"/>
                <a:ext cx="2193246" cy="2458882"/>
              </a:xfrm>
              <a:prstGeom prst="roundRect">
                <a:avLst/>
              </a:prstGeom>
              <a:solidFill>
                <a:schemeClr val="bg1"/>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54" name="CuadroTexto 153">
                <a:extLst>
                  <a:ext uri="{FF2B5EF4-FFF2-40B4-BE49-F238E27FC236}">
                    <a16:creationId xmlns:a16="http://schemas.microsoft.com/office/drawing/2014/main" id="{E3A8925E-622B-4671-97E0-41AFF66F9BB5}"/>
                  </a:ext>
                </a:extLst>
              </p:cNvPr>
              <p:cNvSpPr txBox="1"/>
              <p:nvPr/>
            </p:nvSpPr>
            <p:spPr>
              <a:xfrm>
                <a:off x="4866700" y="3608586"/>
                <a:ext cx="1471642" cy="1185842"/>
              </a:xfrm>
              <a:prstGeom prst="rect">
                <a:avLst/>
              </a:prstGeom>
              <a:noFill/>
            </p:spPr>
            <p:txBody>
              <a:bodyPr wrap="square" rtlCol="0">
                <a:spAutoFit/>
              </a:bodyPr>
              <a:lstStyle/>
              <a:p>
                <a:pPr algn="ctr"/>
                <a:r>
                  <a:rPr lang="es-ES" sz="923" b="1" dirty="0">
                    <a:solidFill>
                      <a:srgbClr val="1BB3BC"/>
                    </a:solidFill>
                  </a:rPr>
                  <a:t>Servidor Procesos BATCH</a:t>
                </a:r>
              </a:p>
              <a:p>
                <a:pPr algn="ctr"/>
                <a:r>
                  <a:rPr lang="es-ES" sz="923" b="1" dirty="0">
                    <a:solidFill>
                      <a:srgbClr val="1BB3BC"/>
                    </a:solidFill>
                  </a:rPr>
                  <a:t>Linux</a:t>
                </a:r>
              </a:p>
              <a:p>
                <a:endParaRPr lang="es-ES" sz="923" b="1" dirty="0">
                  <a:solidFill>
                    <a:srgbClr val="1BB3BC"/>
                  </a:solidFill>
                </a:endParaRPr>
              </a:p>
            </p:txBody>
          </p:sp>
        </p:grpSp>
      </p:grpSp>
      <p:pic>
        <p:nvPicPr>
          <p:cNvPr id="156" name="Imagen 155">
            <a:extLst>
              <a:ext uri="{FF2B5EF4-FFF2-40B4-BE49-F238E27FC236}">
                <a16:creationId xmlns:a16="http://schemas.microsoft.com/office/drawing/2014/main" id="{482C29D0-042D-4119-B604-FBA2E093EB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28017" y="2189745"/>
            <a:ext cx="385446" cy="386633"/>
          </a:xfrm>
          <a:prstGeom prst="rect">
            <a:avLst/>
          </a:prstGeom>
        </p:spPr>
      </p:pic>
      <p:cxnSp>
        <p:nvCxnSpPr>
          <p:cNvPr id="157" name="Conector recto de flecha 156">
            <a:extLst>
              <a:ext uri="{FF2B5EF4-FFF2-40B4-BE49-F238E27FC236}">
                <a16:creationId xmlns:a16="http://schemas.microsoft.com/office/drawing/2014/main" id="{80713E8B-0320-4F00-B249-317D1C3D4512}"/>
              </a:ext>
            </a:extLst>
          </p:cNvPr>
          <p:cNvCxnSpPr>
            <a:cxnSpLocks/>
          </p:cNvCxnSpPr>
          <p:nvPr/>
        </p:nvCxnSpPr>
        <p:spPr>
          <a:xfrm flipH="1">
            <a:off x="2706508" y="2232011"/>
            <a:ext cx="2151551" cy="1507831"/>
          </a:xfrm>
          <a:prstGeom prst="straightConnector1">
            <a:avLst/>
          </a:prstGeom>
          <a:ln>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8" name="Conector recto 157">
            <a:extLst>
              <a:ext uri="{FF2B5EF4-FFF2-40B4-BE49-F238E27FC236}">
                <a16:creationId xmlns:a16="http://schemas.microsoft.com/office/drawing/2014/main" id="{F314C771-91DC-42B0-B567-7CE52370C987}"/>
              </a:ext>
            </a:extLst>
          </p:cNvPr>
          <p:cNvCxnSpPr>
            <a:stCxn id="104" idx="4"/>
            <a:endCxn id="153" idx="1"/>
          </p:cNvCxnSpPr>
          <p:nvPr/>
        </p:nvCxnSpPr>
        <p:spPr>
          <a:xfrm>
            <a:off x="5713012" y="2110154"/>
            <a:ext cx="585650" cy="310473"/>
          </a:xfrm>
          <a:prstGeom prst="line">
            <a:avLst/>
          </a:prstGeom>
          <a:ln>
            <a:solidFill>
              <a:schemeClr val="tx1"/>
            </a:solidFill>
            <a:headEnd type="triangle"/>
          </a:ln>
        </p:spPr>
        <p:style>
          <a:lnRef idx="1">
            <a:schemeClr val="accent1"/>
          </a:lnRef>
          <a:fillRef idx="0">
            <a:schemeClr val="accent1"/>
          </a:fillRef>
          <a:effectRef idx="0">
            <a:schemeClr val="accent1"/>
          </a:effectRef>
          <a:fontRef idx="minor">
            <a:schemeClr val="tx1"/>
          </a:fontRef>
        </p:style>
      </p:cxnSp>
      <p:grpSp>
        <p:nvGrpSpPr>
          <p:cNvPr id="159" name="Group 605">
            <a:extLst>
              <a:ext uri="{FF2B5EF4-FFF2-40B4-BE49-F238E27FC236}">
                <a16:creationId xmlns:a16="http://schemas.microsoft.com/office/drawing/2014/main" id="{797620A9-3414-4DC0-817D-08288421F68F}"/>
              </a:ext>
            </a:extLst>
          </p:cNvPr>
          <p:cNvGrpSpPr>
            <a:grpSpLocks/>
          </p:cNvGrpSpPr>
          <p:nvPr/>
        </p:nvGrpSpPr>
        <p:grpSpPr bwMode="auto">
          <a:xfrm>
            <a:off x="6632525" y="3605623"/>
            <a:ext cx="708276" cy="636587"/>
            <a:chOff x="2769" y="1896"/>
            <a:chExt cx="530" cy="493"/>
          </a:xfrm>
        </p:grpSpPr>
        <p:pic>
          <p:nvPicPr>
            <p:cNvPr id="160" name="Picture 577" descr="j0431637">
              <a:extLst>
                <a:ext uri="{FF2B5EF4-FFF2-40B4-BE49-F238E27FC236}">
                  <a16:creationId xmlns:a16="http://schemas.microsoft.com/office/drawing/2014/main" id="{0AFBC39F-AC7B-45B0-A551-96F6FFC421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4" y="1934"/>
              <a:ext cx="35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 name="Picture 578" descr="j0432635">
              <a:extLst>
                <a:ext uri="{FF2B5EF4-FFF2-40B4-BE49-F238E27FC236}">
                  <a16:creationId xmlns:a16="http://schemas.microsoft.com/office/drawing/2014/main" id="{AD52BF99-86E2-42C6-B178-114A668DB5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55" y="1896"/>
              <a:ext cx="20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Text Box 579">
              <a:extLst>
                <a:ext uri="{FF2B5EF4-FFF2-40B4-BE49-F238E27FC236}">
                  <a16:creationId xmlns:a16="http://schemas.microsoft.com/office/drawing/2014/main" id="{28689D5A-1CA1-4C13-BE22-883DBDFD8C8A}"/>
                </a:ext>
              </a:extLst>
            </p:cNvPr>
            <p:cNvSpPr txBox="1">
              <a:spLocks noChangeArrowheads="1"/>
            </p:cNvSpPr>
            <p:nvPr/>
          </p:nvSpPr>
          <p:spPr bwMode="auto">
            <a:xfrm>
              <a:off x="2769" y="2270"/>
              <a:ext cx="53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sp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eaLnBrk="1" hangingPunct="1">
                <a:buClr>
                  <a:schemeClr val="accent2"/>
                </a:buClr>
                <a:buFont typeface="Wingdings" panose="05000000000000000000" pitchFamily="2" charset="2"/>
                <a:buNone/>
              </a:pPr>
              <a:r>
                <a:rPr lang="es-ES" altLang="es-ES" sz="1000" dirty="0">
                  <a:solidFill>
                    <a:schemeClr val="tx1"/>
                  </a:solidFill>
                  <a:latin typeface="Verdana" panose="020B0604030504040204" pitchFamily="34" charset="0"/>
                </a:rPr>
                <a:t>Control-M</a:t>
              </a:r>
            </a:p>
          </p:txBody>
        </p:sp>
      </p:grpSp>
      <p:cxnSp>
        <p:nvCxnSpPr>
          <p:cNvPr id="163" name="Conector recto 162">
            <a:extLst>
              <a:ext uri="{FF2B5EF4-FFF2-40B4-BE49-F238E27FC236}">
                <a16:creationId xmlns:a16="http://schemas.microsoft.com/office/drawing/2014/main" id="{9D6ECA07-8448-478A-B529-377FBE5BF8D9}"/>
              </a:ext>
            </a:extLst>
          </p:cNvPr>
          <p:cNvCxnSpPr>
            <a:cxnSpLocks/>
            <a:endCxn id="153" idx="2"/>
          </p:cNvCxnSpPr>
          <p:nvPr/>
        </p:nvCxnSpPr>
        <p:spPr>
          <a:xfrm flipV="1">
            <a:off x="7011227" y="3252594"/>
            <a:ext cx="0" cy="551064"/>
          </a:xfrm>
          <a:prstGeom prst="line">
            <a:avLst/>
          </a:prstGeom>
          <a:ln w="9525" cap="flat" cmpd="sng" algn="ctr">
            <a:solidFill>
              <a:schemeClr val="dk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64" name="Conector recto de flecha 163">
            <a:extLst>
              <a:ext uri="{FF2B5EF4-FFF2-40B4-BE49-F238E27FC236}">
                <a16:creationId xmlns:a16="http://schemas.microsoft.com/office/drawing/2014/main" id="{788932D7-DEEA-4DD8-AE5C-2DBC74022164}"/>
              </a:ext>
            </a:extLst>
          </p:cNvPr>
          <p:cNvCxnSpPr>
            <a:cxnSpLocks/>
          </p:cNvCxnSpPr>
          <p:nvPr/>
        </p:nvCxnSpPr>
        <p:spPr>
          <a:xfrm flipH="1" flipV="1">
            <a:off x="5482932" y="4464053"/>
            <a:ext cx="3203678" cy="59884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6" name="AutoShape 206">
            <a:extLst>
              <a:ext uri="{FF2B5EF4-FFF2-40B4-BE49-F238E27FC236}">
                <a16:creationId xmlns:a16="http://schemas.microsoft.com/office/drawing/2014/main" id="{615C7E4E-5579-4BA9-9BCC-982D2912D82D}"/>
              </a:ext>
            </a:extLst>
          </p:cNvPr>
          <p:cNvSpPr>
            <a:spLocks noChangeArrowheads="1"/>
          </p:cNvSpPr>
          <p:nvPr/>
        </p:nvSpPr>
        <p:spPr bwMode="auto">
          <a:xfrm>
            <a:off x="4709637" y="3428066"/>
            <a:ext cx="1240008" cy="997338"/>
          </a:xfrm>
          <a:prstGeom prst="can">
            <a:avLst>
              <a:gd name="adj" fmla="val 24963"/>
            </a:avLst>
          </a:prstGeom>
          <a:solidFill>
            <a:srgbClr val="C00000">
              <a:alpha val="49019"/>
            </a:srgbClr>
          </a:solidFill>
          <a:ln w="9525">
            <a:solidFill>
              <a:schemeClr val="tx1"/>
            </a:solidFill>
            <a:round/>
            <a:headEnd/>
            <a:tailEnd/>
          </a:ln>
        </p:spPr>
        <p:txBody>
          <a:bodyPr wrap="none" anchor="ctr"/>
          <a:lstStyle/>
          <a:p>
            <a:pPr algn="ctr" defTabSz="914395">
              <a:defRPr/>
            </a:pPr>
            <a:endParaRPr lang="es-ES" sz="800" dirty="0">
              <a:solidFill>
                <a:prstClr val="black"/>
              </a:solidFill>
              <a:latin typeface="Verdana" pitchFamily="34" charset="0"/>
            </a:endParaRPr>
          </a:p>
          <a:p>
            <a:pPr algn="ctr" defTabSz="914395">
              <a:defRPr/>
            </a:pPr>
            <a:endParaRPr lang="es-ES" sz="800" dirty="0">
              <a:solidFill>
                <a:prstClr val="black"/>
              </a:solidFill>
              <a:latin typeface="Verdana" pitchFamily="34" charset="0"/>
            </a:endParaRPr>
          </a:p>
        </p:txBody>
      </p:sp>
      <p:pic>
        <p:nvPicPr>
          <p:cNvPr id="168" name="Imagen 167">
            <a:extLst>
              <a:ext uri="{FF2B5EF4-FFF2-40B4-BE49-F238E27FC236}">
                <a16:creationId xmlns:a16="http://schemas.microsoft.com/office/drawing/2014/main" id="{DB14F2C3-E494-4216-AED9-454CEFFA113F}"/>
              </a:ext>
            </a:extLst>
          </p:cNvPr>
          <p:cNvPicPr>
            <a:picLocks noChangeAspect="1"/>
          </p:cNvPicPr>
          <p:nvPr/>
        </p:nvPicPr>
        <p:blipFill>
          <a:blip r:embed="rId8"/>
          <a:stretch>
            <a:fillRect/>
          </a:stretch>
        </p:blipFill>
        <p:spPr>
          <a:xfrm>
            <a:off x="5252821" y="4520940"/>
            <a:ext cx="192401" cy="286971"/>
          </a:xfrm>
          <a:prstGeom prst="rect">
            <a:avLst/>
          </a:prstGeom>
        </p:spPr>
      </p:pic>
      <p:sp>
        <p:nvSpPr>
          <p:cNvPr id="169" name="Elipse 168">
            <a:extLst>
              <a:ext uri="{FF2B5EF4-FFF2-40B4-BE49-F238E27FC236}">
                <a16:creationId xmlns:a16="http://schemas.microsoft.com/office/drawing/2014/main" id="{1E63AD2E-D95D-4546-92C0-198F6EE3F8B8}"/>
              </a:ext>
            </a:extLst>
          </p:cNvPr>
          <p:cNvSpPr/>
          <p:nvPr/>
        </p:nvSpPr>
        <p:spPr>
          <a:xfrm>
            <a:off x="1647234" y="3109210"/>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2</a:t>
            </a:r>
          </a:p>
        </p:txBody>
      </p:sp>
      <p:sp>
        <p:nvSpPr>
          <p:cNvPr id="170" name="Oval 18">
            <a:extLst>
              <a:ext uri="{FF2B5EF4-FFF2-40B4-BE49-F238E27FC236}">
                <a16:creationId xmlns:a16="http://schemas.microsoft.com/office/drawing/2014/main" id="{9DBA7D7C-DF32-4D3D-A945-4124E3303068}"/>
              </a:ext>
            </a:extLst>
          </p:cNvPr>
          <p:cNvSpPr>
            <a:spLocks noChangeArrowheads="1"/>
          </p:cNvSpPr>
          <p:nvPr/>
        </p:nvSpPr>
        <p:spPr bwMode="auto">
          <a:xfrm>
            <a:off x="5247793" y="3244559"/>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4" name="Oval 18">
            <a:extLst>
              <a:ext uri="{FF2B5EF4-FFF2-40B4-BE49-F238E27FC236}">
                <a16:creationId xmlns:a16="http://schemas.microsoft.com/office/drawing/2014/main" id="{ADAD2F46-0649-4098-BAC7-AA92086CB20A}"/>
              </a:ext>
            </a:extLst>
          </p:cNvPr>
          <p:cNvSpPr>
            <a:spLocks noChangeArrowheads="1"/>
          </p:cNvSpPr>
          <p:nvPr/>
        </p:nvSpPr>
        <p:spPr bwMode="auto">
          <a:xfrm>
            <a:off x="2079269" y="3346352"/>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6" name="Elipse 175">
            <a:extLst>
              <a:ext uri="{FF2B5EF4-FFF2-40B4-BE49-F238E27FC236}">
                <a16:creationId xmlns:a16="http://schemas.microsoft.com/office/drawing/2014/main" id="{9A34815B-FA6E-4AAB-9966-B0F96E2E8B49}"/>
              </a:ext>
            </a:extLst>
          </p:cNvPr>
          <p:cNvSpPr/>
          <p:nvPr/>
        </p:nvSpPr>
        <p:spPr>
          <a:xfrm>
            <a:off x="6530934" y="3331241"/>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1</a:t>
            </a:r>
          </a:p>
        </p:txBody>
      </p:sp>
      <p:sp>
        <p:nvSpPr>
          <p:cNvPr id="177" name="CuadroTexto 176">
            <a:extLst>
              <a:ext uri="{FF2B5EF4-FFF2-40B4-BE49-F238E27FC236}">
                <a16:creationId xmlns:a16="http://schemas.microsoft.com/office/drawing/2014/main" id="{5D57F1B5-9F6B-4B27-B84C-A4428A13115B}"/>
              </a:ext>
            </a:extLst>
          </p:cNvPr>
          <p:cNvSpPr txBox="1"/>
          <p:nvPr/>
        </p:nvSpPr>
        <p:spPr>
          <a:xfrm>
            <a:off x="3252112" y="2846445"/>
            <a:ext cx="468561" cy="3055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2202" tIns="42202" rIns="42202" bIns="42202" numCol="1" spcCol="38100" rtlCol="0" anchor="t">
            <a:spAutoFit/>
          </a:bodyPr>
          <a:lstStyle/>
          <a:p>
            <a:pPr defTabSz="844083" hangingPunct="0">
              <a:spcBef>
                <a:spcPts val="462"/>
              </a:spcBef>
            </a:pPr>
            <a:r>
              <a:rPr lang="es-ES" sz="1015" dirty="0" err="1">
                <a:solidFill>
                  <a:srgbClr val="000000"/>
                </a:solidFill>
                <a:latin typeface="Arial"/>
                <a:ea typeface="Arial"/>
                <a:cs typeface="Arial"/>
                <a:sym typeface="Arial"/>
              </a:rPr>
              <a:t>Put</a:t>
            </a:r>
            <a:endParaRPr lang="es-ES" sz="1015" dirty="0">
              <a:solidFill>
                <a:srgbClr val="000000"/>
              </a:solidFill>
              <a:latin typeface="Arial"/>
              <a:ea typeface="Arial"/>
              <a:cs typeface="Arial"/>
              <a:sym typeface="Arial"/>
            </a:endParaRPr>
          </a:p>
        </p:txBody>
      </p:sp>
      <p:grpSp>
        <p:nvGrpSpPr>
          <p:cNvPr id="63" name="Grupo 50212">
            <a:extLst>
              <a:ext uri="{FF2B5EF4-FFF2-40B4-BE49-F238E27FC236}">
                <a16:creationId xmlns:a16="http://schemas.microsoft.com/office/drawing/2014/main" id="{885B33CB-49CF-4989-8226-D881404A3FD1}"/>
              </a:ext>
            </a:extLst>
          </p:cNvPr>
          <p:cNvGrpSpPr>
            <a:grpSpLocks/>
          </p:cNvGrpSpPr>
          <p:nvPr/>
        </p:nvGrpSpPr>
        <p:grpSpPr bwMode="auto">
          <a:xfrm>
            <a:off x="4925641" y="3836681"/>
            <a:ext cx="812800" cy="423863"/>
            <a:chOff x="374824" y="2549525"/>
            <a:chExt cx="812800" cy="424128"/>
          </a:xfrm>
        </p:grpSpPr>
        <p:sp>
          <p:nvSpPr>
            <p:cNvPr id="64" name="7 Cilindro">
              <a:extLst>
                <a:ext uri="{FF2B5EF4-FFF2-40B4-BE49-F238E27FC236}">
                  <a16:creationId xmlns:a16="http://schemas.microsoft.com/office/drawing/2014/main" id="{96A39BA0-B072-43E0-B6DE-FEB5C0B24E05}"/>
                </a:ext>
              </a:extLst>
            </p:cNvPr>
            <p:cNvSpPr/>
            <p:nvPr/>
          </p:nvSpPr>
          <p:spPr>
            <a:xfrm>
              <a:off x="374824" y="2549525"/>
              <a:ext cx="812800" cy="424128"/>
            </a:xfrm>
            <a:prstGeom prst="can">
              <a:avLst/>
            </a:prstGeom>
            <a:solidFill>
              <a:schemeClr val="accent2">
                <a:lumMod val="40000"/>
                <a:lumOff val="6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100" dirty="0">
                <a:solidFill>
                  <a:srgbClr val="FFFF99"/>
                </a:solidFill>
              </a:endParaRPr>
            </a:p>
          </p:txBody>
        </p:sp>
        <p:pic>
          <p:nvPicPr>
            <p:cNvPr id="65" name="Imagen 27">
              <a:extLst>
                <a:ext uri="{FF2B5EF4-FFF2-40B4-BE49-F238E27FC236}">
                  <a16:creationId xmlns:a16="http://schemas.microsoft.com/office/drawing/2014/main" id="{B916105C-52FD-4296-838D-F045185F2B01}"/>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97049" y="2691012"/>
              <a:ext cx="7905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0" name="Rectángulo: esquinas redondeadas 69">
            <a:extLst>
              <a:ext uri="{FF2B5EF4-FFF2-40B4-BE49-F238E27FC236}">
                <a16:creationId xmlns:a16="http://schemas.microsoft.com/office/drawing/2014/main" id="{3F69D461-1F83-48B0-A83A-4D18D65F8C6C}"/>
              </a:ext>
            </a:extLst>
          </p:cNvPr>
          <p:cNvSpPr/>
          <p:nvPr/>
        </p:nvSpPr>
        <p:spPr>
          <a:xfrm>
            <a:off x="8162089" y="3039689"/>
            <a:ext cx="2294223" cy="907348"/>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cxnSp>
        <p:nvCxnSpPr>
          <p:cNvPr id="74" name="25 Conector recto de flecha">
            <a:extLst>
              <a:ext uri="{FF2B5EF4-FFF2-40B4-BE49-F238E27FC236}">
                <a16:creationId xmlns:a16="http://schemas.microsoft.com/office/drawing/2014/main" id="{026B45D2-CBCE-48CF-B65B-BA75BF132657}"/>
              </a:ext>
            </a:extLst>
          </p:cNvPr>
          <p:cNvCxnSpPr>
            <a:cxnSpLocks/>
            <a:endCxn id="70" idx="1"/>
          </p:cNvCxnSpPr>
          <p:nvPr/>
        </p:nvCxnSpPr>
        <p:spPr bwMode="auto">
          <a:xfrm>
            <a:off x="7749137" y="2536809"/>
            <a:ext cx="412952" cy="956554"/>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nvGrpSpPr>
          <p:cNvPr id="75" name="Grupo 74">
            <a:extLst>
              <a:ext uri="{FF2B5EF4-FFF2-40B4-BE49-F238E27FC236}">
                <a16:creationId xmlns:a16="http://schemas.microsoft.com/office/drawing/2014/main" id="{BA9E9A7A-B0E2-4EFA-A6E3-A4BCAB5F3AF1}"/>
              </a:ext>
            </a:extLst>
          </p:cNvPr>
          <p:cNvGrpSpPr/>
          <p:nvPr/>
        </p:nvGrpSpPr>
        <p:grpSpPr>
          <a:xfrm>
            <a:off x="8023113" y="2498117"/>
            <a:ext cx="288789" cy="128483"/>
            <a:chOff x="10457075" y="2470064"/>
            <a:chExt cx="431319" cy="225978"/>
          </a:xfrm>
        </p:grpSpPr>
        <p:sp>
          <p:nvSpPr>
            <p:cNvPr id="76" name="Rectángulo 75">
              <a:extLst>
                <a:ext uri="{FF2B5EF4-FFF2-40B4-BE49-F238E27FC236}">
                  <a16:creationId xmlns:a16="http://schemas.microsoft.com/office/drawing/2014/main" id="{6674A62F-E98B-46C0-92D4-355BB90D11AC}"/>
                </a:ext>
              </a:extLst>
            </p:cNvPr>
            <p:cNvSpPr/>
            <p:nvPr/>
          </p:nvSpPr>
          <p:spPr>
            <a:xfrm>
              <a:off x="10457075" y="2470064"/>
              <a:ext cx="431319" cy="22597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79" name="Rectángulo 78">
              <a:extLst>
                <a:ext uri="{FF2B5EF4-FFF2-40B4-BE49-F238E27FC236}">
                  <a16:creationId xmlns:a16="http://schemas.microsoft.com/office/drawing/2014/main" id="{60C25B3F-631A-4ABC-8715-3627C3D4B818}"/>
                </a:ext>
              </a:extLst>
            </p:cNvPr>
            <p:cNvSpPr/>
            <p:nvPr/>
          </p:nvSpPr>
          <p:spPr>
            <a:xfrm>
              <a:off x="10526091"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grpSp>
      <p:sp>
        <p:nvSpPr>
          <p:cNvPr id="81" name="Documento 16">
            <a:extLst>
              <a:ext uri="{FF2B5EF4-FFF2-40B4-BE49-F238E27FC236}">
                <a16:creationId xmlns:a16="http://schemas.microsoft.com/office/drawing/2014/main" id="{A89B15C9-F875-4A71-A93B-1E070E630643}"/>
              </a:ext>
            </a:extLst>
          </p:cNvPr>
          <p:cNvSpPr/>
          <p:nvPr/>
        </p:nvSpPr>
        <p:spPr>
          <a:xfrm>
            <a:off x="2104434" y="3710861"/>
            <a:ext cx="607772" cy="571829"/>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82" name="Rectángulo redondeado 15">
            <a:extLst>
              <a:ext uri="{FF2B5EF4-FFF2-40B4-BE49-F238E27FC236}">
                <a16:creationId xmlns:a16="http://schemas.microsoft.com/office/drawing/2014/main" id="{DD55BD97-2BE7-4743-A2E0-F36CCEAECFE9}"/>
              </a:ext>
            </a:extLst>
          </p:cNvPr>
          <p:cNvSpPr/>
          <p:nvPr/>
        </p:nvSpPr>
        <p:spPr bwMode="auto">
          <a:xfrm>
            <a:off x="8592266" y="3331868"/>
            <a:ext cx="1823676" cy="504569"/>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endParaRPr lang="es-ES" sz="738" b="1" dirty="0">
              <a:solidFill>
                <a:schemeClr val="tx1"/>
              </a:solidFill>
            </a:endParaRPr>
          </a:p>
        </p:txBody>
      </p:sp>
      <p:sp>
        <p:nvSpPr>
          <p:cNvPr id="83" name="CuadroTexto 82">
            <a:extLst>
              <a:ext uri="{FF2B5EF4-FFF2-40B4-BE49-F238E27FC236}">
                <a16:creationId xmlns:a16="http://schemas.microsoft.com/office/drawing/2014/main" id="{5341E3DE-0B5B-40CF-AA2E-C64DD2D6039F}"/>
              </a:ext>
            </a:extLst>
          </p:cNvPr>
          <p:cNvSpPr txBox="1"/>
          <p:nvPr/>
        </p:nvSpPr>
        <p:spPr>
          <a:xfrm rot="16200000">
            <a:off x="8035422" y="3322542"/>
            <a:ext cx="673127" cy="215444"/>
          </a:xfrm>
          <a:prstGeom prst="rect">
            <a:avLst/>
          </a:prstGeom>
          <a:solidFill>
            <a:srgbClr val="E0F1E1"/>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400" b="0" i="0" u="none" strike="noStrike" kern="1200" cap="none" spc="0" normalizeH="0" baseline="0" noProof="0" dirty="0">
                <a:ln>
                  <a:noFill/>
                </a:ln>
                <a:solidFill>
                  <a:srgbClr val="00B6DA"/>
                </a:solidFill>
                <a:effectLst/>
                <a:uLnTx/>
                <a:uFillTx/>
                <a:latin typeface="Arial Rounded MT Bold" panose="020F0704030504030204" pitchFamily="34" charset="0"/>
                <a:ea typeface="+mn-ea"/>
                <a:cs typeface="Aharoni" panose="02010803020104030203" pitchFamily="2" charset="-79"/>
              </a:rPr>
              <a:t>API GATEWAY</a:t>
            </a:r>
            <a:br>
              <a:rPr kumimoji="0" lang="es-ES" sz="400" b="0" i="0" u="none" strike="noStrike" kern="1200" cap="none" spc="0" normalizeH="0" baseline="0" noProof="0" dirty="0">
                <a:ln>
                  <a:noFill/>
                </a:ln>
                <a:solidFill>
                  <a:srgbClr val="00B6DA"/>
                </a:solidFill>
                <a:effectLst/>
                <a:uLnTx/>
                <a:uFillTx/>
                <a:latin typeface="Arial Rounded MT Bold" panose="020F0704030504030204" pitchFamily="34" charset="0"/>
                <a:ea typeface="+mn-ea"/>
                <a:cs typeface="Aharoni" panose="02010803020104030203" pitchFamily="2" charset="-79"/>
              </a:rPr>
            </a:br>
            <a:r>
              <a:rPr kumimoji="0" lang="es-ES" sz="400" b="0" i="0" u="none" strike="noStrike" kern="1200" cap="none" spc="0" normalizeH="0" baseline="0" noProof="0" dirty="0">
                <a:ln>
                  <a:noFill/>
                </a:ln>
                <a:solidFill>
                  <a:srgbClr val="00B6DA"/>
                </a:solidFill>
                <a:effectLst/>
                <a:uLnTx/>
                <a:uFillTx/>
                <a:latin typeface="Arial Rounded MT Bold" panose="020F0704030504030204" pitchFamily="34" charset="0"/>
                <a:ea typeface="+mn-ea"/>
                <a:cs typeface="Aharoni" panose="02010803020104030203" pitchFamily="2" charset="-79"/>
              </a:rPr>
              <a:t>Darwin</a:t>
            </a:r>
          </a:p>
        </p:txBody>
      </p:sp>
      <p:pic>
        <p:nvPicPr>
          <p:cNvPr id="84" name="161 Imagen">
            <a:extLst>
              <a:ext uri="{FF2B5EF4-FFF2-40B4-BE49-F238E27FC236}">
                <a16:creationId xmlns:a16="http://schemas.microsoft.com/office/drawing/2014/main" id="{6E3FF935-9121-472B-B76F-AA19F452288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084256" y="3584153"/>
            <a:ext cx="428176" cy="128673"/>
          </a:xfrm>
          <a:prstGeom prst="rect">
            <a:avLst/>
          </a:prstGeom>
        </p:spPr>
      </p:pic>
      <p:sp>
        <p:nvSpPr>
          <p:cNvPr id="85" name="Oval 18">
            <a:extLst>
              <a:ext uri="{FF2B5EF4-FFF2-40B4-BE49-F238E27FC236}">
                <a16:creationId xmlns:a16="http://schemas.microsoft.com/office/drawing/2014/main" id="{01E8BDE7-09CB-4782-B75F-9997A430B3B3}"/>
              </a:ext>
            </a:extLst>
          </p:cNvPr>
          <p:cNvSpPr>
            <a:spLocks noChangeArrowheads="1"/>
          </p:cNvSpPr>
          <p:nvPr/>
        </p:nvSpPr>
        <p:spPr bwMode="auto">
          <a:xfrm>
            <a:off x="10544766" y="3109210"/>
            <a:ext cx="210128" cy="210943"/>
          </a:xfrm>
          <a:prstGeom prst="ellipse">
            <a:avLst/>
          </a:prstGeom>
          <a:solidFill>
            <a:srgbClr val="00B050"/>
          </a:solidFill>
          <a:ln w="9525">
            <a:solidFill>
              <a:sysClr val="windowText" lastClr="000000">
                <a:shade val="95000"/>
                <a:satMod val="105000"/>
              </a:sys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844083" eaLnBrk="1" hangingPunct="1">
              <a:spcBef>
                <a:spcPct val="0"/>
              </a:spcBef>
              <a:buClrTx/>
              <a:buSzTx/>
              <a:buNone/>
              <a:defRPr/>
            </a:pPr>
            <a:r>
              <a:rPr lang="es-ES" altLang="es-ES" sz="831" kern="0" dirty="0">
                <a:solidFill>
                  <a:prstClr val="white"/>
                </a:solidFill>
              </a:rPr>
              <a:t>E</a:t>
            </a:r>
          </a:p>
        </p:txBody>
      </p:sp>
      <p:sp>
        <p:nvSpPr>
          <p:cNvPr id="86" name="Rectángulo 85">
            <a:extLst>
              <a:ext uri="{FF2B5EF4-FFF2-40B4-BE49-F238E27FC236}">
                <a16:creationId xmlns:a16="http://schemas.microsoft.com/office/drawing/2014/main" id="{7BABE840-637F-4D16-96B8-EE0DCF2F236F}"/>
              </a:ext>
            </a:extLst>
          </p:cNvPr>
          <p:cNvSpPr/>
          <p:nvPr/>
        </p:nvSpPr>
        <p:spPr>
          <a:xfrm>
            <a:off x="8546816" y="3390325"/>
            <a:ext cx="1909497" cy="215444"/>
          </a:xfrm>
          <a:prstGeom prst="rect">
            <a:avLst/>
          </a:prstGeom>
        </p:spPr>
        <p:txBody>
          <a:bodyPr wrap="none">
            <a:spAutoFit/>
          </a:bodyPr>
          <a:lstStyle/>
          <a:p>
            <a:r>
              <a:rPr lang="es-ES" sz="800" b="1" dirty="0"/>
              <a:t>MICRO cuentas contratos </a:t>
            </a:r>
            <a:r>
              <a:rPr lang="es-ES" sz="800" b="1" dirty="0" err="1"/>
              <a:t>partenon</a:t>
            </a:r>
            <a:endParaRPr lang="es-ES" dirty="0"/>
          </a:p>
        </p:txBody>
      </p:sp>
      <p:sp>
        <p:nvSpPr>
          <p:cNvPr id="87" name="CuadroTexto 86">
            <a:extLst>
              <a:ext uri="{FF2B5EF4-FFF2-40B4-BE49-F238E27FC236}">
                <a16:creationId xmlns:a16="http://schemas.microsoft.com/office/drawing/2014/main" id="{F80C404B-DE52-489C-B94D-EB66901AFEEB}"/>
              </a:ext>
            </a:extLst>
          </p:cNvPr>
          <p:cNvSpPr txBox="1"/>
          <p:nvPr/>
        </p:nvSpPr>
        <p:spPr>
          <a:xfrm>
            <a:off x="8625496" y="3047861"/>
            <a:ext cx="1683290" cy="307777"/>
          </a:xfrm>
          <a:prstGeom prst="rect">
            <a:avLst/>
          </a:prstGeom>
          <a:noFill/>
        </p:spPr>
        <p:txBody>
          <a:bodyPr wrap="square" rtlCol="0">
            <a:spAutoFit/>
          </a:bodyPr>
          <a:lstStyle/>
          <a:p>
            <a:pPr algn="ctr"/>
            <a:r>
              <a:rPr lang="es-ES" sz="1400" b="1" dirty="0"/>
              <a:t>ADN360 Paas</a:t>
            </a:r>
          </a:p>
        </p:txBody>
      </p:sp>
      <p:cxnSp>
        <p:nvCxnSpPr>
          <p:cNvPr id="77" name="25 Conector recto de flecha">
            <a:extLst>
              <a:ext uri="{FF2B5EF4-FFF2-40B4-BE49-F238E27FC236}">
                <a16:creationId xmlns:a16="http://schemas.microsoft.com/office/drawing/2014/main" id="{0AF44588-C1EF-42CD-AC7B-674E4AAD8B23}"/>
              </a:ext>
            </a:extLst>
          </p:cNvPr>
          <p:cNvCxnSpPr>
            <a:cxnSpLocks/>
            <a:endCxn id="88" idx="1"/>
          </p:cNvCxnSpPr>
          <p:nvPr/>
        </p:nvCxnSpPr>
        <p:spPr bwMode="auto">
          <a:xfrm>
            <a:off x="7148086" y="3320153"/>
            <a:ext cx="1108347" cy="139966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8" name="Rectángulo: esquinas redondeadas 87">
            <a:extLst>
              <a:ext uri="{FF2B5EF4-FFF2-40B4-BE49-F238E27FC236}">
                <a16:creationId xmlns:a16="http://schemas.microsoft.com/office/drawing/2014/main" id="{E8C8B783-4101-4A96-A1E7-C458812D0CF7}"/>
              </a:ext>
            </a:extLst>
          </p:cNvPr>
          <p:cNvSpPr/>
          <p:nvPr/>
        </p:nvSpPr>
        <p:spPr>
          <a:xfrm>
            <a:off x="8256433" y="4266145"/>
            <a:ext cx="2294223" cy="907348"/>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sp>
        <p:nvSpPr>
          <p:cNvPr id="89" name="Rectángulo redondeado 15">
            <a:extLst>
              <a:ext uri="{FF2B5EF4-FFF2-40B4-BE49-F238E27FC236}">
                <a16:creationId xmlns:a16="http://schemas.microsoft.com/office/drawing/2014/main" id="{4392A17A-AA4D-4544-8117-74E8EC8C2300}"/>
              </a:ext>
            </a:extLst>
          </p:cNvPr>
          <p:cNvSpPr/>
          <p:nvPr/>
        </p:nvSpPr>
        <p:spPr bwMode="auto">
          <a:xfrm>
            <a:off x="8686610" y="4558324"/>
            <a:ext cx="1823676" cy="504569"/>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endParaRPr lang="es-ES" sz="738" b="1" dirty="0">
              <a:solidFill>
                <a:schemeClr val="tx1"/>
              </a:solidFill>
            </a:endParaRPr>
          </a:p>
        </p:txBody>
      </p:sp>
      <p:sp>
        <p:nvSpPr>
          <p:cNvPr id="91" name="CuadroTexto 90">
            <a:extLst>
              <a:ext uri="{FF2B5EF4-FFF2-40B4-BE49-F238E27FC236}">
                <a16:creationId xmlns:a16="http://schemas.microsoft.com/office/drawing/2014/main" id="{B0D7AC8D-3C07-45D6-87B5-D5A6447AE62E}"/>
              </a:ext>
            </a:extLst>
          </p:cNvPr>
          <p:cNvSpPr txBox="1"/>
          <p:nvPr/>
        </p:nvSpPr>
        <p:spPr>
          <a:xfrm rot="16200000">
            <a:off x="8129766" y="4548998"/>
            <a:ext cx="673127" cy="215444"/>
          </a:xfrm>
          <a:prstGeom prst="rect">
            <a:avLst/>
          </a:prstGeom>
          <a:solidFill>
            <a:srgbClr val="E0F1E1"/>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400" b="0" i="0" u="none" strike="noStrike" kern="1200" cap="none" spc="0" normalizeH="0" baseline="0" noProof="0" dirty="0">
                <a:ln>
                  <a:noFill/>
                </a:ln>
                <a:solidFill>
                  <a:srgbClr val="00B6DA"/>
                </a:solidFill>
                <a:effectLst/>
                <a:uLnTx/>
                <a:uFillTx/>
                <a:latin typeface="Arial Rounded MT Bold" panose="020F0704030504030204" pitchFamily="34" charset="0"/>
                <a:ea typeface="+mn-ea"/>
                <a:cs typeface="Aharoni" panose="02010803020104030203" pitchFamily="2" charset="-79"/>
              </a:rPr>
              <a:t>API GATEWAY</a:t>
            </a:r>
            <a:br>
              <a:rPr kumimoji="0" lang="es-ES" sz="400" b="0" i="0" u="none" strike="noStrike" kern="1200" cap="none" spc="0" normalizeH="0" baseline="0" noProof="0" dirty="0">
                <a:ln>
                  <a:noFill/>
                </a:ln>
                <a:solidFill>
                  <a:srgbClr val="00B6DA"/>
                </a:solidFill>
                <a:effectLst/>
                <a:uLnTx/>
                <a:uFillTx/>
                <a:latin typeface="Arial Rounded MT Bold" panose="020F0704030504030204" pitchFamily="34" charset="0"/>
                <a:ea typeface="+mn-ea"/>
                <a:cs typeface="Aharoni" panose="02010803020104030203" pitchFamily="2" charset="-79"/>
              </a:rPr>
            </a:br>
            <a:r>
              <a:rPr kumimoji="0" lang="es-ES" sz="400" b="0" i="0" u="none" strike="noStrike" kern="1200" cap="none" spc="0" normalizeH="0" baseline="0" noProof="0" dirty="0">
                <a:ln>
                  <a:noFill/>
                </a:ln>
                <a:solidFill>
                  <a:srgbClr val="00B6DA"/>
                </a:solidFill>
                <a:effectLst/>
                <a:uLnTx/>
                <a:uFillTx/>
                <a:latin typeface="Arial Rounded MT Bold" panose="020F0704030504030204" pitchFamily="34" charset="0"/>
                <a:ea typeface="+mn-ea"/>
                <a:cs typeface="Aharoni" panose="02010803020104030203" pitchFamily="2" charset="-79"/>
              </a:rPr>
              <a:t>Darwin</a:t>
            </a:r>
          </a:p>
        </p:txBody>
      </p:sp>
      <p:sp>
        <p:nvSpPr>
          <p:cNvPr id="92" name="Oval 18">
            <a:extLst>
              <a:ext uri="{FF2B5EF4-FFF2-40B4-BE49-F238E27FC236}">
                <a16:creationId xmlns:a16="http://schemas.microsoft.com/office/drawing/2014/main" id="{6784F2BB-9790-4EE5-B4AE-DE0ED89F3833}"/>
              </a:ext>
            </a:extLst>
          </p:cNvPr>
          <p:cNvSpPr>
            <a:spLocks noChangeArrowheads="1"/>
          </p:cNvSpPr>
          <p:nvPr/>
        </p:nvSpPr>
        <p:spPr bwMode="auto">
          <a:xfrm>
            <a:off x="10639110" y="4335666"/>
            <a:ext cx="210128" cy="210943"/>
          </a:xfrm>
          <a:prstGeom prst="ellipse">
            <a:avLst/>
          </a:prstGeom>
          <a:solidFill>
            <a:srgbClr val="00B050"/>
          </a:solidFill>
          <a:ln w="9525">
            <a:solidFill>
              <a:sysClr val="windowText" lastClr="000000">
                <a:shade val="95000"/>
                <a:satMod val="105000"/>
              </a:sys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844083" eaLnBrk="1" hangingPunct="1">
              <a:spcBef>
                <a:spcPct val="0"/>
              </a:spcBef>
              <a:buClrTx/>
              <a:buSzTx/>
              <a:buNone/>
              <a:defRPr/>
            </a:pPr>
            <a:r>
              <a:rPr lang="es-ES" altLang="es-ES" sz="831" kern="0" dirty="0">
                <a:solidFill>
                  <a:prstClr val="white"/>
                </a:solidFill>
              </a:rPr>
              <a:t>E</a:t>
            </a:r>
          </a:p>
        </p:txBody>
      </p:sp>
      <p:sp>
        <p:nvSpPr>
          <p:cNvPr id="93" name="CuadroTexto 92">
            <a:extLst>
              <a:ext uri="{FF2B5EF4-FFF2-40B4-BE49-F238E27FC236}">
                <a16:creationId xmlns:a16="http://schemas.microsoft.com/office/drawing/2014/main" id="{DA613B8E-F307-485D-85A2-B9E1C8A96D5B}"/>
              </a:ext>
            </a:extLst>
          </p:cNvPr>
          <p:cNvSpPr txBox="1"/>
          <p:nvPr/>
        </p:nvSpPr>
        <p:spPr>
          <a:xfrm>
            <a:off x="8719840" y="4274317"/>
            <a:ext cx="1683290" cy="307777"/>
          </a:xfrm>
          <a:prstGeom prst="rect">
            <a:avLst/>
          </a:prstGeom>
          <a:noFill/>
        </p:spPr>
        <p:txBody>
          <a:bodyPr wrap="square" rtlCol="0">
            <a:spAutoFit/>
          </a:bodyPr>
          <a:lstStyle/>
          <a:p>
            <a:pPr algn="ctr"/>
            <a:r>
              <a:rPr lang="es-ES" sz="1400" b="1" dirty="0"/>
              <a:t>Intranet HC 20 Paas</a:t>
            </a:r>
          </a:p>
        </p:txBody>
      </p:sp>
      <p:pic>
        <p:nvPicPr>
          <p:cNvPr id="94" name="161 Imagen">
            <a:extLst>
              <a:ext uri="{FF2B5EF4-FFF2-40B4-BE49-F238E27FC236}">
                <a16:creationId xmlns:a16="http://schemas.microsoft.com/office/drawing/2014/main" id="{E568CE37-F590-4B18-B393-7C11075CE37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861404" y="4901202"/>
            <a:ext cx="428176" cy="128673"/>
          </a:xfrm>
          <a:prstGeom prst="rect">
            <a:avLst/>
          </a:prstGeom>
        </p:spPr>
      </p:pic>
      <p:sp>
        <p:nvSpPr>
          <p:cNvPr id="95" name="Rectángulo 94">
            <a:extLst>
              <a:ext uri="{FF2B5EF4-FFF2-40B4-BE49-F238E27FC236}">
                <a16:creationId xmlns:a16="http://schemas.microsoft.com/office/drawing/2014/main" id="{0CB92A4B-D88C-4B00-A64C-93FCA9F74EA8}"/>
              </a:ext>
            </a:extLst>
          </p:cNvPr>
          <p:cNvSpPr/>
          <p:nvPr/>
        </p:nvSpPr>
        <p:spPr>
          <a:xfrm>
            <a:off x="8751464" y="4647391"/>
            <a:ext cx="1090363" cy="215444"/>
          </a:xfrm>
          <a:prstGeom prst="rect">
            <a:avLst/>
          </a:prstGeom>
        </p:spPr>
        <p:txBody>
          <a:bodyPr wrap="none">
            <a:spAutoFit/>
          </a:bodyPr>
          <a:lstStyle/>
          <a:p>
            <a:r>
              <a:rPr lang="es-ES" sz="800" b="1" dirty="0"/>
              <a:t>MICRO acceso Oracle</a:t>
            </a:r>
            <a:endParaRPr lang="es-ES" dirty="0"/>
          </a:p>
        </p:txBody>
      </p:sp>
      <p:sp>
        <p:nvSpPr>
          <p:cNvPr id="80" name="Oval 18">
            <a:extLst>
              <a:ext uri="{FF2B5EF4-FFF2-40B4-BE49-F238E27FC236}">
                <a16:creationId xmlns:a16="http://schemas.microsoft.com/office/drawing/2014/main" id="{6C151F48-048E-4A22-8071-26072FC70489}"/>
              </a:ext>
            </a:extLst>
          </p:cNvPr>
          <p:cNvSpPr>
            <a:spLocks noChangeArrowheads="1"/>
          </p:cNvSpPr>
          <p:nvPr/>
        </p:nvSpPr>
        <p:spPr bwMode="auto">
          <a:xfrm>
            <a:off x="7326127" y="1840971"/>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96" name="Oval 18">
            <a:extLst>
              <a:ext uri="{FF2B5EF4-FFF2-40B4-BE49-F238E27FC236}">
                <a16:creationId xmlns:a16="http://schemas.microsoft.com/office/drawing/2014/main" id="{01CD9350-CA0B-4AAC-BEDD-8E20C039F11B}"/>
              </a:ext>
            </a:extLst>
          </p:cNvPr>
          <p:cNvSpPr>
            <a:spLocks noChangeArrowheads="1"/>
          </p:cNvSpPr>
          <p:nvPr/>
        </p:nvSpPr>
        <p:spPr bwMode="auto">
          <a:xfrm>
            <a:off x="5199223" y="1681497"/>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Tree>
    <p:extLst>
      <p:ext uri="{BB962C8B-B14F-4D97-AF65-F5344CB8AC3E}">
        <p14:creationId xmlns:p14="http://schemas.microsoft.com/office/powerpoint/2010/main" val="42283337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10758734" cy="304800"/>
          </a:xfrm>
        </p:spPr>
        <p:txBody>
          <a:bodyPr/>
          <a:lstStyle/>
          <a:p>
            <a:r>
              <a:rPr lang="es-ES" sz="1477" dirty="0">
                <a:solidFill>
                  <a:srgbClr val="FF0000"/>
                </a:solidFill>
                <a:latin typeface="Gadugi" panose="020B0502040204020203" pitchFamily="34" charset="0"/>
              </a:rPr>
              <a:t>Solución Técnica – </a:t>
            </a:r>
            <a:r>
              <a:rPr lang="pt-BR" sz="1477" dirty="0">
                <a:solidFill>
                  <a:srgbClr val="FF0000"/>
                </a:solidFill>
                <a:latin typeface="Gadugi" panose="020B0502040204020203" pitchFamily="34" charset="0"/>
              </a:rPr>
              <a:t>Mapa Técnico de Arquitectura </a:t>
            </a:r>
            <a:r>
              <a:rPr lang="es-ES" sz="1477" dirty="0">
                <a:solidFill>
                  <a:srgbClr val="FF0000"/>
                </a:solidFill>
                <a:latin typeface="Gadugi" panose="020B0502040204020203" pitchFamily="34" charset="0"/>
              </a:rPr>
              <a:t>del Proyecto</a:t>
            </a:r>
          </a:p>
        </p:txBody>
      </p:sp>
      <p:sp>
        <p:nvSpPr>
          <p:cNvPr id="230" name="Título 4">
            <a:extLst>
              <a:ext uri="{FF2B5EF4-FFF2-40B4-BE49-F238E27FC236}">
                <a16:creationId xmlns:a16="http://schemas.microsoft.com/office/drawing/2014/main" id="{DC1FAD1E-C729-4AC4-B217-967B5ACFFD49}"/>
              </a:ext>
            </a:extLst>
          </p:cNvPr>
          <p:cNvSpPr txBox="1">
            <a:spLocks/>
          </p:cNvSpPr>
          <p:nvPr/>
        </p:nvSpPr>
        <p:spPr>
          <a:xfrm>
            <a:off x="686870" y="622151"/>
            <a:ext cx="11196488" cy="468000"/>
          </a:xfrm>
          <a:prstGeom prst="rect">
            <a:avLst/>
          </a:prstGeom>
        </p:spPr>
        <p:txBody>
          <a:bodyPr vert="horz" lIns="91440" tIns="45720" rIns="91440" bIns="45720" rtlCol="0" anchor="t">
            <a:normAutofit fontScale="92500"/>
          </a:bodyPr>
          <a:lst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a:lstStyle>
          <a:p>
            <a:r>
              <a:rPr lang="es-ES" sz="2400" dirty="0">
                <a:solidFill>
                  <a:srgbClr val="FF0000"/>
                </a:solidFill>
              </a:rPr>
              <a:t>Descripción </a:t>
            </a:r>
            <a:r>
              <a:rPr lang="es-ES" altLang="es-ES" sz="2400" dirty="0">
                <a:solidFill>
                  <a:srgbClr val="FF0000"/>
                </a:solidFill>
              </a:rPr>
              <a:t>Proceso de e</a:t>
            </a:r>
            <a:r>
              <a:rPr lang="es-ES" sz="2400" dirty="0">
                <a:solidFill>
                  <a:srgbClr val="FF0000"/>
                </a:solidFill>
              </a:rPr>
              <a:t>nvío de información a Sistema de adhesión de campañas por MGM</a:t>
            </a:r>
            <a:endParaRPr lang="es-ES_tradnl" altLang="es-ES" sz="2400" dirty="0">
              <a:solidFill>
                <a:srgbClr val="FF0000"/>
              </a:solidFill>
            </a:endParaRPr>
          </a:p>
          <a:p>
            <a:endParaRPr lang="es-ES" sz="2400" dirty="0">
              <a:solidFill>
                <a:srgbClr val="FF0000"/>
              </a:solidFill>
            </a:endParaRPr>
          </a:p>
        </p:txBody>
      </p:sp>
      <p:graphicFrame>
        <p:nvGraphicFramePr>
          <p:cNvPr id="5" name="Group 6">
            <a:extLst>
              <a:ext uri="{FF2B5EF4-FFF2-40B4-BE49-F238E27FC236}">
                <a16:creationId xmlns:a16="http://schemas.microsoft.com/office/drawing/2014/main" id="{11F2916E-E302-4CCE-8E20-2FC50649118A}"/>
              </a:ext>
            </a:extLst>
          </p:cNvPr>
          <p:cNvGraphicFramePr>
            <a:graphicFrameLocks/>
          </p:cNvGraphicFramePr>
          <p:nvPr>
            <p:extLst>
              <p:ext uri="{D42A27DB-BD31-4B8C-83A1-F6EECF244321}">
                <p14:modId xmlns:p14="http://schemas.microsoft.com/office/powerpoint/2010/main" val="134603957"/>
              </p:ext>
            </p:extLst>
          </p:nvPr>
        </p:nvGraphicFramePr>
        <p:xfrm>
          <a:off x="1173707" y="1318063"/>
          <a:ext cx="9976514" cy="1996611"/>
        </p:xfrm>
        <a:graphic>
          <a:graphicData uri="http://schemas.openxmlformats.org/drawingml/2006/table">
            <a:tbl>
              <a:tblPr/>
              <a:tblGrid>
                <a:gridCol w="1119117">
                  <a:extLst>
                    <a:ext uri="{9D8B030D-6E8A-4147-A177-3AD203B41FA5}">
                      <a16:colId xmlns:a16="http://schemas.microsoft.com/office/drawing/2014/main" val="20000"/>
                    </a:ext>
                  </a:extLst>
                </a:gridCol>
                <a:gridCol w="8857397">
                  <a:extLst>
                    <a:ext uri="{9D8B030D-6E8A-4147-A177-3AD203B41FA5}">
                      <a16:colId xmlns:a16="http://schemas.microsoft.com/office/drawing/2014/main" val="20001"/>
                    </a:ext>
                  </a:extLst>
                </a:gridCol>
              </a:tblGrid>
              <a:tr h="453517">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Paso</a:t>
                      </a:r>
                    </a:p>
                  </a:txBody>
                  <a:tcPr marL="90007" marR="90007"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lang="es-ES" sz="1200" kern="1200" dirty="0">
                          <a:solidFill>
                            <a:schemeClr val="bg1">
                              <a:lumMod val="50000"/>
                            </a:schemeClr>
                          </a:solidFill>
                          <a:latin typeface="Arial" charset="0"/>
                          <a:ea typeface="+mn-ea"/>
                          <a:cs typeface="Arial" charset="0"/>
                        </a:rPr>
                        <a:t>Descripción </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749090">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6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altLang="es-ES" sz="1200" kern="1200" dirty="0">
                          <a:solidFill>
                            <a:schemeClr val="bg1">
                              <a:lumMod val="50000"/>
                            </a:schemeClr>
                          </a:solidFill>
                          <a:latin typeface="Arial" charset="0"/>
                          <a:ea typeface="+mn-ea"/>
                          <a:cs typeface="Arial" charset="0"/>
                        </a:rPr>
                        <a:t>En un máquina de procesos Batch en sistemas medios estará alojado el proceso que </a:t>
                      </a:r>
                      <a:r>
                        <a:rPr lang="es-ES" altLang="es-ES" sz="1200" kern="1200" dirty="0">
                          <a:solidFill>
                            <a:schemeClr val="bg1">
                              <a:lumMod val="50000"/>
                            </a:schemeClr>
                          </a:solidFill>
                          <a:latin typeface="Arial" charset="0"/>
                          <a:ea typeface="+mn-ea"/>
                          <a:cs typeface="Arial" charset="0"/>
                        </a:rPr>
                        <a:t>g</a:t>
                      </a:r>
                      <a:r>
                        <a:rPr lang="es-ES" sz="1200" kern="1200" dirty="0">
                          <a:solidFill>
                            <a:schemeClr val="bg1">
                              <a:lumMod val="50000"/>
                            </a:schemeClr>
                          </a:solidFill>
                          <a:latin typeface="Arial" charset="0"/>
                          <a:ea typeface="+mn-ea"/>
                          <a:cs typeface="Arial" charset="0"/>
                        </a:rPr>
                        <a:t>enera un archivo con la información de los clientes que han utilizado un código de promoción valido para el proyecto MGM  y cuya cuenta se ha activado en las últimas 24h.</a:t>
                      </a:r>
                    </a:p>
                    <a:p>
                      <a:pPr>
                        <a:defRPr/>
                      </a:pPr>
                      <a:endParaRPr lang="es-ES_tradnl" altLang="es-ES" sz="1200" kern="1200" dirty="0">
                        <a:solidFill>
                          <a:schemeClr val="bg1">
                            <a:lumMod val="50000"/>
                          </a:schemeClr>
                        </a:solidFill>
                        <a:latin typeface="Arial" charset="0"/>
                        <a:ea typeface="+mn-ea"/>
                        <a:cs typeface="Arial" charset="0"/>
                      </a:endParaRP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0282">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6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lang="es-ES_tradnl" altLang="es-ES" sz="1200" kern="1200" dirty="0">
                          <a:solidFill>
                            <a:schemeClr val="bg1">
                              <a:lumMod val="50000"/>
                            </a:schemeClr>
                          </a:solidFill>
                          <a:latin typeface="Arial" charset="0"/>
                          <a:ea typeface="+mn-ea"/>
                          <a:cs typeface="Arial" charset="0"/>
                        </a:rPr>
                        <a:t>Desde Control M se deja el fichero en un file system existente de adhesión de campañas.</a:t>
                      </a: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20947646"/>
                  </a:ext>
                </a:extLst>
              </a:tr>
            </a:tbl>
          </a:graphicData>
        </a:graphic>
      </p:graphicFrame>
      <p:sp>
        <p:nvSpPr>
          <p:cNvPr id="7" name="Oval 18">
            <a:extLst>
              <a:ext uri="{FF2B5EF4-FFF2-40B4-BE49-F238E27FC236}">
                <a16:creationId xmlns:a16="http://schemas.microsoft.com/office/drawing/2014/main" id="{921EBAC9-B09B-4214-B61E-FA7BB41D1960}"/>
              </a:ext>
            </a:extLst>
          </p:cNvPr>
          <p:cNvSpPr>
            <a:spLocks noChangeArrowheads="1"/>
          </p:cNvSpPr>
          <p:nvPr/>
        </p:nvSpPr>
        <p:spPr bwMode="auto">
          <a:xfrm>
            <a:off x="1598024" y="1935312"/>
            <a:ext cx="252000" cy="2520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a:buNone/>
            </a:pPr>
            <a:r>
              <a:rPr lang="es-ES" altLang="es-ES" sz="1200" dirty="0">
                <a:solidFill>
                  <a:schemeClr val="lt1"/>
                </a:solidFill>
              </a:rPr>
              <a:t>1</a:t>
            </a:r>
          </a:p>
        </p:txBody>
      </p:sp>
      <p:sp>
        <p:nvSpPr>
          <p:cNvPr id="9" name="Elipse 8">
            <a:extLst>
              <a:ext uri="{FF2B5EF4-FFF2-40B4-BE49-F238E27FC236}">
                <a16:creationId xmlns:a16="http://schemas.microsoft.com/office/drawing/2014/main" id="{98BD64C7-0D94-4570-933C-8921B284064A}"/>
              </a:ext>
            </a:extLst>
          </p:cNvPr>
          <p:cNvSpPr/>
          <p:nvPr/>
        </p:nvSpPr>
        <p:spPr>
          <a:xfrm>
            <a:off x="1598024" y="2804561"/>
            <a:ext cx="252000" cy="26044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s-ES_tradnl" sz="1200" b="1" dirty="0"/>
              <a:t>2</a:t>
            </a:r>
          </a:p>
        </p:txBody>
      </p:sp>
    </p:spTree>
    <p:extLst>
      <p:ext uri="{BB962C8B-B14F-4D97-AF65-F5344CB8AC3E}">
        <p14:creationId xmlns:p14="http://schemas.microsoft.com/office/powerpoint/2010/main" val="3942070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6">
            <a:extLst>
              <a:ext uri="{FF2B5EF4-FFF2-40B4-BE49-F238E27FC236}">
                <a16:creationId xmlns:a16="http://schemas.microsoft.com/office/drawing/2014/main" id="{A9D60774-6482-4FC9-B13E-DB4517CCA5D5}"/>
              </a:ext>
            </a:extLst>
          </p:cNvPr>
          <p:cNvGraphicFramePr>
            <a:graphicFrameLocks/>
          </p:cNvGraphicFramePr>
          <p:nvPr>
            <p:extLst>
              <p:ext uri="{D42A27DB-BD31-4B8C-83A1-F6EECF244321}">
                <p14:modId xmlns:p14="http://schemas.microsoft.com/office/powerpoint/2010/main" val="1559988025"/>
              </p:ext>
            </p:extLst>
          </p:nvPr>
        </p:nvGraphicFramePr>
        <p:xfrm>
          <a:off x="827648" y="585866"/>
          <a:ext cx="10536702" cy="5643204"/>
        </p:xfrm>
        <a:graphic>
          <a:graphicData uri="http://schemas.openxmlformats.org/drawingml/2006/table">
            <a:tbl>
              <a:tblPr/>
              <a:tblGrid>
                <a:gridCol w="2563251">
                  <a:extLst>
                    <a:ext uri="{9D8B030D-6E8A-4147-A177-3AD203B41FA5}">
                      <a16:colId xmlns:a16="http://schemas.microsoft.com/office/drawing/2014/main" val="20000"/>
                    </a:ext>
                  </a:extLst>
                </a:gridCol>
                <a:gridCol w="40132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gridCol w="1577474">
                  <a:extLst>
                    <a:ext uri="{9D8B030D-6E8A-4147-A177-3AD203B41FA5}">
                      <a16:colId xmlns:a16="http://schemas.microsoft.com/office/drawing/2014/main" val="20003"/>
                    </a:ext>
                  </a:extLst>
                </a:gridCol>
                <a:gridCol w="1049277">
                  <a:extLst>
                    <a:ext uri="{9D8B030D-6E8A-4147-A177-3AD203B41FA5}">
                      <a16:colId xmlns:a16="http://schemas.microsoft.com/office/drawing/2014/main" val="20004"/>
                    </a:ext>
                  </a:extLst>
                </a:gridCol>
              </a:tblGrid>
              <a:tr h="413316">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000" b="1" i="0" u="none" strike="noStrike" cap="none" normalizeH="0" baseline="0" dirty="0">
                          <a:ln>
                            <a:noFill/>
                          </a:ln>
                          <a:solidFill>
                            <a:schemeClr val="bg1"/>
                          </a:solidFill>
                          <a:effectLst/>
                          <a:latin typeface="+mj-lt"/>
                        </a:rPr>
                        <a:t>Componentes</a:t>
                      </a:r>
                    </a:p>
                  </a:txBody>
                  <a:tcPr marL="90003" marR="90003" marT="46783" marB="46783"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000" b="1" i="0" u="none" strike="noStrike" cap="none" normalizeH="0" baseline="0" dirty="0">
                          <a:ln>
                            <a:noFill/>
                          </a:ln>
                          <a:solidFill>
                            <a:schemeClr val="bg1"/>
                          </a:solidFill>
                          <a:effectLst/>
                          <a:latin typeface="+mj-lt"/>
                        </a:rPr>
                        <a:t>Descripción</a:t>
                      </a:r>
                    </a:p>
                  </a:txBody>
                  <a:tcPr marL="90003" marR="90003" marT="46783" marB="4678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000" b="1" i="0" u="none" strike="noStrike" cap="none" normalizeH="0" baseline="0" dirty="0">
                          <a:ln>
                            <a:noFill/>
                          </a:ln>
                          <a:solidFill>
                            <a:schemeClr val="bg1"/>
                          </a:solidFill>
                          <a:effectLst/>
                          <a:latin typeface="+mj-lt"/>
                        </a:rPr>
                        <a:t>Aplicabilidad</a:t>
                      </a:r>
                    </a:p>
                  </a:txBody>
                  <a:tcPr marL="90003" marR="90003" marT="46783" marB="4678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000" b="1" i="0" u="none" strike="noStrike" cap="none" normalizeH="0" baseline="0" dirty="0">
                          <a:ln>
                            <a:noFill/>
                          </a:ln>
                          <a:solidFill>
                            <a:schemeClr val="bg1"/>
                          </a:solidFill>
                          <a:effectLst/>
                          <a:latin typeface="+mj-lt"/>
                        </a:rPr>
                        <a:t>Tecnología</a:t>
                      </a:r>
                    </a:p>
                  </a:txBody>
                  <a:tcPr marL="90003" marR="90003" marT="46783" marB="4678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000" b="1" i="0" u="none" strike="noStrike" cap="none" normalizeH="0" baseline="0" dirty="0">
                          <a:ln>
                            <a:noFill/>
                          </a:ln>
                          <a:solidFill>
                            <a:schemeClr val="bg1"/>
                          </a:solidFill>
                          <a:effectLst/>
                          <a:latin typeface="+mj-lt"/>
                        </a:rPr>
                        <a:t>Tipo de</a:t>
                      </a:r>
                    </a:p>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000" b="1" i="0" u="none" strike="noStrike" cap="none" normalizeH="0" baseline="0" dirty="0">
                          <a:ln>
                            <a:noFill/>
                          </a:ln>
                          <a:solidFill>
                            <a:schemeClr val="bg1"/>
                          </a:solidFill>
                          <a:effectLst/>
                          <a:latin typeface="+mj-lt"/>
                        </a:rPr>
                        <a:t>Integración</a:t>
                      </a:r>
                    </a:p>
                  </a:txBody>
                  <a:tcPr marL="90003" marR="90003" marT="46783" marB="4678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1"/>
                  </a:ext>
                </a:extLst>
              </a:tr>
              <a:tr h="263185">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sym typeface="Wingdings" pitchFamily="2" charset="2"/>
                        </a:rPr>
                        <a:t>STS</a:t>
                      </a:r>
                    </a:p>
                  </a:txBody>
                  <a:tcPr marL="95261" marR="95261" marT="50633" marB="50633"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Convierte Token JWT a Token Corporativo.</a:t>
                      </a:r>
                    </a:p>
                  </a:txBody>
                  <a:tcPr marL="95261" marR="95261" marT="50633" marB="5063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noProof="0" dirty="0">
                          <a:solidFill>
                            <a:schemeClr val="tx1">
                              <a:lumMod val="75000"/>
                              <a:lumOff val="25000"/>
                            </a:schemeClr>
                          </a:solidFill>
                          <a:latin typeface="Arial" charset="0"/>
                          <a:ea typeface="+mn-ea"/>
                          <a:cs typeface="Arial" charset="0"/>
                        </a:rPr>
                        <a:t>Existente </a:t>
                      </a:r>
                    </a:p>
                  </a:txBody>
                  <a:tcPr marL="90013" marR="90013" marT="46777" marB="4677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Arquitectura Darwin</a:t>
                      </a: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REST/https</a:t>
                      </a: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45658284"/>
                  </a:ext>
                </a:extLst>
              </a:tr>
              <a:tr h="263185">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sym typeface="Wingdings" pitchFamily="2" charset="2"/>
                        </a:rPr>
                        <a:t>PKM</a:t>
                      </a:r>
                    </a:p>
                  </a:txBody>
                  <a:tcPr marL="95261" marR="95261" marT="50633" marB="50633"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Recupera las claves públicas a través del servicio de seguridad</a:t>
                      </a:r>
                    </a:p>
                  </a:txBody>
                  <a:tcPr marL="95261" marR="95261" marT="50633" marB="5063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noProof="0" dirty="0">
                          <a:solidFill>
                            <a:schemeClr val="tx1">
                              <a:lumMod val="75000"/>
                              <a:lumOff val="25000"/>
                            </a:schemeClr>
                          </a:solidFill>
                          <a:latin typeface="Arial" charset="0"/>
                          <a:ea typeface="+mn-ea"/>
                          <a:cs typeface="Arial" charset="0"/>
                        </a:rPr>
                        <a:t>Existente </a:t>
                      </a:r>
                    </a:p>
                  </a:txBody>
                  <a:tcPr marL="90013" marR="90013" marT="46777" marB="4677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Arquitectura Darwin</a:t>
                      </a: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REST/https</a:t>
                      </a: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52923685"/>
                  </a:ext>
                </a:extLst>
              </a:tr>
              <a:tr h="57942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sym typeface="Wingdings" pitchFamily="2" charset="2"/>
                        </a:rPr>
                        <a:t>SCC</a:t>
                      </a:r>
                    </a:p>
                  </a:txBody>
                  <a:tcPr marL="95261" marR="95261" marT="50633" marB="50633"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Transforma cookie sesión en un token corporativo. También se utiliza para la regeneración del mismo evitando así que caduque si existe actividad por parte del usuario.</a:t>
                      </a:r>
                    </a:p>
                  </a:txBody>
                  <a:tcPr marL="95261" marR="95261" marT="50633" marB="5063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noProof="0" dirty="0">
                          <a:solidFill>
                            <a:schemeClr val="tx1">
                              <a:lumMod val="75000"/>
                              <a:lumOff val="25000"/>
                            </a:schemeClr>
                          </a:solidFill>
                          <a:latin typeface="Arial" charset="0"/>
                          <a:ea typeface="+mn-ea"/>
                          <a:cs typeface="Arial" charset="0"/>
                        </a:rPr>
                        <a:t>Existente</a:t>
                      </a:r>
                    </a:p>
                  </a:txBody>
                  <a:tcPr marL="90013" marR="90013" marT="46777" marB="4677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Arquitectura Darwin</a:t>
                      </a: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REST/https</a:t>
                      </a:r>
                    </a:p>
                    <a:p>
                      <a:pPr marL="0" marR="0" lvl="0" indent="0" algn="ctr" defTabSz="914400" rtl="0" eaLnBrk="1" fontAlgn="t" latinLnBrk="0" hangingPunct="1">
                        <a:lnSpc>
                          <a:spcPct val="100000"/>
                        </a:lnSpc>
                        <a:spcBef>
                          <a:spcPct val="20000"/>
                        </a:spcBef>
                        <a:spcAft>
                          <a:spcPct val="0"/>
                        </a:spcAft>
                        <a:buClrTx/>
                        <a:buSzTx/>
                        <a:buFontTx/>
                        <a:buNone/>
                        <a:tabLst/>
                        <a:defRPr/>
                      </a:pPr>
                      <a:endParaRPr lang="en-US"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97073478"/>
                  </a:ext>
                </a:extLst>
              </a:tr>
              <a:tr h="579424">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sym typeface="Wingdings" pitchFamily="2" charset="2"/>
                        </a:rPr>
                        <a:t>DataGrid</a:t>
                      </a:r>
                    </a:p>
                  </a:txBody>
                  <a:tcPr marL="95261" marR="95261" marT="50633" marB="50633"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Sistema de cacheo para </a:t>
                      </a:r>
                      <a:r>
                        <a:rPr lang="es-ES" sz="1000" kern="1200" dirty="0" err="1">
                          <a:solidFill>
                            <a:schemeClr val="tx1">
                              <a:lumMod val="75000"/>
                              <a:lumOff val="25000"/>
                            </a:schemeClr>
                          </a:solidFill>
                          <a:latin typeface="Arial" charset="0"/>
                          <a:ea typeface="+mn-ea"/>
                          <a:cs typeface="Arial" charset="0"/>
                        </a:rPr>
                        <a:t>persistr</a:t>
                      </a:r>
                      <a:r>
                        <a:rPr lang="es-ES" sz="1000" kern="1200" dirty="0">
                          <a:solidFill>
                            <a:schemeClr val="tx1">
                              <a:lumMod val="75000"/>
                              <a:lumOff val="25000"/>
                            </a:schemeClr>
                          </a:solidFill>
                          <a:latin typeface="Arial" charset="0"/>
                          <a:ea typeface="+mn-ea"/>
                          <a:cs typeface="Arial" charset="0"/>
                        </a:rPr>
                        <a:t> información</a:t>
                      </a:r>
                    </a:p>
                  </a:txBody>
                  <a:tcPr marL="95261" marR="95261" marT="50633" marB="5063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noProof="0" dirty="0">
                          <a:solidFill>
                            <a:schemeClr val="tx1">
                              <a:lumMod val="75000"/>
                              <a:lumOff val="25000"/>
                            </a:schemeClr>
                          </a:solidFill>
                          <a:latin typeface="Arial" charset="0"/>
                          <a:ea typeface="+mn-ea"/>
                          <a:cs typeface="Arial" charset="0"/>
                        </a:rPr>
                        <a:t>Existente</a:t>
                      </a:r>
                    </a:p>
                  </a:txBody>
                  <a:tcPr marL="90013" marR="90013" marT="46777" marB="4677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Arquitectura Darwin</a:t>
                      </a: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REST/https</a:t>
                      </a: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10649087"/>
                  </a:ext>
                </a:extLst>
              </a:tr>
              <a:tr h="263185">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sym typeface="Wingdings" pitchFamily="2" charset="2"/>
                        </a:rPr>
                        <a:t>Seguridad Operativa</a:t>
                      </a:r>
                    </a:p>
                  </a:txBody>
                  <a:tcPr marL="95261" marR="95261" marT="50633" marB="50633"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Valida la Seguridad propia de las aplicaciones y de los procesos, que se resuelve dependiendo de variados parámetros, como puedan ser datos de las operaciones, canal de ejecución, tipología de usuario que está ejecutando, etc.</a:t>
                      </a:r>
                      <a:endParaRPr lang="es-ES" sz="1000" kern="1200" dirty="0">
                        <a:solidFill>
                          <a:schemeClr val="tx1">
                            <a:lumMod val="75000"/>
                            <a:lumOff val="25000"/>
                          </a:schemeClr>
                        </a:solidFill>
                        <a:latin typeface="Arial" charset="0"/>
                        <a:ea typeface="+mn-ea"/>
                        <a:cs typeface="Arial" charset="0"/>
                        <a:sym typeface="Wingdings" pitchFamily="2" charset="2"/>
                      </a:endParaRPr>
                    </a:p>
                  </a:txBody>
                  <a:tcPr marL="95261" marR="95261" marT="50633" marB="5063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noProof="0" dirty="0">
                          <a:solidFill>
                            <a:schemeClr val="tx1">
                              <a:lumMod val="75000"/>
                              <a:lumOff val="25000"/>
                            </a:schemeClr>
                          </a:solidFill>
                          <a:latin typeface="Arial" charset="0"/>
                          <a:ea typeface="+mn-ea"/>
                          <a:cs typeface="Arial" charset="0"/>
                        </a:rPr>
                        <a:t>Existente</a:t>
                      </a:r>
                    </a:p>
                  </a:txBody>
                  <a:tcPr marL="90013" marR="90013" marT="46777" marB="4677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Arquitectura Darwin</a:t>
                      </a: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REST/https</a:t>
                      </a: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3747573"/>
                  </a:ext>
                </a:extLst>
              </a:tr>
              <a:tr h="263185">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sym typeface="Wingdings" pitchFamily="2" charset="2"/>
                        </a:rPr>
                        <a:t>BKS</a:t>
                      </a:r>
                    </a:p>
                  </a:txBody>
                  <a:tcPr marL="95261" marR="95261" marT="50633" marB="50633"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sym typeface="Wingdings" pitchFamily="2" charset="2"/>
                        </a:rPr>
                        <a:t>Se invoca a servicios de Backend existentes</a:t>
                      </a:r>
                    </a:p>
                  </a:txBody>
                  <a:tcPr marL="95261" marR="95261" marT="50633" marB="5063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noProof="0" dirty="0">
                          <a:solidFill>
                            <a:schemeClr val="tx1">
                              <a:lumMod val="75000"/>
                              <a:lumOff val="25000"/>
                            </a:schemeClr>
                          </a:solidFill>
                          <a:latin typeface="Arial" charset="0"/>
                          <a:ea typeface="+mn-ea"/>
                          <a:cs typeface="Arial" charset="0"/>
                        </a:rPr>
                        <a:t>Existente</a:t>
                      </a:r>
                    </a:p>
                  </a:txBody>
                  <a:tcPr marL="90013" marR="90013" marT="46777" marB="4677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Arquitectura BKS</a:t>
                      </a: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SOAP/https</a:t>
                      </a: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48012912"/>
                  </a:ext>
                </a:extLst>
              </a:tr>
              <a:tr h="263185">
                <a:tc>
                  <a:txBody>
                    <a:bodyPr/>
                    <a:lstStyle/>
                    <a:p>
                      <a:pPr algn="l">
                        <a:lnSpc>
                          <a:spcPts val="2400"/>
                        </a:lnSpc>
                        <a:defRPr sz="1800"/>
                      </a:pPr>
                      <a:r>
                        <a:rPr lang="es-ES" sz="1000" kern="1200" noProof="0" dirty="0">
                          <a:solidFill>
                            <a:schemeClr val="tx1">
                              <a:lumMod val="75000"/>
                              <a:lumOff val="25000"/>
                            </a:schemeClr>
                          </a:solidFill>
                          <a:latin typeface="Arial" charset="0"/>
                          <a:ea typeface="+mn-ea"/>
                          <a:cs typeface="Arial" charset="0"/>
                        </a:rPr>
                        <a:t>PaaS Internet HC20</a:t>
                      </a:r>
                    </a:p>
                  </a:txBody>
                  <a:tcPr marL="45702" marR="45702" marT="45702" marB="45702"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l">
                        <a:lnSpc>
                          <a:spcPct val="85000"/>
                        </a:lnSpc>
                        <a:defRPr sz="1800"/>
                      </a:pPr>
                      <a:r>
                        <a:rPr lang="es-ES" sz="1000" kern="1200" noProof="0" dirty="0">
                          <a:solidFill>
                            <a:schemeClr val="tx1">
                              <a:lumMod val="75000"/>
                              <a:lumOff val="25000"/>
                            </a:schemeClr>
                          </a:solidFill>
                          <a:latin typeface="Arial" charset="0"/>
                          <a:ea typeface="+mn-ea"/>
                          <a:cs typeface="Arial" charset="0"/>
                        </a:rPr>
                        <a:t>Existente</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lnSpc>
                          <a:spcPts val="2400"/>
                        </a:lnSpc>
                        <a:defRPr sz="1800"/>
                      </a:pPr>
                      <a:r>
                        <a:rPr lang="es-ES" sz="1000" kern="1200" noProof="0" dirty="0">
                          <a:solidFill>
                            <a:schemeClr val="tx1">
                              <a:lumMod val="75000"/>
                              <a:lumOff val="25000"/>
                            </a:schemeClr>
                          </a:solidFill>
                          <a:latin typeface="Arial" charset="0"/>
                          <a:ea typeface="+mn-ea"/>
                          <a:cs typeface="Arial" charset="0"/>
                        </a:rPr>
                        <a:t>Alta Cliente </a:t>
                      </a:r>
                      <a:r>
                        <a:rPr lang="es-ES" sz="1000" kern="1200" noProof="0" dirty="0" err="1">
                          <a:solidFill>
                            <a:schemeClr val="tx1">
                              <a:lumMod val="75000"/>
                              <a:lumOff val="25000"/>
                            </a:schemeClr>
                          </a:solidFill>
                          <a:latin typeface="Arial" charset="0"/>
                          <a:ea typeface="+mn-ea"/>
                          <a:cs typeface="Arial" charset="0"/>
                        </a:rPr>
                        <a:t>On</a:t>
                      </a:r>
                      <a:r>
                        <a:rPr lang="es-ES" sz="1000" kern="1200" noProof="0" dirty="0">
                          <a:solidFill>
                            <a:schemeClr val="tx1">
                              <a:lumMod val="75000"/>
                              <a:lumOff val="25000"/>
                            </a:schemeClr>
                          </a:solidFill>
                          <a:latin typeface="Arial" charset="0"/>
                          <a:ea typeface="+mn-ea"/>
                          <a:cs typeface="Arial" charset="0"/>
                        </a:rPr>
                        <a:t> Line</a:t>
                      </a:r>
                    </a:p>
                  </a:txBody>
                  <a:tcPr marL="45702" marR="45702" marT="45702" marB="45702"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spcBef>
                          <a:spcPts val="0"/>
                        </a:spcBef>
                        <a:defRPr sz="1800"/>
                      </a:pPr>
                      <a:r>
                        <a:rPr lang="es-ES" sz="1000" kern="1200" noProof="0" dirty="0">
                          <a:solidFill>
                            <a:schemeClr val="tx1">
                              <a:lumMod val="75000"/>
                              <a:lumOff val="25000"/>
                            </a:schemeClr>
                          </a:solidFill>
                          <a:latin typeface="Arial" charset="0"/>
                          <a:ea typeface="+mn-ea"/>
                          <a:cs typeface="Arial" charset="0"/>
                        </a:rPr>
                        <a:t>Open Shift</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85000"/>
                        </a:lnSpc>
                        <a:spcBef>
                          <a:spcPts val="400"/>
                        </a:spcBef>
                        <a:spcAft>
                          <a:spcPts val="0"/>
                        </a:spcAft>
                        <a:buClrTx/>
                        <a:buSzTx/>
                        <a:buFontTx/>
                        <a:buNone/>
                        <a:tabLst/>
                        <a:defRPr b="1"/>
                      </a:pPr>
                      <a:r>
                        <a:rPr lang="es-ES" sz="1000" kern="1200" dirty="0">
                          <a:solidFill>
                            <a:schemeClr val="tx1">
                              <a:lumMod val="75000"/>
                              <a:lumOff val="25000"/>
                            </a:schemeClr>
                          </a:solidFill>
                          <a:latin typeface="Arial" charset="0"/>
                          <a:ea typeface="+mn-ea"/>
                          <a:cs typeface="Arial" charset="0"/>
                        </a:rPr>
                        <a:t>Microservicios que ofrece el sistemas en el PaaS</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61427185"/>
                  </a:ext>
                </a:extLst>
              </a:tr>
              <a:tr h="263185">
                <a:tc>
                  <a:txBody>
                    <a:bodyPr/>
                    <a:lstStyle/>
                    <a:p>
                      <a:pPr algn="l">
                        <a:lnSpc>
                          <a:spcPts val="2400"/>
                        </a:lnSpc>
                        <a:defRPr sz="1800"/>
                      </a:pPr>
                      <a:r>
                        <a:rPr lang="es-ES" sz="1000" kern="1200" noProof="0" dirty="0">
                          <a:solidFill>
                            <a:schemeClr val="tx1">
                              <a:lumMod val="75000"/>
                              <a:lumOff val="25000"/>
                            </a:schemeClr>
                          </a:solidFill>
                          <a:latin typeface="Arial" charset="0"/>
                          <a:ea typeface="+mn-ea"/>
                          <a:cs typeface="Arial" charset="0"/>
                        </a:rPr>
                        <a:t>PaaS Intranet HC20 BackOffice</a:t>
                      </a:r>
                    </a:p>
                  </a:txBody>
                  <a:tcPr marL="45702" marR="45702" marT="45702" marB="45702"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l">
                        <a:lnSpc>
                          <a:spcPct val="85000"/>
                        </a:lnSpc>
                        <a:defRPr sz="1800"/>
                      </a:pPr>
                      <a:endParaRPr lang="es-ES" sz="1000" kern="1200" noProof="0" dirty="0">
                        <a:solidFill>
                          <a:schemeClr val="tx1">
                            <a:lumMod val="75000"/>
                            <a:lumOff val="25000"/>
                          </a:schemeClr>
                        </a:solidFill>
                        <a:latin typeface="Arial" charset="0"/>
                        <a:ea typeface="+mn-ea"/>
                        <a:cs typeface="Arial" charset="0"/>
                      </a:endParaRPr>
                    </a:p>
                    <a:p>
                      <a:pPr algn="l">
                        <a:lnSpc>
                          <a:spcPct val="85000"/>
                        </a:lnSpc>
                        <a:defRPr sz="1800"/>
                      </a:pPr>
                      <a:r>
                        <a:rPr lang="es-ES" sz="1000" kern="1200" noProof="0" dirty="0">
                          <a:solidFill>
                            <a:schemeClr val="tx1">
                              <a:lumMod val="75000"/>
                              <a:lumOff val="25000"/>
                            </a:schemeClr>
                          </a:solidFill>
                          <a:latin typeface="Arial" charset="0"/>
                          <a:ea typeface="+mn-ea"/>
                          <a:cs typeface="Arial" charset="0"/>
                        </a:rPr>
                        <a:t>Existente</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lnSpc>
                          <a:spcPts val="2400"/>
                        </a:lnSpc>
                        <a:defRPr sz="1800"/>
                      </a:pPr>
                      <a:r>
                        <a:rPr lang="es-ES" sz="1000" kern="1200" noProof="0" dirty="0">
                          <a:solidFill>
                            <a:schemeClr val="tx1">
                              <a:lumMod val="75000"/>
                              <a:lumOff val="25000"/>
                            </a:schemeClr>
                          </a:solidFill>
                          <a:latin typeface="Arial" charset="0"/>
                          <a:ea typeface="+mn-ea"/>
                          <a:cs typeface="Arial" charset="0"/>
                        </a:rPr>
                        <a:t>Alta tramitación cliente</a:t>
                      </a:r>
                    </a:p>
                  </a:txBody>
                  <a:tcPr marL="45702" marR="45702" marT="45702" marB="45702"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spcBef>
                          <a:spcPts val="0"/>
                        </a:spcBef>
                        <a:defRPr sz="1800"/>
                      </a:pPr>
                      <a:r>
                        <a:rPr lang="es-ES" sz="1000" kern="1200" noProof="0" dirty="0">
                          <a:solidFill>
                            <a:schemeClr val="tx1">
                              <a:lumMod val="75000"/>
                              <a:lumOff val="25000"/>
                            </a:schemeClr>
                          </a:solidFill>
                          <a:latin typeface="Arial" charset="0"/>
                          <a:ea typeface="+mn-ea"/>
                          <a:cs typeface="Arial" charset="0"/>
                        </a:rPr>
                        <a:t>Open Shift</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85000"/>
                        </a:lnSpc>
                        <a:spcBef>
                          <a:spcPts val="400"/>
                        </a:spcBef>
                        <a:spcAft>
                          <a:spcPts val="0"/>
                        </a:spcAft>
                        <a:buClrTx/>
                        <a:buSzTx/>
                        <a:buFontTx/>
                        <a:buNone/>
                        <a:tabLst/>
                        <a:defRPr b="1"/>
                      </a:pPr>
                      <a:r>
                        <a:rPr lang="es-ES" sz="1000" kern="1200" dirty="0">
                          <a:solidFill>
                            <a:schemeClr val="tx1">
                              <a:lumMod val="75000"/>
                              <a:lumOff val="25000"/>
                            </a:schemeClr>
                          </a:solidFill>
                          <a:latin typeface="Arial" charset="0"/>
                          <a:ea typeface="+mn-ea"/>
                          <a:cs typeface="Arial" charset="0"/>
                        </a:rPr>
                        <a:t>Microservicios que ofrece el sistemas en el PaaS</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07466516"/>
                  </a:ext>
                </a:extLst>
              </a:tr>
              <a:tr h="0">
                <a:tc>
                  <a:txBody>
                    <a:bodyPr/>
                    <a:lstStyle/>
                    <a:p>
                      <a:pPr algn="l">
                        <a:lnSpc>
                          <a:spcPts val="2400"/>
                        </a:lnSpc>
                        <a:defRPr sz="1800"/>
                      </a:pPr>
                      <a:r>
                        <a:rPr lang="es-ES" sz="1000" kern="1200" noProof="0" dirty="0">
                          <a:solidFill>
                            <a:schemeClr val="tx1">
                              <a:lumMod val="75000"/>
                              <a:lumOff val="25000"/>
                            </a:schemeClr>
                          </a:solidFill>
                          <a:latin typeface="Arial" charset="0"/>
                          <a:ea typeface="+mn-ea"/>
                          <a:cs typeface="Arial" charset="0"/>
                        </a:rPr>
                        <a:t>PaaS de Cores </a:t>
                      </a:r>
                    </a:p>
                  </a:txBody>
                  <a:tcPr marL="45702" marR="45702" marT="45702" marB="45702"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l">
                        <a:lnSpc>
                          <a:spcPct val="85000"/>
                        </a:lnSpc>
                        <a:defRPr sz="1800"/>
                      </a:pPr>
                      <a:r>
                        <a:rPr lang="es-ES" sz="1000" kern="1200" noProof="0" dirty="0">
                          <a:solidFill>
                            <a:schemeClr val="tx1">
                              <a:lumMod val="75000"/>
                              <a:lumOff val="25000"/>
                            </a:schemeClr>
                          </a:solidFill>
                          <a:latin typeface="Arial" charset="0"/>
                          <a:ea typeface="+mn-ea"/>
                          <a:cs typeface="Arial" charset="0"/>
                        </a:rPr>
                        <a:t>Existentes. Diferentes micros para consultar funcionalidad</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lnSpc>
                          <a:spcPts val="2400"/>
                        </a:lnSpc>
                        <a:defRPr sz="1800"/>
                      </a:pPr>
                      <a:r>
                        <a:rPr lang="es-ES" sz="1000" kern="1200" noProof="0" dirty="0">
                          <a:solidFill>
                            <a:schemeClr val="tx1">
                              <a:lumMod val="75000"/>
                              <a:lumOff val="25000"/>
                            </a:schemeClr>
                          </a:solidFill>
                          <a:latin typeface="Arial" charset="0"/>
                          <a:ea typeface="+mn-ea"/>
                          <a:cs typeface="Arial" charset="0"/>
                        </a:rPr>
                        <a:t>Existente</a:t>
                      </a:r>
                    </a:p>
                  </a:txBody>
                  <a:tcPr marL="45702" marR="45702" marT="45702" marB="45702"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spcBef>
                          <a:spcPts val="0"/>
                        </a:spcBef>
                        <a:defRPr sz="1800"/>
                      </a:pPr>
                      <a:r>
                        <a:rPr lang="es-ES" sz="1000" kern="1200" noProof="0" dirty="0">
                          <a:solidFill>
                            <a:schemeClr val="tx1">
                              <a:lumMod val="75000"/>
                              <a:lumOff val="25000"/>
                            </a:schemeClr>
                          </a:solidFill>
                          <a:latin typeface="Arial" charset="0"/>
                          <a:ea typeface="+mn-ea"/>
                          <a:cs typeface="Arial" charset="0"/>
                        </a:rPr>
                        <a:t>Open Shift</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85000"/>
                        </a:lnSpc>
                        <a:spcBef>
                          <a:spcPts val="400"/>
                        </a:spcBef>
                        <a:spcAft>
                          <a:spcPts val="0"/>
                        </a:spcAft>
                        <a:buClrTx/>
                        <a:buSzTx/>
                        <a:buFontTx/>
                        <a:buNone/>
                        <a:tabLst/>
                        <a:defRPr b="1"/>
                      </a:pPr>
                      <a:r>
                        <a:rPr lang="es-ES" sz="1000" kern="1200" dirty="0">
                          <a:solidFill>
                            <a:schemeClr val="tx1">
                              <a:lumMod val="75000"/>
                              <a:lumOff val="25000"/>
                            </a:schemeClr>
                          </a:solidFill>
                          <a:latin typeface="Arial" charset="0"/>
                          <a:ea typeface="+mn-ea"/>
                          <a:cs typeface="Arial" charset="0"/>
                        </a:rPr>
                        <a:t>Microservicios que ofrece el sistemas en el PaaS</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83173091"/>
                  </a:ext>
                </a:extLst>
              </a:tr>
              <a:tr h="0">
                <a:tc>
                  <a:txBody>
                    <a:bodyPr/>
                    <a:lstStyle/>
                    <a:p>
                      <a:pPr algn="l">
                        <a:lnSpc>
                          <a:spcPts val="2400"/>
                        </a:lnSpc>
                        <a:defRPr sz="1800"/>
                      </a:pPr>
                      <a:r>
                        <a:rPr lang="es-ES" sz="1000" kern="1200" noProof="0" dirty="0">
                          <a:solidFill>
                            <a:schemeClr val="tx1">
                              <a:lumMod val="75000"/>
                              <a:lumOff val="25000"/>
                            </a:schemeClr>
                          </a:solidFill>
                          <a:latin typeface="Arial" charset="0"/>
                          <a:ea typeface="+mn-ea"/>
                          <a:cs typeface="Arial" charset="0"/>
                        </a:rPr>
                        <a:t>S3 de OHE</a:t>
                      </a:r>
                    </a:p>
                  </a:txBody>
                  <a:tcPr marL="45702" marR="45702" marT="45702" marB="45702"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l">
                        <a:lnSpc>
                          <a:spcPct val="85000"/>
                        </a:lnSpc>
                        <a:defRPr sz="1800"/>
                      </a:pPr>
                      <a:r>
                        <a:rPr lang="es-ES" sz="1000" kern="1200" noProof="0" dirty="0">
                          <a:solidFill>
                            <a:schemeClr val="tx1">
                              <a:lumMod val="75000"/>
                              <a:lumOff val="25000"/>
                            </a:schemeClr>
                          </a:solidFill>
                          <a:latin typeface="Arial" charset="0"/>
                          <a:ea typeface="+mn-ea"/>
                          <a:cs typeface="Arial" charset="0"/>
                        </a:rPr>
                        <a:t>Acceso a almacenamiento S3 de OHE de SGT</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lnSpc>
                          <a:spcPts val="2400"/>
                        </a:lnSpc>
                        <a:defRPr sz="1800"/>
                      </a:pPr>
                      <a:r>
                        <a:rPr lang="es-ES" sz="1000" kern="1200" noProof="0" dirty="0">
                          <a:solidFill>
                            <a:schemeClr val="tx1">
                              <a:lumMod val="75000"/>
                              <a:lumOff val="25000"/>
                            </a:schemeClr>
                          </a:solidFill>
                          <a:latin typeface="Arial" charset="0"/>
                          <a:ea typeface="+mn-ea"/>
                          <a:cs typeface="Arial" charset="0"/>
                        </a:rPr>
                        <a:t>Existente</a:t>
                      </a:r>
                    </a:p>
                  </a:txBody>
                  <a:tcPr marL="45702" marR="45702" marT="45702" marB="45702"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spcBef>
                          <a:spcPts val="0"/>
                        </a:spcBef>
                        <a:defRPr sz="1800"/>
                      </a:pPr>
                      <a:r>
                        <a:rPr lang="es-ES" sz="1000" kern="1200" noProof="0" dirty="0">
                          <a:solidFill>
                            <a:schemeClr val="tx1">
                              <a:lumMod val="75000"/>
                              <a:lumOff val="25000"/>
                            </a:schemeClr>
                          </a:solidFill>
                          <a:latin typeface="Arial" charset="0"/>
                          <a:ea typeface="+mn-ea"/>
                          <a:cs typeface="Arial" charset="0"/>
                        </a:rPr>
                        <a:t>AWS</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85000"/>
                        </a:lnSpc>
                        <a:spcBef>
                          <a:spcPts val="400"/>
                        </a:spcBef>
                        <a:spcAft>
                          <a:spcPts val="0"/>
                        </a:spcAft>
                        <a:buClrTx/>
                        <a:buSzTx/>
                        <a:buFontTx/>
                        <a:buNone/>
                        <a:tabLst/>
                        <a:defRPr b="1"/>
                      </a:pPr>
                      <a:r>
                        <a:rPr lang="es-ES" sz="1000" kern="1200" dirty="0">
                          <a:solidFill>
                            <a:schemeClr val="tx1">
                              <a:lumMod val="75000"/>
                              <a:lumOff val="25000"/>
                            </a:schemeClr>
                          </a:solidFill>
                          <a:latin typeface="Arial" charset="0"/>
                          <a:ea typeface="+mn-ea"/>
                          <a:cs typeface="Arial" charset="0"/>
                        </a:rPr>
                        <a:t>Rest/api</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46964994"/>
                  </a:ext>
                </a:extLst>
              </a:tr>
              <a:tr h="0">
                <a:tc>
                  <a:txBody>
                    <a:bodyPr/>
                    <a:lstStyle/>
                    <a:p>
                      <a:pPr algn="l">
                        <a:lnSpc>
                          <a:spcPts val="2400"/>
                        </a:lnSpc>
                        <a:defRPr sz="1800"/>
                      </a:pPr>
                      <a:r>
                        <a:rPr lang="es-ES" sz="1000" kern="1200" noProof="0" dirty="0">
                          <a:solidFill>
                            <a:schemeClr val="tx1">
                              <a:lumMod val="75000"/>
                              <a:lumOff val="25000"/>
                            </a:schemeClr>
                          </a:solidFill>
                          <a:latin typeface="Arial" charset="0"/>
                          <a:ea typeface="+mn-ea"/>
                          <a:cs typeface="Arial" charset="0"/>
                        </a:rPr>
                        <a:t>APPIAN</a:t>
                      </a:r>
                    </a:p>
                  </a:txBody>
                  <a:tcPr marL="45702" marR="45702" marT="45702" marB="45702"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l">
                        <a:lnSpc>
                          <a:spcPct val="85000"/>
                        </a:lnSpc>
                        <a:defRPr sz="1800"/>
                      </a:pPr>
                      <a:r>
                        <a:rPr lang="es-ES" sz="1000" kern="1200" noProof="0" dirty="0">
                          <a:solidFill>
                            <a:schemeClr val="tx1">
                              <a:lumMod val="75000"/>
                              <a:lumOff val="25000"/>
                            </a:schemeClr>
                          </a:solidFill>
                          <a:latin typeface="Arial" charset="0"/>
                          <a:ea typeface="+mn-ea"/>
                          <a:cs typeface="Arial" charset="0"/>
                        </a:rPr>
                        <a:t>Motor de procesos BPMN</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lnSpc>
                          <a:spcPts val="2400"/>
                        </a:lnSpc>
                        <a:defRPr sz="1800"/>
                      </a:pPr>
                      <a:r>
                        <a:rPr lang="es-ES" sz="1000" kern="1200" noProof="0" dirty="0">
                          <a:solidFill>
                            <a:schemeClr val="tx1">
                              <a:lumMod val="75000"/>
                              <a:lumOff val="25000"/>
                            </a:schemeClr>
                          </a:solidFill>
                          <a:latin typeface="Arial" charset="0"/>
                          <a:ea typeface="+mn-ea"/>
                          <a:cs typeface="Arial" charset="0"/>
                        </a:rPr>
                        <a:t>Nuevo</a:t>
                      </a:r>
                    </a:p>
                  </a:txBody>
                  <a:tcPr marL="45702" marR="45702" marT="45702" marB="45702"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spcBef>
                          <a:spcPts val="0"/>
                        </a:spcBef>
                        <a:defRPr sz="1800"/>
                      </a:pPr>
                      <a:r>
                        <a:rPr lang="es-ES" sz="1000" kern="1200" noProof="0" dirty="0">
                          <a:solidFill>
                            <a:schemeClr val="tx1">
                              <a:lumMod val="75000"/>
                              <a:lumOff val="25000"/>
                            </a:schemeClr>
                          </a:solidFill>
                          <a:latin typeface="Arial" charset="0"/>
                          <a:ea typeface="+mn-ea"/>
                          <a:cs typeface="Arial" charset="0"/>
                        </a:rPr>
                        <a:t>APPIAN</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85000"/>
                        </a:lnSpc>
                        <a:spcBef>
                          <a:spcPts val="400"/>
                        </a:spcBef>
                        <a:spcAft>
                          <a:spcPts val="0"/>
                        </a:spcAft>
                        <a:buClrTx/>
                        <a:buSzTx/>
                        <a:buFontTx/>
                        <a:buNone/>
                        <a:tabLst/>
                        <a:defRPr b="1"/>
                      </a:pPr>
                      <a:r>
                        <a:rPr lang="es-ES" sz="1000" kern="1200" dirty="0" err="1">
                          <a:solidFill>
                            <a:schemeClr val="tx1">
                              <a:lumMod val="75000"/>
                              <a:lumOff val="25000"/>
                            </a:schemeClr>
                          </a:solidFill>
                          <a:latin typeface="Arial" charset="0"/>
                          <a:ea typeface="+mn-ea"/>
                          <a:cs typeface="Arial" charset="0"/>
                        </a:rPr>
                        <a:t>Rest</a:t>
                      </a:r>
                      <a:r>
                        <a:rPr lang="es-ES" sz="1000" kern="1200" dirty="0">
                          <a:solidFill>
                            <a:schemeClr val="tx1">
                              <a:lumMod val="75000"/>
                              <a:lumOff val="25000"/>
                            </a:schemeClr>
                          </a:solidFill>
                          <a:latin typeface="Arial" charset="0"/>
                          <a:ea typeface="+mn-ea"/>
                          <a:cs typeface="Arial" charset="0"/>
                        </a:rPr>
                        <a:t>/Https</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58846445"/>
                  </a:ext>
                </a:extLst>
              </a:tr>
            </a:tbl>
          </a:graphicData>
        </a:graphic>
      </p:graphicFrame>
      <p:sp>
        <p:nvSpPr>
          <p:cNvPr id="11" name="Marcador de texto 1">
            <a:extLst>
              <a:ext uri="{FF2B5EF4-FFF2-40B4-BE49-F238E27FC236}">
                <a16:creationId xmlns:a16="http://schemas.microsoft.com/office/drawing/2014/main" id="{407EA3A2-CE72-4D07-8096-B3D14A212A6E}"/>
              </a:ext>
            </a:extLst>
          </p:cNvPr>
          <p:cNvSpPr txBox="1">
            <a:spLocks/>
          </p:cNvSpPr>
          <p:nvPr/>
        </p:nvSpPr>
        <p:spPr>
          <a:xfrm>
            <a:off x="679317" y="0"/>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300" dirty="0">
                <a:solidFill>
                  <a:srgbClr val="EB0000"/>
                </a:solidFill>
                <a:ea typeface="Segoe UI" panose="020B0502040204020203" pitchFamily="34" charset="0"/>
                <a:cs typeface="Segoe UI" panose="020B0502040204020203" pitchFamily="34" charset="0"/>
              </a:rPr>
              <a:t>Solución técnica</a:t>
            </a: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Componentes de software</a:t>
            </a:r>
          </a:p>
          <a:p>
            <a:pPr marL="0" indent="0">
              <a:spcBef>
                <a:spcPts val="300"/>
              </a:spcBef>
              <a:buFont typeface="Arial" panose="020B0604020202020204" pitchFamily="34" charset="0"/>
              <a:buNone/>
            </a:pPr>
            <a:endParaRPr lang="es-ES" sz="1800" b="1" dirty="0">
              <a:solidFill>
                <a:srgbClr val="EB0000"/>
              </a:solidFill>
              <a:highlight>
                <a:srgbClr val="FFFF00"/>
              </a:highlight>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highlight>
                  <a:srgbClr val="FFFF00"/>
                </a:highlight>
                <a:ea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41861447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t>Seguridad</a:t>
            </a:r>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03</a:t>
            </a:r>
          </a:p>
        </p:txBody>
      </p:sp>
    </p:spTree>
    <p:extLst>
      <p:ext uri="{BB962C8B-B14F-4D97-AF65-F5344CB8AC3E}">
        <p14:creationId xmlns:p14="http://schemas.microsoft.com/office/powerpoint/2010/main" val="2508985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1 Diagrama">
            <a:extLst>
              <a:ext uri="{FF2B5EF4-FFF2-40B4-BE49-F238E27FC236}">
                <a16:creationId xmlns:a16="http://schemas.microsoft.com/office/drawing/2014/main" id="{B7A10B2A-7283-44F1-ABF2-8AE467EAF45A}"/>
              </a:ext>
            </a:extLst>
          </p:cNvPr>
          <p:cNvGraphicFramePr/>
          <p:nvPr>
            <p:extLst>
              <p:ext uri="{D42A27DB-BD31-4B8C-83A1-F6EECF244321}">
                <p14:modId xmlns:p14="http://schemas.microsoft.com/office/powerpoint/2010/main" val="2776552242"/>
              </p:ext>
            </p:extLst>
          </p:nvPr>
        </p:nvGraphicFramePr>
        <p:xfrm>
          <a:off x="926980" y="1158749"/>
          <a:ext cx="10082737" cy="46079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Marcador de texto 1">
            <a:extLst>
              <a:ext uri="{FF2B5EF4-FFF2-40B4-BE49-F238E27FC236}">
                <a16:creationId xmlns:a16="http://schemas.microsoft.com/office/drawing/2014/main" id="{C07FA22E-9BB4-4C88-B300-9275DBEE5EA1}"/>
              </a:ext>
            </a:extLst>
          </p:cNvPr>
          <p:cNvSpPr txBox="1">
            <a:spLocks/>
          </p:cNvSpPr>
          <p:nvPr/>
        </p:nvSpPr>
        <p:spPr>
          <a:xfrm>
            <a:off x="653140" y="406116"/>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800" b="1">
                <a:solidFill>
                  <a:srgbClr val="EB0000"/>
                </a:solidFill>
                <a:ea typeface="Segoe UI" panose="020B0502040204020203" pitchFamily="34" charset="0"/>
                <a:cs typeface="Segoe UI" panose="020B0502040204020203" pitchFamily="34" charset="0"/>
              </a:rPr>
              <a:t>Seguridad</a:t>
            </a:r>
          </a:p>
          <a:p>
            <a:pPr marL="0" indent="0">
              <a:spcBef>
                <a:spcPts val="300"/>
              </a:spcBef>
              <a:buFont typeface="Arial" panose="020B0604020202020204" pitchFamily="34" charset="0"/>
              <a:buNone/>
            </a:pPr>
            <a:endParaRPr lang="es-ES" sz="1800" b="1">
              <a:solidFill>
                <a:srgbClr val="EB0000"/>
              </a:solidFill>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r>
              <a:rPr lang="es-ES" sz="1800" b="1">
                <a:solidFill>
                  <a:srgbClr val="EB0000"/>
                </a:solidFill>
                <a:ea typeface="Segoe UI" panose="020B0502040204020203" pitchFamily="34" charset="0"/>
                <a:cs typeface="Segoe UI" panose="020B0502040204020203" pitchFamily="34" charset="0"/>
              </a:rPr>
              <a:t> </a:t>
            </a:r>
            <a:endParaRPr lang="es-ES" sz="1800" b="1" dirty="0">
              <a:solidFill>
                <a:srgbClr val="EB0000"/>
              </a:solidFill>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0173826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1 Diagrama">
            <a:extLst>
              <a:ext uri="{FF2B5EF4-FFF2-40B4-BE49-F238E27FC236}">
                <a16:creationId xmlns:a16="http://schemas.microsoft.com/office/drawing/2014/main" id="{150562DC-7E28-4E2C-909F-61661559C6A4}"/>
              </a:ext>
            </a:extLst>
          </p:cNvPr>
          <p:cNvGraphicFramePr/>
          <p:nvPr>
            <p:extLst>
              <p:ext uri="{D42A27DB-BD31-4B8C-83A1-F6EECF244321}">
                <p14:modId xmlns:p14="http://schemas.microsoft.com/office/powerpoint/2010/main" val="2507906237"/>
              </p:ext>
            </p:extLst>
          </p:nvPr>
        </p:nvGraphicFramePr>
        <p:xfrm>
          <a:off x="1015129" y="576682"/>
          <a:ext cx="10471376" cy="55834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Marcador de texto 1">
            <a:extLst>
              <a:ext uri="{FF2B5EF4-FFF2-40B4-BE49-F238E27FC236}">
                <a16:creationId xmlns:a16="http://schemas.microsoft.com/office/drawing/2014/main" id="{A278853F-DDAA-484F-9F4D-421CC35D5E40}"/>
              </a:ext>
            </a:extLst>
          </p:cNvPr>
          <p:cNvSpPr txBox="1">
            <a:spLocks/>
          </p:cNvSpPr>
          <p:nvPr/>
        </p:nvSpPr>
        <p:spPr>
          <a:xfrm>
            <a:off x="653140" y="406116"/>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800" b="1">
                <a:solidFill>
                  <a:srgbClr val="EB0000"/>
                </a:solidFill>
                <a:ea typeface="Segoe UI" panose="020B0502040204020203" pitchFamily="34" charset="0"/>
                <a:cs typeface="Segoe UI" panose="020B0502040204020203" pitchFamily="34" charset="0"/>
              </a:rPr>
              <a:t>Seguridad</a:t>
            </a:r>
          </a:p>
          <a:p>
            <a:pPr marL="0" indent="0">
              <a:spcBef>
                <a:spcPts val="300"/>
              </a:spcBef>
              <a:buFont typeface="Arial" panose="020B0604020202020204" pitchFamily="34" charset="0"/>
              <a:buNone/>
            </a:pPr>
            <a:endParaRPr lang="es-ES" sz="1800" b="1">
              <a:solidFill>
                <a:srgbClr val="EB0000"/>
              </a:solidFill>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r>
              <a:rPr lang="es-ES" sz="1800" b="1">
                <a:solidFill>
                  <a:srgbClr val="EB0000"/>
                </a:solidFill>
                <a:ea typeface="Segoe UI" panose="020B0502040204020203" pitchFamily="34" charset="0"/>
                <a:cs typeface="Segoe UI" panose="020B0502040204020203" pitchFamily="34" charset="0"/>
              </a:rPr>
              <a:t> </a:t>
            </a:r>
            <a:endParaRPr lang="es-ES" sz="1800" b="1" dirty="0">
              <a:solidFill>
                <a:srgbClr val="EB0000"/>
              </a:solidFill>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881922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t>Componentes de Infraestructura</a:t>
            </a:r>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04</a:t>
            </a:r>
          </a:p>
        </p:txBody>
      </p:sp>
    </p:spTree>
    <p:extLst>
      <p:ext uri="{BB962C8B-B14F-4D97-AF65-F5344CB8AC3E}">
        <p14:creationId xmlns:p14="http://schemas.microsoft.com/office/powerpoint/2010/main" val="17940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41C0C843-E252-4ECE-BB29-A96A808C4761}"/>
              </a:ext>
            </a:extLst>
          </p:cNvPr>
          <p:cNvGraphicFramePr>
            <a:graphicFrameLocks noGrp="1"/>
          </p:cNvGraphicFramePr>
          <p:nvPr>
            <p:extLst>
              <p:ext uri="{D42A27DB-BD31-4B8C-83A1-F6EECF244321}">
                <p14:modId xmlns:p14="http://schemas.microsoft.com/office/powerpoint/2010/main" val="1325033115"/>
              </p:ext>
            </p:extLst>
          </p:nvPr>
        </p:nvGraphicFramePr>
        <p:xfrm>
          <a:off x="825500" y="1146603"/>
          <a:ext cx="10661004" cy="4077330"/>
        </p:xfrm>
        <a:graphic>
          <a:graphicData uri="http://schemas.openxmlformats.org/drawingml/2006/table">
            <a:tbl>
              <a:tblPr/>
              <a:tblGrid>
                <a:gridCol w="1914734">
                  <a:extLst>
                    <a:ext uri="{9D8B030D-6E8A-4147-A177-3AD203B41FA5}">
                      <a16:colId xmlns:a16="http://schemas.microsoft.com/office/drawing/2014/main" val="3677605203"/>
                    </a:ext>
                  </a:extLst>
                </a:gridCol>
                <a:gridCol w="1126622">
                  <a:extLst>
                    <a:ext uri="{9D8B030D-6E8A-4147-A177-3AD203B41FA5}">
                      <a16:colId xmlns:a16="http://schemas.microsoft.com/office/drawing/2014/main" val="277462406"/>
                    </a:ext>
                  </a:extLst>
                </a:gridCol>
                <a:gridCol w="2334374">
                  <a:extLst>
                    <a:ext uri="{9D8B030D-6E8A-4147-A177-3AD203B41FA5}">
                      <a16:colId xmlns:a16="http://schemas.microsoft.com/office/drawing/2014/main" val="2397928041"/>
                    </a:ext>
                  </a:extLst>
                </a:gridCol>
                <a:gridCol w="1440642">
                  <a:extLst>
                    <a:ext uri="{9D8B030D-6E8A-4147-A177-3AD203B41FA5}">
                      <a16:colId xmlns:a16="http://schemas.microsoft.com/office/drawing/2014/main" val="1303207443"/>
                    </a:ext>
                  </a:extLst>
                </a:gridCol>
                <a:gridCol w="2581968">
                  <a:extLst>
                    <a:ext uri="{9D8B030D-6E8A-4147-A177-3AD203B41FA5}">
                      <a16:colId xmlns:a16="http://schemas.microsoft.com/office/drawing/2014/main" val="2990297090"/>
                    </a:ext>
                  </a:extLst>
                </a:gridCol>
                <a:gridCol w="1262664">
                  <a:extLst>
                    <a:ext uri="{9D8B030D-6E8A-4147-A177-3AD203B41FA5}">
                      <a16:colId xmlns:a16="http://schemas.microsoft.com/office/drawing/2014/main" val="389493999"/>
                    </a:ext>
                  </a:extLst>
                </a:gridCol>
              </a:tblGrid>
              <a:tr h="304515">
                <a:tc>
                  <a:txBody>
                    <a:bodyPr/>
                    <a:lstStyle/>
                    <a:p>
                      <a:pPr algn="ctr">
                        <a:spcBef>
                          <a:spcPts val="0"/>
                        </a:spcBef>
                        <a:defRPr sz="1800"/>
                      </a:pPr>
                      <a:r>
                        <a:rPr lang="es-ES" sz="1200" b="1" noProof="0" dirty="0">
                          <a:solidFill>
                            <a:schemeClr val="accent3">
                              <a:lumOff val="44000"/>
                            </a:schemeClr>
                          </a:solidFill>
                        </a:rPr>
                        <a:t>Componentes </a:t>
                      </a:r>
                      <a:r>
                        <a:rPr lang="es-ES" sz="1200" b="1" noProof="0" dirty="0" err="1">
                          <a:solidFill>
                            <a:schemeClr val="accent3">
                              <a:lumOff val="44000"/>
                            </a:schemeClr>
                          </a:solidFill>
                        </a:rPr>
                        <a:t>Infraestrucutura</a:t>
                      </a:r>
                      <a:endParaRPr lang="es-ES" sz="1200" b="1" noProof="0" dirty="0">
                        <a:solidFill>
                          <a:schemeClr val="accent3">
                            <a:lumOff val="44000"/>
                          </a:schemeClr>
                        </a:solidFill>
                      </a:endParaRP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a:spcBef>
                          <a:spcPts val="0"/>
                        </a:spcBef>
                        <a:defRPr sz="1800"/>
                      </a:pPr>
                      <a:r>
                        <a:rPr lang="es-ES" sz="1200" b="1" noProof="0" dirty="0" err="1">
                          <a:solidFill>
                            <a:schemeClr val="accent3">
                              <a:lumOff val="44000"/>
                            </a:schemeClr>
                          </a:solidFill>
                        </a:rPr>
                        <a:t>Existente,Nuevo,Modificado</a:t>
                      </a:r>
                      <a:endParaRPr lang="es-ES" sz="1200" b="1" noProof="0" dirty="0">
                        <a:solidFill>
                          <a:schemeClr val="accent3">
                            <a:lumOff val="44000"/>
                          </a:schemeClr>
                        </a:solidFill>
                      </a:endParaRP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a:spcBef>
                          <a:spcPts val="0"/>
                        </a:spcBef>
                        <a:defRPr sz="1800"/>
                      </a:pPr>
                      <a:r>
                        <a:rPr lang="es-ES" sz="1200" b="1" noProof="0" dirty="0">
                          <a:solidFill>
                            <a:schemeClr val="accent3">
                              <a:lumOff val="44000"/>
                            </a:schemeClr>
                          </a:solidFill>
                        </a:rPr>
                        <a:t>Funcionalidad</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a:spcBef>
                          <a:spcPts val="0"/>
                        </a:spcBef>
                        <a:defRPr sz="1800"/>
                      </a:pPr>
                      <a:r>
                        <a:rPr lang="es-ES" sz="1200" b="1" noProof="0" dirty="0">
                          <a:solidFill>
                            <a:schemeClr val="accent3">
                              <a:lumOff val="44000"/>
                            </a:schemeClr>
                          </a:solidFill>
                        </a:rPr>
                        <a:t>Ubicación</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a:spcBef>
                          <a:spcPts val="0"/>
                        </a:spcBef>
                        <a:defRPr sz="1800"/>
                      </a:pPr>
                      <a:r>
                        <a:rPr lang="es-ES" sz="1200" b="1" noProof="0" dirty="0">
                          <a:solidFill>
                            <a:schemeClr val="accent3">
                              <a:lumOff val="44000"/>
                            </a:schemeClr>
                          </a:solidFill>
                        </a:rPr>
                        <a:t>Integrado con</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a:spcBef>
                          <a:spcPts val="0"/>
                        </a:spcBef>
                        <a:defRPr sz="1800"/>
                      </a:pPr>
                      <a:r>
                        <a:rPr lang="es-ES" sz="1200" b="1" noProof="0" dirty="0">
                          <a:solidFill>
                            <a:schemeClr val="accent3">
                              <a:lumOff val="44000"/>
                            </a:schemeClr>
                          </a:solidFill>
                        </a:rPr>
                        <a:t>Conectividad</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997596755"/>
                  </a:ext>
                </a:extLst>
              </a:tr>
              <a:tr h="353191">
                <a:tc>
                  <a:txBody>
                    <a:bodyPr/>
                    <a:lstStyle/>
                    <a:p>
                      <a:pPr algn="ctr">
                        <a:lnSpc>
                          <a:spcPts val="2400"/>
                        </a:lnSpc>
                        <a:defRPr sz="1800"/>
                      </a:pPr>
                      <a:r>
                        <a:rPr lang="es-ES" sz="1200" b="1" kern="1200" noProof="0" dirty="0">
                          <a:solidFill>
                            <a:schemeClr val="tx1"/>
                          </a:solidFill>
                          <a:latin typeface="+mn-lt"/>
                          <a:ea typeface="+mn-ea"/>
                          <a:cs typeface="+mn-cs"/>
                        </a:rPr>
                        <a:t>PaaS HC20</a:t>
                      </a:r>
                    </a:p>
                  </a:txBody>
                  <a:tcPr marL="45702" marR="45702" marT="45702" marB="4570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85000"/>
                        </a:lnSpc>
                        <a:defRPr sz="1800"/>
                      </a:pPr>
                      <a:r>
                        <a:rPr lang="es-ES" sz="1200" b="0" kern="1200" noProof="0" dirty="0">
                          <a:solidFill>
                            <a:schemeClr val="tx1"/>
                          </a:solidFill>
                          <a:latin typeface="+mn-lt"/>
                          <a:ea typeface="+mn-ea"/>
                          <a:cs typeface="+mn-cs"/>
                        </a:rPr>
                        <a:t>Existente</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ts val="2400"/>
                        </a:lnSpc>
                        <a:spcBef>
                          <a:spcPts val="0"/>
                        </a:spcBef>
                        <a:spcAft>
                          <a:spcPts val="0"/>
                        </a:spcAft>
                        <a:buClrTx/>
                        <a:buSzTx/>
                        <a:buFontTx/>
                        <a:buNone/>
                        <a:tabLst/>
                        <a:defRPr sz="1800"/>
                      </a:pPr>
                      <a:r>
                        <a:rPr lang="es-ES" sz="1200" b="0" kern="1200" noProof="0" dirty="0">
                          <a:solidFill>
                            <a:schemeClr val="tx1"/>
                          </a:solidFill>
                          <a:latin typeface="+mn-lt"/>
                          <a:ea typeface="+mn-ea"/>
                          <a:cs typeface="+mn-cs"/>
                        </a:rPr>
                        <a:t>Alta Cliente </a:t>
                      </a:r>
                      <a:r>
                        <a:rPr lang="es-ES" sz="1200" b="0" kern="1200" noProof="0" dirty="0" err="1">
                          <a:solidFill>
                            <a:schemeClr val="tx1"/>
                          </a:solidFill>
                          <a:latin typeface="+mn-lt"/>
                          <a:ea typeface="+mn-ea"/>
                          <a:cs typeface="+mn-cs"/>
                        </a:rPr>
                        <a:t>On</a:t>
                      </a:r>
                      <a:r>
                        <a:rPr lang="es-ES" sz="1200" b="0" kern="1200" noProof="0" dirty="0">
                          <a:solidFill>
                            <a:schemeClr val="tx1"/>
                          </a:solidFill>
                          <a:latin typeface="+mn-lt"/>
                          <a:ea typeface="+mn-ea"/>
                          <a:cs typeface="+mn-cs"/>
                        </a:rPr>
                        <a:t> Line y Alta tramitación cliente</a:t>
                      </a:r>
                    </a:p>
                    <a:p>
                      <a:pPr algn="l">
                        <a:lnSpc>
                          <a:spcPts val="2400"/>
                        </a:lnSpc>
                        <a:defRPr sz="1800"/>
                      </a:pPr>
                      <a:endParaRPr lang="es-ES" sz="1200" b="0" kern="1200" noProof="0" dirty="0">
                        <a:solidFill>
                          <a:schemeClr val="tx1"/>
                        </a:solidFill>
                        <a:latin typeface="+mn-lt"/>
                        <a:ea typeface="+mn-ea"/>
                        <a:cs typeface="+mn-cs"/>
                      </a:endParaRPr>
                    </a:p>
                  </a:txBody>
                  <a:tcPr marL="45702" marR="45702" marT="45702" marB="4570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Bef>
                          <a:spcPts val="0"/>
                        </a:spcBef>
                        <a:defRPr sz="1800"/>
                      </a:pPr>
                      <a:r>
                        <a:rPr lang="es-ES" sz="1200" b="0" kern="1200" noProof="0" dirty="0">
                          <a:solidFill>
                            <a:schemeClr val="tx1"/>
                          </a:solidFill>
                          <a:latin typeface="+mn-lt"/>
                          <a:ea typeface="+mn-ea"/>
                          <a:cs typeface="+mn-cs"/>
                        </a:rPr>
                        <a:t>Open Shift</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85000"/>
                        </a:lnSpc>
                        <a:spcBef>
                          <a:spcPts val="400"/>
                        </a:spcBef>
                        <a:spcAft>
                          <a:spcPts val="0"/>
                        </a:spcAft>
                        <a:buClrTx/>
                        <a:buSzTx/>
                        <a:buFontTx/>
                        <a:buNone/>
                        <a:tabLst/>
                        <a:defRPr b="1"/>
                      </a:pPr>
                      <a:r>
                        <a:rPr lang="es-ES" sz="1200" b="0" kern="1200" dirty="0">
                          <a:solidFill>
                            <a:schemeClr val="tx1"/>
                          </a:solidFill>
                          <a:latin typeface="+mn-lt"/>
                          <a:ea typeface="+mn-ea"/>
                          <a:cs typeface="+mn-cs"/>
                        </a:rPr>
                        <a:t>Microservicios que ofrece el sistemas en el PaaS</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ctr">
                        <a:lnSpc>
                          <a:spcPct val="85000"/>
                        </a:lnSpc>
                        <a:buSzPct val="100000"/>
                        <a:buFont typeface="Arial"/>
                        <a:buNone/>
                        <a:defRPr b="1"/>
                      </a:pPr>
                      <a:r>
                        <a:rPr lang="es-ES" sz="1200" b="0" kern="1200" noProof="0" dirty="0">
                          <a:solidFill>
                            <a:schemeClr val="tx1"/>
                          </a:solidFill>
                          <a:latin typeface="+mn-lt"/>
                          <a:ea typeface="+mn-ea"/>
                          <a:cs typeface="+mn-cs"/>
                        </a:rPr>
                        <a:t>HTTPS/REST</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9388853"/>
                  </a:ext>
                </a:extLst>
              </a:tr>
              <a:tr h="32729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1" kern="1200" dirty="0">
                          <a:solidFill>
                            <a:schemeClr val="tx1"/>
                          </a:solidFill>
                          <a:latin typeface="+mn-lt"/>
                          <a:ea typeface="+mn-ea"/>
                          <a:cs typeface="+mn-cs"/>
                          <a:sym typeface="Wingdings" pitchFamily="2" charset="2"/>
                        </a:rPr>
                        <a:t>Celdas Java</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kumimoji="0" lang="es-ES" sz="1000" b="0" i="0" u="none" strike="noStrike" kern="1200" cap="none" spc="0" normalizeH="0" baseline="0" noProof="0" dirty="0">
                          <a:ln>
                            <a:noFill/>
                          </a:ln>
                          <a:solidFill>
                            <a:prstClr val="black"/>
                          </a:solidFill>
                          <a:effectLst/>
                          <a:uLnTx/>
                          <a:uFillTx/>
                          <a:latin typeface="Calibri" panose="020F0502020204030204"/>
                          <a:ea typeface="+mn-ea"/>
                          <a:cs typeface="+mn-cs"/>
                        </a:rPr>
                        <a:t>Existente</a:t>
                      </a:r>
                      <a:endParaRPr lang="es-ES" sz="1000" b="0" kern="1200" dirty="0">
                        <a:solidFill>
                          <a:schemeClr val="tx1"/>
                        </a:solidFill>
                        <a:latin typeface="Calibri" panose="020F0502020204030204"/>
                        <a:ea typeface="+mn-ea"/>
                        <a:cs typeface="+mn-cs"/>
                        <a:sym typeface="Wingdings" pitchFamily="2" charset="2"/>
                      </a:endParaRPr>
                    </a:p>
                    <a:p>
                      <a:pPr marL="0" marR="0" lvl="0" indent="0" algn="ctr" defTabSz="914400" rtl="0" eaLnBrk="1" fontAlgn="t" latinLnBrk="0" hangingPunct="1">
                        <a:lnSpc>
                          <a:spcPct val="100000"/>
                        </a:lnSpc>
                        <a:spcBef>
                          <a:spcPct val="20000"/>
                        </a:spcBef>
                        <a:spcAft>
                          <a:spcPct val="0"/>
                        </a:spcAft>
                        <a:buClrTx/>
                        <a:buSzTx/>
                        <a:buFontTx/>
                        <a:buNone/>
                        <a:tabLst/>
                        <a:defRPr/>
                      </a:pPr>
                      <a:endParaRPr lang="es-ES" sz="1000" kern="1200" dirty="0">
                        <a:solidFill>
                          <a:schemeClr val="tx1">
                            <a:lumMod val="75000"/>
                            <a:lumOff val="25000"/>
                          </a:schemeClr>
                        </a:solidFill>
                        <a:latin typeface="Arial" charset="0"/>
                        <a:ea typeface="+mn-ea"/>
                        <a:cs typeface="Arial" charset="0"/>
                      </a:endParaRP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200" b="0" kern="1200" dirty="0">
                          <a:solidFill>
                            <a:schemeClr val="tx1"/>
                          </a:solidFill>
                          <a:latin typeface="+mn-lt"/>
                          <a:ea typeface="+mn-ea"/>
                          <a:cs typeface="+mn-cs"/>
                        </a:rPr>
                        <a:t>Servicio PiOnline que se invoca desde los micros del PaaS</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On Premise</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Arquitectura Java</a:t>
                      </a: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0" kern="1200" noProof="0" dirty="0">
                          <a:solidFill>
                            <a:schemeClr val="tx1"/>
                          </a:solidFill>
                          <a:latin typeface="+mn-lt"/>
                          <a:ea typeface="+mn-ea"/>
                          <a:cs typeface="+mn-cs"/>
                        </a:rPr>
                        <a:t>WS/SOA</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4193212"/>
                  </a:ext>
                </a:extLst>
              </a:tr>
              <a:tr h="327297">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1" kern="1200" dirty="0">
                          <a:solidFill>
                            <a:schemeClr val="tx1"/>
                          </a:solidFill>
                          <a:latin typeface="+mn-lt"/>
                          <a:ea typeface="+mn-ea"/>
                          <a:cs typeface="+mn-cs"/>
                          <a:sym typeface="Wingdings" pitchFamily="2" charset="2"/>
                        </a:rPr>
                        <a:t>Paas Backend</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Existente</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200" b="0" kern="1200" dirty="0">
                          <a:solidFill>
                            <a:schemeClr val="tx1"/>
                          </a:solidFill>
                          <a:latin typeface="+mn-lt"/>
                          <a:ea typeface="+mn-ea"/>
                          <a:cs typeface="+mn-cs"/>
                        </a:rPr>
                        <a:t>Servicios expuestos por API </a:t>
                      </a:r>
                      <a:r>
                        <a:rPr lang="es-ES" sz="1200" b="0" kern="1200" dirty="0" err="1">
                          <a:solidFill>
                            <a:schemeClr val="tx1"/>
                          </a:solidFill>
                          <a:latin typeface="+mn-lt"/>
                          <a:ea typeface="+mn-ea"/>
                          <a:cs typeface="+mn-cs"/>
                        </a:rPr>
                        <a:t>BaaS</a:t>
                      </a:r>
                      <a:r>
                        <a:rPr lang="es-ES" sz="1200" b="0" kern="1200" dirty="0">
                          <a:solidFill>
                            <a:schemeClr val="tx1"/>
                          </a:solidFill>
                          <a:latin typeface="+mn-lt"/>
                          <a:ea typeface="+mn-ea"/>
                          <a:cs typeface="+mn-cs"/>
                        </a:rPr>
                        <a:t> desde otros backend</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On Premise</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85000"/>
                        </a:lnSpc>
                        <a:spcBef>
                          <a:spcPts val="400"/>
                        </a:spcBef>
                        <a:spcAft>
                          <a:spcPts val="0"/>
                        </a:spcAft>
                        <a:buClrTx/>
                        <a:buSzTx/>
                        <a:buFontTx/>
                        <a:buNone/>
                        <a:tabLst/>
                        <a:defRPr b="1"/>
                      </a:pPr>
                      <a:r>
                        <a:rPr lang="es-ES" sz="1200" b="0" kern="1200" dirty="0">
                          <a:solidFill>
                            <a:schemeClr val="tx1"/>
                          </a:solidFill>
                          <a:latin typeface="+mn-lt"/>
                          <a:ea typeface="+mn-ea"/>
                          <a:cs typeface="+mn-cs"/>
                        </a:rPr>
                        <a:t>Microservicios que ofrece el sistemas en el PaaS</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ctr">
                        <a:lnSpc>
                          <a:spcPct val="85000"/>
                        </a:lnSpc>
                        <a:buSzPct val="100000"/>
                        <a:buFont typeface="Arial"/>
                        <a:buNone/>
                        <a:defRPr b="1"/>
                      </a:pPr>
                      <a:r>
                        <a:rPr lang="es-ES" sz="1200" b="0" kern="1200" noProof="0" dirty="0">
                          <a:solidFill>
                            <a:schemeClr val="tx1"/>
                          </a:solidFill>
                          <a:latin typeface="+mn-lt"/>
                          <a:ea typeface="+mn-ea"/>
                          <a:cs typeface="+mn-cs"/>
                        </a:rPr>
                        <a:t>HTTPS/REST</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1311469"/>
                  </a:ext>
                </a:extLst>
              </a:tr>
              <a:tr h="327297">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1" kern="1200" dirty="0">
                          <a:solidFill>
                            <a:schemeClr val="tx1"/>
                          </a:solidFill>
                          <a:latin typeface="+mn-lt"/>
                          <a:ea typeface="+mn-ea"/>
                          <a:cs typeface="+mn-cs"/>
                          <a:sym typeface="Wingdings" pitchFamily="2" charset="2"/>
                        </a:rPr>
                        <a:t>Oracle</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Existente</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200" b="0" kern="1200" dirty="0">
                          <a:solidFill>
                            <a:schemeClr val="tx1"/>
                          </a:solidFill>
                          <a:latin typeface="+mn-lt"/>
                          <a:ea typeface="+mn-ea"/>
                          <a:cs typeface="+mn-cs"/>
                        </a:rPr>
                        <a:t>Maquina de estados para persistir operativas</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On Premise</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PaaS</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0" kern="1200" noProof="0" dirty="0">
                          <a:solidFill>
                            <a:schemeClr val="tx1"/>
                          </a:solidFill>
                          <a:latin typeface="+mn-lt"/>
                          <a:ea typeface="+mn-ea"/>
                          <a:cs typeface="+mn-cs"/>
                        </a:rPr>
                        <a:t>JDBC</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0053659"/>
                  </a:ext>
                </a:extLst>
              </a:tr>
              <a:tr h="327297">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1" kern="1200" dirty="0">
                          <a:solidFill>
                            <a:schemeClr val="tx1"/>
                          </a:solidFill>
                          <a:latin typeface="+mn-lt"/>
                          <a:ea typeface="+mn-ea"/>
                          <a:cs typeface="+mn-cs"/>
                          <a:sym typeface="Wingdings" pitchFamily="2" charset="2"/>
                        </a:rPr>
                        <a:t>S3 SGT</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Existente</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200" b="0" kern="1200" dirty="0">
                          <a:solidFill>
                            <a:schemeClr val="tx1"/>
                          </a:solidFill>
                          <a:latin typeface="+mn-lt"/>
                          <a:ea typeface="+mn-ea"/>
                          <a:cs typeface="+mn-cs"/>
                        </a:rPr>
                        <a:t>Sistema de almacenamiento de Global</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On Premise</a:t>
                      </a:r>
                    </a:p>
                    <a:p>
                      <a:pPr marL="0" marR="0" lvl="0" indent="0" algn="ctr" defTabSz="914400" rtl="0" eaLnBrk="1" fontAlgn="t" latinLnBrk="0" hangingPunct="1">
                        <a:lnSpc>
                          <a:spcPct val="100000"/>
                        </a:lnSpc>
                        <a:spcBef>
                          <a:spcPct val="20000"/>
                        </a:spcBef>
                        <a:spcAft>
                          <a:spcPct val="0"/>
                        </a:spcAft>
                        <a:buClrTx/>
                        <a:buSzTx/>
                        <a:buFontTx/>
                        <a:buNone/>
                        <a:tabLst/>
                        <a:defRPr/>
                      </a:pP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Arquitectura SGT</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0" kern="1200" noProof="0" dirty="0">
                          <a:solidFill>
                            <a:schemeClr val="tx1"/>
                          </a:solidFill>
                          <a:latin typeface="+mn-lt"/>
                          <a:ea typeface="+mn-ea"/>
                          <a:cs typeface="+mn-cs"/>
                        </a:rPr>
                        <a:t>API</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69370690"/>
                  </a:ext>
                </a:extLst>
              </a:tr>
              <a:tr h="327297">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1" kern="1200" dirty="0">
                          <a:solidFill>
                            <a:schemeClr val="tx1"/>
                          </a:solidFill>
                          <a:latin typeface="+mn-lt"/>
                          <a:ea typeface="+mn-ea"/>
                          <a:cs typeface="+mn-cs"/>
                          <a:sym typeface="Wingdings" pitchFamily="2" charset="2"/>
                        </a:rPr>
                        <a:t>APPIAN</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Nueva</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200" b="0" kern="1200" dirty="0">
                          <a:solidFill>
                            <a:schemeClr val="tx1"/>
                          </a:solidFill>
                          <a:latin typeface="+mn-lt"/>
                          <a:ea typeface="+mn-ea"/>
                          <a:cs typeface="+mn-cs"/>
                        </a:rPr>
                        <a:t>Motor BPMN de procesos</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On Premise</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85000"/>
                        </a:lnSpc>
                        <a:spcBef>
                          <a:spcPts val="400"/>
                        </a:spcBef>
                        <a:spcAft>
                          <a:spcPts val="0"/>
                        </a:spcAft>
                        <a:buClrTx/>
                        <a:buSzTx/>
                        <a:buFontTx/>
                        <a:buNone/>
                        <a:tabLst/>
                        <a:defRPr b="1"/>
                      </a:pPr>
                      <a:r>
                        <a:rPr lang="es-ES" sz="1000" b="0" kern="1200" dirty="0">
                          <a:solidFill>
                            <a:schemeClr val="tx1"/>
                          </a:solidFill>
                          <a:latin typeface="+mn-lt"/>
                          <a:ea typeface="+mn-ea"/>
                          <a:cs typeface="+mn-cs"/>
                        </a:rPr>
                        <a:t>Microservicios que ofrece el sistemas en el PaaS</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0" kern="1200" noProof="0" dirty="0">
                          <a:solidFill>
                            <a:schemeClr val="tx1"/>
                          </a:solidFill>
                          <a:latin typeface="+mn-lt"/>
                          <a:ea typeface="+mn-ea"/>
                          <a:cs typeface="+mn-cs"/>
                        </a:rPr>
                        <a:t>HTTPS/REST</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2892049"/>
                  </a:ext>
                </a:extLst>
              </a:tr>
              <a:tr h="327297">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1" kern="1200" dirty="0">
                          <a:solidFill>
                            <a:schemeClr val="tx1"/>
                          </a:solidFill>
                          <a:latin typeface="+mn-lt"/>
                          <a:ea typeface="+mn-ea"/>
                          <a:cs typeface="+mn-cs"/>
                          <a:sym typeface="Wingdings" pitchFamily="2" charset="2"/>
                        </a:rPr>
                        <a:t>VOLUMEN OHE</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Nueva</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200" b="0" kern="1200" dirty="0">
                          <a:solidFill>
                            <a:schemeClr val="tx1"/>
                          </a:solidFill>
                          <a:latin typeface="+mn-lt"/>
                          <a:ea typeface="+mn-ea"/>
                          <a:cs typeface="+mn-cs"/>
                        </a:rPr>
                        <a:t>Almacenamiento global sustituye al s3</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On Premise</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85000"/>
                        </a:lnSpc>
                        <a:spcBef>
                          <a:spcPts val="400"/>
                        </a:spcBef>
                        <a:spcAft>
                          <a:spcPts val="0"/>
                        </a:spcAft>
                        <a:buClrTx/>
                        <a:buSzTx/>
                        <a:buFontTx/>
                        <a:buNone/>
                        <a:tabLst/>
                        <a:defRPr b="1"/>
                      </a:pPr>
                      <a:r>
                        <a:rPr lang="es-ES" sz="1000" b="0" kern="1200" dirty="0">
                          <a:solidFill>
                            <a:schemeClr val="tx1"/>
                          </a:solidFill>
                          <a:latin typeface="+mn-lt"/>
                          <a:ea typeface="+mn-ea"/>
                          <a:cs typeface="+mn-cs"/>
                        </a:rPr>
                        <a:t>Microservicios gestión de documentos</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0" kern="1200" noProof="0" dirty="0">
                          <a:solidFill>
                            <a:schemeClr val="tx1"/>
                          </a:solidFill>
                          <a:latin typeface="+mn-lt"/>
                          <a:ea typeface="+mn-ea"/>
                          <a:cs typeface="+mn-cs"/>
                        </a:rPr>
                        <a:t>SDK Java</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5812963"/>
                  </a:ext>
                </a:extLst>
              </a:tr>
            </a:tbl>
          </a:graphicData>
        </a:graphic>
      </p:graphicFrame>
      <p:sp>
        <p:nvSpPr>
          <p:cNvPr id="7" name="Marcador de texto 1">
            <a:extLst>
              <a:ext uri="{FF2B5EF4-FFF2-40B4-BE49-F238E27FC236}">
                <a16:creationId xmlns:a16="http://schemas.microsoft.com/office/drawing/2014/main" id="{A5DF5C83-F4FB-45D4-9E8B-C2B4C6873D34}"/>
              </a:ext>
            </a:extLst>
          </p:cNvPr>
          <p:cNvSpPr txBox="1">
            <a:spLocks/>
          </p:cNvSpPr>
          <p:nvPr/>
        </p:nvSpPr>
        <p:spPr>
          <a:xfrm>
            <a:off x="653140" y="406116"/>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Componentes de infraestructura</a:t>
            </a:r>
          </a:p>
          <a:p>
            <a:pPr marL="0" indent="0">
              <a:spcBef>
                <a:spcPts val="300"/>
              </a:spcBef>
              <a:buFont typeface="Arial" panose="020B0604020202020204" pitchFamily="34" charset="0"/>
              <a:buNone/>
            </a:pPr>
            <a:endParaRPr lang="es-ES" sz="1800" b="1" dirty="0">
              <a:solidFill>
                <a:srgbClr val="EB0000"/>
              </a:solidFill>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6" name="CuadroTexto 5">
            <a:extLst>
              <a:ext uri="{FF2B5EF4-FFF2-40B4-BE49-F238E27FC236}">
                <a16:creationId xmlns:a16="http://schemas.microsoft.com/office/drawing/2014/main" id="{4B69CCC2-C110-4E00-A3ED-E32A20828471}"/>
              </a:ext>
            </a:extLst>
          </p:cNvPr>
          <p:cNvSpPr txBox="1"/>
          <p:nvPr/>
        </p:nvSpPr>
        <p:spPr>
          <a:xfrm>
            <a:off x="1030514" y="5243063"/>
            <a:ext cx="10455990" cy="369332"/>
          </a:xfrm>
          <a:prstGeom prst="rect">
            <a:avLst/>
          </a:prstGeom>
          <a:noFill/>
        </p:spPr>
        <p:txBody>
          <a:bodyPr wrap="square">
            <a:spAutoFit/>
          </a:bodyPr>
          <a:lstStyle/>
          <a:p>
            <a:r>
              <a:rPr lang="es-ES" sz="1800" dirty="0"/>
              <a:t>-     El proyecto es el encargado de gestionar los datos para hacer las conexiones a S3</a:t>
            </a:r>
            <a:endParaRPr lang="es-ES" dirty="0"/>
          </a:p>
        </p:txBody>
      </p:sp>
    </p:spTree>
    <p:extLst>
      <p:ext uri="{BB962C8B-B14F-4D97-AF65-F5344CB8AC3E}">
        <p14:creationId xmlns:p14="http://schemas.microsoft.com/office/powerpoint/2010/main" val="4588729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solidFill>
                  <a:srgbClr val="EB0000"/>
                </a:solidFill>
                <a:ea typeface="Segoe UI" panose="020B0502040204020203" pitchFamily="34" charset="0"/>
                <a:cs typeface="Segoe UI" panose="020B0502040204020203" pitchFamily="34" charset="0"/>
              </a:rPr>
              <a:t>Modelo de servicio y criterios de despliegue</a:t>
            </a:r>
          </a:p>
          <a:p>
            <a:endParaRPr lang="es-ES" dirty="0"/>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05</a:t>
            </a:r>
          </a:p>
        </p:txBody>
      </p:sp>
    </p:spTree>
    <p:extLst>
      <p:ext uri="{BB962C8B-B14F-4D97-AF65-F5344CB8AC3E}">
        <p14:creationId xmlns:p14="http://schemas.microsoft.com/office/powerpoint/2010/main" val="1852847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 name="1 Título"/>
          <p:cNvSpPr txBox="1">
            <a:spLocks noGrp="1"/>
          </p:cNvSpPr>
          <p:nvPr>
            <p:ph type="title"/>
          </p:nvPr>
        </p:nvSpPr>
        <p:spPr>
          <a:xfrm>
            <a:off x="1775916" y="208917"/>
            <a:ext cx="8932986" cy="703385"/>
          </a:xfrm>
          <a:prstGeom prst="rect">
            <a:avLst/>
          </a:prstGeom>
        </p:spPr>
        <p:txBody>
          <a:bodyPr/>
          <a:lstStyle/>
          <a:p>
            <a:r>
              <a:rPr dirty="0"/>
              <a:t>PARTE VI – Modelo de Servicios</a:t>
            </a:r>
          </a:p>
        </p:txBody>
      </p:sp>
      <p:sp>
        <p:nvSpPr>
          <p:cNvPr id="943" name="2 Marcador de contenido"/>
          <p:cNvSpPr txBox="1"/>
          <p:nvPr/>
        </p:nvSpPr>
        <p:spPr>
          <a:xfrm>
            <a:off x="1894009" y="692904"/>
            <a:ext cx="8403983" cy="12843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114" tIns="45114" rIns="45114" bIns="45114">
            <a:spAutoFit/>
          </a:bodyPr>
          <a:lstStyle/>
          <a:p>
            <a:pPr defTabSz="902699">
              <a:spcBef>
                <a:spcPts val="369"/>
              </a:spcBef>
              <a:defRPr sz="2000" b="1">
                <a:solidFill>
                  <a:srgbClr val="FF0000"/>
                </a:solidFill>
              </a:defRPr>
            </a:pPr>
            <a:r>
              <a:rPr sz="1846" dirty="0" err="1"/>
              <a:t>Detalle</a:t>
            </a:r>
            <a:r>
              <a:rPr sz="1846" dirty="0"/>
              <a:t> del Modelo de Servicios</a:t>
            </a:r>
          </a:p>
          <a:p>
            <a:pPr defTabSz="902699">
              <a:defRPr sz="1600">
                <a:solidFill>
                  <a:srgbClr val="808080"/>
                </a:solidFill>
              </a:defRPr>
            </a:pPr>
            <a:endParaRPr sz="1477" dirty="0"/>
          </a:p>
          <a:p>
            <a:pPr marL="685817" lvl="1" indent="-263776" defTabSz="902699">
              <a:buClr>
                <a:srgbClr val="FF0000"/>
              </a:buClr>
              <a:buSzPct val="100000"/>
              <a:buFont typeface="Arial"/>
              <a:buChar char="•"/>
              <a:defRPr sz="1600" b="1">
                <a:solidFill>
                  <a:srgbClr val="808080"/>
                </a:solidFill>
              </a:defRPr>
            </a:pPr>
            <a:endParaRPr sz="1477" dirty="0"/>
          </a:p>
          <a:p>
            <a:pPr marL="158264" indent="-316527" defTabSz="902699">
              <a:buClr>
                <a:srgbClr val="FF0000"/>
              </a:buClr>
              <a:buSzPct val="100000"/>
              <a:buChar char="▪"/>
              <a:defRPr sz="1600">
                <a:solidFill>
                  <a:srgbClr val="808080"/>
                </a:solidFill>
              </a:defRPr>
            </a:pPr>
            <a:endParaRPr sz="1477" dirty="0"/>
          </a:p>
          <a:p>
            <a:pPr marL="685810" lvl="2" indent="-316527" defTabSz="902699">
              <a:buClr>
                <a:srgbClr val="FF0000"/>
              </a:buClr>
              <a:buSzPct val="100000"/>
              <a:buChar char="▪"/>
              <a:defRPr sz="1600">
                <a:solidFill>
                  <a:srgbClr val="808080"/>
                </a:solidFill>
              </a:defRPr>
            </a:pPr>
            <a:endParaRPr sz="1477" dirty="0"/>
          </a:p>
        </p:txBody>
      </p:sp>
      <p:grpSp>
        <p:nvGrpSpPr>
          <p:cNvPr id="956" name="4 Diagrama"/>
          <p:cNvGrpSpPr/>
          <p:nvPr/>
        </p:nvGrpSpPr>
        <p:grpSpPr>
          <a:xfrm>
            <a:off x="1261899" y="1112449"/>
            <a:ext cx="9689272" cy="5322301"/>
            <a:chOff x="0" y="-911094"/>
            <a:chExt cx="10496711" cy="5765825"/>
          </a:xfrm>
        </p:grpSpPr>
        <p:grpSp>
          <p:nvGrpSpPr>
            <p:cNvPr id="946" name="Grupo"/>
            <p:cNvGrpSpPr/>
            <p:nvPr/>
          </p:nvGrpSpPr>
          <p:grpSpPr>
            <a:xfrm>
              <a:off x="2506795" y="-911094"/>
              <a:ext cx="7967089" cy="3888078"/>
              <a:chOff x="-4" y="-1131052"/>
              <a:chExt cx="7967088" cy="3888077"/>
            </a:xfrm>
          </p:grpSpPr>
          <p:sp>
            <p:nvSpPr>
              <p:cNvPr id="944" name="Figura"/>
              <p:cNvSpPr/>
              <p:nvPr/>
            </p:nvSpPr>
            <p:spPr>
              <a:xfrm rot="5400000">
                <a:off x="2541071" y="-3346206"/>
                <a:ext cx="2786127" cy="7868278"/>
              </a:xfrm>
              <a:custGeom>
                <a:avLst/>
                <a:gdLst/>
                <a:ahLst/>
                <a:cxnLst>
                  <a:cxn ang="0">
                    <a:pos x="wd2" y="hd2"/>
                  </a:cxn>
                  <a:cxn ang="5400000">
                    <a:pos x="wd2" y="hd2"/>
                  </a:cxn>
                  <a:cxn ang="10800000">
                    <a:pos x="wd2" y="hd2"/>
                  </a:cxn>
                  <a:cxn ang="16200000">
                    <a:pos x="wd2" y="hd2"/>
                  </a:cxn>
                </a:cxnLst>
                <a:rect l="0" t="0" r="r" b="b"/>
                <a:pathLst>
                  <a:path w="21600" h="21600" extrusionOk="0">
                    <a:moveTo>
                      <a:pt x="3600" y="0"/>
                    </a:moveTo>
                    <a:lnTo>
                      <a:pt x="18000" y="0"/>
                    </a:lnTo>
                    <a:cubicBezTo>
                      <a:pt x="19988" y="0"/>
                      <a:pt x="21600" y="325"/>
                      <a:pt x="21600" y="725"/>
                    </a:cubicBezTo>
                    <a:lnTo>
                      <a:pt x="21600" y="21600"/>
                    </a:lnTo>
                    <a:lnTo>
                      <a:pt x="0" y="21600"/>
                    </a:lnTo>
                    <a:lnTo>
                      <a:pt x="0" y="725"/>
                    </a:lnTo>
                    <a:cubicBezTo>
                      <a:pt x="0" y="325"/>
                      <a:pt x="1612" y="0"/>
                      <a:pt x="3600" y="0"/>
                    </a:cubicBezTo>
                    <a:close/>
                  </a:path>
                </a:pathLst>
              </a:custGeom>
              <a:solidFill>
                <a:schemeClr val="accent2">
                  <a:lumMod val="20000"/>
                  <a:lumOff val="80000"/>
                  <a:alpha val="90000"/>
                </a:schemeClr>
              </a:solidFill>
              <a:ln w="25400" cap="flat">
                <a:solidFill>
                  <a:schemeClr val="accent6">
                    <a:satOff val="24489"/>
                    <a:lumOff val="34513"/>
                    <a:alpha val="90000"/>
                  </a:schemeClr>
                </a:solidFill>
                <a:prstDash val="solid"/>
                <a:round/>
              </a:ln>
              <a:effectLst/>
            </p:spPr>
            <p:txBody>
              <a:bodyPr wrap="square" lIns="45114" tIns="45114" rIns="45114" bIns="45114" numCol="1" anchor="ctr">
                <a:noAutofit/>
              </a:bodyPr>
              <a:lstStyle/>
              <a:p>
                <a:pPr algn="just" defTabSz="656509">
                  <a:lnSpc>
                    <a:spcPct val="90000"/>
                  </a:lnSpc>
                  <a:spcBef>
                    <a:spcPts val="369"/>
                  </a:spcBef>
                </a:pPr>
                <a:endParaRPr sz="1662"/>
              </a:p>
            </p:txBody>
          </p:sp>
          <p:sp>
            <p:nvSpPr>
              <p:cNvPr id="945" name="PaaS Internet (Santander España) dedicado…"/>
              <p:cNvSpPr txBox="1"/>
              <p:nvPr/>
            </p:nvSpPr>
            <p:spPr>
              <a:xfrm>
                <a:off x="176151" y="-1131052"/>
                <a:ext cx="7790933" cy="388807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14300" tIns="114300" rIns="114300" bIns="114300" numCol="1" anchor="ctr">
                <a:spAutoFit/>
              </a:bodyPr>
              <a:lstStyle/>
              <a:p>
                <a:pPr marL="571500" lvl="1" indent="-285750" algn="just">
                  <a:spcBef>
                    <a:spcPct val="20000"/>
                  </a:spcBef>
                  <a:buClr>
                    <a:srgbClr val="FF0000"/>
                  </a:buClr>
                  <a:buSzPct val="100000"/>
                  <a:tabLst>
                    <a:tab pos="990600" algn="l"/>
                    <a:tab pos="3225800" algn="l"/>
                    <a:tab pos="4127500" algn="l"/>
                  </a:tabLst>
                  <a:defRPr/>
                </a:pPr>
                <a:endParaRPr lang="es-ES" sz="1477" dirty="0"/>
              </a:p>
              <a:p>
                <a:pPr marL="571500" lvl="1" indent="-285750" algn="just">
                  <a:spcBef>
                    <a:spcPct val="20000"/>
                  </a:spcBef>
                  <a:buClr>
                    <a:srgbClr val="FF0000"/>
                  </a:buClr>
                  <a:buSzPct val="100000"/>
                  <a:buFont typeface="Arial" panose="020B0604020202020204" pitchFamily="34" charset="0"/>
                  <a:buChar char="•"/>
                  <a:tabLst>
                    <a:tab pos="990600" algn="l"/>
                    <a:tab pos="3225800" algn="l"/>
                    <a:tab pos="4127500" algn="l"/>
                  </a:tabLst>
                  <a:defRPr/>
                </a:pPr>
                <a:r>
                  <a:rPr lang="es-ES" sz="1400" dirty="0">
                    <a:solidFill>
                      <a:schemeClr val="tx1">
                        <a:lumMod val="85000"/>
                        <a:lumOff val="15000"/>
                      </a:schemeClr>
                    </a:solidFill>
                  </a:rPr>
                  <a:t>Los Microservicios y API Gateway Darwin se desplegarán en Global PaaS. Los nuevos Microservicios del proyecto se desplegarán en el Proyecto HC 2.0 en el canal internet. Se utilizará dos </a:t>
                </a:r>
                <a:r>
                  <a:rPr lang="es-ES" sz="1400" dirty="0" err="1">
                    <a:solidFill>
                      <a:schemeClr val="tx1">
                        <a:lumMod val="85000"/>
                        <a:lumOff val="15000"/>
                      </a:schemeClr>
                    </a:solidFill>
                  </a:rPr>
                  <a:t>gateways</a:t>
                </a:r>
                <a:r>
                  <a:rPr lang="es-ES" sz="1400" dirty="0">
                    <a:solidFill>
                      <a:schemeClr val="tx1">
                        <a:lumMod val="85000"/>
                        <a:lumOff val="15000"/>
                      </a:schemeClr>
                    </a:solidFill>
                  </a:rPr>
                  <a:t> web uno para el front de intranet y otro para el front de internet Se requiere el uso de los siguientes entornos: Desarrollo/Certificación, Preproducción y Producción, ubicados en Red Interna</a:t>
                </a:r>
              </a:p>
              <a:p>
                <a:pPr marL="571500" lvl="1" indent="-285750" algn="just">
                  <a:spcBef>
                    <a:spcPct val="20000"/>
                  </a:spcBef>
                  <a:buClr>
                    <a:srgbClr val="FF0000"/>
                  </a:buClr>
                  <a:buSzPct val="100000"/>
                  <a:buFont typeface="Arial" panose="020B0604020202020204" pitchFamily="34" charset="0"/>
                  <a:buChar char="•"/>
                  <a:tabLst>
                    <a:tab pos="990600" algn="l"/>
                    <a:tab pos="3225800" algn="l"/>
                    <a:tab pos="4127500" algn="l"/>
                  </a:tabLst>
                  <a:defRPr/>
                </a:pPr>
                <a:r>
                  <a:rPr lang="es-ES" sz="1400" dirty="0">
                    <a:solidFill>
                      <a:schemeClr val="tx1">
                        <a:lumMod val="85000"/>
                        <a:lumOff val="15000"/>
                      </a:schemeClr>
                    </a:solidFill>
                  </a:rPr>
                  <a:t>PaaS Estructural Seguridad SAS (compartido).</a:t>
                </a:r>
              </a:p>
              <a:p>
                <a:pPr marL="571500" lvl="1" indent="-285750" algn="just">
                  <a:spcBef>
                    <a:spcPct val="20000"/>
                  </a:spcBef>
                  <a:buClr>
                    <a:srgbClr val="FF0000"/>
                  </a:buClr>
                  <a:buSzPct val="100000"/>
                  <a:buFont typeface="Arial" panose="020B0604020202020204" pitchFamily="34" charset="0"/>
                  <a:buChar char="•"/>
                  <a:tabLst>
                    <a:tab pos="990600" algn="l"/>
                    <a:tab pos="3225800" algn="l"/>
                    <a:tab pos="4127500" algn="l"/>
                  </a:tabLst>
                  <a:defRPr/>
                </a:pPr>
                <a:r>
                  <a:rPr lang="es-ES" sz="1400" dirty="0">
                    <a:solidFill>
                      <a:schemeClr val="tx1">
                        <a:lumMod val="85000"/>
                        <a:lumOff val="15000"/>
                      </a:schemeClr>
                    </a:solidFill>
                  </a:rPr>
                  <a:t>Se utilizara la Celda Java Particulares para PiOnline.</a:t>
                </a:r>
              </a:p>
              <a:p>
                <a:pPr marL="571500" lvl="1" indent="-285750" algn="just">
                  <a:spcBef>
                    <a:spcPct val="20000"/>
                  </a:spcBef>
                  <a:buClr>
                    <a:srgbClr val="FF0000"/>
                  </a:buClr>
                  <a:buSzPct val="100000"/>
                  <a:buFont typeface="Arial" panose="020B0604020202020204" pitchFamily="34" charset="0"/>
                  <a:buChar char="•"/>
                  <a:tabLst>
                    <a:tab pos="990600" algn="l"/>
                    <a:tab pos="3225800" algn="l"/>
                    <a:tab pos="4127500" algn="l"/>
                  </a:tabLst>
                  <a:defRPr/>
                </a:pPr>
                <a:r>
                  <a:rPr lang="es-ES" sz="1400" dirty="0">
                    <a:solidFill>
                      <a:schemeClr val="tx1">
                        <a:lumMod val="85000"/>
                        <a:lumOff val="15000"/>
                      </a:schemeClr>
                    </a:solidFill>
                  </a:rPr>
                  <a:t>Se comunicarán ambos PaaS internet /intranet a través de DNS. Preferiblemente y a ser posible por Network </a:t>
                </a:r>
                <a:r>
                  <a:rPr lang="es-ES" sz="1400" dirty="0" err="1">
                    <a:solidFill>
                      <a:schemeClr val="tx1">
                        <a:lumMod val="85000"/>
                        <a:lumOff val="15000"/>
                      </a:schemeClr>
                    </a:solidFill>
                  </a:rPr>
                  <a:t>policies</a:t>
                </a:r>
                <a:r>
                  <a:rPr lang="es-ES" sz="1400" dirty="0">
                    <a:solidFill>
                      <a:schemeClr val="tx1">
                        <a:lumMod val="85000"/>
                        <a:lumOff val="15000"/>
                      </a:schemeClr>
                    </a:solidFill>
                  </a:rPr>
                  <a:t>.</a:t>
                </a:r>
              </a:p>
              <a:p>
                <a:pPr marL="571500" lvl="1" indent="-285750" algn="just">
                  <a:spcBef>
                    <a:spcPct val="20000"/>
                  </a:spcBef>
                  <a:buClr>
                    <a:srgbClr val="FF0000"/>
                  </a:buClr>
                  <a:buSzPct val="100000"/>
                  <a:buFont typeface="Arial" panose="020B0604020202020204" pitchFamily="34" charset="0"/>
                  <a:buChar char="•"/>
                  <a:tabLst>
                    <a:tab pos="990600" algn="l"/>
                    <a:tab pos="3225800" algn="l"/>
                    <a:tab pos="4127500" algn="l"/>
                  </a:tabLst>
                  <a:defRPr/>
                </a:pPr>
                <a:r>
                  <a:rPr lang="es-ES" sz="1400" dirty="0">
                    <a:solidFill>
                      <a:schemeClr val="tx1">
                        <a:lumMod val="85000"/>
                        <a:lumOff val="15000"/>
                      </a:schemeClr>
                    </a:solidFill>
                  </a:rPr>
                  <a:t>EL modelo de Servicio de </a:t>
                </a:r>
                <a:r>
                  <a:rPr lang="es-ES" sz="1400" dirty="0" err="1">
                    <a:solidFill>
                      <a:schemeClr val="tx1">
                        <a:lumMod val="85000"/>
                        <a:lumOff val="15000"/>
                      </a:schemeClr>
                    </a:solidFill>
                  </a:rPr>
                  <a:t>Inbenta</a:t>
                </a:r>
                <a:r>
                  <a:rPr lang="es-ES" sz="1400" dirty="0">
                    <a:solidFill>
                      <a:schemeClr val="tx1">
                        <a:lumMod val="85000"/>
                        <a:lumOff val="15000"/>
                      </a:schemeClr>
                    </a:solidFill>
                  </a:rPr>
                  <a:t> queda reflejado fuera de este diseño , se indica los niveles de SLA en REF 4</a:t>
                </a:r>
              </a:p>
              <a:p>
                <a:pPr marL="285750" lvl="1" algn="just">
                  <a:spcBef>
                    <a:spcPct val="20000"/>
                  </a:spcBef>
                  <a:buClr>
                    <a:srgbClr val="FF0000"/>
                  </a:buClr>
                  <a:buSzPct val="100000"/>
                  <a:tabLst>
                    <a:tab pos="990600" algn="l"/>
                    <a:tab pos="3225800" algn="l"/>
                    <a:tab pos="4127500" algn="l"/>
                  </a:tabLst>
                  <a:defRPr/>
                </a:pPr>
                <a:endParaRPr lang="es-ES" sz="1477" dirty="0">
                  <a:solidFill>
                    <a:srgbClr val="808080"/>
                  </a:solidFill>
                </a:endParaRPr>
              </a:p>
              <a:p>
                <a:pPr marL="571500" lvl="1" indent="-285750" algn="just">
                  <a:spcBef>
                    <a:spcPct val="20000"/>
                  </a:spcBef>
                  <a:buClr>
                    <a:srgbClr val="FF0000"/>
                  </a:buClr>
                  <a:buSzPct val="100000"/>
                  <a:buFont typeface="Arial" panose="020B0604020202020204" pitchFamily="34" charset="0"/>
                  <a:buChar char="•"/>
                  <a:tabLst>
                    <a:tab pos="990600" algn="l"/>
                    <a:tab pos="3225800" algn="l"/>
                    <a:tab pos="4127500" algn="l"/>
                  </a:tabLst>
                  <a:defRPr/>
                </a:pPr>
                <a:endParaRPr lang="es-ES" sz="1477" dirty="0">
                  <a:solidFill>
                    <a:srgbClr val="808080"/>
                  </a:solidFill>
                </a:endParaRPr>
              </a:p>
            </p:txBody>
          </p:sp>
        </p:grpSp>
        <p:grpSp>
          <p:nvGrpSpPr>
            <p:cNvPr id="949" name="Grupo"/>
            <p:cNvGrpSpPr/>
            <p:nvPr/>
          </p:nvGrpSpPr>
          <p:grpSpPr>
            <a:xfrm>
              <a:off x="0" y="0"/>
              <a:ext cx="2506802" cy="2024317"/>
              <a:chOff x="0" y="0"/>
              <a:chExt cx="2506801" cy="2024316"/>
            </a:xfrm>
          </p:grpSpPr>
          <p:sp>
            <p:nvSpPr>
              <p:cNvPr id="947" name="Rectángulo redondeado"/>
              <p:cNvSpPr/>
              <p:nvPr/>
            </p:nvSpPr>
            <p:spPr>
              <a:xfrm>
                <a:off x="0" y="0"/>
                <a:ext cx="2506801" cy="2024316"/>
              </a:xfrm>
              <a:prstGeom prst="roundRect">
                <a:avLst>
                  <a:gd name="adj" fmla="val 16667"/>
                </a:avLst>
              </a:prstGeom>
              <a:solidFill>
                <a:srgbClr val="FF0000"/>
              </a:solidFill>
              <a:ln w="25400" cap="flat">
                <a:solidFill>
                  <a:schemeClr val="accent3">
                    <a:lumOff val="44000"/>
                  </a:schemeClr>
                </a:solidFill>
                <a:prstDash val="solid"/>
                <a:round/>
              </a:ln>
              <a:effectLst/>
            </p:spPr>
            <p:txBody>
              <a:bodyPr wrap="square" lIns="45114" tIns="45114" rIns="45114" bIns="45114" numCol="1" anchor="ctr">
                <a:noAutofit/>
              </a:bodyPr>
              <a:lstStyle/>
              <a:p>
                <a:pPr algn="ctr" defTabSz="820636">
                  <a:lnSpc>
                    <a:spcPct val="90000"/>
                  </a:lnSpc>
                  <a:spcBef>
                    <a:spcPts val="923"/>
                  </a:spcBef>
                  <a:defRPr>
                    <a:solidFill>
                      <a:schemeClr val="accent3">
                        <a:lumOff val="44000"/>
                      </a:schemeClr>
                    </a:solidFill>
                  </a:defRPr>
                </a:pPr>
                <a:endParaRPr sz="1662"/>
              </a:p>
            </p:txBody>
          </p:sp>
          <p:sp>
            <p:nvSpPr>
              <p:cNvPr id="948" name="Modelo de Servicio"/>
              <p:cNvSpPr txBox="1"/>
              <p:nvPr/>
            </p:nvSpPr>
            <p:spPr>
              <a:xfrm>
                <a:off x="98818" y="835209"/>
                <a:ext cx="2309163" cy="35389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169" tIns="35169" rIns="35169" bIns="35169" numCol="1" anchor="ctr">
                <a:spAutoFit/>
              </a:bodyPr>
              <a:lstStyle>
                <a:lvl1pPr algn="ctr" defTabSz="889000">
                  <a:lnSpc>
                    <a:spcPct val="90000"/>
                  </a:lnSpc>
                  <a:spcBef>
                    <a:spcPts val="800"/>
                  </a:spcBef>
                  <a:defRPr sz="2000">
                    <a:solidFill>
                      <a:schemeClr val="accent3">
                        <a:lumOff val="44000"/>
                      </a:schemeClr>
                    </a:solidFill>
                  </a:defRPr>
                </a:lvl1pPr>
              </a:lstStyle>
              <a:p>
                <a:r>
                  <a:rPr sz="1846" dirty="0"/>
                  <a:t>Modelo de Servicio</a:t>
                </a:r>
              </a:p>
            </p:txBody>
          </p:sp>
        </p:grpSp>
        <p:grpSp>
          <p:nvGrpSpPr>
            <p:cNvPr id="952" name="Grupo"/>
            <p:cNvGrpSpPr/>
            <p:nvPr/>
          </p:nvGrpSpPr>
          <p:grpSpPr>
            <a:xfrm>
              <a:off x="2561309" y="2329595"/>
              <a:ext cx="7935402" cy="2525136"/>
              <a:chOff x="54510" y="-158230"/>
              <a:chExt cx="7935401" cy="2525135"/>
            </a:xfrm>
          </p:grpSpPr>
          <p:sp>
            <p:nvSpPr>
              <p:cNvPr id="950" name="Figura"/>
              <p:cNvSpPr/>
              <p:nvPr/>
            </p:nvSpPr>
            <p:spPr>
              <a:xfrm rot="5400000">
                <a:off x="3087414" y="-3106473"/>
                <a:ext cx="1894732" cy="7910262"/>
              </a:xfrm>
              <a:custGeom>
                <a:avLst/>
                <a:gdLst/>
                <a:ahLst/>
                <a:cxnLst>
                  <a:cxn ang="0">
                    <a:pos x="wd2" y="hd2"/>
                  </a:cxn>
                  <a:cxn ang="5400000">
                    <a:pos x="wd2" y="hd2"/>
                  </a:cxn>
                  <a:cxn ang="10800000">
                    <a:pos x="wd2" y="hd2"/>
                  </a:cxn>
                  <a:cxn ang="16200000">
                    <a:pos x="wd2" y="hd2"/>
                  </a:cxn>
                </a:cxnLst>
                <a:rect l="0" t="0" r="r" b="b"/>
                <a:pathLst>
                  <a:path w="21600" h="21600" extrusionOk="0">
                    <a:moveTo>
                      <a:pt x="3600" y="0"/>
                    </a:moveTo>
                    <a:lnTo>
                      <a:pt x="18000" y="0"/>
                    </a:lnTo>
                    <a:cubicBezTo>
                      <a:pt x="19988" y="0"/>
                      <a:pt x="21600" y="229"/>
                      <a:pt x="21600" y="511"/>
                    </a:cubicBezTo>
                    <a:lnTo>
                      <a:pt x="21600" y="21600"/>
                    </a:lnTo>
                    <a:lnTo>
                      <a:pt x="0" y="21600"/>
                    </a:lnTo>
                    <a:lnTo>
                      <a:pt x="0" y="511"/>
                    </a:lnTo>
                    <a:cubicBezTo>
                      <a:pt x="0" y="229"/>
                      <a:pt x="1612" y="0"/>
                      <a:pt x="3600" y="0"/>
                    </a:cubicBezTo>
                    <a:close/>
                  </a:path>
                </a:pathLst>
              </a:custGeom>
              <a:solidFill>
                <a:schemeClr val="accent2">
                  <a:lumMod val="20000"/>
                  <a:lumOff val="80000"/>
                  <a:alpha val="90000"/>
                </a:schemeClr>
              </a:solidFill>
              <a:ln w="25400" cap="flat">
                <a:solidFill>
                  <a:schemeClr val="accent6">
                    <a:satOff val="24489"/>
                    <a:lumOff val="34513"/>
                    <a:alpha val="90000"/>
                  </a:schemeClr>
                </a:solidFill>
                <a:prstDash val="solid"/>
                <a:round/>
              </a:ln>
              <a:effectLst/>
            </p:spPr>
            <p:txBody>
              <a:bodyPr wrap="square" lIns="45114" tIns="45114" rIns="45114" bIns="45114" numCol="1" anchor="ctr">
                <a:noAutofit/>
              </a:bodyPr>
              <a:lstStyle/>
              <a:p>
                <a:pPr algn="just" defTabSz="656509">
                  <a:lnSpc>
                    <a:spcPct val="90000"/>
                  </a:lnSpc>
                  <a:spcBef>
                    <a:spcPts val="369"/>
                  </a:spcBef>
                </a:pPr>
                <a:endParaRPr sz="1662"/>
              </a:p>
            </p:txBody>
          </p:sp>
          <p:sp>
            <p:nvSpPr>
              <p:cNvPr id="951" name="Indicar el modelo de despliegue de cada componente:…"/>
              <p:cNvSpPr/>
              <p:nvPr/>
            </p:nvSpPr>
            <p:spPr>
              <a:xfrm>
                <a:off x="54510" y="-158230"/>
                <a:ext cx="7813763" cy="2525135"/>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14300" tIns="114300" rIns="114300" bIns="114300" numCol="1" anchor="ctr">
                <a:spAutoFit/>
              </a:bodyPr>
              <a:lstStyle/>
              <a:p>
                <a:pPr marL="316531" lvl="2" indent="-158265" algn="just" defTabSz="656509">
                  <a:lnSpc>
                    <a:spcPct val="90000"/>
                  </a:lnSpc>
                  <a:spcBef>
                    <a:spcPts val="185"/>
                  </a:spcBef>
                  <a:buClr>
                    <a:schemeClr val="accent2"/>
                  </a:buClr>
                  <a:buSzPct val="100000"/>
                  <a:buChar char="•"/>
                  <a:defRPr sz="1600">
                    <a:solidFill>
                      <a:srgbClr val="808080"/>
                    </a:solidFill>
                  </a:defRPr>
                </a:pPr>
                <a:r>
                  <a:rPr lang="es-ES" sz="1400" dirty="0">
                    <a:solidFill>
                      <a:schemeClr val="tx1">
                        <a:lumMod val="85000"/>
                        <a:lumOff val="15000"/>
                      </a:schemeClr>
                    </a:solidFill>
                  </a:rPr>
                  <a:t>Proyectos PaaS en Open Shift</a:t>
                </a:r>
              </a:p>
              <a:p>
                <a:pPr marL="316531" lvl="2" indent="-158265" algn="just" defTabSz="656509">
                  <a:lnSpc>
                    <a:spcPct val="90000"/>
                  </a:lnSpc>
                  <a:spcBef>
                    <a:spcPts val="185"/>
                  </a:spcBef>
                  <a:buClr>
                    <a:schemeClr val="accent2"/>
                  </a:buClr>
                  <a:buSzPct val="100000"/>
                  <a:buChar char="•"/>
                  <a:defRPr sz="1600">
                    <a:solidFill>
                      <a:srgbClr val="808080"/>
                    </a:solidFill>
                  </a:defRPr>
                </a:pPr>
                <a:r>
                  <a:rPr lang="es-ES" sz="1400" dirty="0">
                    <a:solidFill>
                      <a:schemeClr val="tx1">
                        <a:lumMod val="85000"/>
                        <a:lumOff val="15000"/>
                      </a:schemeClr>
                    </a:solidFill>
                  </a:rPr>
                  <a:t>El despliegue se hace siguiendo el ciclo de ALM con los patrones de CI/CD.</a:t>
                </a:r>
              </a:p>
              <a:p>
                <a:pPr marL="316531" lvl="2" indent="-158265" algn="just" defTabSz="656509">
                  <a:lnSpc>
                    <a:spcPct val="90000"/>
                  </a:lnSpc>
                  <a:spcBef>
                    <a:spcPts val="185"/>
                  </a:spcBef>
                  <a:buClr>
                    <a:schemeClr val="accent2"/>
                  </a:buClr>
                  <a:buSzPct val="100000"/>
                  <a:buChar char="•"/>
                  <a:defRPr sz="1600">
                    <a:solidFill>
                      <a:srgbClr val="808080"/>
                    </a:solidFill>
                  </a:defRPr>
                </a:pPr>
                <a:r>
                  <a:rPr lang="es-ES" sz="1400" dirty="0">
                    <a:solidFill>
                      <a:schemeClr val="tx1">
                        <a:lumMod val="85000"/>
                        <a:lumOff val="15000"/>
                      </a:schemeClr>
                    </a:solidFill>
                  </a:rPr>
                  <a:t>Es necesario abrir reglas de firewall a servicios externos: </a:t>
                </a:r>
              </a:p>
              <a:p>
                <a:pPr marL="773731" lvl="3" indent="-158265" algn="just" defTabSz="656509">
                  <a:lnSpc>
                    <a:spcPct val="90000"/>
                  </a:lnSpc>
                  <a:spcBef>
                    <a:spcPts val="185"/>
                  </a:spcBef>
                  <a:buClr>
                    <a:schemeClr val="accent2"/>
                  </a:buClr>
                  <a:buSzPct val="100000"/>
                  <a:buChar char="•"/>
                  <a:defRPr sz="1600">
                    <a:solidFill>
                      <a:srgbClr val="808080"/>
                    </a:solidFill>
                  </a:defRPr>
                </a:pPr>
                <a:r>
                  <a:rPr lang="es-ES" sz="1400" dirty="0">
                    <a:solidFill>
                      <a:schemeClr val="tx1">
                        <a:lumMod val="85000"/>
                        <a:lumOff val="15000"/>
                      </a:schemeClr>
                    </a:solidFill>
                  </a:rPr>
                  <a:t>Servicio externo de OCR por </a:t>
                </a:r>
                <a:r>
                  <a:rPr lang="es-ES" sz="1400" dirty="0" err="1">
                    <a:solidFill>
                      <a:schemeClr val="tx1">
                        <a:lumMod val="85000"/>
                        <a:lumOff val="15000"/>
                      </a:schemeClr>
                    </a:solidFill>
                  </a:rPr>
                  <a:t>Broker</a:t>
                </a:r>
                <a:r>
                  <a:rPr lang="es-ES" sz="1400" dirty="0">
                    <a:solidFill>
                      <a:schemeClr val="tx1">
                        <a:lumMod val="85000"/>
                        <a:lumOff val="15000"/>
                      </a:schemeClr>
                    </a:solidFill>
                  </a:rPr>
                  <a:t> OCR. </a:t>
                </a:r>
              </a:p>
              <a:p>
                <a:pPr marL="773731" lvl="3" indent="-158265" algn="just" defTabSz="656509">
                  <a:lnSpc>
                    <a:spcPct val="90000"/>
                  </a:lnSpc>
                  <a:spcBef>
                    <a:spcPts val="185"/>
                  </a:spcBef>
                  <a:buClr>
                    <a:schemeClr val="accent2"/>
                  </a:buClr>
                  <a:buSzPct val="100000"/>
                  <a:buChar char="•"/>
                  <a:defRPr sz="1600">
                    <a:solidFill>
                      <a:srgbClr val="808080"/>
                    </a:solidFill>
                  </a:defRPr>
                </a:pPr>
                <a:r>
                  <a:rPr lang="es-ES" sz="1400" dirty="0">
                    <a:solidFill>
                      <a:schemeClr val="tx1">
                        <a:lumMod val="85000"/>
                        <a:lumOff val="15000"/>
                      </a:schemeClr>
                    </a:solidFill>
                  </a:rPr>
                  <a:t>Servicio de consulta de oficinas.</a:t>
                </a:r>
              </a:p>
              <a:p>
                <a:pPr marL="773731" lvl="3" indent="-158265" algn="just" defTabSz="656509">
                  <a:lnSpc>
                    <a:spcPct val="90000"/>
                  </a:lnSpc>
                  <a:spcBef>
                    <a:spcPts val="185"/>
                  </a:spcBef>
                  <a:buClr>
                    <a:schemeClr val="accent2"/>
                  </a:buClr>
                  <a:buSzPct val="100000"/>
                  <a:buChar char="•"/>
                  <a:defRPr sz="1600">
                    <a:solidFill>
                      <a:srgbClr val="808080"/>
                    </a:solidFill>
                  </a:defRPr>
                </a:pPr>
                <a:r>
                  <a:rPr lang="es-ES" sz="1400" dirty="0">
                    <a:solidFill>
                      <a:schemeClr val="tx1">
                        <a:lumMod val="85000"/>
                        <a:lumOff val="15000"/>
                      </a:schemeClr>
                    </a:solidFill>
                  </a:rPr>
                  <a:t>Servicio de fraude empresa Confirma.</a:t>
                </a:r>
              </a:p>
              <a:p>
                <a:pPr marL="773731" lvl="3" indent="-158265" algn="just" defTabSz="656509">
                  <a:lnSpc>
                    <a:spcPct val="90000"/>
                  </a:lnSpc>
                  <a:spcBef>
                    <a:spcPts val="185"/>
                  </a:spcBef>
                  <a:buClr>
                    <a:schemeClr val="accent2"/>
                  </a:buClr>
                  <a:buSzPct val="100000"/>
                  <a:buChar char="•"/>
                  <a:defRPr sz="1600">
                    <a:solidFill>
                      <a:srgbClr val="808080"/>
                    </a:solidFill>
                  </a:defRPr>
                </a:pPr>
                <a:endParaRPr lang="es-ES" sz="1600" dirty="0"/>
              </a:p>
              <a:p>
                <a:pPr marL="773731" lvl="3" indent="-158265" algn="just" defTabSz="656509">
                  <a:lnSpc>
                    <a:spcPct val="90000"/>
                  </a:lnSpc>
                  <a:spcBef>
                    <a:spcPts val="185"/>
                  </a:spcBef>
                  <a:buClr>
                    <a:schemeClr val="accent2"/>
                  </a:buClr>
                  <a:buSzPct val="100000"/>
                  <a:buChar char="•"/>
                  <a:defRPr sz="1600">
                    <a:solidFill>
                      <a:srgbClr val="808080"/>
                    </a:solidFill>
                  </a:defRPr>
                </a:pPr>
                <a:endParaRPr lang="es-ES" sz="1400" dirty="0">
                  <a:solidFill>
                    <a:schemeClr val="tx1">
                      <a:lumMod val="85000"/>
                      <a:lumOff val="15000"/>
                    </a:schemeClr>
                  </a:solidFill>
                </a:endParaRPr>
              </a:p>
              <a:p>
                <a:pPr marL="571500" lvl="1" indent="-285750" algn="just">
                  <a:spcBef>
                    <a:spcPct val="20000"/>
                  </a:spcBef>
                  <a:buClr>
                    <a:srgbClr val="FF0000"/>
                  </a:buClr>
                  <a:buSzPct val="100000"/>
                  <a:tabLst>
                    <a:tab pos="990600" algn="l"/>
                    <a:tab pos="3225800" algn="l"/>
                    <a:tab pos="4127500" algn="l"/>
                  </a:tabLst>
                  <a:defRPr/>
                </a:pPr>
                <a:endParaRPr lang="es-ES" sz="1400" dirty="0"/>
              </a:p>
            </p:txBody>
          </p:sp>
        </p:grpSp>
        <p:grpSp>
          <p:nvGrpSpPr>
            <p:cNvPr id="955" name="Grupo"/>
            <p:cNvGrpSpPr/>
            <p:nvPr/>
          </p:nvGrpSpPr>
          <p:grpSpPr>
            <a:xfrm>
              <a:off x="0" y="2344011"/>
              <a:ext cx="2506802" cy="1631629"/>
              <a:chOff x="0" y="91017"/>
              <a:chExt cx="2506801" cy="1631627"/>
            </a:xfrm>
          </p:grpSpPr>
          <p:sp>
            <p:nvSpPr>
              <p:cNvPr id="953" name="Rectángulo redondeado"/>
              <p:cNvSpPr/>
              <p:nvPr/>
            </p:nvSpPr>
            <p:spPr>
              <a:xfrm>
                <a:off x="0" y="91017"/>
                <a:ext cx="2506801" cy="1631627"/>
              </a:xfrm>
              <a:prstGeom prst="roundRect">
                <a:avLst>
                  <a:gd name="adj" fmla="val 16667"/>
                </a:avLst>
              </a:prstGeom>
              <a:solidFill>
                <a:srgbClr val="FF0000"/>
              </a:solidFill>
              <a:ln w="25400" cap="flat">
                <a:solidFill>
                  <a:schemeClr val="accent3">
                    <a:lumOff val="44000"/>
                  </a:schemeClr>
                </a:solidFill>
                <a:prstDash val="solid"/>
                <a:round/>
              </a:ln>
              <a:effectLst/>
            </p:spPr>
            <p:txBody>
              <a:bodyPr wrap="square" lIns="45114" tIns="45114" rIns="45114" bIns="45114" numCol="1" anchor="ctr">
                <a:noAutofit/>
              </a:bodyPr>
              <a:lstStyle/>
              <a:p>
                <a:pPr algn="ctr" defTabSz="820636">
                  <a:lnSpc>
                    <a:spcPct val="90000"/>
                  </a:lnSpc>
                  <a:spcBef>
                    <a:spcPts val="923"/>
                  </a:spcBef>
                  <a:defRPr>
                    <a:solidFill>
                      <a:schemeClr val="accent3">
                        <a:lumOff val="44000"/>
                      </a:schemeClr>
                    </a:solidFill>
                  </a:defRPr>
                </a:pPr>
                <a:endParaRPr sz="1662"/>
              </a:p>
            </p:txBody>
          </p:sp>
          <p:sp>
            <p:nvSpPr>
              <p:cNvPr id="954" name="Criterio de Despliegue"/>
              <p:cNvSpPr txBox="1"/>
              <p:nvPr/>
            </p:nvSpPr>
            <p:spPr>
              <a:xfrm>
                <a:off x="79649" y="591408"/>
                <a:ext cx="2347503" cy="63084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169" tIns="35169" rIns="35169" bIns="35169" numCol="1" anchor="ctr">
                <a:spAutoFit/>
              </a:bodyPr>
              <a:lstStyle>
                <a:lvl1pPr algn="ctr" defTabSz="889000">
                  <a:lnSpc>
                    <a:spcPct val="90000"/>
                  </a:lnSpc>
                  <a:spcBef>
                    <a:spcPts val="800"/>
                  </a:spcBef>
                  <a:defRPr sz="2000">
                    <a:solidFill>
                      <a:schemeClr val="accent3">
                        <a:lumOff val="44000"/>
                      </a:schemeClr>
                    </a:solidFill>
                  </a:defRPr>
                </a:lvl1pPr>
              </a:lstStyle>
              <a:p>
                <a:r>
                  <a:rPr sz="1846" dirty="0" err="1"/>
                  <a:t>Criterio</a:t>
                </a:r>
                <a:r>
                  <a:rPr sz="1846" dirty="0"/>
                  <a:t> de Despliegue</a:t>
                </a:r>
              </a:p>
            </p:txBody>
          </p:sp>
        </p:grpSp>
      </p:grpSp>
      <p:sp>
        <p:nvSpPr>
          <p:cNvPr id="957" name="5 Marcador de número de diapositiva"/>
          <p:cNvSpPr txBox="1">
            <a:spLocks noGrp="1"/>
          </p:cNvSpPr>
          <p:nvPr>
            <p:ph type="sldNum" sz="quarter" idx="4294967295"/>
          </p:nvPr>
        </p:nvSpPr>
        <p:spPr>
          <a:xfrm>
            <a:off x="6383866" y="6688269"/>
            <a:ext cx="3081868" cy="39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200"/>
              </a:spcBef>
              <a:spcAft>
                <a:spcPts val="0"/>
              </a:spcAft>
              <a:buClrTx/>
              <a:buSzTx/>
              <a:buFontTx/>
              <a:buNone/>
              <a:tabLst/>
              <a:defRPr kumimoji="0" sz="1200" b="0" i="0" u="none" strike="noStrike" cap="none" spc="0" normalizeH="0" baseline="0">
                <a:ln>
                  <a:noFill/>
                </a:ln>
                <a:solidFill>
                  <a:srgbClr val="888888"/>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mtClean="0"/>
              <a:pPr/>
              <a:t>40</a:t>
            </a:fld>
            <a:endParaRPr/>
          </a:p>
        </p:txBody>
      </p:sp>
    </p:spTree>
  </p:cSld>
  <p:clrMapOvr>
    <a:masterClrMapping/>
  </p:clrMapOvr>
  <mc:AlternateContent xmlns:mc="http://schemas.openxmlformats.org/markup-compatibility/2006" xmlns:p14="http://schemas.microsoft.com/office/powerpoint/2010/main">
    <mc:Choice Requires="p14">
      <p:transition spd="slow" p14:dur="1200">
        <p:push dir="u"/>
      </p:transition>
    </mc:Choice>
    <mc:Fallback xmlns="" xmlns:m="http://schemas.openxmlformats.org/officeDocument/2006/math" xmlns:a14="http://schemas.microsoft.com/office/drawing/2010/main">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6135482"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solidFill>
                  <a:srgbClr val="EB0000"/>
                </a:solidFill>
                <a:cs typeface="Segoe UI" panose="020B0502040204020203" pitchFamily="34" charset="0"/>
              </a:rPr>
              <a:t>Explotación, Planificación y Monitorización</a:t>
            </a:r>
          </a:p>
          <a:p>
            <a:endParaRPr lang="es-ES" dirty="0">
              <a:solidFill>
                <a:srgbClr val="EB0000"/>
              </a:solidFill>
              <a:ea typeface="Segoe UI" panose="020B0502040204020203" pitchFamily="34" charset="0"/>
              <a:cs typeface="Segoe UI" panose="020B0502040204020203" pitchFamily="34" charset="0"/>
            </a:endParaRPr>
          </a:p>
          <a:p>
            <a:endParaRPr lang="es-ES" dirty="0"/>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06</a:t>
            </a:r>
          </a:p>
        </p:txBody>
      </p:sp>
    </p:spTree>
    <p:extLst>
      <p:ext uri="{BB962C8B-B14F-4D97-AF65-F5344CB8AC3E}">
        <p14:creationId xmlns:p14="http://schemas.microsoft.com/office/powerpoint/2010/main" val="2310619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Marcador de texto 1">
            <a:extLst>
              <a:ext uri="{FF2B5EF4-FFF2-40B4-BE49-F238E27FC236}">
                <a16:creationId xmlns:a16="http://schemas.microsoft.com/office/drawing/2014/main" id="{90E187AF-C818-4753-B587-95D700D5B0E2}"/>
              </a:ext>
            </a:extLst>
          </p:cNvPr>
          <p:cNvSpPr txBox="1">
            <a:spLocks/>
          </p:cNvSpPr>
          <p:nvPr/>
        </p:nvSpPr>
        <p:spPr>
          <a:xfrm>
            <a:off x="653140" y="406116"/>
            <a:ext cx="10833365" cy="341135"/>
          </a:xfrm>
          <a:prstGeom prst="rect">
            <a:avLst/>
          </a:prstGeom>
        </p:spPr>
        <p:txBody>
          <a:bodyPr vert="horz" lIns="91440" tIns="45720" rIns="91440" bIns="45720" rtlCol="0">
            <a:noAutofit/>
          </a:bodyPr>
          <a:lstStyle>
            <a:defPPr>
              <a:defRPr lang="es-ES"/>
            </a:defPPr>
            <a:lvl1pPr indent="0">
              <a:lnSpc>
                <a:spcPct val="90000"/>
              </a:lnSpc>
              <a:spcBef>
                <a:spcPts val="300"/>
              </a:spcBef>
              <a:buFont typeface="Arial" panose="020B0604020202020204" pitchFamily="34" charset="0"/>
              <a:buNone/>
              <a:defRPr b="1">
                <a:solidFill>
                  <a:srgbClr val="EB0000"/>
                </a:solidFill>
                <a:latin typeface="Arial cuerpo"/>
                <a:ea typeface="Segoe UI" panose="020B0502040204020203" pitchFamily="34" charset="0"/>
                <a:cs typeface="Segoe UI" panose="020B0502040204020203" pitchFamily="34" charset="0"/>
              </a:defRPr>
            </a:lvl1pPr>
            <a:lvl2pPr marL="685800" indent="-228600">
              <a:lnSpc>
                <a:spcPct val="90000"/>
              </a:lnSpc>
              <a:spcBef>
                <a:spcPts val="500"/>
              </a:spcBef>
              <a:buFont typeface="Arial" panose="020B0604020202020204" pitchFamily="34" charset="0"/>
              <a:buChar char="•"/>
              <a:defRPr sz="2400">
                <a:latin typeface="Arial cuerpo"/>
              </a:defRPr>
            </a:lvl2pPr>
            <a:lvl3pPr marL="1143000" indent="-228600">
              <a:lnSpc>
                <a:spcPct val="90000"/>
              </a:lnSpc>
              <a:spcBef>
                <a:spcPts val="500"/>
              </a:spcBef>
              <a:buFont typeface="Arial" panose="020B0604020202020204" pitchFamily="34" charset="0"/>
              <a:buChar char="•"/>
              <a:defRPr sz="2000">
                <a:latin typeface="Arial cuerpo"/>
              </a:defRPr>
            </a:lvl3pPr>
            <a:lvl4pPr marL="1600200" indent="-228600">
              <a:lnSpc>
                <a:spcPct val="90000"/>
              </a:lnSpc>
              <a:spcBef>
                <a:spcPts val="500"/>
              </a:spcBef>
              <a:buFont typeface="Arial" panose="020B0604020202020204" pitchFamily="34" charset="0"/>
              <a:buChar char="•"/>
              <a:defRPr>
                <a:latin typeface="Arial cuerpo"/>
              </a:defRPr>
            </a:lvl4pPr>
            <a:lvl5pPr marL="2057400" indent="-228600">
              <a:lnSpc>
                <a:spcPct val="90000"/>
              </a:lnSpc>
              <a:spcBef>
                <a:spcPts val="500"/>
              </a:spcBef>
              <a:buFont typeface="Arial" panose="020B0604020202020204" pitchFamily="34" charset="0"/>
              <a:buChar char="•"/>
              <a:defRPr>
                <a:latin typeface="Arial cuerpo"/>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ES" dirty="0"/>
              <a:t>Explotación, Planificación y Monitorización</a:t>
            </a:r>
          </a:p>
          <a:p>
            <a:endParaRPr lang="es-ES" dirty="0"/>
          </a:p>
          <a:p>
            <a:endParaRPr lang="es-ES" dirty="0"/>
          </a:p>
          <a:p>
            <a:r>
              <a:rPr lang="es-ES" dirty="0"/>
              <a:t> </a:t>
            </a:r>
          </a:p>
        </p:txBody>
      </p:sp>
      <p:graphicFrame>
        <p:nvGraphicFramePr>
          <p:cNvPr id="4" name="4 Diagrama">
            <a:extLst>
              <a:ext uri="{FF2B5EF4-FFF2-40B4-BE49-F238E27FC236}">
                <a16:creationId xmlns:a16="http://schemas.microsoft.com/office/drawing/2014/main" id="{B5B5321A-3E86-4508-B2B9-073C31A5DF6D}"/>
              </a:ext>
            </a:extLst>
          </p:cNvPr>
          <p:cNvGraphicFramePr/>
          <p:nvPr>
            <p:extLst>
              <p:ext uri="{D42A27DB-BD31-4B8C-83A1-F6EECF244321}">
                <p14:modId xmlns:p14="http://schemas.microsoft.com/office/powerpoint/2010/main" val="3837810936"/>
              </p:ext>
            </p:extLst>
          </p:nvPr>
        </p:nvGraphicFramePr>
        <p:xfrm>
          <a:off x="954644" y="1132765"/>
          <a:ext cx="10282711" cy="45924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24782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t>Volumetrías y criterios de dimensionamiento</a:t>
            </a:r>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07</a:t>
            </a:r>
          </a:p>
        </p:txBody>
      </p:sp>
    </p:spTree>
    <p:extLst>
      <p:ext uri="{BB962C8B-B14F-4D97-AF65-F5344CB8AC3E}">
        <p14:creationId xmlns:p14="http://schemas.microsoft.com/office/powerpoint/2010/main" val="806558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Group 28">
            <a:extLst>
              <a:ext uri="{FF2B5EF4-FFF2-40B4-BE49-F238E27FC236}">
                <a16:creationId xmlns:a16="http://schemas.microsoft.com/office/drawing/2014/main" id="{5D3AE8CD-F66A-44C7-A9FF-061590DBC714}"/>
              </a:ext>
            </a:extLst>
          </p:cNvPr>
          <p:cNvGraphicFramePr>
            <a:graphicFrameLocks/>
          </p:cNvGraphicFramePr>
          <p:nvPr>
            <p:extLst>
              <p:ext uri="{D42A27DB-BD31-4B8C-83A1-F6EECF244321}">
                <p14:modId xmlns:p14="http://schemas.microsoft.com/office/powerpoint/2010/main" val="2468840978"/>
              </p:ext>
            </p:extLst>
          </p:nvPr>
        </p:nvGraphicFramePr>
        <p:xfrm>
          <a:off x="999055" y="1947818"/>
          <a:ext cx="9823844" cy="1135282"/>
        </p:xfrm>
        <a:graphic>
          <a:graphicData uri="http://schemas.openxmlformats.org/drawingml/2006/table">
            <a:tbl>
              <a:tblPr/>
              <a:tblGrid>
                <a:gridCol w="2136193">
                  <a:extLst>
                    <a:ext uri="{9D8B030D-6E8A-4147-A177-3AD203B41FA5}">
                      <a16:colId xmlns:a16="http://schemas.microsoft.com/office/drawing/2014/main" val="3867051956"/>
                    </a:ext>
                  </a:extLst>
                </a:gridCol>
                <a:gridCol w="2136193">
                  <a:extLst>
                    <a:ext uri="{9D8B030D-6E8A-4147-A177-3AD203B41FA5}">
                      <a16:colId xmlns:a16="http://schemas.microsoft.com/office/drawing/2014/main" val="20001"/>
                    </a:ext>
                  </a:extLst>
                </a:gridCol>
                <a:gridCol w="2047496">
                  <a:extLst>
                    <a:ext uri="{9D8B030D-6E8A-4147-A177-3AD203B41FA5}">
                      <a16:colId xmlns:a16="http://schemas.microsoft.com/office/drawing/2014/main" val="20002"/>
                    </a:ext>
                  </a:extLst>
                </a:gridCol>
                <a:gridCol w="1751981">
                  <a:extLst>
                    <a:ext uri="{9D8B030D-6E8A-4147-A177-3AD203B41FA5}">
                      <a16:colId xmlns:a16="http://schemas.microsoft.com/office/drawing/2014/main" val="20003"/>
                    </a:ext>
                  </a:extLst>
                </a:gridCol>
                <a:gridCol w="1751981">
                  <a:extLst>
                    <a:ext uri="{9D8B030D-6E8A-4147-A177-3AD203B41FA5}">
                      <a16:colId xmlns:a16="http://schemas.microsoft.com/office/drawing/2014/main" val="301359932"/>
                    </a:ext>
                  </a:extLst>
                </a:gridCol>
              </a:tblGrid>
              <a:tr h="622084">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100" b="1" i="0" u="none" strike="noStrike" cap="none" normalizeH="0" baseline="0" dirty="0">
                          <a:ln>
                            <a:noFill/>
                          </a:ln>
                          <a:solidFill>
                            <a:schemeClr val="bg1"/>
                          </a:solidFill>
                          <a:effectLst/>
                          <a:latin typeface="Arial" charset="0"/>
                        </a:rPr>
                        <a:t>Categoría Aplicación</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100" b="1" i="0" u="none" strike="noStrike" cap="none" normalizeH="0" baseline="0" dirty="0">
                          <a:ln>
                            <a:noFill/>
                          </a:ln>
                          <a:solidFill>
                            <a:schemeClr val="bg1"/>
                          </a:solidFill>
                          <a:effectLst/>
                          <a:latin typeface="Arial" charset="0"/>
                        </a:rPr>
                        <a:t>Nº de Microservicios Front </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100" b="1" i="0" u="none" strike="noStrike" cap="none" normalizeH="0" baseline="0" dirty="0">
                          <a:ln>
                            <a:noFill/>
                          </a:ln>
                          <a:solidFill>
                            <a:schemeClr val="bg1"/>
                          </a:solidFill>
                          <a:effectLst/>
                          <a:latin typeface="Arial" charset="0"/>
                        </a:rPr>
                        <a:t>Nº de Microservicios Back </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100" b="1" i="0" u="none" strike="noStrike" cap="none" normalizeH="0" baseline="0" dirty="0">
                          <a:ln>
                            <a:noFill/>
                          </a:ln>
                          <a:solidFill>
                            <a:schemeClr val="bg1"/>
                          </a:solidFill>
                          <a:effectLst/>
                          <a:latin typeface="Arial" charset="0"/>
                        </a:rPr>
                        <a:t>Nº de Gateway</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100" b="1" i="0" u="none" strike="noStrike" cap="none" normalizeH="0" baseline="0" dirty="0">
                          <a:ln>
                            <a:noFill/>
                          </a:ln>
                          <a:solidFill>
                            <a:schemeClr val="bg1"/>
                          </a:solidFill>
                          <a:effectLst/>
                          <a:latin typeface="Arial" charset="0"/>
                        </a:rPr>
                        <a:t>Nº de Config Service</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394598">
                <a:tc>
                  <a:txBody>
                    <a:bodyPr/>
                    <a:lstStyle/>
                    <a:p>
                      <a:pPr algn="ctr"/>
                      <a:r>
                        <a:rPr lang="es-ES" sz="1400" b="1" kern="1200" dirty="0">
                          <a:solidFill>
                            <a:schemeClr val="tx1">
                              <a:lumMod val="75000"/>
                              <a:lumOff val="25000"/>
                            </a:schemeClr>
                          </a:solidFill>
                          <a:latin typeface="Arial" charset="0"/>
                          <a:ea typeface="+mn-ea"/>
                          <a:cs typeface="Arial" charset="0"/>
                        </a:rPr>
                        <a:t>Tipo A</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s-ES" sz="1400" b="1" kern="1200" dirty="0">
                          <a:solidFill>
                            <a:schemeClr val="tx1">
                              <a:lumMod val="75000"/>
                              <a:lumOff val="25000"/>
                            </a:schemeClr>
                          </a:solidFill>
                          <a:latin typeface="Arial" charset="0"/>
                          <a:ea typeface="+mn-ea"/>
                          <a:cs typeface="Arial" charset="0"/>
                        </a:rPr>
                        <a:t>17</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lang="es-ES_tradnl" sz="1400" b="1" kern="1200" dirty="0">
                          <a:solidFill>
                            <a:schemeClr val="tx1">
                              <a:lumMod val="75000"/>
                              <a:lumOff val="25000"/>
                            </a:schemeClr>
                          </a:solidFill>
                          <a:latin typeface="Arial" charset="0"/>
                          <a:ea typeface="+mn-ea"/>
                          <a:cs typeface="Arial" charset="0"/>
                        </a:rPr>
                        <a:t>0</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400" b="1" kern="1200" dirty="0">
                          <a:solidFill>
                            <a:schemeClr val="tx1">
                              <a:lumMod val="75000"/>
                              <a:lumOff val="25000"/>
                            </a:schemeClr>
                          </a:solidFill>
                          <a:latin typeface="Arial" charset="0"/>
                          <a:ea typeface="+mn-ea"/>
                          <a:cs typeface="Arial" charset="0"/>
                        </a:rPr>
                        <a:t>2 (Internet e Intranet)</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400" b="1" kern="1200" dirty="0">
                          <a:solidFill>
                            <a:schemeClr val="tx1">
                              <a:lumMod val="75000"/>
                              <a:lumOff val="25000"/>
                            </a:schemeClr>
                          </a:solidFill>
                          <a:latin typeface="Arial" charset="0"/>
                          <a:ea typeface="+mn-ea"/>
                          <a:cs typeface="Arial" charset="0"/>
                        </a:rPr>
                        <a:t>1</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3" name="Marcador de texto 1">
            <a:extLst>
              <a:ext uri="{FF2B5EF4-FFF2-40B4-BE49-F238E27FC236}">
                <a16:creationId xmlns:a16="http://schemas.microsoft.com/office/drawing/2014/main" id="{A1270DB3-9FFB-4763-BB65-6CF44582F020}"/>
              </a:ext>
            </a:extLst>
          </p:cNvPr>
          <p:cNvSpPr txBox="1">
            <a:spLocks/>
          </p:cNvSpPr>
          <p:nvPr/>
        </p:nvSpPr>
        <p:spPr>
          <a:xfrm>
            <a:off x="632931" y="294943"/>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None/>
            </a:pPr>
            <a:r>
              <a:rPr lang="es-ES" sz="1300" dirty="0">
                <a:solidFill>
                  <a:srgbClr val="EB0000"/>
                </a:solidFill>
                <a:ea typeface="Segoe UI" panose="020B0502040204020203" pitchFamily="34" charset="0"/>
                <a:cs typeface="Segoe UI" panose="020B0502040204020203" pitchFamily="34" charset="0"/>
              </a:rPr>
              <a:t>Volumetrías y criterios de dimensionamiento.</a:t>
            </a:r>
          </a:p>
          <a:p>
            <a:pPr marL="0" indent="0">
              <a:spcBef>
                <a:spcPts val="300"/>
              </a:spcBef>
              <a:buNone/>
            </a:pPr>
            <a:r>
              <a:rPr lang="es-ES" sz="1800" b="1" dirty="0">
                <a:solidFill>
                  <a:srgbClr val="EB0000"/>
                </a:solidFill>
                <a:ea typeface="Segoe UI" panose="020B0502040204020203" pitchFamily="34" charset="0"/>
                <a:cs typeface="Segoe UI" panose="020B0502040204020203" pitchFamily="34" charset="0"/>
              </a:rPr>
              <a:t>Dimensionamiento PaaS Internet HC 2.0 </a:t>
            </a:r>
            <a:r>
              <a:rPr lang="en-GB" sz="1800" b="1" dirty="0" err="1">
                <a:solidFill>
                  <a:srgbClr val="EB0000"/>
                </a:solidFill>
                <a:cs typeface="Segoe UI" panose="020B0502040204020203" pitchFamily="34" charset="0"/>
              </a:rPr>
              <a:t>Tramitación</a:t>
            </a:r>
            <a:r>
              <a:rPr lang="en-GB" sz="1800" b="1" dirty="0">
                <a:solidFill>
                  <a:srgbClr val="EB0000"/>
                </a:solidFill>
                <a:cs typeface="Segoe UI" panose="020B0502040204020203" pitchFamily="34" charset="0"/>
              </a:rPr>
              <a:t> de </a:t>
            </a:r>
            <a:r>
              <a:rPr lang="en-GB" sz="1800" b="1" dirty="0" err="1">
                <a:solidFill>
                  <a:srgbClr val="EB0000"/>
                </a:solidFill>
                <a:cs typeface="Segoe UI" panose="020B0502040204020203" pitchFamily="34" charset="0"/>
              </a:rPr>
              <a:t>expedientes</a:t>
            </a:r>
            <a:r>
              <a:rPr lang="en-GB" sz="1800" b="1" dirty="0">
                <a:solidFill>
                  <a:srgbClr val="EB0000"/>
                </a:solidFill>
                <a:cs typeface="Segoe UI" panose="020B0502040204020203" pitchFamily="34" charset="0"/>
              </a:rPr>
              <a:t> y procesos </a:t>
            </a:r>
            <a:r>
              <a:rPr lang="en-GB" sz="1800" b="1" dirty="0" err="1">
                <a:solidFill>
                  <a:srgbClr val="EB0000"/>
                </a:solidFill>
                <a:cs typeface="Segoe UI" panose="020B0502040204020203" pitchFamily="34" charset="0"/>
              </a:rPr>
              <a:t>planificados</a:t>
            </a:r>
            <a:endParaRPr lang="es-ES" sz="1800" b="1" dirty="0">
              <a:solidFill>
                <a:srgbClr val="EB0000"/>
              </a:solidFill>
              <a:ea typeface="Segoe UI" panose="020B0502040204020203" pitchFamily="34" charset="0"/>
              <a:cs typeface="Segoe UI" panose="020B0502040204020203" pitchFamily="34" charset="0"/>
            </a:endParaRPr>
          </a:p>
          <a:p>
            <a:pPr marL="0" indent="0">
              <a:spcBef>
                <a:spcPts val="300"/>
              </a:spcBef>
              <a:buNone/>
            </a:pPr>
            <a:r>
              <a:rPr lang="es-ES" sz="1800" b="1" dirty="0">
                <a:solidFill>
                  <a:srgbClr val="EB0000"/>
                </a:solidFill>
                <a:ea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27056576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12"/>
          </p:nvPr>
        </p:nvSpPr>
        <p:spPr>
          <a:xfrm>
            <a:off x="501857" y="140388"/>
            <a:ext cx="10833365" cy="318498"/>
          </a:xfrm>
        </p:spPr>
        <p:txBody>
          <a:bodyPr>
            <a:noAutofit/>
          </a:bodyPr>
          <a:lstStyle/>
          <a:p>
            <a:r>
              <a:rPr lang="es-ES" sz="2400" b="0" dirty="0">
                <a:latin typeface="Gadugi" panose="020B0502040204020203" pitchFamily="34" charset="0"/>
              </a:rPr>
              <a:t>Volumetrías (</a:t>
            </a:r>
            <a:r>
              <a:rPr lang="es-ES" sz="2400" dirty="0"/>
              <a:t>Servicios SOAP / REST) </a:t>
            </a:r>
            <a:r>
              <a:rPr lang="es-ES" sz="1000" dirty="0"/>
              <a:t>PaaS Internet HC 2.0 </a:t>
            </a:r>
            <a:r>
              <a:rPr lang="en-GB" sz="1000" dirty="0" err="1"/>
              <a:t>Tramitación</a:t>
            </a:r>
            <a:r>
              <a:rPr lang="en-GB" sz="1000" dirty="0"/>
              <a:t> de </a:t>
            </a:r>
            <a:r>
              <a:rPr lang="en-GB" sz="1000" dirty="0" err="1"/>
              <a:t>expedientes</a:t>
            </a:r>
            <a:r>
              <a:rPr lang="en-GB" sz="1000" dirty="0"/>
              <a:t> y procesos </a:t>
            </a:r>
            <a:r>
              <a:rPr lang="en-GB" sz="1000" dirty="0" err="1"/>
              <a:t>planificados</a:t>
            </a:r>
            <a:endParaRPr lang="es-ES" sz="1000" dirty="0"/>
          </a:p>
          <a:p>
            <a:endParaRPr lang="es-ES" sz="2400" dirty="0">
              <a:latin typeface="Calibri" panose="020F0502020204030204" pitchFamily="34" charset="0"/>
              <a:ea typeface="Calibri" panose="020F0502020204030204" pitchFamily="34" charset="0"/>
            </a:endParaRPr>
          </a:p>
          <a:p>
            <a:endParaRPr lang="es-ES" sz="2400" b="0" dirty="0">
              <a:latin typeface="Gadugi" panose="020B0502040204020203" pitchFamily="34" charset="0"/>
            </a:endParaRPr>
          </a:p>
        </p:txBody>
      </p:sp>
      <p:sp>
        <p:nvSpPr>
          <p:cNvPr id="6" name="Rectangle 2">
            <a:extLst>
              <a:ext uri="{FF2B5EF4-FFF2-40B4-BE49-F238E27FC236}">
                <a16:creationId xmlns:a16="http://schemas.microsoft.com/office/drawing/2014/main" id="{44247BC8-CF54-445F-BB85-4C41B94C0890}"/>
              </a:ext>
            </a:extLst>
          </p:cNvPr>
          <p:cNvSpPr>
            <a:spLocks noChangeArrowheads="1"/>
          </p:cNvSpPr>
          <p:nvPr/>
        </p:nvSpPr>
        <p:spPr bwMode="auto">
          <a:xfrm>
            <a:off x="501857" y="2914057"/>
            <a:ext cx="1398761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sz="900" dirty="0">
              <a:latin typeface="Arial" panose="020B0604020202020204" pitchFamily="34" charset="0"/>
            </a:endParaRPr>
          </a:p>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dirty="0">
              <a:latin typeface="Arial" panose="020B0604020202020204" pitchFamily="34" charset="0"/>
            </a:endParaRPr>
          </a:p>
        </p:txBody>
      </p:sp>
      <p:graphicFrame>
        <p:nvGraphicFramePr>
          <p:cNvPr id="3" name="Tabla 2">
            <a:extLst>
              <a:ext uri="{FF2B5EF4-FFF2-40B4-BE49-F238E27FC236}">
                <a16:creationId xmlns:a16="http://schemas.microsoft.com/office/drawing/2014/main" id="{8215675F-BF66-47A4-ADD2-C81D2144D057}"/>
              </a:ext>
            </a:extLst>
          </p:cNvPr>
          <p:cNvGraphicFramePr>
            <a:graphicFrameLocks noGrp="1"/>
          </p:cNvGraphicFramePr>
          <p:nvPr>
            <p:extLst>
              <p:ext uri="{D42A27DB-BD31-4B8C-83A1-F6EECF244321}">
                <p14:modId xmlns:p14="http://schemas.microsoft.com/office/powerpoint/2010/main" val="3410593562"/>
              </p:ext>
            </p:extLst>
          </p:nvPr>
        </p:nvGraphicFramePr>
        <p:xfrm>
          <a:off x="501856" y="558321"/>
          <a:ext cx="10833365" cy="5741358"/>
        </p:xfrm>
        <a:graphic>
          <a:graphicData uri="http://schemas.openxmlformats.org/drawingml/2006/table">
            <a:tbl>
              <a:tblPr firstRow="1" firstCol="1" bandRow="1">
                <a:tableStyleId>{5C22544A-7EE6-4342-B048-85BDC9FD1C3A}</a:tableStyleId>
              </a:tblPr>
              <a:tblGrid>
                <a:gridCol w="2188484">
                  <a:extLst>
                    <a:ext uri="{9D8B030D-6E8A-4147-A177-3AD203B41FA5}">
                      <a16:colId xmlns:a16="http://schemas.microsoft.com/office/drawing/2014/main" val="3250313451"/>
                    </a:ext>
                  </a:extLst>
                </a:gridCol>
                <a:gridCol w="2188484">
                  <a:extLst>
                    <a:ext uri="{9D8B030D-6E8A-4147-A177-3AD203B41FA5}">
                      <a16:colId xmlns:a16="http://schemas.microsoft.com/office/drawing/2014/main" val="3819320993"/>
                    </a:ext>
                  </a:extLst>
                </a:gridCol>
                <a:gridCol w="1536448">
                  <a:extLst>
                    <a:ext uri="{9D8B030D-6E8A-4147-A177-3AD203B41FA5}">
                      <a16:colId xmlns:a16="http://schemas.microsoft.com/office/drawing/2014/main" val="210670716"/>
                    </a:ext>
                  </a:extLst>
                </a:gridCol>
                <a:gridCol w="761087">
                  <a:extLst>
                    <a:ext uri="{9D8B030D-6E8A-4147-A177-3AD203B41FA5}">
                      <a16:colId xmlns:a16="http://schemas.microsoft.com/office/drawing/2014/main" val="1030138344"/>
                    </a:ext>
                  </a:extLst>
                </a:gridCol>
                <a:gridCol w="803338">
                  <a:extLst>
                    <a:ext uri="{9D8B030D-6E8A-4147-A177-3AD203B41FA5}">
                      <a16:colId xmlns:a16="http://schemas.microsoft.com/office/drawing/2014/main" val="2398183124"/>
                    </a:ext>
                  </a:extLst>
                </a:gridCol>
                <a:gridCol w="659458">
                  <a:extLst>
                    <a:ext uri="{9D8B030D-6E8A-4147-A177-3AD203B41FA5}">
                      <a16:colId xmlns:a16="http://schemas.microsoft.com/office/drawing/2014/main" val="624722241"/>
                    </a:ext>
                  </a:extLst>
                </a:gridCol>
                <a:gridCol w="840451">
                  <a:extLst>
                    <a:ext uri="{9D8B030D-6E8A-4147-A177-3AD203B41FA5}">
                      <a16:colId xmlns:a16="http://schemas.microsoft.com/office/drawing/2014/main" val="2280750684"/>
                    </a:ext>
                  </a:extLst>
                </a:gridCol>
                <a:gridCol w="994039">
                  <a:extLst>
                    <a:ext uri="{9D8B030D-6E8A-4147-A177-3AD203B41FA5}">
                      <a16:colId xmlns:a16="http://schemas.microsoft.com/office/drawing/2014/main" val="685377206"/>
                    </a:ext>
                  </a:extLst>
                </a:gridCol>
                <a:gridCol w="861576">
                  <a:extLst>
                    <a:ext uri="{9D8B030D-6E8A-4147-A177-3AD203B41FA5}">
                      <a16:colId xmlns:a16="http://schemas.microsoft.com/office/drawing/2014/main" val="3256660701"/>
                    </a:ext>
                  </a:extLst>
                </a:gridCol>
              </a:tblGrid>
              <a:tr h="746937">
                <a:tc>
                  <a:txBody>
                    <a:bodyPr/>
                    <a:lstStyle/>
                    <a:p>
                      <a:pPr algn="ctr">
                        <a:spcAft>
                          <a:spcPts val="0"/>
                        </a:spcAft>
                      </a:pPr>
                      <a:r>
                        <a:rPr lang="es-ES" sz="1200" dirty="0">
                          <a:effectLst/>
                        </a:rPr>
                        <a:t>Sistema </a:t>
                      </a:r>
                    </a:p>
                    <a:p>
                      <a:pPr algn="ctr">
                        <a:spcAft>
                          <a:spcPts val="0"/>
                        </a:spcAft>
                      </a:pPr>
                      <a:r>
                        <a:rPr lang="es-ES" sz="1200" dirty="0">
                          <a:effectLst/>
                        </a:rPr>
                        <a:t>Origen</a:t>
                      </a:r>
                      <a:endParaRPr lang="es-ES" sz="1200" dirty="0">
                        <a:effectLst/>
                        <a:latin typeface="Calibri" panose="020F0502020204030204" pitchFamily="34" charset="0"/>
                        <a:ea typeface="Calibri" panose="020F0502020204030204" pitchFamily="34" charset="0"/>
                      </a:endParaRPr>
                    </a:p>
                    <a:p>
                      <a:pPr algn="ctr">
                        <a:spcAft>
                          <a:spcPts val="0"/>
                        </a:spcAft>
                      </a:pP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Sistema Destino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a:effectLst/>
                        </a:rPr>
                        <a:t>Descripción</a:t>
                      </a:r>
                      <a:endParaRPr lang="es-ES" sz="120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Protocolo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Media </a:t>
                      </a:r>
                      <a:r>
                        <a:rPr lang="es-ES" sz="1200" dirty="0" err="1">
                          <a:effectLst/>
                        </a:rPr>
                        <a:t>Msg</a:t>
                      </a:r>
                      <a:r>
                        <a:rPr lang="es-ES" sz="1200" dirty="0">
                          <a:effectLst/>
                        </a:rPr>
                        <a:t>/día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Picos </a:t>
                      </a:r>
                    </a:p>
                    <a:p>
                      <a:pPr algn="ctr">
                        <a:spcAft>
                          <a:spcPts val="0"/>
                        </a:spcAft>
                      </a:pPr>
                      <a:r>
                        <a:rPr lang="es-ES" sz="1200" dirty="0" err="1">
                          <a:effectLst/>
                        </a:rPr>
                        <a:t>Msg</a:t>
                      </a:r>
                      <a:r>
                        <a:rPr lang="es-ES" sz="1200" dirty="0">
                          <a:effectLst/>
                        </a:rPr>
                        <a:t>/hora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a:t>
                      </a:r>
                    </a:p>
                    <a:p>
                      <a:pPr algn="ctr">
                        <a:spcAft>
                          <a:spcPts val="0"/>
                        </a:spcAft>
                      </a:pPr>
                      <a:r>
                        <a:rPr lang="es-ES" sz="1200" dirty="0">
                          <a:effectLst/>
                        </a:rPr>
                        <a:t>Medio </a:t>
                      </a:r>
                      <a:r>
                        <a:rPr lang="es-ES" sz="1200" dirty="0" err="1">
                          <a:effectLst/>
                        </a:rPr>
                        <a:t>Msg</a:t>
                      </a:r>
                      <a:r>
                        <a:rPr lang="es-ES" sz="1200" dirty="0">
                          <a:effectLst/>
                        </a:rPr>
                        <a:t>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Máximo </a:t>
                      </a:r>
                      <a:r>
                        <a:rPr lang="es-ES" sz="1200" dirty="0" err="1">
                          <a:effectLst/>
                        </a:rPr>
                        <a:t>Msg</a:t>
                      </a:r>
                      <a:endParaRPr lang="es-ES" sz="1200" dirty="0">
                        <a:effectLst/>
                      </a:endParaRPr>
                    </a:p>
                    <a:p>
                      <a:pPr algn="ctr">
                        <a:spcAft>
                          <a:spcPts val="0"/>
                        </a:spcAft>
                      </a:pPr>
                      <a:r>
                        <a:rPr lang="es-ES" sz="1200" dirty="0">
                          <a:effectLst/>
                        </a:rPr>
                        <a:t>(KB)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Franja Horaria Pico</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198584115"/>
                  </a:ext>
                </a:extLst>
              </a:tr>
              <a:tr h="746937">
                <a:tc>
                  <a:txBody>
                    <a:bodyPr/>
                    <a:lstStyle/>
                    <a:p>
                      <a:pPr algn="ctr">
                        <a:spcAft>
                          <a:spcPts val="0"/>
                        </a:spcAft>
                      </a:pPr>
                      <a:r>
                        <a:rPr lang="es-ES" sz="1200" b="1" kern="1200" dirty="0" err="1">
                          <a:solidFill>
                            <a:schemeClr val="lt1"/>
                          </a:solidFill>
                          <a:effectLst/>
                          <a:latin typeface="+mn-lt"/>
                          <a:ea typeface="+mn-ea"/>
                          <a:cs typeface="+mn-cs"/>
                        </a:rPr>
                        <a:t>SPAs</a:t>
                      </a:r>
                      <a:r>
                        <a:rPr lang="es-ES" sz="1200" b="1" kern="1200" dirty="0">
                          <a:solidFill>
                            <a:schemeClr val="lt1"/>
                          </a:solidFill>
                          <a:effectLst/>
                          <a:latin typeface="+mn-lt"/>
                          <a:ea typeface="+mn-ea"/>
                          <a:cs typeface="+mn-cs"/>
                        </a:rPr>
                        <a:t> </a:t>
                      </a:r>
                    </a:p>
                  </a:txBody>
                  <a:tcPr marL="44337" marR="44337" marT="44337" marB="44337"/>
                </a:tc>
                <a:tc>
                  <a:txBody>
                    <a:bodyPr/>
                    <a:lstStyle/>
                    <a:p>
                      <a:pPr>
                        <a:spcAft>
                          <a:spcPts val="0"/>
                        </a:spcAft>
                      </a:pPr>
                      <a:r>
                        <a:rPr lang="es-ES" sz="1200" dirty="0">
                          <a:effectLst/>
                        </a:rPr>
                        <a:t>Gateway Ligero Web HC 2.0</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SPA para Onboarding de </a:t>
                      </a:r>
                      <a:r>
                        <a:rPr lang="es-ES" sz="1200" dirty="0" err="1">
                          <a:effectLst/>
                        </a:rPr>
                        <a:t>Cleintes</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20.000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1,375</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4052829314"/>
                  </a:ext>
                </a:extLst>
              </a:tr>
              <a:tr h="746937">
                <a:tc>
                  <a:txBody>
                    <a:bodyPr/>
                    <a:lstStyle/>
                    <a:p>
                      <a:pPr>
                        <a:spcAft>
                          <a:spcPts val="0"/>
                        </a:spcAft>
                      </a:pPr>
                      <a:r>
                        <a:rPr lang="es-ES" sz="1200" dirty="0">
                          <a:effectLst/>
                        </a:rPr>
                        <a:t>Gateway Ligero Web NHB y App HC 2.0</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Micro Alta Cliente Orquestador </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Microservicio BFF para Onboarding de alta clientes </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20.000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1.375</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2811235119"/>
                  </a:ext>
                </a:extLst>
              </a:tr>
              <a:tr h="746937">
                <a:tc>
                  <a:txBody>
                    <a:bodyPr/>
                    <a:lstStyle/>
                    <a:p>
                      <a:pPr algn="ctr">
                        <a:spcAft>
                          <a:spcPts val="0"/>
                        </a:spcAft>
                      </a:pPr>
                      <a:r>
                        <a:rPr lang="es-ES" sz="1200" b="1" kern="1200" dirty="0" err="1">
                          <a:solidFill>
                            <a:schemeClr val="lt1"/>
                          </a:solidFill>
                          <a:effectLst/>
                          <a:latin typeface="+mn-lt"/>
                          <a:ea typeface="+mn-ea"/>
                          <a:cs typeface="+mn-cs"/>
                        </a:rPr>
                        <a:t>SPAs</a:t>
                      </a:r>
                      <a:r>
                        <a:rPr lang="es-ES" sz="1200" b="1" kern="1200" dirty="0">
                          <a:solidFill>
                            <a:schemeClr val="lt1"/>
                          </a:solidFill>
                          <a:effectLst/>
                          <a:latin typeface="+mn-lt"/>
                          <a:ea typeface="+mn-ea"/>
                          <a:cs typeface="+mn-cs"/>
                        </a:rPr>
                        <a:t> </a:t>
                      </a:r>
                    </a:p>
                  </a:txBody>
                  <a:tcPr marL="44337" marR="44337" marT="44337" marB="44337"/>
                </a:tc>
                <a:tc>
                  <a:txBody>
                    <a:bodyPr/>
                    <a:lstStyle/>
                    <a:p>
                      <a:pPr>
                        <a:spcAft>
                          <a:spcPts val="0"/>
                        </a:spcAft>
                      </a:pPr>
                      <a:r>
                        <a:rPr lang="es-ES" sz="1200" dirty="0">
                          <a:effectLst/>
                        </a:rPr>
                        <a:t>Gateway Ligero Web HC 2.0 </a:t>
                      </a:r>
                      <a:r>
                        <a:rPr lang="es-ES" sz="1200" dirty="0" err="1">
                          <a:effectLst/>
                        </a:rPr>
                        <a:t>Backoffice</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SPA para Proceso </a:t>
                      </a:r>
                      <a:r>
                        <a:rPr lang="es-ES" sz="1200" dirty="0" err="1">
                          <a:effectLst/>
                        </a:rPr>
                        <a:t>Backoffice</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2.000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42428821"/>
                  </a:ext>
                </a:extLst>
              </a:tr>
              <a:tr h="746937">
                <a:tc>
                  <a:txBody>
                    <a:bodyPr/>
                    <a:lstStyle/>
                    <a:p>
                      <a:pPr>
                        <a:spcAft>
                          <a:spcPts val="0"/>
                        </a:spcAft>
                      </a:pPr>
                      <a:r>
                        <a:rPr lang="es-ES" sz="1200" dirty="0">
                          <a:effectLst/>
                        </a:rPr>
                        <a:t>Gateway Ligero Web HC  2.0 </a:t>
                      </a:r>
                      <a:r>
                        <a:rPr lang="es-ES" sz="1200" dirty="0" err="1">
                          <a:effectLst/>
                        </a:rPr>
                        <a:t>Backoffice</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Micro Alta Tramitación Orquestador </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Servicio </a:t>
                      </a:r>
                      <a:r>
                        <a:rPr lang="es-ES" sz="1200" dirty="0" err="1">
                          <a:effectLst/>
                        </a:rPr>
                        <a:t>Tramitacion</a:t>
                      </a:r>
                      <a:r>
                        <a:rPr lang="es-ES" sz="1200" dirty="0">
                          <a:effectLst/>
                        </a:rPr>
                        <a:t> </a:t>
                      </a:r>
                      <a:r>
                        <a:rPr lang="es-ES" sz="1200" dirty="0" err="1">
                          <a:effectLst/>
                        </a:rPr>
                        <a:t>Backoffice</a:t>
                      </a:r>
                      <a:r>
                        <a:rPr lang="es-ES" sz="1200" dirty="0">
                          <a:effectLst/>
                        </a:rPr>
                        <a:t>, </a:t>
                      </a:r>
                      <a:r>
                        <a:rPr lang="es-ES" sz="1200" dirty="0" err="1">
                          <a:effectLst/>
                        </a:rPr>
                        <a:t>actua</a:t>
                      </a:r>
                      <a:r>
                        <a:rPr lang="es-ES" sz="1200" dirty="0">
                          <a:effectLst/>
                        </a:rPr>
                        <a:t> como control</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2.000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3929182264"/>
                  </a:ext>
                </a:extLst>
              </a:tr>
              <a:tr h="74693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Expediente </a:t>
                      </a:r>
                      <a:r>
                        <a:rPr lang="es-ES" sz="1200" dirty="0" err="1">
                          <a:effectLst/>
                          <a:latin typeface="Calibri" panose="020F0502020204030204" pitchFamily="34" charset="0"/>
                          <a:ea typeface="Calibri" panose="020F0502020204030204" pitchFamily="34" charset="0"/>
                        </a:rPr>
                        <a:t>write</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Operaciones de escritura en base de datos</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8.000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600</a:t>
                      </a: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51814444"/>
                  </a:ext>
                </a:extLst>
              </a:tr>
              <a:tr h="74693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Expediente </a:t>
                      </a:r>
                      <a:r>
                        <a:rPr lang="es-ES" sz="1200" dirty="0" err="1">
                          <a:effectLst/>
                          <a:latin typeface="Calibri" panose="020F0502020204030204" pitchFamily="34" charset="0"/>
                          <a:ea typeface="Calibri" panose="020F0502020204030204" pitchFamily="34" charset="0"/>
                        </a:rPr>
                        <a:t>read</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Operaciones de lectura en base de datos</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16.000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1.100</a:t>
                      </a: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2759557683"/>
                  </a:ext>
                </a:extLst>
              </a:tr>
            </a:tbl>
          </a:graphicData>
        </a:graphic>
      </p:graphicFrame>
      <p:sp>
        <p:nvSpPr>
          <p:cNvPr id="4" name="Rectangle 1">
            <a:extLst>
              <a:ext uri="{FF2B5EF4-FFF2-40B4-BE49-F238E27FC236}">
                <a16:creationId xmlns:a16="http://schemas.microsoft.com/office/drawing/2014/main" id="{C27238CE-B232-4FF1-8BE4-E99CF942DC9B}"/>
              </a:ext>
            </a:extLst>
          </p:cNvPr>
          <p:cNvSpPr>
            <a:spLocks noChangeArrowheads="1"/>
          </p:cNvSpPr>
          <p:nvPr/>
        </p:nvSpPr>
        <p:spPr bwMode="auto">
          <a:xfrm>
            <a:off x="168891" y="976254"/>
            <a:ext cx="12971926" cy="91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13952831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12"/>
          </p:nvPr>
        </p:nvSpPr>
        <p:spPr>
          <a:xfrm>
            <a:off x="501857" y="498475"/>
            <a:ext cx="10833365" cy="318498"/>
          </a:xfrm>
        </p:spPr>
        <p:txBody>
          <a:bodyPr>
            <a:noAutofit/>
          </a:bodyPr>
          <a:lstStyle/>
          <a:p>
            <a:r>
              <a:rPr lang="es-ES" sz="2400" b="0" dirty="0">
                <a:latin typeface="Gadugi" panose="020B0502040204020203" pitchFamily="34" charset="0"/>
              </a:rPr>
              <a:t>Volumetrías (</a:t>
            </a:r>
            <a:r>
              <a:rPr lang="es-ES" sz="2400" dirty="0"/>
              <a:t>Servicios SOAP / REST) </a:t>
            </a:r>
            <a:r>
              <a:rPr lang="es-ES" sz="1000" dirty="0"/>
              <a:t>PaaS Internet HC 2.0 </a:t>
            </a:r>
            <a:r>
              <a:rPr lang="en-GB" sz="1000" dirty="0" err="1"/>
              <a:t>Tramitación</a:t>
            </a:r>
            <a:r>
              <a:rPr lang="en-GB" sz="1000" dirty="0"/>
              <a:t> de </a:t>
            </a:r>
            <a:r>
              <a:rPr lang="en-GB" sz="1000" dirty="0" err="1"/>
              <a:t>expedientes</a:t>
            </a:r>
            <a:r>
              <a:rPr lang="en-GB" sz="1000" dirty="0"/>
              <a:t> y procesos </a:t>
            </a:r>
            <a:r>
              <a:rPr lang="en-GB" sz="1000" dirty="0" err="1"/>
              <a:t>planificados</a:t>
            </a:r>
            <a:endParaRPr lang="es-ES" sz="1000" dirty="0"/>
          </a:p>
          <a:p>
            <a:endParaRPr lang="es-ES" sz="2400" dirty="0">
              <a:latin typeface="Calibri" panose="020F0502020204030204" pitchFamily="34" charset="0"/>
              <a:ea typeface="Calibri" panose="020F0502020204030204" pitchFamily="34" charset="0"/>
            </a:endParaRPr>
          </a:p>
          <a:p>
            <a:endParaRPr lang="es-ES" sz="2400" b="0" dirty="0">
              <a:latin typeface="Gadugi" panose="020B0502040204020203" pitchFamily="34" charset="0"/>
            </a:endParaRPr>
          </a:p>
        </p:txBody>
      </p:sp>
      <p:sp>
        <p:nvSpPr>
          <p:cNvPr id="6" name="Rectangle 2">
            <a:extLst>
              <a:ext uri="{FF2B5EF4-FFF2-40B4-BE49-F238E27FC236}">
                <a16:creationId xmlns:a16="http://schemas.microsoft.com/office/drawing/2014/main" id="{44247BC8-CF54-445F-BB85-4C41B94C0890}"/>
              </a:ext>
            </a:extLst>
          </p:cNvPr>
          <p:cNvSpPr>
            <a:spLocks noChangeArrowheads="1"/>
          </p:cNvSpPr>
          <p:nvPr/>
        </p:nvSpPr>
        <p:spPr bwMode="auto">
          <a:xfrm>
            <a:off x="501857" y="2914057"/>
            <a:ext cx="1398761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sz="900" dirty="0">
              <a:latin typeface="Arial" panose="020B0604020202020204" pitchFamily="34" charset="0"/>
            </a:endParaRPr>
          </a:p>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dirty="0">
              <a:latin typeface="Arial" panose="020B0604020202020204" pitchFamily="34" charset="0"/>
            </a:endParaRPr>
          </a:p>
        </p:txBody>
      </p:sp>
      <p:graphicFrame>
        <p:nvGraphicFramePr>
          <p:cNvPr id="3" name="Tabla 2">
            <a:extLst>
              <a:ext uri="{FF2B5EF4-FFF2-40B4-BE49-F238E27FC236}">
                <a16:creationId xmlns:a16="http://schemas.microsoft.com/office/drawing/2014/main" id="{8215675F-BF66-47A4-ADD2-C81D2144D057}"/>
              </a:ext>
            </a:extLst>
          </p:cNvPr>
          <p:cNvGraphicFramePr>
            <a:graphicFrameLocks noGrp="1"/>
          </p:cNvGraphicFramePr>
          <p:nvPr>
            <p:extLst>
              <p:ext uri="{D42A27DB-BD31-4B8C-83A1-F6EECF244321}">
                <p14:modId xmlns:p14="http://schemas.microsoft.com/office/powerpoint/2010/main" val="4199141493"/>
              </p:ext>
            </p:extLst>
          </p:nvPr>
        </p:nvGraphicFramePr>
        <p:xfrm>
          <a:off x="501856" y="1083286"/>
          <a:ext cx="10833365" cy="4566535"/>
        </p:xfrm>
        <a:graphic>
          <a:graphicData uri="http://schemas.openxmlformats.org/drawingml/2006/table">
            <a:tbl>
              <a:tblPr firstRow="1" firstCol="1" bandRow="1">
                <a:tableStyleId>{5C22544A-7EE6-4342-B048-85BDC9FD1C3A}</a:tableStyleId>
              </a:tblPr>
              <a:tblGrid>
                <a:gridCol w="2188484">
                  <a:extLst>
                    <a:ext uri="{9D8B030D-6E8A-4147-A177-3AD203B41FA5}">
                      <a16:colId xmlns:a16="http://schemas.microsoft.com/office/drawing/2014/main" val="3250313451"/>
                    </a:ext>
                  </a:extLst>
                </a:gridCol>
                <a:gridCol w="2188484">
                  <a:extLst>
                    <a:ext uri="{9D8B030D-6E8A-4147-A177-3AD203B41FA5}">
                      <a16:colId xmlns:a16="http://schemas.microsoft.com/office/drawing/2014/main" val="3819320993"/>
                    </a:ext>
                  </a:extLst>
                </a:gridCol>
                <a:gridCol w="1536448">
                  <a:extLst>
                    <a:ext uri="{9D8B030D-6E8A-4147-A177-3AD203B41FA5}">
                      <a16:colId xmlns:a16="http://schemas.microsoft.com/office/drawing/2014/main" val="210670716"/>
                    </a:ext>
                  </a:extLst>
                </a:gridCol>
                <a:gridCol w="761087">
                  <a:extLst>
                    <a:ext uri="{9D8B030D-6E8A-4147-A177-3AD203B41FA5}">
                      <a16:colId xmlns:a16="http://schemas.microsoft.com/office/drawing/2014/main" val="1030138344"/>
                    </a:ext>
                  </a:extLst>
                </a:gridCol>
                <a:gridCol w="803338">
                  <a:extLst>
                    <a:ext uri="{9D8B030D-6E8A-4147-A177-3AD203B41FA5}">
                      <a16:colId xmlns:a16="http://schemas.microsoft.com/office/drawing/2014/main" val="2398183124"/>
                    </a:ext>
                  </a:extLst>
                </a:gridCol>
                <a:gridCol w="659458">
                  <a:extLst>
                    <a:ext uri="{9D8B030D-6E8A-4147-A177-3AD203B41FA5}">
                      <a16:colId xmlns:a16="http://schemas.microsoft.com/office/drawing/2014/main" val="624722241"/>
                    </a:ext>
                  </a:extLst>
                </a:gridCol>
                <a:gridCol w="840451">
                  <a:extLst>
                    <a:ext uri="{9D8B030D-6E8A-4147-A177-3AD203B41FA5}">
                      <a16:colId xmlns:a16="http://schemas.microsoft.com/office/drawing/2014/main" val="2280750684"/>
                    </a:ext>
                  </a:extLst>
                </a:gridCol>
                <a:gridCol w="994039">
                  <a:extLst>
                    <a:ext uri="{9D8B030D-6E8A-4147-A177-3AD203B41FA5}">
                      <a16:colId xmlns:a16="http://schemas.microsoft.com/office/drawing/2014/main" val="685377206"/>
                    </a:ext>
                  </a:extLst>
                </a:gridCol>
                <a:gridCol w="861576">
                  <a:extLst>
                    <a:ext uri="{9D8B030D-6E8A-4147-A177-3AD203B41FA5}">
                      <a16:colId xmlns:a16="http://schemas.microsoft.com/office/drawing/2014/main" val="3256660701"/>
                    </a:ext>
                  </a:extLst>
                </a:gridCol>
              </a:tblGrid>
              <a:tr h="913307">
                <a:tc>
                  <a:txBody>
                    <a:bodyPr/>
                    <a:lstStyle/>
                    <a:p>
                      <a:pPr algn="ctr">
                        <a:spcAft>
                          <a:spcPts val="0"/>
                        </a:spcAft>
                      </a:pPr>
                      <a:r>
                        <a:rPr lang="es-ES" sz="1200" dirty="0">
                          <a:effectLst/>
                        </a:rPr>
                        <a:t>Sistema </a:t>
                      </a:r>
                    </a:p>
                    <a:p>
                      <a:pPr algn="ctr">
                        <a:spcAft>
                          <a:spcPts val="0"/>
                        </a:spcAft>
                      </a:pPr>
                      <a:r>
                        <a:rPr lang="es-ES" sz="1200" dirty="0">
                          <a:effectLst/>
                        </a:rPr>
                        <a:t>Origen</a:t>
                      </a:r>
                      <a:endParaRPr lang="es-ES" sz="1200" dirty="0">
                        <a:effectLst/>
                        <a:latin typeface="Calibri" panose="020F0502020204030204" pitchFamily="34" charset="0"/>
                        <a:ea typeface="Calibri" panose="020F0502020204030204" pitchFamily="34" charset="0"/>
                      </a:endParaRPr>
                    </a:p>
                    <a:p>
                      <a:pPr algn="ctr">
                        <a:spcAft>
                          <a:spcPts val="0"/>
                        </a:spcAft>
                      </a:pP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Sistema Destino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a:effectLst/>
                        </a:rPr>
                        <a:t>Descripción</a:t>
                      </a:r>
                      <a:endParaRPr lang="es-ES" sz="120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Protocolo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Media </a:t>
                      </a:r>
                      <a:r>
                        <a:rPr lang="es-ES" sz="1200" dirty="0" err="1">
                          <a:effectLst/>
                        </a:rPr>
                        <a:t>Msg</a:t>
                      </a:r>
                      <a:r>
                        <a:rPr lang="es-ES" sz="1200" dirty="0">
                          <a:effectLst/>
                        </a:rPr>
                        <a:t>/día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Picos </a:t>
                      </a:r>
                    </a:p>
                    <a:p>
                      <a:pPr algn="ctr">
                        <a:spcAft>
                          <a:spcPts val="0"/>
                        </a:spcAft>
                      </a:pPr>
                      <a:r>
                        <a:rPr lang="es-ES" sz="1200" dirty="0" err="1">
                          <a:effectLst/>
                        </a:rPr>
                        <a:t>Msg</a:t>
                      </a:r>
                      <a:r>
                        <a:rPr lang="es-ES" sz="1200" dirty="0">
                          <a:effectLst/>
                        </a:rPr>
                        <a:t>/hora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a:t>
                      </a:r>
                    </a:p>
                    <a:p>
                      <a:pPr algn="ctr">
                        <a:spcAft>
                          <a:spcPts val="0"/>
                        </a:spcAft>
                      </a:pPr>
                      <a:r>
                        <a:rPr lang="es-ES" sz="1200" dirty="0">
                          <a:effectLst/>
                        </a:rPr>
                        <a:t>Medio </a:t>
                      </a:r>
                      <a:r>
                        <a:rPr lang="es-ES" sz="1200" dirty="0" err="1">
                          <a:effectLst/>
                        </a:rPr>
                        <a:t>Msg</a:t>
                      </a:r>
                      <a:r>
                        <a:rPr lang="es-ES" sz="1200" dirty="0">
                          <a:effectLst/>
                        </a:rPr>
                        <a:t>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Máximo </a:t>
                      </a:r>
                      <a:r>
                        <a:rPr lang="es-ES" sz="1200" dirty="0" err="1">
                          <a:effectLst/>
                        </a:rPr>
                        <a:t>Msg</a:t>
                      </a:r>
                      <a:endParaRPr lang="es-ES" sz="1200" dirty="0">
                        <a:effectLst/>
                      </a:endParaRPr>
                    </a:p>
                    <a:p>
                      <a:pPr algn="ctr">
                        <a:spcAft>
                          <a:spcPts val="0"/>
                        </a:spcAft>
                      </a:pPr>
                      <a:r>
                        <a:rPr lang="es-ES" sz="1200" dirty="0">
                          <a:effectLst/>
                        </a:rPr>
                        <a:t>(KB)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Franja Horaria Pico</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198584115"/>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Validación clientes</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verifica la </a:t>
                      </a:r>
                      <a:r>
                        <a:rPr lang="es-ES" sz="1100" b="0" i="0" u="none" strike="noStrike" dirty="0" err="1">
                          <a:solidFill>
                            <a:srgbClr val="000000"/>
                          </a:solidFill>
                          <a:effectLst/>
                          <a:latin typeface="Calibri" panose="020F0502020204030204" pitchFamily="34" charset="0"/>
                        </a:rPr>
                        <a:t>informacion</a:t>
                      </a:r>
                      <a:r>
                        <a:rPr lang="es-ES" sz="1100" b="0" i="0" u="none" strike="noStrike" dirty="0">
                          <a:solidFill>
                            <a:srgbClr val="000000"/>
                          </a:solidFill>
                          <a:effectLst/>
                          <a:latin typeface="Calibri" panose="020F0502020204030204" pitchFamily="34" charset="0"/>
                        </a:rPr>
                        <a:t> del nuevo </a:t>
                      </a:r>
                      <a:r>
                        <a:rPr lang="es-ES" sz="1100" b="0" i="0" u="none" strike="noStrike" dirty="0" err="1">
                          <a:solidFill>
                            <a:srgbClr val="000000"/>
                          </a:solidFill>
                          <a:effectLst/>
                          <a:latin typeface="Calibri" panose="020F0502020204030204" pitchFamily="34" charset="0"/>
                        </a:rPr>
                        <a:t>cliente,listas</a:t>
                      </a:r>
                      <a:r>
                        <a:rPr lang="es-ES" sz="1100" b="0" i="0" u="none" strike="noStrike" dirty="0">
                          <a:solidFill>
                            <a:srgbClr val="000000"/>
                          </a:solidFill>
                          <a:effectLst/>
                          <a:latin typeface="Calibri" panose="020F0502020204030204" pitchFamily="34" charset="0"/>
                        </a:rPr>
                        <a:t> negras, direcciones, </a:t>
                      </a:r>
                      <a:r>
                        <a:rPr lang="es-ES" sz="1100" b="0" i="0" u="none" strike="noStrike" dirty="0" err="1">
                          <a:solidFill>
                            <a:srgbClr val="000000"/>
                          </a:solidFill>
                          <a:effectLst/>
                          <a:latin typeface="Calibri" panose="020F0502020204030204" pitchFamily="34" charset="0"/>
                        </a:rPr>
                        <a:t>asignacion</a:t>
                      </a:r>
                      <a:r>
                        <a:rPr lang="es-ES" sz="1100" b="0" i="0" u="none" strike="noStrike" dirty="0">
                          <a:solidFill>
                            <a:srgbClr val="000000"/>
                          </a:solidFill>
                          <a:effectLst/>
                          <a:latin typeface="Calibri" panose="020F0502020204030204" pitchFamily="34" charset="0"/>
                        </a:rPr>
                        <a:t> de oficina …</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16.000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42428821"/>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Tablas Maestras </a:t>
                      </a:r>
                      <a:r>
                        <a:rPr lang="es-ES" sz="1200" dirty="0" err="1">
                          <a:effectLst/>
                          <a:latin typeface="Calibri" panose="020F0502020204030204" pitchFamily="34" charset="0"/>
                          <a:ea typeface="Calibri" panose="020F0502020204030204" pitchFamily="34" charset="0"/>
                        </a:rPr>
                        <a:t>Read</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Operaciones de lectura en base de datos</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16.000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600</a:t>
                      </a: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20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3929182264"/>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Alta Cliente</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Realiza el alta del cliente, titulares en LDAP</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2.000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51814444"/>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Alta Productos</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Operaciones de alta de cuenta, tarjeta y </a:t>
                      </a:r>
                      <a:r>
                        <a:rPr lang="es-ES" sz="1100" b="0" i="0" u="none" strike="noStrike" dirty="0" err="1">
                          <a:solidFill>
                            <a:srgbClr val="000000"/>
                          </a:solidFill>
                          <a:effectLst/>
                          <a:latin typeface="Calibri" panose="020F0502020204030204" pitchFamily="34" charset="0"/>
                        </a:rPr>
                        <a:t>notificacion</a:t>
                      </a:r>
                      <a:r>
                        <a:rPr lang="es-ES" sz="1100" b="0" i="0" u="none" strike="noStrike" dirty="0">
                          <a:solidFill>
                            <a:srgbClr val="000000"/>
                          </a:solidFill>
                          <a:effectLst/>
                          <a:latin typeface="Calibri" panose="020F0502020204030204" pitchFamily="34" charset="0"/>
                        </a:rPr>
                        <a:t> a hipotecas</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6.000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650</a:t>
                      </a:r>
                    </a:p>
                  </a:txBody>
                  <a:tcPr marL="44337" marR="44337" marT="44337" marB="44337"/>
                </a:tc>
                <a:tc>
                  <a:txBody>
                    <a:bodyPr/>
                    <a:lstStyle/>
                    <a:p>
                      <a:pPr algn="ctr">
                        <a:spcAft>
                          <a:spcPts val="0"/>
                        </a:spcAft>
                      </a:pPr>
                      <a:r>
                        <a:rPr lang="es-ES" sz="1200" dirty="0">
                          <a:effectLst/>
                        </a:rPr>
                        <a:t>15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25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2759557683"/>
                  </a:ext>
                </a:extLst>
              </a:tr>
            </a:tbl>
          </a:graphicData>
        </a:graphic>
      </p:graphicFrame>
      <p:sp>
        <p:nvSpPr>
          <p:cNvPr id="4" name="Rectangle 1">
            <a:extLst>
              <a:ext uri="{FF2B5EF4-FFF2-40B4-BE49-F238E27FC236}">
                <a16:creationId xmlns:a16="http://schemas.microsoft.com/office/drawing/2014/main" id="{C27238CE-B232-4FF1-8BE4-E99CF942DC9B}"/>
              </a:ext>
            </a:extLst>
          </p:cNvPr>
          <p:cNvSpPr>
            <a:spLocks noChangeArrowheads="1"/>
          </p:cNvSpPr>
          <p:nvPr/>
        </p:nvSpPr>
        <p:spPr bwMode="auto">
          <a:xfrm>
            <a:off x="168891" y="976254"/>
            <a:ext cx="12971926" cy="91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30851287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12"/>
          </p:nvPr>
        </p:nvSpPr>
        <p:spPr>
          <a:xfrm>
            <a:off x="501857" y="498475"/>
            <a:ext cx="10833365" cy="318498"/>
          </a:xfrm>
        </p:spPr>
        <p:txBody>
          <a:bodyPr>
            <a:noAutofit/>
          </a:bodyPr>
          <a:lstStyle/>
          <a:p>
            <a:r>
              <a:rPr lang="es-ES" sz="2400" b="0" dirty="0">
                <a:latin typeface="Gadugi" panose="020B0502040204020203" pitchFamily="34" charset="0"/>
              </a:rPr>
              <a:t>Volumetrías (</a:t>
            </a:r>
            <a:r>
              <a:rPr lang="es-ES" sz="2400" dirty="0"/>
              <a:t>Servicios SOAP / REST) </a:t>
            </a:r>
            <a:r>
              <a:rPr lang="es-ES" sz="1000" dirty="0"/>
              <a:t>PaaS Internet HC 2.0 </a:t>
            </a:r>
            <a:r>
              <a:rPr lang="en-GB" sz="1000" dirty="0" err="1"/>
              <a:t>Tramitación</a:t>
            </a:r>
            <a:r>
              <a:rPr lang="en-GB" sz="1000" dirty="0"/>
              <a:t> de </a:t>
            </a:r>
            <a:r>
              <a:rPr lang="en-GB" sz="1000" dirty="0" err="1"/>
              <a:t>expedientes</a:t>
            </a:r>
            <a:r>
              <a:rPr lang="en-GB" sz="1000" dirty="0"/>
              <a:t> y procesos </a:t>
            </a:r>
            <a:r>
              <a:rPr lang="en-GB" sz="1000" dirty="0" err="1"/>
              <a:t>planificados</a:t>
            </a:r>
            <a:endParaRPr lang="es-ES" sz="1000" dirty="0"/>
          </a:p>
          <a:p>
            <a:endParaRPr lang="es-ES" sz="2400" dirty="0">
              <a:latin typeface="Calibri" panose="020F0502020204030204" pitchFamily="34" charset="0"/>
              <a:ea typeface="Calibri" panose="020F0502020204030204" pitchFamily="34" charset="0"/>
            </a:endParaRPr>
          </a:p>
          <a:p>
            <a:endParaRPr lang="es-ES" sz="2400" b="0" dirty="0">
              <a:latin typeface="Gadugi" panose="020B0502040204020203" pitchFamily="34" charset="0"/>
            </a:endParaRPr>
          </a:p>
        </p:txBody>
      </p:sp>
      <p:sp>
        <p:nvSpPr>
          <p:cNvPr id="6" name="Rectangle 2">
            <a:extLst>
              <a:ext uri="{FF2B5EF4-FFF2-40B4-BE49-F238E27FC236}">
                <a16:creationId xmlns:a16="http://schemas.microsoft.com/office/drawing/2014/main" id="{44247BC8-CF54-445F-BB85-4C41B94C0890}"/>
              </a:ext>
            </a:extLst>
          </p:cNvPr>
          <p:cNvSpPr>
            <a:spLocks noChangeArrowheads="1"/>
          </p:cNvSpPr>
          <p:nvPr/>
        </p:nvSpPr>
        <p:spPr bwMode="auto">
          <a:xfrm>
            <a:off x="501857" y="2914057"/>
            <a:ext cx="1398761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sz="900" dirty="0">
              <a:latin typeface="Arial" panose="020B0604020202020204" pitchFamily="34" charset="0"/>
            </a:endParaRPr>
          </a:p>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dirty="0">
              <a:latin typeface="Arial" panose="020B0604020202020204" pitchFamily="34" charset="0"/>
            </a:endParaRPr>
          </a:p>
        </p:txBody>
      </p:sp>
      <p:graphicFrame>
        <p:nvGraphicFramePr>
          <p:cNvPr id="3" name="Tabla 2">
            <a:extLst>
              <a:ext uri="{FF2B5EF4-FFF2-40B4-BE49-F238E27FC236}">
                <a16:creationId xmlns:a16="http://schemas.microsoft.com/office/drawing/2014/main" id="{8215675F-BF66-47A4-ADD2-C81D2144D057}"/>
              </a:ext>
            </a:extLst>
          </p:cNvPr>
          <p:cNvGraphicFramePr>
            <a:graphicFrameLocks noGrp="1"/>
          </p:cNvGraphicFramePr>
          <p:nvPr>
            <p:extLst>
              <p:ext uri="{D42A27DB-BD31-4B8C-83A1-F6EECF244321}">
                <p14:modId xmlns:p14="http://schemas.microsoft.com/office/powerpoint/2010/main" val="1793758181"/>
              </p:ext>
            </p:extLst>
          </p:nvPr>
        </p:nvGraphicFramePr>
        <p:xfrm>
          <a:off x="501856" y="1083286"/>
          <a:ext cx="10833365" cy="4566535"/>
        </p:xfrm>
        <a:graphic>
          <a:graphicData uri="http://schemas.openxmlformats.org/drawingml/2006/table">
            <a:tbl>
              <a:tblPr firstRow="1" firstCol="1" bandRow="1">
                <a:tableStyleId>{5C22544A-7EE6-4342-B048-85BDC9FD1C3A}</a:tableStyleId>
              </a:tblPr>
              <a:tblGrid>
                <a:gridCol w="2188484">
                  <a:extLst>
                    <a:ext uri="{9D8B030D-6E8A-4147-A177-3AD203B41FA5}">
                      <a16:colId xmlns:a16="http://schemas.microsoft.com/office/drawing/2014/main" val="3250313451"/>
                    </a:ext>
                  </a:extLst>
                </a:gridCol>
                <a:gridCol w="2188484">
                  <a:extLst>
                    <a:ext uri="{9D8B030D-6E8A-4147-A177-3AD203B41FA5}">
                      <a16:colId xmlns:a16="http://schemas.microsoft.com/office/drawing/2014/main" val="3819320993"/>
                    </a:ext>
                  </a:extLst>
                </a:gridCol>
                <a:gridCol w="1536448">
                  <a:extLst>
                    <a:ext uri="{9D8B030D-6E8A-4147-A177-3AD203B41FA5}">
                      <a16:colId xmlns:a16="http://schemas.microsoft.com/office/drawing/2014/main" val="210670716"/>
                    </a:ext>
                  </a:extLst>
                </a:gridCol>
                <a:gridCol w="761087">
                  <a:extLst>
                    <a:ext uri="{9D8B030D-6E8A-4147-A177-3AD203B41FA5}">
                      <a16:colId xmlns:a16="http://schemas.microsoft.com/office/drawing/2014/main" val="1030138344"/>
                    </a:ext>
                  </a:extLst>
                </a:gridCol>
                <a:gridCol w="803338">
                  <a:extLst>
                    <a:ext uri="{9D8B030D-6E8A-4147-A177-3AD203B41FA5}">
                      <a16:colId xmlns:a16="http://schemas.microsoft.com/office/drawing/2014/main" val="2398183124"/>
                    </a:ext>
                  </a:extLst>
                </a:gridCol>
                <a:gridCol w="659458">
                  <a:extLst>
                    <a:ext uri="{9D8B030D-6E8A-4147-A177-3AD203B41FA5}">
                      <a16:colId xmlns:a16="http://schemas.microsoft.com/office/drawing/2014/main" val="624722241"/>
                    </a:ext>
                  </a:extLst>
                </a:gridCol>
                <a:gridCol w="840451">
                  <a:extLst>
                    <a:ext uri="{9D8B030D-6E8A-4147-A177-3AD203B41FA5}">
                      <a16:colId xmlns:a16="http://schemas.microsoft.com/office/drawing/2014/main" val="2280750684"/>
                    </a:ext>
                  </a:extLst>
                </a:gridCol>
                <a:gridCol w="994039">
                  <a:extLst>
                    <a:ext uri="{9D8B030D-6E8A-4147-A177-3AD203B41FA5}">
                      <a16:colId xmlns:a16="http://schemas.microsoft.com/office/drawing/2014/main" val="685377206"/>
                    </a:ext>
                  </a:extLst>
                </a:gridCol>
                <a:gridCol w="861576">
                  <a:extLst>
                    <a:ext uri="{9D8B030D-6E8A-4147-A177-3AD203B41FA5}">
                      <a16:colId xmlns:a16="http://schemas.microsoft.com/office/drawing/2014/main" val="3256660701"/>
                    </a:ext>
                  </a:extLst>
                </a:gridCol>
              </a:tblGrid>
              <a:tr h="913307">
                <a:tc>
                  <a:txBody>
                    <a:bodyPr/>
                    <a:lstStyle/>
                    <a:p>
                      <a:pPr algn="ctr">
                        <a:spcAft>
                          <a:spcPts val="0"/>
                        </a:spcAft>
                      </a:pPr>
                      <a:r>
                        <a:rPr lang="es-ES" sz="1200" dirty="0">
                          <a:effectLst/>
                        </a:rPr>
                        <a:t>Sistema </a:t>
                      </a:r>
                    </a:p>
                    <a:p>
                      <a:pPr algn="ctr">
                        <a:spcAft>
                          <a:spcPts val="0"/>
                        </a:spcAft>
                      </a:pPr>
                      <a:r>
                        <a:rPr lang="es-ES" sz="1200" dirty="0">
                          <a:effectLst/>
                        </a:rPr>
                        <a:t>Origen</a:t>
                      </a:r>
                      <a:endParaRPr lang="es-ES" sz="1200" dirty="0">
                        <a:effectLst/>
                        <a:latin typeface="Calibri" panose="020F0502020204030204" pitchFamily="34" charset="0"/>
                        <a:ea typeface="Calibri" panose="020F0502020204030204" pitchFamily="34" charset="0"/>
                      </a:endParaRPr>
                    </a:p>
                    <a:p>
                      <a:pPr algn="ctr">
                        <a:spcAft>
                          <a:spcPts val="0"/>
                        </a:spcAft>
                      </a:pP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Sistema Destino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a:effectLst/>
                        </a:rPr>
                        <a:t>Descripción</a:t>
                      </a:r>
                      <a:endParaRPr lang="es-ES" sz="120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Protocolo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Media </a:t>
                      </a:r>
                      <a:r>
                        <a:rPr lang="es-ES" sz="1200" dirty="0" err="1">
                          <a:effectLst/>
                        </a:rPr>
                        <a:t>Msg</a:t>
                      </a:r>
                      <a:r>
                        <a:rPr lang="es-ES" sz="1200" dirty="0">
                          <a:effectLst/>
                        </a:rPr>
                        <a:t>/día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Picos </a:t>
                      </a:r>
                    </a:p>
                    <a:p>
                      <a:pPr algn="ctr">
                        <a:spcAft>
                          <a:spcPts val="0"/>
                        </a:spcAft>
                      </a:pPr>
                      <a:r>
                        <a:rPr lang="es-ES" sz="1200" dirty="0" err="1">
                          <a:effectLst/>
                        </a:rPr>
                        <a:t>Msg</a:t>
                      </a:r>
                      <a:r>
                        <a:rPr lang="es-ES" sz="1200" dirty="0">
                          <a:effectLst/>
                        </a:rPr>
                        <a:t>/hora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a:t>
                      </a:r>
                    </a:p>
                    <a:p>
                      <a:pPr algn="ctr">
                        <a:spcAft>
                          <a:spcPts val="0"/>
                        </a:spcAft>
                      </a:pPr>
                      <a:r>
                        <a:rPr lang="es-ES" sz="1200" dirty="0">
                          <a:effectLst/>
                        </a:rPr>
                        <a:t>Medio </a:t>
                      </a:r>
                      <a:r>
                        <a:rPr lang="es-ES" sz="1200" dirty="0" err="1">
                          <a:effectLst/>
                        </a:rPr>
                        <a:t>Msg</a:t>
                      </a:r>
                      <a:r>
                        <a:rPr lang="es-ES" sz="1200" dirty="0">
                          <a:effectLst/>
                        </a:rPr>
                        <a:t>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Máximo </a:t>
                      </a:r>
                      <a:r>
                        <a:rPr lang="es-ES" sz="1200" dirty="0" err="1">
                          <a:effectLst/>
                        </a:rPr>
                        <a:t>Msg</a:t>
                      </a:r>
                      <a:endParaRPr lang="es-ES" sz="1200" dirty="0">
                        <a:effectLst/>
                      </a:endParaRPr>
                    </a:p>
                    <a:p>
                      <a:pPr algn="ctr">
                        <a:spcAft>
                          <a:spcPts val="0"/>
                        </a:spcAft>
                      </a:pPr>
                      <a:r>
                        <a:rPr lang="es-ES" sz="1200" dirty="0">
                          <a:effectLst/>
                        </a:rPr>
                        <a:t>(KB)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Franja Horaria Pico</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198584115"/>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Correspondencia</a:t>
                      </a:r>
                    </a:p>
                  </a:txBody>
                  <a:tcPr marL="44337" marR="44337" marT="44337" marB="44337"/>
                </a:tc>
                <a:tc>
                  <a:txBody>
                    <a:bodyPr/>
                    <a:lstStyle/>
                    <a:p>
                      <a:pPr algn="l" fontAlgn="t"/>
                      <a:r>
                        <a:rPr lang="es-ES" sz="1100" b="0" i="0" u="none" strike="noStrike" dirty="0" err="1">
                          <a:solidFill>
                            <a:srgbClr val="000000"/>
                          </a:solidFill>
                          <a:effectLst/>
                          <a:latin typeface="Calibri" panose="020F0502020204030204" pitchFamily="34" charset="0"/>
                        </a:rPr>
                        <a:t>Envio</a:t>
                      </a:r>
                      <a:r>
                        <a:rPr lang="es-ES" sz="1100" b="0" i="0" u="none" strike="noStrike" dirty="0">
                          <a:solidFill>
                            <a:srgbClr val="000000"/>
                          </a:solidFill>
                          <a:effectLst/>
                          <a:latin typeface="Calibri" panose="020F0502020204030204" pitchFamily="34" charset="0"/>
                        </a:rPr>
                        <a:t> de </a:t>
                      </a:r>
                      <a:r>
                        <a:rPr lang="es-ES" sz="1100" b="0" i="0" u="none" strike="noStrike" dirty="0" err="1">
                          <a:solidFill>
                            <a:srgbClr val="000000"/>
                          </a:solidFill>
                          <a:effectLst/>
                          <a:latin typeface="Calibri" panose="020F0502020204030204" pitchFamily="34" charset="0"/>
                        </a:rPr>
                        <a:t>sms</a:t>
                      </a:r>
                      <a:r>
                        <a:rPr lang="es-ES" sz="1100" b="0" i="0" u="none" strike="noStrike" dirty="0">
                          <a:solidFill>
                            <a:srgbClr val="000000"/>
                          </a:solidFill>
                          <a:effectLst/>
                          <a:latin typeface="Calibri" panose="020F0502020204030204" pitchFamily="34" charset="0"/>
                        </a:rPr>
                        <a:t> y correos </a:t>
                      </a:r>
                      <a:r>
                        <a:rPr lang="es-ES" sz="1100" b="0" i="0" u="none" strike="noStrike" dirty="0" err="1">
                          <a:solidFill>
                            <a:srgbClr val="000000"/>
                          </a:solidFill>
                          <a:effectLst/>
                          <a:latin typeface="Calibri" panose="020F0502020204030204" pitchFamily="34" charset="0"/>
                        </a:rPr>
                        <a:t>electronicos</a:t>
                      </a:r>
                      <a:endParaRPr lang="es-ES" sz="1100" b="0" i="0" u="none" strike="noStrike" dirty="0">
                        <a:solidFill>
                          <a:srgbClr val="000000"/>
                        </a:solidFill>
                        <a:effectLst/>
                        <a:latin typeface="Calibri" panose="020F0502020204030204" pitchFamily="34" charset="0"/>
                      </a:endParaRP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8.000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42428821"/>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Gestor Documental</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Guardado de plantillas de contratos, documentos de cliente …</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6.000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rPr>
                        <a:t>300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700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3929182264"/>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Identificador Pagos</a:t>
                      </a:r>
                    </a:p>
                  </a:txBody>
                  <a:tcPr marL="44337" marR="44337" marT="44337" marB="44337"/>
                </a:tc>
                <a:tc>
                  <a:txBody>
                    <a:bodyPr/>
                    <a:lstStyle/>
                    <a:p>
                      <a:pPr algn="l" fontAlgn="t"/>
                      <a:r>
                        <a:rPr lang="es-ES" sz="1100" b="0" i="0" u="none" strike="noStrike" dirty="0" err="1">
                          <a:solidFill>
                            <a:srgbClr val="000000"/>
                          </a:solidFill>
                          <a:effectLst/>
                          <a:latin typeface="Calibri" panose="020F0502020204030204" pitchFamily="34" charset="0"/>
                        </a:rPr>
                        <a:t>Validacion</a:t>
                      </a:r>
                      <a:r>
                        <a:rPr lang="es-ES" sz="1100" b="0" i="0" u="none" strike="noStrike" dirty="0">
                          <a:solidFill>
                            <a:srgbClr val="000000"/>
                          </a:solidFill>
                          <a:effectLst/>
                          <a:latin typeface="Calibri" panose="020F0502020204030204" pitchFamily="34" charset="0"/>
                        </a:rPr>
                        <a:t> de cliente (</a:t>
                      </a:r>
                      <a:r>
                        <a:rPr lang="es-ES" sz="1100" b="0" i="0" u="none" strike="noStrike" dirty="0" err="1">
                          <a:solidFill>
                            <a:srgbClr val="000000"/>
                          </a:solidFill>
                          <a:effectLst/>
                          <a:latin typeface="Calibri" panose="020F0502020204030204" pitchFamily="34" charset="0"/>
                        </a:rPr>
                        <a:t>Identificacion</a:t>
                      </a:r>
                      <a:r>
                        <a:rPr lang="es-ES" sz="1100" b="0" i="0" u="none" strike="noStrike" dirty="0">
                          <a:solidFill>
                            <a:srgbClr val="000000"/>
                          </a:solidFill>
                          <a:effectLst/>
                          <a:latin typeface="Calibri" panose="020F0502020204030204" pitchFamily="34" charset="0"/>
                        </a:rPr>
                        <a:t> fehaciente)</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2.000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20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51814444"/>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OCR</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Operaciones OCR con imágenes</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16.000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rPr>
                        <a:t>300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700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2759557683"/>
                  </a:ext>
                </a:extLst>
              </a:tr>
            </a:tbl>
          </a:graphicData>
        </a:graphic>
      </p:graphicFrame>
      <p:sp>
        <p:nvSpPr>
          <p:cNvPr id="4" name="Rectangle 1">
            <a:extLst>
              <a:ext uri="{FF2B5EF4-FFF2-40B4-BE49-F238E27FC236}">
                <a16:creationId xmlns:a16="http://schemas.microsoft.com/office/drawing/2014/main" id="{C27238CE-B232-4FF1-8BE4-E99CF942DC9B}"/>
              </a:ext>
            </a:extLst>
          </p:cNvPr>
          <p:cNvSpPr>
            <a:spLocks noChangeArrowheads="1"/>
          </p:cNvSpPr>
          <p:nvPr/>
        </p:nvSpPr>
        <p:spPr bwMode="auto">
          <a:xfrm>
            <a:off x="168891" y="976254"/>
            <a:ext cx="12971926" cy="91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16169493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12"/>
          </p:nvPr>
        </p:nvSpPr>
        <p:spPr>
          <a:xfrm>
            <a:off x="501857" y="498475"/>
            <a:ext cx="10833365" cy="318498"/>
          </a:xfrm>
        </p:spPr>
        <p:txBody>
          <a:bodyPr>
            <a:noAutofit/>
          </a:bodyPr>
          <a:lstStyle/>
          <a:p>
            <a:r>
              <a:rPr lang="es-ES" sz="2400" b="0" dirty="0">
                <a:latin typeface="Gadugi" panose="020B0502040204020203" pitchFamily="34" charset="0"/>
              </a:rPr>
              <a:t>Volumetrías (</a:t>
            </a:r>
            <a:r>
              <a:rPr lang="es-ES" sz="2400" dirty="0"/>
              <a:t>Servicios SOAP / REST) </a:t>
            </a:r>
            <a:r>
              <a:rPr lang="es-ES" sz="1000" dirty="0"/>
              <a:t>PaaS Internet HC 2.0 </a:t>
            </a:r>
            <a:r>
              <a:rPr lang="en-GB" sz="1000" dirty="0" err="1"/>
              <a:t>Tramitación</a:t>
            </a:r>
            <a:r>
              <a:rPr lang="en-GB" sz="1000" dirty="0"/>
              <a:t> de </a:t>
            </a:r>
            <a:r>
              <a:rPr lang="en-GB" sz="1000" dirty="0" err="1"/>
              <a:t>expedientes</a:t>
            </a:r>
            <a:r>
              <a:rPr lang="en-GB" sz="1000" dirty="0"/>
              <a:t> y procesos </a:t>
            </a:r>
            <a:r>
              <a:rPr lang="en-GB" sz="1000" dirty="0" err="1"/>
              <a:t>planificados</a:t>
            </a:r>
            <a:endParaRPr lang="es-ES" sz="1000" dirty="0"/>
          </a:p>
          <a:p>
            <a:endParaRPr lang="es-ES" sz="2400" dirty="0">
              <a:latin typeface="Calibri" panose="020F0502020204030204" pitchFamily="34" charset="0"/>
              <a:ea typeface="Calibri" panose="020F0502020204030204" pitchFamily="34" charset="0"/>
            </a:endParaRPr>
          </a:p>
          <a:p>
            <a:endParaRPr lang="es-ES" sz="2400" b="0" dirty="0">
              <a:latin typeface="Gadugi" panose="020B0502040204020203" pitchFamily="34" charset="0"/>
            </a:endParaRPr>
          </a:p>
        </p:txBody>
      </p:sp>
      <p:sp>
        <p:nvSpPr>
          <p:cNvPr id="6" name="Rectangle 2">
            <a:extLst>
              <a:ext uri="{FF2B5EF4-FFF2-40B4-BE49-F238E27FC236}">
                <a16:creationId xmlns:a16="http://schemas.microsoft.com/office/drawing/2014/main" id="{44247BC8-CF54-445F-BB85-4C41B94C0890}"/>
              </a:ext>
            </a:extLst>
          </p:cNvPr>
          <p:cNvSpPr>
            <a:spLocks noChangeArrowheads="1"/>
          </p:cNvSpPr>
          <p:nvPr/>
        </p:nvSpPr>
        <p:spPr bwMode="auto">
          <a:xfrm>
            <a:off x="501857" y="2914057"/>
            <a:ext cx="1398761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sz="900" dirty="0">
              <a:latin typeface="Arial" panose="020B0604020202020204" pitchFamily="34" charset="0"/>
            </a:endParaRPr>
          </a:p>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dirty="0">
              <a:latin typeface="Arial" panose="020B0604020202020204" pitchFamily="34" charset="0"/>
            </a:endParaRPr>
          </a:p>
        </p:txBody>
      </p:sp>
      <p:graphicFrame>
        <p:nvGraphicFramePr>
          <p:cNvPr id="3" name="Tabla 2">
            <a:extLst>
              <a:ext uri="{FF2B5EF4-FFF2-40B4-BE49-F238E27FC236}">
                <a16:creationId xmlns:a16="http://schemas.microsoft.com/office/drawing/2014/main" id="{8215675F-BF66-47A4-ADD2-C81D2144D057}"/>
              </a:ext>
            </a:extLst>
          </p:cNvPr>
          <p:cNvGraphicFramePr>
            <a:graphicFrameLocks noGrp="1"/>
          </p:cNvGraphicFramePr>
          <p:nvPr>
            <p:extLst>
              <p:ext uri="{D42A27DB-BD31-4B8C-83A1-F6EECF244321}">
                <p14:modId xmlns:p14="http://schemas.microsoft.com/office/powerpoint/2010/main" val="1968812604"/>
              </p:ext>
            </p:extLst>
          </p:nvPr>
        </p:nvGraphicFramePr>
        <p:xfrm>
          <a:off x="501856" y="1083286"/>
          <a:ext cx="10833365" cy="4656302"/>
        </p:xfrm>
        <a:graphic>
          <a:graphicData uri="http://schemas.openxmlformats.org/drawingml/2006/table">
            <a:tbl>
              <a:tblPr firstRow="1" firstCol="1" bandRow="1">
                <a:tableStyleId>{5C22544A-7EE6-4342-B048-85BDC9FD1C3A}</a:tableStyleId>
              </a:tblPr>
              <a:tblGrid>
                <a:gridCol w="2188484">
                  <a:extLst>
                    <a:ext uri="{9D8B030D-6E8A-4147-A177-3AD203B41FA5}">
                      <a16:colId xmlns:a16="http://schemas.microsoft.com/office/drawing/2014/main" val="3250313451"/>
                    </a:ext>
                  </a:extLst>
                </a:gridCol>
                <a:gridCol w="2188484">
                  <a:extLst>
                    <a:ext uri="{9D8B030D-6E8A-4147-A177-3AD203B41FA5}">
                      <a16:colId xmlns:a16="http://schemas.microsoft.com/office/drawing/2014/main" val="3819320993"/>
                    </a:ext>
                  </a:extLst>
                </a:gridCol>
                <a:gridCol w="1536448">
                  <a:extLst>
                    <a:ext uri="{9D8B030D-6E8A-4147-A177-3AD203B41FA5}">
                      <a16:colId xmlns:a16="http://schemas.microsoft.com/office/drawing/2014/main" val="210670716"/>
                    </a:ext>
                  </a:extLst>
                </a:gridCol>
                <a:gridCol w="761087">
                  <a:extLst>
                    <a:ext uri="{9D8B030D-6E8A-4147-A177-3AD203B41FA5}">
                      <a16:colId xmlns:a16="http://schemas.microsoft.com/office/drawing/2014/main" val="1030138344"/>
                    </a:ext>
                  </a:extLst>
                </a:gridCol>
                <a:gridCol w="803338">
                  <a:extLst>
                    <a:ext uri="{9D8B030D-6E8A-4147-A177-3AD203B41FA5}">
                      <a16:colId xmlns:a16="http://schemas.microsoft.com/office/drawing/2014/main" val="2398183124"/>
                    </a:ext>
                  </a:extLst>
                </a:gridCol>
                <a:gridCol w="659458">
                  <a:extLst>
                    <a:ext uri="{9D8B030D-6E8A-4147-A177-3AD203B41FA5}">
                      <a16:colId xmlns:a16="http://schemas.microsoft.com/office/drawing/2014/main" val="624722241"/>
                    </a:ext>
                  </a:extLst>
                </a:gridCol>
                <a:gridCol w="840451">
                  <a:extLst>
                    <a:ext uri="{9D8B030D-6E8A-4147-A177-3AD203B41FA5}">
                      <a16:colId xmlns:a16="http://schemas.microsoft.com/office/drawing/2014/main" val="2280750684"/>
                    </a:ext>
                  </a:extLst>
                </a:gridCol>
                <a:gridCol w="994039">
                  <a:extLst>
                    <a:ext uri="{9D8B030D-6E8A-4147-A177-3AD203B41FA5}">
                      <a16:colId xmlns:a16="http://schemas.microsoft.com/office/drawing/2014/main" val="685377206"/>
                    </a:ext>
                  </a:extLst>
                </a:gridCol>
                <a:gridCol w="861576">
                  <a:extLst>
                    <a:ext uri="{9D8B030D-6E8A-4147-A177-3AD203B41FA5}">
                      <a16:colId xmlns:a16="http://schemas.microsoft.com/office/drawing/2014/main" val="3256660701"/>
                    </a:ext>
                  </a:extLst>
                </a:gridCol>
              </a:tblGrid>
              <a:tr h="913307">
                <a:tc>
                  <a:txBody>
                    <a:bodyPr/>
                    <a:lstStyle/>
                    <a:p>
                      <a:pPr algn="ctr">
                        <a:spcAft>
                          <a:spcPts val="0"/>
                        </a:spcAft>
                      </a:pPr>
                      <a:r>
                        <a:rPr lang="es-ES" sz="1200" dirty="0">
                          <a:effectLst/>
                        </a:rPr>
                        <a:t>Sistema </a:t>
                      </a:r>
                    </a:p>
                    <a:p>
                      <a:pPr algn="ctr">
                        <a:spcAft>
                          <a:spcPts val="0"/>
                        </a:spcAft>
                      </a:pPr>
                      <a:r>
                        <a:rPr lang="es-ES" sz="1200" dirty="0">
                          <a:effectLst/>
                        </a:rPr>
                        <a:t>Origen</a:t>
                      </a:r>
                      <a:endParaRPr lang="es-ES" sz="1200" dirty="0">
                        <a:effectLst/>
                        <a:latin typeface="Calibri" panose="020F0502020204030204" pitchFamily="34" charset="0"/>
                        <a:ea typeface="Calibri" panose="020F0502020204030204" pitchFamily="34" charset="0"/>
                      </a:endParaRPr>
                    </a:p>
                    <a:p>
                      <a:pPr algn="ctr">
                        <a:spcAft>
                          <a:spcPts val="0"/>
                        </a:spcAft>
                      </a:pP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Sistema Destino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a:effectLst/>
                        </a:rPr>
                        <a:t>Descripción</a:t>
                      </a:r>
                      <a:endParaRPr lang="es-ES" sz="120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Protocolo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Media </a:t>
                      </a:r>
                      <a:r>
                        <a:rPr lang="es-ES" sz="1200" dirty="0" err="1">
                          <a:effectLst/>
                        </a:rPr>
                        <a:t>Msg</a:t>
                      </a:r>
                      <a:r>
                        <a:rPr lang="es-ES" sz="1200" dirty="0">
                          <a:effectLst/>
                        </a:rPr>
                        <a:t>/día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Picos </a:t>
                      </a:r>
                    </a:p>
                    <a:p>
                      <a:pPr algn="ctr">
                        <a:spcAft>
                          <a:spcPts val="0"/>
                        </a:spcAft>
                      </a:pPr>
                      <a:r>
                        <a:rPr lang="es-ES" sz="1200" dirty="0" err="1">
                          <a:effectLst/>
                        </a:rPr>
                        <a:t>Msg</a:t>
                      </a:r>
                      <a:r>
                        <a:rPr lang="es-ES" sz="1200" dirty="0">
                          <a:effectLst/>
                        </a:rPr>
                        <a:t>/hora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a:t>
                      </a:r>
                    </a:p>
                    <a:p>
                      <a:pPr algn="ctr">
                        <a:spcAft>
                          <a:spcPts val="0"/>
                        </a:spcAft>
                      </a:pPr>
                      <a:r>
                        <a:rPr lang="es-ES" sz="1200" dirty="0">
                          <a:effectLst/>
                        </a:rPr>
                        <a:t>Medio </a:t>
                      </a:r>
                      <a:r>
                        <a:rPr lang="es-ES" sz="1200" dirty="0" err="1">
                          <a:effectLst/>
                        </a:rPr>
                        <a:t>Msg</a:t>
                      </a:r>
                      <a:r>
                        <a:rPr lang="es-ES" sz="1200" dirty="0">
                          <a:effectLst/>
                        </a:rPr>
                        <a:t>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Máximo </a:t>
                      </a:r>
                      <a:r>
                        <a:rPr lang="es-ES" sz="1200" dirty="0" err="1">
                          <a:effectLst/>
                        </a:rPr>
                        <a:t>Msg</a:t>
                      </a:r>
                      <a:endParaRPr lang="es-ES" sz="1200" dirty="0">
                        <a:effectLst/>
                      </a:endParaRPr>
                    </a:p>
                    <a:p>
                      <a:pPr algn="ctr">
                        <a:spcAft>
                          <a:spcPts val="0"/>
                        </a:spcAft>
                      </a:pPr>
                      <a:r>
                        <a:rPr lang="es-ES" sz="1200" dirty="0">
                          <a:effectLst/>
                        </a:rPr>
                        <a:t>(KB)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Franja Horaria Pico</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198584115"/>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SPA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Google</a:t>
                      </a:r>
                    </a:p>
                  </a:txBody>
                  <a:tcPr marL="44337" marR="44337" marT="44337" marB="44337"/>
                </a:tc>
                <a:tc>
                  <a:txBody>
                    <a:bodyPr/>
                    <a:lstStyle/>
                    <a:p>
                      <a:pPr algn="l" fontAlgn="t"/>
                      <a:r>
                        <a:rPr lang="es-ES" sz="1100" b="0" i="0" u="none" strike="noStrike" dirty="0" err="1">
                          <a:solidFill>
                            <a:srgbClr val="000000"/>
                          </a:solidFill>
                          <a:effectLst/>
                          <a:latin typeface="Calibri" panose="020F0502020204030204" pitchFamily="34" charset="0"/>
                        </a:rPr>
                        <a:t>Interconexion</a:t>
                      </a:r>
                      <a:r>
                        <a:rPr lang="es-ES" sz="1100" b="0" i="0" u="none" strike="noStrike" dirty="0">
                          <a:solidFill>
                            <a:srgbClr val="000000"/>
                          </a:solidFill>
                          <a:effectLst/>
                          <a:latin typeface="Calibri" panose="020F0502020204030204" pitchFamily="34" charset="0"/>
                        </a:rPr>
                        <a:t> con </a:t>
                      </a:r>
                      <a:r>
                        <a:rPr lang="es-ES" sz="1100" b="0" i="0" u="none" strike="noStrike" dirty="0" err="1">
                          <a:solidFill>
                            <a:srgbClr val="000000"/>
                          </a:solidFill>
                          <a:effectLst/>
                          <a:latin typeface="Calibri" panose="020F0502020204030204" pitchFamily="34" charset="0"/>
                        </a:rPr>
                        <a:t>google</a:t>
                      </a:r>
                      <a:r>
                        <a:rPr lang="es-ES" sz="1100" b="0" i="0" u="none" strike="noStrike" dirty="0">
                          <a:solidFill>
                            <a:srgbClr val="000000"/>
                          </a:solidFill>
                          <a:effectLst/>
                          <a:latin typeface="Calibri" panose="020F0502020204030204" pitchFamily="34" charset="0"/>
                        </a:rPr>
                        <a:t> </a:t>
                      </a:r>
                      <a:r>
                        <a:rPr lang="es-ES" sz="1100" b="0" i="0" u="none" strike="noStrike" dirty="0" err="1">
                          <a:solidFill>
                            <a:srgbClr val="000000"/>
                          </a:solidFill>
                          <a:effectLst/>
                          <a:latin typeface="Calibri" panose="020F0502020204030204" pitchFamily="34" charset="0"/>
                        </a:rPr>
                        <a:t>maps</a:t>
                      </a:r>
                      <a:endParaRPr lang="es-ES" sz="1100" b="0" i="0" u="none" strike="noStrike" dirty="0">
                        <a:solidFill>
                          <a:srgbClr val="000000"/>
                        </a:solidFill>
                        <a:effectLst/>
                        <a:latin typeface="Calibri" panose="020F0502020204030204" pitchFamily="34" charset="0"/>
                      </a:endParaRP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8.000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42428821"/>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Consulta de Fraude</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Conexión con servicios externos de confirma</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2.000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3929182264"/>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Productos tramitación</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Realiza el alta de productos desde el </a:t>
                      </a:r>
                      <a:r>
                        <a:rPr lang="es-ES" sz="1100" b="0" i="0" u="none" strike="noStrike" dirty="0" err="1">
                          <a:solidFill>
                            <a:srgbClr val="000000"/>
                          </a:solidFill>
                          <a:effectLst/>
                          <a:latin typeface="Calibri" panose="020F0502020204030204" pitchFamily="34" charset="0"/>
                        </a:rPr>
                        <a:t>backoffice</a:t>
                      </a:r>
                      <a:endParaRPr lang="es-ES" sz="1100" b="0" i="0" u="none" strike="noStrike" dirty="0">
                        <a:solidFill>
                          <a:srgbClr val="000000"/>
                        </a:solidFill>
                        <a:effectLst/>
                        <a:latin typeface="Calibri" panose="020F0502020204030204" pitchFamily="34" charset="0"/>
                      </a:endParaRP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2.000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50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51814444"/>
                  </a:ext>
                </a:extLst>
              </a:tr>
              <a:tr h="913307">
                <a:tc>
                  <a:txBody>
                    <a:bodyPr/>
                    <a:lstStyle/>
                    <a:p>
                      <a:pPr>
                        <a:spcAft>
                          <a:spcPts val="0"/>
                        </a:spcAft>
                      </a:pPr>
                      <a:r>
                        <a:rPr lang="es-ES" sz="1200" dirty="0" err="1">
                          <a:effectLst/>
                          <a:latin typeface="Calibri" panose="020F0502020204030204" pitchFamily="34" charset="0"/>
                          <a:ea typeface="Calibri" panose="020F0502020204030204" pitchFamily="34" charset="0"/>
                        </a:rPr>
                        <a:t>Paas</a:t>
                      </a:r>
                      <a:r>
                        <a:rPr lang="es-ES" sz="1200" dirty="0">
                          <a:effectLst/>
                          <a:latin typeface="Calibri" panose="020F0502020204030204" pitchFamily="34" charset="0"/>
                          <a:ea typeface="Calibri" panose="020F0502020204030204" pitchFamily="34" charset="0"/>
                        </a:rPr>
                        <a:t>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Orquestación procesos</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Realiza la orquestación de navegación y llamadas al motor de web Flow y APPIAN</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p>
                      <a:pPr>
                        <a:spcAft>
                          <a:spcPts val="0"/>
                        </a:spcAft>
                      </a:pP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20.000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1.375</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3413513649"/>
                  </a:ext>
                </a:extLst>
              </a:tr>
            </a:tbl>
          </a:graphicData>
        </a:graphic>
      </p:graphicFrame>
      <p:sp>
        <p:nvSpPr>
          <p:cNvPr id="4" name="Rectangle 1">
            <a:extLst>
              <a:ext uri="{FF2B5EF4-FFF2-40B4-BE49-F238E27FC236}">
                <a16:creationId xmlns:a16="http://schemas.microsoft.com/office/drawing/2014/main" id="{C27238CE-B232-4FF1-8BE4-E99CF942DC9B}"/>
              </a:ext>
            </a:extLst>
          </p:cNvPr>
          <p:cNvSpPr>
            <a:spLocks noChangeArrowheads="1"/>
          </p:cNvSpPr>
          <p:nvPr/>
        </p:nvSpPr>
        <p:spPr bwMode="auto">
          <a:xfrm>
            <a:off x="168891" y="976254"/>
            <a:ext cx="12971926" cy="91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2617283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12"/>
          </p:nvPr>
        </p:nvSpPr>
        <p:spPr>
          <a:xfrm>
            <a:off x="501857" y="498475"/>
            <a:ext cx="10833365" cy="318498"/>
          </a:xfrm>
        </p:spPr>
        <p:txBody>
          <a:bodyPr>
            <a:noAutofit/>
          </a:bodyPr>
          <a:lstStyle/>
          <a:p>
            <a:r>
              <a:rPr lang="es-ES" sz="2400" b="0" dirty="0">
                <a:latin typeface="Gadugi" panose="020B0502040204020203" pitchFamily="34" charset="0"/>
              </a:rPr>
              <a:t>Volumetrías (</a:t>
            </a:r>
            <a:r>
              <a:rPr lang="es-ES" sz="2400" dirty="0"/>
              <a:t>Servicios SOAP / REST) </a:t>
            </a:r>
            <a:r>
              <a:rPr lang="es-ES" sz="1000" dirty="0"/>
              <a:t>PaaS Internet HC 2.0 </a:t>
            </a:r>
            <a:r>
              <a:rPr lang="en-GB" sz="1000" dirty="0" err="1"/>
              <a:t>Tramitación</a:t>
            </a:r>
            <a:r>
              <a:rPr lang="en-GB" sz="1000" dirty="0"/>
              <a:t> de </a:t>
            </a:r>
            <a:r>
              <a:rPr lang="en-GB" sz="1000" dirty="0" err="1"/>
              <a:t>expedientes</a:t>
            </a:r>
            <a:r>
              <a:rPr lang="en-GB" sz="1000" dirty="0"/>
              <a:t> y procesos </a:t>
            </a:r>
            <a:r>
              <a:rPr lang="en-GB" sz="1000" dirty="0" err="1"/>
              <a:t>planificados</a:t>
            </a:r>
            <a:endParaRPr lang="es-ES" sz="1000" dirty="0"/>
          </a:p>
          <a:p>
            <a:endParaRPr lang="es-ES" sz="2400" dirty="0">
              <a:latin typeface="Calibri" panose="020F0502020204030204" pitchFamily="34" charset="0"/>
              <a:ea typeface="Calibri" panose="020F0502020204030204" pitchFamily="34" charset="0"/>
            </a:endParaRPr>
          </a:p>
          <a:p>
            <a:endParaRPr lang="es-ES" sz="2400" b="0" dirty="0">
              <a:latin typeface="Gadugi" panose="020B0502040204020203" pitchFamily="34" charset="0"/>
            </a:endParaRPr>
          </a:p>
        </p:txBody>
      </p:sp>
      <p:sp>
        <p:nvSpPr>
          <p:cNvPr id="6" name="Rectangle 2">
            <a:extLst>
              <a:ext uri="{FF2B5EF4-FFF2-40B4-BE49-F238E27FC236}">
                <a16:creationId xmlns:a16="http://schemas.microsoft.com/office/drawing/2014/main" id="{44247BC8-CF54-445F-BB85-4C41B94C0890}"/>
              </a:ext>
            </a:extLst>
          </p:cNvPr>
          <p:cNvSpPr>
            <a:spLocks noChangeArrowheads="1"/>
          </p:cNvSpPr>
          <p:nvPr/>
        </p:nvSpPr>
        <p:spPr bwMode="auto">
          <a:xfrm>
            <a:off x="501857" y="2914057"/>
            <a:ext cx="1398761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sz="900" dirty="0">
              <a:latin typeface="Arial" panose="020B0604020202020204" pitchFamily="34" charset="0"/>
            </a:endParaRPr>
          </a:p>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dirty="0">
              <a:latin typeface="Arial" panose="020B0604020202020204" pitchFamily="34" charset="0"/>
            </a:endParaRPr>
          </a:p>
        </p:txBody>
      </p:sp>
      <p:graphicFrame>
        <p:nvGraphicFramePr>
          <p:cNvPr id="3" name="Tabla 2">
            <a:extLst>
              <a:ext uri="{FF2B5EF4-FFF2-40B4-BE49-F238E27FC236}">
                <a16:creationId xmlns:a16="http://schemas.microsoft.com/office/drawing/2014/main" id="{8215675F-BF66-47A4-ADD2-C81D2144D057}"/>
              </a:ext>
            </a:extLst>
          </p:cNvPr>
          <p:cNvGraphicFramePr>
            <a:graphicFrameLocks noGrp="1"/>
          </p:cNvGraphicFramePr>
          <p:nvPr>
            <p:extLst>
              <p:ext uri="{D42A27DB-BD31-4B8C-83A1-F6EECF244321}">
                <p14:modId xmlns:p14="http://schemas.microsoft.com/office/powerpoint/2010/main" val="3254620216"/>
              </p:ext>
            </p:extLst>
          </p:nvPr>
        </p:nvGraphicFramePr>
        <p:xfrm>
          <a:off x="501856" y="1083286"/>
          <a:ext cx="10833365" cy="3653228"/>
        </p:xfrm>
        <a:graphic>
          <a:graphicData uri="http://schemas.openxmlformats.org/drawingml/2006/table">
            <a:tbl>
              <a:tblPr firstRow="1" firstCol="1" bandRow="1">
                <a:tableStyleId>{5C22544A-7EE6-4342-B048-85BDC9FD1C3A}</a:tableStyleId>
              </a:tblPr>
              <a:tblGrid>
                <a:gridCol w="2188484">
                  <a:extLst>
                    <a:ext uri="{9D8B030D-6E8A-4147-A177-3AD203B41FA5}">
                      <a16:colId xmlns:a16="http://schemas.microsoft.com/office/drawing/2014/main" val="3250313451"/>
                    </a:ext>
                  </a:extLst>
                </a:gridCol>
                <a:gridCol w="2188484">
                  <a:extLst>
                    <a:ext uri="{9D8B030D-6E8A-4147-A177-3AD203B41FA5}">
                      <a16:colId xmlns:a16="http://schemas.microsoft.com/office/drawing/2014/main" val="3819320993"/>
                    </a:ext>
                  </a:extLst>
                </a:gridCol>
                <a:gridCol w="1536448">
                  <a:extLst>
                    <a:ext uri="{9D8B030D-6E8A-4147-A177-3AD203B41FA5}">
                      <a16:colId xmlns:a16="http://schemas.microsoft.com/office/drawing/2014/main" val="210670716"/>
                    </a:ext>
                  </a:extLst>
                </a:gridCol>
                <a:gridCol w="761087">
                  <a:extLst>
                    <a:ext uri="{9D8B030D-6E8A-4147-A177-3AD203B41FA5}">
                      <a16:colId xmlns:a16="http://schemas.microsoft.com/office/drawing/2014/main" val="1030138344"/>
                    </a:ext>
                  </a:extLst>
                </a:gridCol>
                <a:gridCol w="803338">
                  <a:extLst>
                    <a:ext uri="{9D8B030D-6E8A-4147-A177-3AD203B41FA5}">
                      <a16:colId xmlns:a16="http://schemas.microsoft.com/office/drawing/2014/main" val="2398183124"/>
                    </a:ext>
                  </a:extLst>
                </a:gridCol>
                <a:gridCol w="659458">
                  <a:extLst>
                    <a:ext uri="{9D8B030D-6E8A-4147-A177-3AD203B41FA5}">
                      <a16:colId xmlns:a16="http://schemas.microsoft.com/office/drawing/2014/main" val="624722241"/>
                    </a:ext>
                  </a:extLst>
                </a:gridCol>
                <a:gridCol w="840451">
                  <a:extLst>
                    <a:ext uri="{9D8B030D-6E8A-4147-A177-3AD203B41FA5}">
                      <a16:colId xmlns:a16="http://schemas.microsoft.com/office/drawing/2014/main" val="2280750684"/>
                    </a:ext>
                  </a:extLst>
                </a:gridCol>
                <a:gridCol w="994039">
                  <a:extLst>
                    <a:ext uri="{9D8B030D-6E8A-4147-A177-3AD203B41FA5}">
                      <a16:colId xmlns:a16="http://schemas.microsoft.com/office/drawing/2014/main" val="685377206"/>
                    </a:ext>
                  </a:extLst>
                </a:gridCol>
                <a:gridCol w="861576">
                  <a:extLst>
                    <a:ext uri="{9D8B030D-6E8A-4147-A177-3AD203B41FA5}">
                      <a16:colId xmlns:a16="http://schemas.microsoft.com/office/drawing/2014/main" val="3256660701"/>
                    </a:ext>
                  </a:extLst>
                </a:gridCol>
              </a:tblGrid>
              <a:tr h="913307">
                <a:tc>
                  <a:txBody>
                    <a:bodyPr/>
                    <a:lstStyle/>
                    <a:p>
                      <a:pPr algn="ctr">
                        <a:spcAft>
                          <a:spcPts val="0"/>
                        </a:spcAft>
                      </a:pPr>
                      <a:r>
                        <a:rPr lang="es-ES" sz="1200" dirty="0">
                          <a:effectLst/>
                        </a:rPr>
                        <a:t>Sistema </a:t>
                      </a:r>
                    </a:p>
                    <a:p>
                      <a:pPr algn="ctr">
                        <a:spcAft>
                          <a:spcPts val="0"/>
                        </a:spcAft>
                      </a:pPr>
                      <a:r>
                        <a:rPr lang="es-ES" sz="1200" dirty="0">
                          <a:effectLst/>
                        </a:rPr>
                        <a:t>Origen</a:t>
                      </a:r>
                      <a:endParaRPr lang="es-ES" sz="1200" dirty="0">
                        <a:effectLst/>
                        <a:latin typeface="Calibri" panose="020F0502020204030204" pitchFamily="34" charset="0"/>
                        <a:ea typeface="Calibri" panose="020F0502020204030204" pitchFamily="34" charset="0"/>
                      </a:endParaRPr>
                    </a:p>
                    <a:p>
                      <a:pPr algn="ctr">
                        <a:spcAft>
                          <a:spcPts val="0"/>
                        </a:spcAft>
                      </a:pP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Sistema Destino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a:effectLst/>
                        </a:rPr>
                        <a:t>Descripción</a:t>
                      </a:r>
                      <a:endParaRPr lang="es-ES" sz="120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Protocolo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Media </a:t>
                      </a:r>
                      <a:r>
                        <a:rPr lang="es-ES" sz="1200" dirty="0" err="1">
                          <a:effectLst/>
                        </a:rPr>
                        <a:t>Msg</a:t>
                      </a:r>
                      <a:r>
                        <a:rPr lang="es-ES" sz="1200" dirty="0">
                          <a:effectLst/>
                        </a:rPr>
                        <a:t>/día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Picos </a:t>
                      </a:r>
                    </a:p>
                    <a:p>
                      <a:pPr algn="ctr">
                        <a:spcAft>
                          <a:spcPts val="0"/>
                        </a:spcAft>
                      </a:pPr>
                      <a:r>
                        <a:rPr lang="es-ES" sz="1200" dirty="0" err="1">
                          <a:effectLst/>
                        </a:rPr>
                        <a:t>Msg</a:t>
                      </a:r>
                      <a:r>
                        <a:rPr lang="es-ES" sz="1200" dirty="0">
                          <a:effectLst/>
                        </a:rPr>
                        <a:t>/hora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a:t>
                      </a:r>
                    </a:p>
                    <a:p>
                      <a:pPr algn="ctr">
                        <a:spcAft>
                          <a:spcPts val="0"/>
                        </a:spcAft>
                      </a:pPr>
                      <a:r>
                        <a:rPr lang="es-ES" sz="1200" dirty="0">
                          <a:effectLst/>
                        </a:rPr>
                        <a:t>Medio </a:t>
                      </a:r>
                      <a:r>
                        <a:rPr lang="es-ES" sz="1200" dirty="0" err="1">
                          <a:effectLst/>
                        </a:rPr>
                        <a:t>Msg</a:t>
                      </a:r>
                      <a:r>
                        <a:rPr lang="es-ES" sz="1200" dirty="0">
                          <a:effectLst/>
                        </a:rPr>
                        <a:t>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Máximo </a:t>
                      </a:r>
                      <a:r>
                        <a:rPr lang="es-ES" sz="1200" dirty="0" err="1">
                          <a:effectLst/>
                        </a:rPr>
                        <a:t>Msg</a:t>
                      </a:r>
                      <a:endParaRPr lang="es-ES" sz="1200" dirty="0">
                        <a:effectLst/>
                      </a:endParaRPr>
                    </a:p>
                    <a:p>
                      <a:pPr algn="ctr">
                        <a:spcAft>
                          <a:spcPts val="0"/>
                        </a:spcAft>
                      </a:pPr>
                      <a:r>
                        <a:rPr lang="es-ES" sz="1200" dirty="0">
                          <a:effectLst/>
                        </a:rPr>
                        <a:t>(KB)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Franja Horaria Pico</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198584115"/>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API Heredo</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Acceso al API de Heredo para dar de alta el expediente documental</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2.000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42428821"/>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API Expediente de Firma</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Acceso al API de expediente de firma para generar la firma</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2.000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300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700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3929182264"/>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Pi Online</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Generación de documento</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6.000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600</a:t>
                      </a:r>
                    </a:p>
                  </a:txBody>
                  <a:tcPr marL="44337" marR="44337" marT="44337" marB="44337"/>
                </a:tc>
                <a:tc>
                  <a:txBody>
                    <a:bodyPr/>
                    <a:lstStyle/>
                    <a:p>
                      <a:pPr algn="ctr">
                        <a:spcAft>
                          <a:spcPts val="0"/>
                        </a:spcAft>
                      </a:pPr>
                      <a:r>
                        <a:rPr lang="es-ES" sz="1200" dirty="0">
                          <a:effectLst/>
                        </a:rPr>
                        <a:t>300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700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422405700"/>
                  </a:ext>
                </a:extLst>
              </a:tr>
            </a:tbl>
          </a:graphicData>
        </a:graphic>
      </p:graphicFrame>
      <p:sp>
        <p:nvSpPr>
          <p:cNvPr id="4" name="Rectangle 1">
            <a:extLst>
              <a:ext uri="{FF2B5EF4-FFF2-40B4-BE49-F238E27FC236}">
                <a16:creationId xmlns:a16="http://schemas.microsoft.com/office/drawing/2014/main" id="{C27238CE-B232-4FF1-8BE4-E99CF942DC9B}"/>
              </a:ext>
            </a:extLst>
          </p:cNvPr>
          <p:cNvSpPr>
            <a:spLocks noChangeArrowheads="1"/>
          </p:cNvSpPr>
          <p:nvPr/>
        </p:nvSpPr>
        <p:spPr bwMode="auto">
          <a:xfrm>
            <a:off x="168891" y="976254"/>
            <a:ext cx="12971926" cy="91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22433476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12"/>
          </p:nvPr>
        </p:nvSpPr>
        <p:spPr>
          <a:xfrm>
            <a:off x="501857" y="498475"/>
            <a:ext cx="10833365" cy="318498"/>
          </a:xfrm>
        </p:spPr>
        <p:txBody>
          <a:bodyPr>
            <a:noAutofit/>
          </a:bodyPr>
          <a:lstStyle/>
          <a:p>
            <a:r>
              <a:rPr lang="es-ES" sz="2400" b="0" dirty="0">
                <a:latin typeface="Gadugi" panose="020B0502040204020203" pitchFamily="34" charset="0"/>
              </a:rPr>
              <a:t>Volumetrías (</a:t>
            </a:r>
            <a:r>
              <a:rPr lang="es-ES" sz="2400" dirty="0"/>
              <a:t>Servicios SOAP / REST  APPIAN)</a:t>
            </a:r>
            <a:endParaRPr lang="es-ES" sz="2400" dirty="0">
              <a:latin typeface="Calibri" panose="020F0502020204030204" pitchFamily="34" charset="0"/>
              <a:ea typeface="Calibri" panose="020F0502020204030204" pitchFamily="34" charset="0"/>
            </a:endParaRPr>
          </a:p>
          <a:p>
            <a:endParaRPr lang="es-ES" sz="2400" b="0" dirty="0">
              <a:latin typeface="Gadugi" panose="020B0502040204020203" pitchFamily="34" charset="0"/>
            </a:endParaRPr>
          </a:p>
        </p:txBody>
      </p:sp>
      <p:sp>
        <p:nvSpPr>
          <p:cNvPr id="6" name="Rectangle 2">
            <a:extLst>
              <a:ext uri="{FF2B5EF4-FFF2-40B4-BE49-F238E27FC236}">
                <a16:creationId xmlns:a16="http://schemas.microsoft.com/office/drawing/2014/main" id="{44247BC8-CF54-445F-BB85-4C41B94C0890}"/>
              </a:ext>
            </a:extLst>
          </p:cNvPr>
          <p:cNvSpPr>
            <a:spLocks noChangeArrowheads="1"/>
          </p:cNvSpPr>
          <p:nvPr/>
        </p:nvSpPr>
        <p:spPr bwMode="auto">
          <a:xfrm>
            <a:off x="501857" y="2914057"/>
            <a:ext cx="1398761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sz="900" dirty="0">
              <a:latin typeface="Arial" panose="020B0604020202020204" pitchFamily="34" charset="0"/>
            </a:endParaRPr>
          </a:p>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dirty="0">
              <a:latin typeface="Arial" panose="020B0604020202020204" pitchFamily="34" charset="0"/>
            </a:endParaRPr>
          </a:p>
        </p:txBody>
      </p:sp>
      <p:graphicFrame>
        <p:nvGraphicFramePr>
          <p:cNvPr id="3" name="Tabla 2">
            <a:extLst>
              <a:ext uri="{FF2B5EF4-FFF2-40B4-BE49-F238E27FC236}">
                <a16:creationId xmlns:a16="http://schemas.microsoft.com/office/drawing/2014/main" id="{8215675F-BF66-47A4-ADD2-C81D2144D057}"/>
              </a:ext>
            </a:extLst>
          </p:cNvPr>
          <p:cNvGraphicFramePr>
            <a:graphicFrameLocks noGrp="1"/>
          </p:cNvGraphicFramePr>
          <p:nvPr>
            <p:extLst>
              <p:ext uri="{D42A27DB-BD31-4B8C-83A1-F6EECF244321}">
                <p14:modId xmlns:p14="http://schemas.microsoft.com/office/powerpoint/2010/main" val="1176805457"/>
              </p:ext>
            </p:extLst>
          </p:nvPr>
        </p:nvGraphicFramePr>
        <p:xfrm>
          <a:off x="501856" y="1083286"/>
          <a:ext cx="10833365" cy="3878603"/>
        </p:xfrm>
        <a:graphic>
          <a:graphicData uri="http://schemas.openxmlformats.org/drawingml/2006/table">
            <a:tbl>
              <a:tblPr firstRow="1" firstCol="1" bandRow="1">
                <a:tableStyleId>{5C22544A-7EE6-4342-B048-85BDC9FD1C3A}</a:tableStyleId>
              </a:tblPr>
              <a:tblGrid>
                <a:gridCol w="2188484">
                  <a:extLst>
                    <a:ext uri="{9D8B030D-6E8A-4147-A177-3AD203B41FA5}">
                      <a16:colId xmlns:a16="http://schemas.microsoft.com/office/drawing/2014/main" val="3250313451"/>
                    </a:ext>
                  </a:extLst>
                </a:gridCol>
                <a:gridCol w="2188484">
                  <a:extLst>
                    <a:ext uri="{9D8B030D-6E8A-4147-A177-3AD203B41FA5}">
                      <a16:colId xmlns:a16="http://schemas.microsoft.com/office/drawing/2014/main" val="3819320993"/>
                    </a:ext>
                  </a:extLst>
                </a:gridCol>
                <a:gridCol w="1536448">
                  <a:extLst>
                    <a:ext uri="{9D8B030D-6E8A-4147-A177-3AD203B41FA5}">
                      <a16:colId xmlns:a16="http://schemas.microsoft.com/office/drawing/2014/main" val="210670716"/>
                    </a:ext>
                  </a:extLst>
                </a:gridCol>
                <a:gridCol w="761087">
                  <a:extLst>
                    <a:ext uri="{9D8B030D-6E8A-4147-A177-3AD203B41FA5}">
                      <a16:colId xmlns:a16="http://schemas.microsoft.com/office/drawing/2014/main" val="1030138344"/>
                    </a:ext>
                  </a:extLst>
                </a:gridCol>
                <a:gridCol w="803338">
                  <a:extLst>
                    <a:ext uri="{9D8B030D-6E8A-4147-A177-3AD203B41FA5}">
                      <a16:colId xmlns:a16="http://schemas.microsoft.com/office/drawing/2014/main" val="2398183124"/>
                    </a:ext>
                  </a:extLst>
                </a:gridCol>
                <a:gridCol w="659458">
                  <a:extLst>
                    <a:ext uri="{9D8B030D-6E8A-4147-A177-3AD203B41FA5}">
                      <a16:colId xmlns:a16="http://schemas.microsoft.com/office/drawing/2014/main" val="624722241"/>
                    </a:ext>
                  </a:extLst>
                </a:gridCol>
                <a:gridCol w="840451">
                  <a:extLst>
                    <a:ext uri="{9D8B030D-6E8A-4147-A177-3AD203B41FA5}">
                      <a16:colId xmlns:a16="http://schemas.microsoft.com/office/drawing/2014/main" val="2280750684"/>
                    </a:ext>
                  </a:extLst>
                </a:gridCol>
                <a:gridCol w="994039">
                  <a:extLst>
                    <a:ext uri="{9D8B030D-6E8A-4147-A177-3AD203B41FA5}">
                      <a16:colId xmlns:a16="http://schemas.microsoft.com/office/drawing/2014/main" val="685377206"/>
                    </a:ext>
                  </a:extLst>
                </a:gridCol>
                <a:gridCol w="861576">
                  <a:extLst>
                    <a:ext uri="{9D8B030D-6E8A-4147-A177-3AD203B41FA5}">
                      <a16:colId xmlns:a16="http://schemas.microsoft.com/office/drawing/2014/main" val="3256660701"/>
                    </a:ext>
                  </a:extLst>
                </a:gridCol>
              </a:tblGrid>
              <a:tr h="913307">
                <a:tc>
                  <a:txBody>
                    <a:bodyPr/>
                    <a:lstStyle/>
                    <a:p>
                      <a:pPr algn="ctr">
                        <a:spcAft>
                          <a:spcPts val="0"/>
                        </a:spcAft>
                      </a:pPr>
                      <a:r>
                        <a:rPr lang="es-ES" sz="1200" dirty="0">
                          <a:effectLst/>
                        </a:rPr>
                        <a:t>Sistema </a:t>
                      </a:r>
                    </a:p>
                    <a:p>
                      <a:pPr algn="ctr">
                        <a:spcAft>
                          <a:spcPts val="0"/>
                        </a:spcAft>
                      </a:pPr>
                      <a:r>
                        <a:rPr lang="es-ES" sz="1200" dirty="0">
                          <a:effectLst/>
                        </a:rPr>
                        <a:t>Origen</a:t>
                      </a:r>
                      <a:endParaRPr lang="es-ES" sz="1200" dirty="0">
                        <a:effectLst/>
                        <a:latin typeface="Calibri" panose="020F0502020204030204" pitchFamily="34" charset="0"/>
                        <a:ea typeface="Calibri" panose="020F0502020204030204" pitchFamily="34" charset="0"/>
                      </a:endParaRPr>
                    </a:p>
                    <a:p>
                      <a:pPr algn="ctr">
                        <a:spcAft>
                          <a:spcPts val="0"/>
                        </a:spcAft>
                      </a:pP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Sistema Destino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a:effectLst/>
                        </a:rPr>
                        <a:t>Descripción</a:t>
                      </a:r>
                      <a:endParaRPr lang="es-ES" sz="120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Protocolo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Media </a:t>
                      </a:r>
                      <a:r>
                        <a:rPr lang="es-ES" sz="1200" dirty="0" err="1">
                          <a:effectLst/>
                        </a:rPr>
                        <a:t>Msg</a:t>
                      </a:r>
                      <a:r>
                        <a:rPr lang="es-ES" sz="1200" dirty="0">
                          <a:effectLst/>
                        </a:rPr>
                        <a:t>/día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Picos </a:t>
                      </a:r>
                    </a:p>
                    <a:p>
                      <a:pPr algn="ctr">
                        <a:spcAft>
                          <a:spcPts val="0"/>
                        </a:spcAft>
                      </a:pPr>
                      <a:r>
                        <a:rPr lang="es-ES" sz="1200" dirty="0" err="1">
                          <a:effectLst/>
                        </a:rPr>
                        <a:t>Msg</a:t>
                      </a:r>
                      <a:r>
                        <a:rPr lang="es-ES" sz="1200" dirty="0">
                          <a:effectLst/>
                        </a:rPr>
                        <a:t>/hora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a:t>
                      </a:r>
                    </a:p>
                    <a:p>
                      <a:pPr algn="ctr">
                        <a:spcAft>
                          <a:spcPts val="0"/>
                        </a:spcAft>
                      </a:pPr>
                      <a:r>
                        <a:rPr lang="es-ES" sz="1200" dirty="0">
                          <a:effectLst/>
                        </a:rPr>
                        <a:t>Medio </a:t>
                      </a:r>
                      <a:r>
                        <a:rPr lang="es-ES" sz="1200" dirty="0" err="1">
                          <a:effectLst/>
                        </a:rPr>
                        <a:t>Msg</a:t>
                      </a:r>
                      <a:r>
                        <a:rPr lang="es-ES" sz="1200" dirty="0">
                          <a:effectLst/>
                        </a:rPr>
                        <a:t>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Máximo </a:t>
                      </a:r>
                      <a:r>
                        <a:rPr lang="es-ES" sz="1200" dirty="0" err="1">
                          <a:effectLst/>
                        </a:rPr>
                        <a:t>Msg</a:t>
                      </a:r>
                      <a:endParaRPr lang="es-ES" sz="1200" dirty="0">
                        <a:effectLst/>
                      </a:endParaRPr>
                    </a:p>
                    <a:p>
                      <a:pPr algn="ctr">
                        <a:spcAft>
                          <a:spcPts val="0"/>
                        </a:spcAft>
                      </a:pPr>
                      <a:r>
                        <a:rPr lang="es-ES" sz="1200" dirty="0">
                          <a:effectLst/>
                        </a:rPr>
                        <a:t>(KB)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Franja Horaria Pico</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198584115"/>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API APPIAN</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Acceso al API de APPIAN par la gestión de casos y procesos</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40.000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3.000</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42428821"/>
                  </a:ext>
                </a:extLst>
              </a:tr>
              <a:tr h="913307">
                <a:tc>
                  <a:txBody>
                    <a:bodyPr/>
                    <a:lstStyle/>
                    <a:p>
                      <a:pPr>
                        <a:spcAft>
                          <a:spcPts val="0"/>
                        </a:spcAft>
                      </a:pPr>
                      <a:r>
                        <a:rPr lang="es-ES" sz="1200" dirty="0" err="1">
                          <a:effectLst/>
                          <a:latin typeface="Calibri" panose="020F0502020204030204" pitchFamily="34" charset="0"/>
                          <a:ea typeface="Calibri" panose="020F0502020204030204" pitchFamily="34" charset="0"/>
                        </a:rPr>
                        <a:t>Paas</a:t>
                      </a:r>
                      <a:r>
                        <a:rPr lang="es-ES" sz="1200" dirty="0">
                          <a:effectLst/>
                          <a:latin typeface="Calibri" panose="020F0502020204030204" pitchFamily="34" charset="0"/>
                          <a:ea typeface="Calibri" panose="020F0502020204030204" pitchFamily="34" charset="0"/>
                        </a:rPr>
                        <a:t> HC Online 2.0</a:t>
                      </a:r>
                    </a:p>
                  </a:txBody>
                  <a:tcPr marL="44337" marR="44337" marT="44337" marB="44337"/>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err="1">
                          <a:ln>
                            <a:noFill/>
                          </a:ln>
                          <a:solidFill>
                            <a:schemeClr val="tx1"/>
                          </a:solidFill>
                          <a:effectLst/>
                          <a:latin typeface="Arial" charset="0"/>
                        </a:rPr>
                        <a:t>Edw-accounts</a:t>
                      </a:r>
                      <a:endParaRPr kumimoji="0" lang="es-ES" sz="1400" b="0" i="0" u="none" strike="noStrike" cap="none" normalizeH="0" baseline="0" dirty="0">
                        <a:ln>
                          <a:noFill/>
                        </a:ln>
                        <a:solidFill>
                          <a:schemeClr val="tx1"/>
                        </a:solidFill>
                        <a:effectLst/>
                        <a:latin typeface="Arial" charset="0"/>
                      </a:endParaRPr>
                    </a:p>
                  </a:txBody>
                  <a:tcPr marT="45682" marB="45682" horzOverflow="overflow"/>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Acceso al api de bloqueo de cuentas</a:t>
                      </a:r>
                    </a:p>
                  </a:txBody>
                  <a:tcPr marT="45682" marB="45682" horzOverflow="overflow"/>
                </a:tc>
                <a:tc>
                  <a:txBody>
                    <a:bodyPr/>
                    <a:lstStyle/>
                    <a:p>
                      <a:pPr>
                        <a:spcAft>
                          <a:spcPts val="0"/>
                        </a:spcAft>
                      </a:pPr>
                      <a:r>
                        <a:rPr lang="es-ES" sz="1400" dirty="0">
                          <a:effectLst/>
                        </a:rPr>
                        <a:t>REST/JSON</a:t>
                      </a:r>
                    </a:p>
                    <a:p>
                      <a:pPr>
                        <a:spcAft>
                          <a:spcPts val="0"/>
                        </a:spcAft>
                      </a:pPr>
                      <a:r>
                        <a:rPr lang="es-ES" sz="1400" dirty="0">
                          <a:effectLst/>
                        </a:rPr>
                        <a:t>Token JWT</a:t>
                      </a:r>
                      <a:endParaRPr lang="es-ES" sz="1400" dirty="0">
                        <a:effectLst/>
                        <a:latin typeface="Calibri" panose="020F0502020204030204" pitchFamily="34" charset="0"/>
                        <a:ea typeface="Calibri" panose="020F0502020204030204" pitchFamily="34" charset="0"/>
                      </a:endParaRPr>
                    </a:p>
                    <a:p>
                      <a:pPr marL="0" marR="0" lvl="0" indent="0" algn="l" defTabSz="914400" rtl="0" eaLnBrk="1" fontAlgn="t" latinLnBrk="0" hangingPunct="1">
                        <a:lnSpc>
                          <a:spcPct val="100000"/>
                        </a:lnSpc>
                        <a:spcBef>
                          <a:spcPct val="20000"/>
                        </a:spcBef>
                        <a:spcAft>
                          <a:spcPct val="0"/>
                        </a:spcAft>
                        <a:buClrTx/>
                        <a:buSzTx/>
                        <a:buFontTx/>
                        <a:buNone/>
                        <a:tabLst/>
                        <a:defRPr/>
                      </a:pPr>
                      <a:endParaRPr kumimoji="0" lang="es-ES" sz="1400" b="0" i="0" u="none" strike="noStrike" cap="none" normalizeH="0" baseline="0" dirty="0">
                        <a:ln>
                          <a:noFill/>
                        </a:ln>
                        <a:solidFill>
                          <a:schemeClr val="tx1"/>
                        </a:solidFill>
                        <a:effectLst/>
                        <a:latin typeface="Arial" charset="0"/>
                      </a:endParaRPr>
                    </a:p>
                  </a:txBody>
                  <a:tcPr marR="60960" marT="29210" marB="0"/>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2.000</a:t>
                      </a:r>
                    </a:p>
                  </a:txBody>
                  <a:tcPr marT="45682" marB="45682" horzOverflow="overflow"/>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5 KB</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5 KB</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9/18 Horas</a:t>
                      </a:r>
                    </a:p>
                  </a:txBody>
                  <a:tcPr marL="44337" marR="44337" marT="44337" marB="44337"/>
                </a:tc>
                <a:extLst>
                  <a:ext uri="{0D108BD9-81ED-4DB2-BD59-A6C34878D82A}">
                    <a16:rowId xmlns:a16="http://schemas.microsoft.com/office/drawing/2014/main" val="934744902"/>
                  </a:ext>
                </a:extLst>
              </a:tr>
              <a:tr h="913307">
                <a:tc>
                  <a:txBody>
                    <a:bodyPr/>
                    <a:lstStyle/>
                    <a:p>
                      <a:pPr>
                        <a:spcAft>
                          <a:spcPts val="0"/>
                        </a:spcAft>
                      </a:pPr>
                      <a:r>
                        <a:rPr lang="es-ES" sz="1200" dirty="0" err="1">
                          <a:effectLst/>
                          <a:latin typeface="Calibri" panose="020F0502020204030204" pitchFamily="34" charset="0"/>
                          <a:ea typeface="Calibri" panose="020F0502020204030204" pitchFamily="34" charset="0"/>
                        </a:rPr>
                        <a:t>Paas</a:t>
                      </a:r>
                      <a:r>
                        <a:rPr lang="es-ES" sz="1200" dirty="0">
                          <a:effectLst/>
                          <a:latin typeface="Calibri" panose="020F0502020204030204" pitchFamily="34" charset="0"/>
                          <a:ea typeface="Calibri" panose="020F0502020204030204" pitchFamily="34" charset="0"/>
                        </a:rPr>
                        <a:t> HC Online 2.0</a:t>
                      </a:r>
                    </a:p>
                  </a:txBody>
                  <a:tcPr marL="44337" marR="44337" marT="44337" marB="44337"/>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err="1">
                          <a:ln>
                            <a:noFill/>
                          </a:ln>
                          <a:solidFill>
                            <a:schemeClr val="tx1"/>
                          </a:solidFill>
                          <a:effectLst/>
                          <a:latin typeface="Arial" charset="0"/>
                        </a:rPr>
                        <a:t>PagoNxt</a:t>
                      </a:r>
                      <a:endParaRPr kumimoji="0" lang="es-ES" sz="1400" b="0" i="0" u="none" strike="noStrike" cap="none" normalizeH="0" baseline="0" dirty="0">
                        <a:ln>
                          <a:noFill/>
                        </a:ln>
                        <a:solidFill>
                          <a:schemeClr val="tx1"/>
                        </a:solidFill>
                        <a:effectLst/>
                        <a:latin typeface="Arial" charset="0"/>
                      </a:endParaRPr>
                    </a:p>
                  </a:txBody>
                  <a:tcPr marT="45682" marB="45682" horzOverflow="overflow"/>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Confirmación de transferencia</a:t>
                      </a:r>
                    </a:p>
                  </a:txBody>
                  <a:tcPr marT="45682" marB="45682" horzOverflow="overflow"/>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REST/(JSON Token </a:t>
                      </a:r>
                      <a:r>
                        <a:rPr kumimoji="0" lang="es-ES" sz="1400" b="0" i="0" u="none" strike="noStrike" cap="none" normalizeH="0" baseline="0" dirty="0" err="1">
                          <a:ln>
                            <a:noFill/>
                          </a:ln>
                          <a:solidFill>
                            <a:schemeClr val="tx1"/>
                          </a:solidFill>
                          <a:effectLst/>
                          <a:latin typeface="Arial" charset="0"/>
                        </a:rPr>
                        <a:t>JWt</a:t>
                      </a:r>
                      <a:r>
                        <a:rPr kumimoji="0" lang="es-ES" sz="1400" b="0" i="0" u="none" strike="noStrike" cap="none" normalizeH="0" baseline="0" dirty="0">
                          <a:ln>
                            <a:noFill/>
                          </a:ln>
                          <a:solidFill>
                            <a:schemeClr val="tx1"/>
                          </a:solidFill>
                          <a:effectLst/>
                          <a:latin typeface="Arial" charset="0"/>
                        </a:rPr>
                        <a:t> </a:t>
                      </a:r>
                    </a:p>
                  </a:txBody>
                  <a:tcPr marR="60960" marT="29210" marB="0"/>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2.000</a:t>
                      </a:r>
                    </a:p>
                  </a:txBody>
                  <a:tcPr marT="45682" marB="45682" horzOverflow="overflow"/>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5Kb</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5Kb</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9/18 Horas</a:t>
                      </a:r>
                    </a:p>
                  </a:txBody>
                  <a:tcPr marL="44337" marR="44337" marT="44337" marB="44337"/>
                </a:tc>
                <a:extLst>
                  <a:ext uri="{0D108BD9-81ED-4DB2-BD59-A6C34878D82A}">
                    <a16:rowId xmlns:a16="http://schemas.microsoft.com/office/drawing/2014/main" val="752598570"/>
                  </a:ext>
                </a:extLst>
              </a:tr>
            </a:tbl>
          </a:graphicData>
        </a:graphic>
      </p:graphicFrame>
      <p:sp>
        <p:nvSpPr>
          <p:cNvPr id="4" name="Rectangle 1">
            <a:extLst>
              <a:ext uri="{FF2B5EF4-FFF2-40B4-BE49-F238E27FC236}">
                <a16:creationId xmlns:a16="http://schemas.microsoft.com/office/drawing/2014/main" id="{C27238CE-B232-4FF1-8BE4-E99CF942DC9B}"/>
              </a:ext>
            </a:extLst>
          </p:cNvPr>
          <p:cNvSpPr>
            <a:spLocks noChangeArrowheads="1"/>
          </p:cNvSpPr>
          <p:nvPr/>
        </p:nvSpPr>
        <p:spPr bwMode="auto">
          <a:xfrm>
            <a:off x="168891" y="976254"/>
            <a:ext cx="12971926" cy="91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pic>
        <p:nvPicPr>
          <p:cNvPr id="7" name="Picture 662" descr="MC900434391[1]">
            <a:extLst>
              <a:ext uri="{FF2B5EF4-FFF2-40B4-BE49-F238E27FC236}">
                <a16:creationId xmlns:a16="http://schemas.microsoft.com/office/drawing/2014/main" id="{C0E5D0C2-28E7-47DE-B953-688F7FCEEB7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58864" y="165559"/>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49775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82902222-4F58-49BC-81E1-0EAAB16218D3}"/>
              </a:ext>
            </a:extLst>
          </p:cNvPr>
          <p:cNvSpPr txBox="1"/>
          <p:nvPr/>
        </p:nvSpPr>
        <p:spPr>
          <a:xfrm>
            <a:off x="266945" y="913547"/>
            <a:ext cx="7800918" cy="338554"/>
          </a:xfrm>
          <a:prstGeom prst="rect">
            <a:avLst/>
          </a:prstGeom>
          <a:noFill/>
        </p:spPr>
        <p:txBody>
          <a:bodyPr wrap="square" rtlCol="0">
            <a:spAutoFit/>
          </a:bodyPr>
          <a:lstStyle/>
          <a:p>
            <a:pPr marL="285750" indent="-285750">
              <a:buFont typeface="Arial" panose="020B0604020202020204" pitchFamily="34" charset="0"/>
              <a:buChar char="•"/>
            </a:pPr>
            <a:r>
              <a:rPr lang="es-ES" sz="1600" b="1" dirty="0">
                <a:solidFill>
                  <a:srgbClr val="FF0000"/>
                </a:solidFill>
                <a:latin typeface="Arial" panose="020B0604020202020204" pitchFamily="34" charset="0"/>
                <a:cs typeface="Arial" panose="020B0604020202020204" pitchFamily="34" charset="0"/>
              </a:rPr>
              <a:t>Volumetrías Logs Darwin </a:t>
            </a:r>
            <a:endParaRPr lang="es-ES" sz="1600" dirty="0">
              <a:solidFill>
                <a:srgbClr val="FF0000"/>
              </a:solidFill>
              <a:latin typeface="Arial" panose="020B0604020202020204" pitchFamily="34" charset="0"/>
              <a:cs typeface="Arial" panose="020B0604020202020204" pitchFamily="34" charset="0"/>
            </a:endParaRPr>
          </a:p>
        </p:txBody>
      </p:sp>
      <p:graphicFrame>
        <p:nvGraphicFramePr>
          <p:cNvPr id="5" name="Tabla 4">
            <a:extLst>
              <a:ext uri="{FF2B5EF4-FFF2-40B4-BE49-F238E27FC236}">
                <a16:creationId xmlns:a16="http://schemas.microsoft.com/office/drawing/2014/main" id="{1FD21AC2-E4EC-4068-BB71-A9C6727B12BE}"/>
              </a:ext>
            </a:extLst>
          </p:cNvPr>
          <p:cNvGraphicFramePr>
            <a:graphicFrameLocks noGrp="1"/>
          </p:cNvGraphicFramePr>
          <p:nvPr>
            <p:extLst>
              <p:ext uri="{D42A27DB-BD31-4B8C-83A1-F6EECF244321}">
                <p14:modId xmlns:p14="http://schemas.microsoft.com/office/powerpoint/2010/main" val="617823244"/>
              </p:ext>
            </p:extLst>
          </p:nvPr>
        </p:nvGraphicFramePr>
        <p:xfrm>
          <a:off x="501857" y="1351155"/>
          <a:ext cx="10401910" cy="2077845"/>
        </p:xfrm>
        <a:graphic>
          <a:graphicData uri="http://schemas.openxmlformats.org/drawingml/2006/table">
            <a:tbl>
              <a:tblPr firstRow="1" firstCol="1" bandRow="1"/>
              <a:tblGrid>
                <a:gridCol w="1377743">
                  <a:extLst>
                    <a:ext uri="{9D8B030D-6E8A-4147-A177-3AD203B41FA5}">
                      <a16:colId xmlns:a16="http://schemas.microsoft.com/office/drawing/2014/main" val="1293429061"/>
                    </a:ext>
                  </a:extLst>
                </a:gridCol>
                <a:gridCol w="849900">
                  <a:extLst>
                    <a:ext uri="{9D8B030D-6E8A-4147-A177-3AD203B41FA5}">
                      <a16:colId xmlns:a16="http://schemas.microsoft.com/office/drawing/2014/main" val="2671420570"/>
                    </a:ext>
                  </a:extLst>
                </a:gridCol>
                <a:gridCol w="1753600">
                  <a:extLst>
                    <a:ext uri="{9D8B030D-6E8A-4147-A177-3AD203B41FA5}">
                      <a16:colId xmlns:a16="http://schemas.microsoft.com/office/drawing/2014/main" val="501847021"/>
                    </a:ext>
                  </a:extLst>
                </a:gridCol>
                <a:gridCol w="839177">
                  <a:extLst>
                    <a:ext uri="{9D8B030D-6E8A-4147-A177-3AD203B41FA5}">
                      <a16:colId xmlns:a16="http://schemas.microsoft.com/office/drawing/2014/main" val="4272542390"/>
                    </a:ext>
                  </a:extLst>
                </a:gridCol>
                <a:gridCol w="984738">
                  <a:extLst>
                    <a:ext uri="{9D8B030D-6E8A-4147-A177-3AD203B41FA5}">
                      <a16:colId xmlns:a16="http://schemas.microsoft.com/office/drawing/2014/main" val="3882368415"/>
                    </a:ext>
                  </a:extLst>
                </a:gridCol>
                <a:gridCol w="832339">
                  <a:extLst>
                    <a:ext uri="{9D8B030D-6E8A-4147-A177-3AD203B41FA5}">
                      <a16:colId xmlns:a16="http://schemas.microsoft.com/office/drawing/2014/main" val="4250373283"/>
                    </a:ext>
                  </a:extLst>
                </a:gridCol>
                <a:gridCol w="949569">
                  <a:extLst>
                    <a:ext uri="{9D8B030D-6E8A-4147-A177-3AD203B41FA5}">
                      <a16:colId xmlns:a16="http://schemas.microsoft.com/office/drawing/2014/main" val="1288714292"/>
                    </a:ext>
                  </a:extLst>
                </a:gridCol>
                <a:gridCol w="740284">
                  <a:extLst>
                    <a:ext uri="{9D8B030D-6E8A-4147-A177-3AD203B41FA5}">
                      <a16:colId xmlns:a16="http://schemas.microsoft.com/office/drawing/2014/main" val="4201379763"/>
                    </a:ext>
                  </a:extLst>
                </a:gridCol>
                <a:gridCol w="2074560">
                  <a:extLst>
                    <a:ext uri="{9D8B030D-6E8A-4147-A177-3AD203B41FA5}">
                      <a16:colId xmlns:a16="http://schemas.microsoft.com/office/drawing/2014/main" val="832599586"/>
                    </a:ext>
                  </a:extLst>
                </a:gridCol>
              </a:tblGrid>
              <a:tr h="207583">
                <a:tc gridSpan="9">
                  <a:txBody>
                    <a:bodyPr/>
                    <a:lstStyle/>
                    <a:p>
                      <a:pPr algn="ctr">
                        <a:spcAft>
                          <a:spcPts val="0"/>
                        </a:spcAft>
                      </a:pPr>
                      <a:r>
                        <a:rPr lang="es-ES" sz="1200" b="1">
                          <a:solidFill>
                            <a:srgbClr val="FFFFFF"/>
                          </a:solidFill>
                          <a:effectLst/>
                          <a:latin typeface="Calibri" panose="020F0502020204030204" pitchFamily="34" charset="0"/>
                          <a:ea typeface="Calibri" panose="020F0502020204030204" pitchFamily="34" charset="0"/>
                          <a:cs typeface="Calibri" panose="020F0502020204030204" pitchFamily="34" charset="0"/>
                        </a:rPr>
                        <a:t>Servicios SOAP / REST</a:t>
                      </a:r>
                      <a:endParaRPr lang="es-ES" sz="1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002873222"/>
                  </a:ext>
                </a:extLst>
              </a:tr>
              <a:tr h="632635">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Sistema </a:t>
                      </a:r>
                      <a:b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b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origen</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Sistema Destino</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Descripción</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Protocolo</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Media </a:t>
                      </a:r>
                      <a:r>
                        <a:rPr lang="es-ES" sz="1200" b="1" dirty="0" err="1">
                          <a:solidFill>
                            <a:srgbClr val="FFFFFF"/>
                          </a:solidFill>
                          <a:effectLst/>
                          <a:latin typeface="Calibri" panose="020F0502020204030204" pitchFamily="34" charset="0"/>
                          <a:ea typeface="Calibri" panose="020F0502020204030204" pitchFamily="34" charset="0"/>
                          <a:cs typeface="Calibri" panose="020F0502020204030204" pitchFamily="34" charset="0"/>
                        </a:rPr>
                        <a:t>Msg</a:t>
                      </a: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/día</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Picos </a:t>
                      </a:r>
                      <a:b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br>
                      <a:r>
                        <a:rPr lang="es-ES" sz="1200" b="1" dirty="0" err="1">
                          <a:solidFill>
                            <a:srgbClr val="FFFFFF"/>
                          </a:solidFill>
                          <a:effectLst/>
                          <a:latin typeface="Calibri" panose="020F0502020204030204" pitchFamily="34" charset="0"/>
                          <a:ea typeface="Calibri" panose="020F0502020204030204" pitchFamily="34" charset="0"/>
                          <a:cs typeface="Calibri" panose="020F0502020204030204" pitchFamily="34" charset="0"/>
                        </a:rPr>
                        <a:t>Msg</a:t>
                      </a: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/hora</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Tamaño </a:t>
                      </a:r>
                      <a:b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b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Medio </a:t>
                      </a:r>
                      <a:r>
                        <a:rPr lang="es-ES" sz="1200" b="1" dirty="0" err="1">
                          <a:solidFill>
                            <a:srgbClr val="FFFFFF"/>
                          </a:solidFill>
                          <a:effectLst/>
                          <a:latin typeface="Calibri" panose="020F0502020204030204" pitchFamily="34" charset="0"/>
                          <a:ea typeface="Calibri" panose="020F0502020204030204" pitchFamily="34" charset="0"/>
                          <a:cs typeface="Calibri" panose="020F0502020204030204" pitchFamily="34" charset="0"/>
                        </a:rPr>
                        <a:t>Msg</a:t>
                      </a: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 (KB)</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Tamaño Máximo </a:t>
                      </a:r>
                      <a:r>
                        <a:rPr lang="es-ES" sz="1200" b="1" dirty="0" err="1">
                          <a:solidFill>
                            <a:srgbClr val="FFFFFF"/>
                          </a:solidFill>
                          <a:effectLst/>
                          <a:latin typeface="Calibri" panose="020F0502020204030204" pitchFamily="34" charset="0"/>
                          <a:ea typeface="Calibri" panose="020F0502020204030204" pitchFamily="34" charset="0"/>
                          <a:cs typeface="Calibri" panose="020F0502020204030204" pitchFamily="34" charset="0"/>
                        </a:rPr>
                        <a:t>Msg</a:t>
                      </a:r>
                      <a:b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b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(KB)</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Franja Horaria Pico</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766732884"/>
                  </a:ext>
                </a:extLst>
              </a:tr>
              <a:tr h="569371">
                <a:tc>
                  <a:txBody>
                    <a:bodyPr/>
                    <a:lstStyle/>
                    <a:p>
                      <a:pPr algn="ctr">
                        <a:spcAft>
                          <a:spcPts val="0"/>
                        </a:spcAft>
                      </a:pPr>
                      <a:r>
                        <a:rPr lang="es-ES" sz="12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Microservicios</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effectLst/>
                          <a:latin typeface="Calibri" panose="020F0502020204030204" pitchFamily="34" charset="0"/>
                          <a:ea typeface="Calibri" panose="020F0502020204030204" pitchFamily="34" charset="0"/>
                          <a:cs typeface="Calibri" panose="020F0502020204030204" pitchFamily="34" charset="0"/>
                        </a:rPr>
                        <a:t>ELK</a:t>
                      </a: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effectLst/>
                          <a:latin typeface="Calibri" panose="020F0502020204030204" pitchFamily="34" charset="0"/>
                          <a:ea typeface="Calibri" panose="020F0502020204030204" pitchFamily="34" charset="0"/>
                          <a:cs typeface="Calibri" panose="020F0502020204030204" pitchFamily="34" charset="0"/>
                        </a:rPr>
                        <a:t>Log Técnico ELK</a:t>
                      </a: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TCP/IP</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effectLst/>
                          <a:latin typeface="Calibri" panose="020F0502020204030204" pitchFamily="34" charset="0"/>
                          <a:ea typeface="Calibri" panose="020F0502020204030204" pitchFamily="34" charset="0"/>
                          <a:cs typeface="Calibri" panose="020F0502020204030204" pitchFamily="34" charset="0"/>
                        </a:rPr>
                        <a:t>90.000</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28.823</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5kb</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10kb</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9/18 horas</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9097672"/>
                  </a:ext>
                </a:extLst>
              </a:tr>
              <a:tr h="569371">
                <a:tc>
                  <a:txBody>
                    <a:bodyPr/>
                    <a:lstStyle/>
                    <a:p>
                      <a:pPr algn="ctr">
                        <a:spcAft>
                          <a:spcPts val="0"/>
                        </a:spcAft>
                      </a:pPr>
                      <a:r>
                        <a:rPr lang="es-ES" sz="12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Microservicios</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effectLst/>
                          <a:latin typeface="Calibri" panose="020F0502020204030204" pitchFamily="34" charset="0"/>
                          <a:ea typeface="Calibri" panose="020F0502020204030204" pitchFamily="34" charset="0"/>
                          <a:cs typeface="Calibri" panose="020F0502020204030204" pitchFamily="34" charset="0"/>
                        </a:rPr>
                        <a:t>ELK</a:t>
                      </a: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effectLst/>
                          <a:latin typeface="Calibri" panose="020F0502020204030204" pitchFamily="34" charset="0"/>
                          <a:ea typeface="Calibri" panose="020F0502020204030204" pitchFamily="34" charset="0"/>
                          <a:cs typeface="Calibri" panose="020F0502020204030204" pitchFamily="34" charset="0"/>
                        </a:rPr>
                        <a:t>Log Funcional ELK</a:t>
                      </a: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TCP/IP</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effectLst/>
                          <a:latin typeface="Calibri" panose="020F0502020204030204" pitchFamily="34" charset="0"/>
                          <a:ea typeface="Calibri" panose="020F0502020204030204" pitchFamily="34" charset="0"/>
                        </a:rPr>
                        <a:t>90.000</a:t>
                      </a:r>
                    </a:p>
                  </a:txBody>
                  <a:tcPr marL="38100" marR="3810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effectLst/>
                          <a:latin typeface="Calibri" panose="020F0502020204030204" pitchFamily="34" charset="0"/>
                          <a:ea typeface="Calibri" panose="020F0502020204030204" pitchFamily="34" charset="0"/>
                        </a:rPr>
                        <a:t>28.823</a:t>
                      </a:r>
                    </a:p>
                  </a:txBody>
                  <a:tcPr marL="38100" marR="3810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5kb</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10kb</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9/18 horas</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2052430"/>
                  </a:ext>
                </a:extLst>
              </a:tr>
            </a:tbl>
          </a:graphicData>
        </a:graphic>
      </p:graphicFrame>
      <p:sp>
        <p:nvSpPr>
          <p:cNvPr id="3" name="Rectángulo 2">
            <a:extLst>
              <a:ext uri="{FF2B5EF4-FFF2-40B4-BE49-F238E27FC236}">
                <a16:creationId xmlns:a16="http://schemas.microsoft.com/office/drawing/2014/main" id="{3B02DA6C-FD2C-4C51-B720-18127BAC0218}"/>
              </a:ext>
            </a:extLst>
          </p:cNvPr>
          <p:cNvSpPr/>
          <p:nvPr/>
        </p:nvSpPr>
        <p:spPr>
          <a:xfrm>
            <a:off x="501857" y="3528054"/>
            <a:ext cx="10747390" cy="2154436"/>
          </a:xfrm>
          <a:prstGeom prst="rect">
            <a:avLst/>
          </a:prstGeom>
        </p:spPr>
        <p:txBody>
          <a:bodyPr wrap="square">
            <a:spAutoFit/>
          </a:bodyPr>
          <a:lstStyle/>
          <a:p>
            <a:pPr>
              <a:buClr>
                <a:srgbClr val="FF0000"/>
              </a:buClr>
              <a:defRPr/>
            </a:pPr>
            <a:r>
              <a:rPr lang="es-ES" altLang="es-ES" sz="1400" dirty="0">
                <a:solidFill>
                  <a:srgbClr val="808080"/>
                </a:solidFill>
              </a:rPr>
              <a:t>Por lo tanto, el espacio necesario para los Logs ELK EDH es de:</a:t>
            </a:r>
          </a:p>
          <a:p>
            <a:pPr>
              <a:buClr>
                <a:srgbClr val="FF0000"/>
              </a:buClr>
              <a:defRPr/>
            </a:pPr>
            <a:endParaRPr lang="es-ES" altLang="es-ES" sz="800" dirty="0"/>
          </a:p>
          <a:p>
            <a:pPr marL="619106" lvl="1">
              <a:buClr>
                <a:srgbClr val="FF0000"/>
              </a:buClr>
              <a:buFont typeface="Arial" panose="020B0604020202020204" pitchFamily="34" charset="0"/>
              <a:buChar char="•"/>
              <a:defRPr/>
            </a:pPr>
            <a:r>
              <a:rPr lang="es-ES" altLang="es-ES" sz="1400" b="1" dirty="0">
                <a:solidFill>
                  <a:srgbClr val="808080"/>
                </a:solidFill>
              </a:rPr>
              <a:t>Log ELK 90.000</a:t>
            </a:r>
            <a:r>
              <a:rPr lang="es-ES" sz="1400" dirty="0">
                <a:solidFill>
                  <a:schemeClr val="bg1">
                    <a:lumMod val="50000"/>
                  </a:schemeClr>
                </a:solidFill>
              </a:rPr>
              <a:t> </a:t>
            </a:r>
            <a:r>
              <a:rPr lang="es-ES" sz="1400" dirty="0">
                <a:solidFill>
                  <a:srgbClr val="808080"/>
                </a:solidFill>
              </a:rPr>
              <a:t>mensajes/día * 5Kb = 0,55 Gb día. Con el housekeeping: 0,55 Gb * 10 días = 5,5</a:t>
            </a:r>
            <a:r>
              <a:rPr lang="es-ES" sz="1400" b="1" dirty="0">
                <a:solidFill>
                  <a:srgbClr val="808080"/>
                </a:solidFill>
              </a:rPr>
              <a:t> Gb</a:t>
            </a:r>
          </a:p>
          <a:p>
            <a:pPr marL="619106" lvl="1">
              <a:buClr>
                <a:srgbClr val="FF0000"/>
              </a:buClr>
              <a:buFont typeface="Arial" panose="020B0604020202020204" pitchFamily="34" charset="0"/>
              <a:buChar char="•"/>
              <a:defRPr/>
            </a:pPr>
            <a:r>
              <a:rPr lang="es-ES" sz="1400" b="1" dirty="0">
                <a:solidFill>
                  <a:srgbClr val="808080"/>
                </a:solidFill>
              </a:rPr>
              <a:t>Log Funcional ELK </a:t>
            </a:r>
            <a:r>
              <a:rPr lang="es-ES" sz="1400" b="1" dirty="0">
                <a:solidFill>
                  <a:srgbClr val="808080"/>
                </a:solidFill>
                <a:sym typeface="Wingdings" panose="05000000000000000000" pitchFamily="2" charset="2"/>
              </a:rPr>
              <a:t> 90.000</a:t>
            </a:r>
            <a:r>
              <a:rPr lang="es-ES" sz="1400" dirty="0">
                <a:solidFill>
                  <a:srgbClr val="808080"/>
                </a:solidFill>
              </a:rPr>
              <a:t> mensajes/día * 10Kb = 1,10 Gb día. Con el housekeeping: 0,10 Gb * 30 días =33,10 </a:t>
            </a:r>
            <a:r>
              <a:rPr lang="es-ES" sz="1400" b="1" dirty="0">
                <a:solidFill>
                  <a:srgbClr val="808080"/>
                </a:solidFill>
              </a:rPr>
              <a:t>Gb</a:t>
            </a:r>
          </a:p>
          <a:p>
            <a:pPr marL="619106" lvl="1" indent="-285750">
              <a:buClr>
                <a:srgbClr val="FF0000"/>
              </a:buClr>
              <a:buFont typeface="Arial" panose="020B0604020202020204" pitchFamily="34" charset="0"/>
              <a:buChar char="•"/>
              <a:defRPr/>
            </a:pPr>
            <a:endParaRPr lang="es-ES" sz="1400" dirty="0">
              <a:solidFill>
                <a:srgbClr val="808080"/>
              </a:solidFill>
            </a:endParaRPr>
          </a:p>
          <a:p>
            <a:pPr marL="333356" lvl="1">
              <a:buClr>
                <a:srgbClr val="FF0000"/>
              </a:buClr>
              <a:defRPr/>
            </a:pPr>
            <a:r>
              <a:rPr lang="es-ES" altLang="es-ES" sz="1400" dirty="0">
                <a:solidFill>
                  <a:srgbClr val="808080"/>
                </a:solidFill>
              </a:rPr>
              <a:t>Criterios de estimación:</a:t>
            </a:r>
          </a:p>
          <a:p>
            <a:pPr marL="619106" lvl="1" indent="-285750">
              <a:buClr>
                <a:srgbClr val="FF0000"/>
              </a:buClr>
              <a:buFont typeface="Arial" panose="020B0604020202020204" pitchFamily="34" charset="0"/>
              <a:buChar char="•"/>
              <a:defRPr/>
            </a:pPr>
            <a:r>
              <a:rPr lang="es-ES" altLang="es-ES" sz="1400" dirty="0">
                <a:solidFill>
                  <a:srgbClr val="808080"/>
                </a:solidFill>
              </a:rPr>
              <a:t>Tamaño medio de las trazas: 5Kb log técnico y 10 Kb log funcional</a:t>
            </a:r>
          </a:p>
          <a:p>
            <a:pPr marL="619106" lvl="1" indent="-285750">
              <a:buClr>
                <a:srgbClr val="FF0000"/>
              </a:buClr>
              <a:buFont typeface="Arial" panose="020B0604020202020204" pitchFamily="34" charset="0"/>
              <a:buChar char="•"/>
              <a:defRPr/>
            </a:pPr>
            <a:r>
              <a:rPr lang="es-ES" sz="1400" dirty="0">
                <a:solidFill>
                  <a:srgbClr val="808080"/>
                </a:solidFill>
              </a:rPr>
              <a:t>Para el </a:t>
            </a:r>
            <a:r>
              <a:rPr lang="es-ES" sz="1400" dirty="0" err="1">
                <a:solidFill>
                  <a:srgbClr val="808080"/>
                </a:solidFill>
              </a:rPr>
              <a:t>housekeeping</a:t>
            </a:r>
            <a:r>
              <a:rPr lang="es-ES" sz="1400" dirty="0">
                <a:solidFill>
                  <a:srgbClr val="808080"/>
                </a:solidFill>
              </a:rPr>
              <a:t> para rotar y/o borrar los logs de días anteriores se aplicará el estándar de Ligero establecido para todos los proyectos, que actualmente es de 10 días para el Log Técnico y 30 días para los Logs Funcional y de Actividad</a:t>
            </a:r>
            <a:endParaRPr lang="es-ES" altLang="es-ES" sz="1400" dirty="0">
              <a:solidFill>
                <a:srgbClr val="808080"/>
              </a:solidFill>
            </a:endParaRPr>
          </a:p>
          <a:p>
            <a:pPr marL="571500" lvl="1">
              <a:buClr>
                <a:srgbClr val="FF0000"/>
              </a:buClr>
              <a:buFont typeface="Arial" panose="020B0604020202020204" pitchFamily="34" charset="0"/>
              <a:buChar char="•"/>
              <a:defRPr/>
            </a:pPr>
            <a:endParaRPr lang="es-ES" altLang="es-ES" sz="1400" dirty="0">
              <a:solidFill>
                <a:srgbClr val="FF0000"/>
              </a:solidFill>
            </a:endParaRPr>
          </a:p>
        </p:txBody>
      </p:sp>
      <p:sp>
        <p:nvSpPr>
          <p:cNvPr id="8" name="Marcador de texto 1">
            <a:extLst>
              <a:ext uri="{FF2B5EF4-FFF2-40B4-BE49-F238E27FC236}">
                <a16:creationId xmlns:a16="http://schemas.microsoft.com/office/drawing/2014/main" id="{B997E766-A22C-4475-9854-8197E38A21CF}"/>
              </a:ext>
            </a:extLst>
          </p:cNvPr>
          <p:cNvSpPr txBox="1">
            <a:spLocks/>
          </p:cNvSpPr>
          <p:nvPr/>
        </p:nvSpPr>
        <p:spPr>
          <a:xfrm>
            <a:off x="632930" y="294942"/>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Volumetrías </a:t>
            </a:r>
          </a:p>
          <a:p>
            <a:pPr marL="0" indent="0">
              <a:spcBef>
                <a:spcPts val="300"/>
              </a:spcBef>
              <a:buFont typeface="Arial" panose="020B0604020202020204" pitchFamily="34" charset="0"/>
              <a:buNone/>
            </a:pPr>
            <a:endParaRPr lang="es-ES" sz="1800" b="1" dirty="0">
              <a:solidFill>
                <a:srgbClr val="EB0000"/>
              </a:solidFill>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38987654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Volumetrías</a:t>
            </a:r>
          </a:p>
        </p:txBody>
      </p:sp>
      <p:sp>
        <p:nvSpPr>
          <p:cNvPr id="10" name="2 Marcador de contenido">
            <a:extLst>
              <a:ext uri="{FF2B5EF4-FFF2-40B4-BE49-F238E27FC236}">
                <a16:creationId xmlns:a16="http://schemas.microsoft.com/office/drawing/2014/main" id="{2A10DB17-4FD3-452C-9BFE-B5A5B7285BAE}"/>
              </a:ext>
            </a:extLst>
          </p:cNvPr>
          <p:cNvSpPr txBox="1">
            <a:spLocks/>
          </p:cNvSpPr>
          <p:nvPr/>
        </p:nvSpPr>
        <p:spPr bwMode="auto">
          <a:xfrm>
            <a:off x="718458" y="2853654"/>
            <a:ext cx="10374489" cy="350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endParaRPr lang="es-ES" altLang="es-ES" sz="1600" dirty="0">
              <a:solidFill>
                <a:srgbClr val="808080"/>
              </a:solidFill>
            </a:endParaRPr>
          </a:p>
        </p:txBody>
      </p:sp>
      <p:sp>
        <p:nvSpPr>
          <p:cNvPr id="6" name="2 Marcador de contenido">
            <a:extLst>
              <a:ext uri="{FF2B5EF4-FFF2-40B4-BE49-F238E27FC236}">
                <a16:creationId xmlns:a16="http://schemas.microsoft.com/office/drawing/2014/main" id="{895615D2-5416-4DD1-823E-54FC094D419A}"/>
              </a:ext>
            </a:extLst>
          </p:cNvPr>
          <p:cNvSpPr txBox="1">
            <a:spLocks/>
          </p:cNvSpPr>
          <p:nvPr/>
        </p:nvSpPr>
        <p:spPr bwMode="auto">
          <a:xfrm>
            <a:off x="583497" y="750910"/>
            <a:ext cx="9144829" cy="48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 sz="2200" dirty="0">
                <a:solidFill>
                  <a:srgbClr val="FF0000"/>
                </a:solidFill>
              </a:rPr>
              <a:t>Volumetrías: Envío de OTP</a:t>
            </a:r>
          </a:p>
        </p:txBody>
      </p:sp>
      <p:graphicFrame>
        <p:nvGraphicFramePr>
          <p:cNvPr id="2" name="Tabla 1">
            <a:extLst>
              <a:ext uri="{FF2B5EF4-FFF2-40B4-BE49-F238E27FC236}">
                <a16:creationId xmlns:a16="http://schemas.microsoft.com/office/drawing/2014/main" id="{18FFBBBB-3DF4-4133-BCED-4FB7354B4E9D}"/>
              </a:ext>
            </a:extLst>
          </p:cNvPr>
          <p:cNvGraphicFramePr>
            <a:graphicFrameLocks noGrp="1"/>
          </p:cNvGraphicFramePr>
          <p:nvPr>
            <p:extLst>
              <p:ext uri="{D42A27DB-BD31-4B8C-83A1-F6EECF244321}">
                <p14:modId xmlns:p14="http://schemas.microsoft.com/office/powerpoint/2010/main" val="3007812045"/>
              </p:ext>
            </p:extLst>
          </p:nvPr>
        </p:nvGraphicFramePr>
        <p:xfrm>
          <a:off x="718457" y="1468528"/>
          <a:ext cx="11032984" cy="1258984"/>
        </p:xfrm>
        <a:graphic>
          <a:graphicData uri="http://schemas.openxmlformats.org/drawingml/2006/table">
            <a:tbl>
              <a:tblPr>
                <a:tableStyleId>{5C22544A-7EE6-4342-B048-85BDC9FD1C3A}</a:tableStyleId>
              </a:tblPr>
              <a:tblGrid>
                <a:gridCol w="2298853">
                  <a:extLst>
                    <a:ext uri="{9D8B030D-6E8A-4147-A177-3AD203B41FA5}">
                      <a16:colId xmlns:a16="http://schemas.microsoft.com/office/drawing/2014/main" val="935215498"/>
                    </a:ext>
                  </a:extLst>
                </a:gridCol>
                <a:gridCol w="1610710">
                  <a:extLst>
                    <a:ext uri="{9D8B030D-6E8A-4147-A177-3AD203B41FA5}">
                      <a16:colId xmlns:a16="http://schemas.microsoft.com/office/drawing/2014/main" val="2245844460"/>
                    </a:ext>
                  </a:extLst>
                </a:gridCol>
                <a:gridCol w="1610710">
                  <a:extLst>
                    <a:ext uri="{9D8B030D-6E8A-4147-A177-3AD203B41FA5}">
                      <a16:colId xmlns:a16="http://schemas.microsoft.com/office/drawing/2014/main" val="2367406207"/>
                    </a:ext>
                  </a:extLst>
                </a:gridCol>
                <a:gridCol w="1610710">
                  <a:extLst>
                    <a:ext uri="{9D8B030D-6E8A-4147-A177-3AD203B41FA5}">
                      <a16:colId xmlns:a16="http://schemas.microsoft.com/office/drawing/2014/main" val="3485074364"/>
                    </a:ext>
                  </a:extLst>
                </a:gridCol>
                <a:gridCol w="1845131">
                  <a:extLst>
                    <a:ext uri="{9D8B030D-6E8A-4147-A177-3AD203B41FA5}">
                      <a16:colId xmlns:a16="http://schemas.microsoft.com/office/drawing/2014/main" val="3729068414"/>
                    </a:ext>
                  </a:extLst>
                </a:gridCol>
                <a:gridCol w="2056870">
                  <a:extLst>
                    <a:ext uri="{9D8B030D-6E8A-4147-A177-3AD203B41FA5}">
                      <a16:colId xmlns:a16="http://schemas.microsoft.com/office/drawing/2014/main" val="1617344824"/>
                    </a:ext>
                  </a:extLst>
                </a:gridCol>
              </a:tblGrid>
              <a:tr h="154745">
                <a:tc gridSpan="6">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E-mail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129757365"/>
                  </a:ext>
                </a:extLst>
              </a:tr>
              <a:tr h="457200">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a:ln>
                            <a:noFill/>
                          </a:ln>
                          <a:solidFill>
                            <a:schemeClr val="bg1"/>
                          </a:solidFill>
                          <a:effectLst/>
                          <a:latin typeface="Arial" charset="0"/>
                          <a:ea typeface="+mn-ea"/>
                          <a:cs typeface="+mn-cs"/>
                        </a:rPr>
                        <a:t>Descripción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Número de OTP / </a:t>
                      </a:r>
                      <a:r>
                        <a:rPr kumimoji="0" lang="es-ES" sz="1000" b="1" i="0" u="none" strike="noStrike" kern="1200" cap="none" normalizeH="0" baseline="0" dirty="0" err="1">
                          <a:ln>
                            <a:noFill/>
                          </a:ln>
                          <a:solidFill>
                            <a:schemeClr val="bg1"/>
                          </a:solidFill>
                          <a:effectLst/>
                          <a:latin typeface="Arial" charset="0"/>
                          <a:ea typeface="+mn-ea"/>
                          <a:cs typeface="+mn-cs"/>
                        </a:rPr>
                        <a:t>Periodio</a:t>
                      </a:r>
                      <a:endParaRPr kumimoji="0" lang="es-ES" sz="1000" b="1" i="0" u="none" strike="noStrike" kern="1200" cap="none" normalizeH="0" baseline="0" dirty="0">
                        <a:ln>
                          <a:noFill/>
                        </a:ln>
                        <a:solidFill>
                          <a:schemeClr val="bg1"/>
                        </a:solidFill>
                        <a:effectLst/>
                        <a:latin typeface="Arial"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a:ln>
                            <a:noFill/>
                          </a:ln>
                          <a:solidFill>
                            <a:schemeClr val="bg1"/>
                          </a:solidFill>
                          <a:effectLst/>
                          <a:latin typeface="Arial" charset="0"/>
                          <a:ea typeface="+mn-ea"/>
                          <a:cs typeface="+mn-cs"/>
                        </a:rPr>
                        <a:t>Periodo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Tamaño medio OTP</a:t>
                      </a:r>
                      <a:br>
                        <a:rPr kumimoji="0" lang="es-ES" sz="1000" b="1" i="0" u="none" strike="noStrike" kern="1200" cap="none" normalizeH="0" baseline="0" dirty="0">
                          <a:ln>
                            <a:noFill/>
                          </a:ln>
                          <a:solidFill>
                            <a:schemeClr val="bg1"/>
                          </a:solidFill>
                          <a:effectLst/>
                          <a:latin typeface="Arial" charset="0"/>
                          <a:ea typeface="+mn-ea"/>
                          <a:cs typeface="+mn-cs"/>
                        </a:rPr>
                      </a:br>
                      <a:r>
                        <a:rPr kumimoji="0" lang="es-ES" sz="1000" b="1" i="0" u="none" strike="noStrike" kern="1200" cap="none" normalizeH="0" baseline="0" dirty="0">
                          <a:ln>
                            <a:noFill/>
                          </a:ln>
                          <a:solidFill>
                            <a:schemeClr val="bg1"/>
                          </a:solidFill>
                          <a:effectLst/>
                          <a:latin typeface="Arial" charset="0"/>
                          <a:ea typeface="+mn-ea"/>
                          <a:cs typeface="+mn-cs"/>
                        </a:rPr>
                        <a:t>(KB)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Tamaño máximo OTP</a:t>
                      </a:r>
                      <a:br>
                        <a:rPr kumimoji="0" lang="es-ES" sz="1000" b="1" i="0" u="none" strike="noStrike" kern="1200" cap="none" normalizeH="0" baseline="0" dirty="0">
                          <a:ln>
                            <a:noFill/>
                          </a:ln>
                          <a:solidFill>
                            <a:schemeClr val="bg1"/>
                          </a:solidFill>
                          <a:effectLst/>
                          <a:latin typeface="Arial" charset="0"/>
                          <a:ea typeface="+mn-ea"/>
                          <a:cs typeface="+mn-cs"/>
                        </a:rPr>
                      </a:br>
                      <a:r>
                        <a:rPr kumimoji="0" lang="es-ES" sz="1000" b="1" i="0" u="none" strike="noStrike" kern="1200" cap="none" normalizeH="0" baseline="0" dirty="0">
                          <a:ln>
                            <a:noFill/>
                          </a:ln>
                          <a:solidFill>
                            <a:schemeClr val="bg1"/>
                          </a:solidFill>
                          <a:effectLst/>
                          <a:latin typeface="Arial" charset="0"/>
                          <a:ea typeface="+mn-ea"/>
                          <a:cs typeface="+mn-cs"/>
                        </a:rPr>
                        <a:t>(KB)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Observaciones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822753005"/>
                  </a:ext>
                </a:extLst>
              </a:tr>
              <a:tr h="647039">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100" b="1" kern="1200" dirty="0">
                          <a:solidFill>
                            <a:schemeClr val="tx1">
                              <a:lumMod val="50000"/>
                              <a:lumOff val="50000"/>
                            </a:schemeClr>
                          </a:solidFill>
                          <a:latin typeface="Arial" charset="0"/>
                          <a:ea typeface="+mn-ea"/>
                          <a:cs typeface="Arial" charset="0"/>
                        </a:rPr>
                        <a:t>Envío de documentación asociada al contrato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b="1" kern="1200" dirty="0">
                          <a:solidFill>
                            <a:schemeClr val="tx1">
                              <a:lumMod val="50000"/>
                              <a:lumOff val="50000"/>
                            </a:schemeClr>
                          </a:solidFill>
                          <a:latin typeface="Arial" charset="0"/>
                          <a:ea typeface="+mn-ea"/>
                          <a:cs typeface="Arial" charset="0"/>
                        </a:rPr>
                        <a:t>   1000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b="1" kern="1200" dirty="0">
                          <a:solidFill>
                            <a:schemeClr val="tx1">
                              <a:lumMod val="50000"/>
                              <a:lumOff val="50000"/>
                            </a:schemeClr>
                          </a:solidFill>
                          <a:latin typeface="Arial" charset="0"/>
                          <a:ea typeface="+mn-ea"/>
                          <a:cs typeface="Arial" charset="0"/>
                        </a:rPr>
                        <a:t>Dia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b="1" kern="1200" dirty="0">
                          <a:solidFill>
                            <a:schemeClr val="tx1">
                              <a:lumMod val="50000"/>
                              <a:lumOff val="50000"/>
                            </a:schemeClr>
                          </a:solidFill>
                          <a:latin typeface="Arial" charset="0"/>
                          <a:ea typeface="+mn-ea"/>
                          <a:cs typeface="Arial" charset="0"/>
                        </a:rPr>
                        <a: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b="1" kern="1200" dirty="0">
                          <a:solidFill>
                            <a:schemeClr val="tx1">
                              <a:lumMod val="50000"/>
                              <a:lumOff val="50000"/>
                            </a:schemeClr>
                          </a:solidFill>
                          <a:latin typeface="Arial" charset="0"/>
                          <a:ea typeface="+mn-ea"/>
                          <a:cs typeface="Arial" charset="0"/>
                        </a:rPr>
                        <a: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100" b="1" i="0" u="none" strike="noStrike" kern="1200" cap="none" spc="0" baseline="0" dirty="0">
                          <a:solidFill>
                            <a:schemeClr val="tx1">
                              <a:lumMod val="50000"/>
                              <a:lumOff val="50000"/>
                            </a:schemeClr>
                          </a:solidFill>
                          <a:uFillTx/>
                          <a:latin typeface="Arial" charset="0"/>
                          <a:ea typeface="+mn-ea"/>
                          <a:cs typeface="Arial" charset="0"/>
                          <a:sym typeface="Arial"/>
                        </a:rPr>
                        <a:t>Se envía 1 </a:t>
                      </a:r>
                      <a:r>
                        <a:rPr lang="es-ES" sz="1100" b="1" i="0" u="none" strike="noStrike" kern="1200" cap="none" spc="0" baseline="0" dirty="0" err="1">
                          <a:solidFill>
                            <a:schemeClr val="tx1">
                              <a:lumMod val="50000"/>
                              <a:lumOff val="50000"/>
                            </a:schemeClr>
                          </a:solidFill>
                          <a:uFillTx/>
                          <a:latin typeface="Arial" charset="0"/>
                          <a:ea typeface="+mn-ea"/>
                          <a:cs typeface="Arial" charset="0"/>
                          <a:sym typeface="Arial"/>
                        </a:rPr>
                        <a:t>otp</a:t>
                      </a:r>
                      <a:r>
                        <a:rPr lang="es-ES" sz="1100" b="1" i="0" u="none" strike="noStrike" kern="1200" cap="none" spc="0" baseline="0" dirty="0">
                          <a:solidFill>
                            <a:schemeClr val="tx1">
                              <a:lumMod val="50000"/>
                              <a:lumOff val="50000"/>
                            </a:schemeClr>
                          </a:solidFill>
                          <a:uFillTx/>
                          <a:latin typeface="Arial" charset="0"/>
                          <a:ea typeface="+mn-ea"/>
                          <a:cs typeface="Arial" charset="0"/>
                          <a:sym typeface="Arial"/>
                        </a:rPr>
                        <a:t> por  mensaje tratado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59636"/>
                  </a:ext>
                </a:extLst>
              </a:tr>
            </a:tbl>
          </a:graphicData>
        </a:graphic>
      </p:graphicFrame>
      <p:sp>
        <p:nvSpPr>
          <p:cNvPr id="11" name="2 Marcador de contenido">
            <a:extLst>
              <a:ext uri="{FF2B5EF4-FFF2-40B4-BE49-F238E27FC236}">
                <a16:creationId xmlns:a16="http://schemas.microsoft.com/office/drawing/2014/main" id="{04DA0070-304F-4C61-A48C-F5B98AC197BE}"/>
              </a:ext>
            </a:extLst>
          </p:cNvPr>
          <p:cNvSpPr txBox="1">
            <a:spLocks/>
          </p:cNvSpPr>
          <p:nvPr/>
        </p:nvSpPr>
        <p:spPr bwMode="auto">
          <a:xfrm>
            <a:off x="449035" y="3340498"/>
            <a:ext cx="9144829" cy="48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 sz="2200" dirty="0">
                <a:solidFill>
                  <a:srgbClr val="FF0000"/>
                </a:solidFill>
              </a:rPr>
              <a:t>Volumetrías: Envío de correos</a:t>
            </a:r>
          </a:p>
        </p:txBody>
      </p:sp>
      <p:graphicFrame>
        <p:nvGraphicFramePr>
          <p:cNvPr id="12" name="Group 6">
            <a:extLst>
              <a:ext uri="{FF2B5EF4-FFF2-40B4-BE49-F238E27FC236}">
                <a16:creationId xmlns:a16="http://schemas.microsoft.com/office/drawing/2014/main" id="{57E4E07C-4E05-4511-8B91-716A89FF2024}"/>
              </a:ext>
            </a:extLst>
          </p:cNvPr>
          <p:cNvGraphicFramePr>
            <a:graphicFrameLocks/>
          </p:cNvGraphicFramePr>
          <p:nvPr>
            <p:extLst>
              <p:ext uri="{D42A27DB-BD31-4B8C-83A1-F6EECF244321}">
                <p14:modId xmlns:p14="http://schemas.microsoft.com/office/powerpoint/2010/main" val="3744528558"/>
              </p:ext>
            </p:extLst>
          </p:nvPr>
        </p:nvGraphicFramePr>
        <p:xfrm>
          <a:off x="736913" y="3869938"/>
          <a:ext cx="11014528" cy="1923480"/>
        </p:xfrm>
        <a:graphic>
          <a:graphicData uri="http://schemas.openxmlformats.org/drawingml/2006/table">
            <a:tbl>
              <a:tblPr/>
              <a:tblGrid>
                <a:gridCol w="2753632">
                  <a:extLst>
                    <a:ext uri="{9D8B030D-6E8A-4147-A177-3AD203B41FA5}">
                      <a16:colId xmlns:a16="http://schemas.microsoft.com/office/drawing/2014/main" val="611312682"/>
                    </a:ext>
                  </a:extLst>
                </a:gridCol>
                <a:gridCol w="3302453">
                  <a:extLst>
                    <a:ext uri="{9D8B030D-6E8A-4147-A177-3AD203B41FA5}">
                      <a16:colId xmlns:a16="http://schemas.microsoft.com/office/drawing/2014/main" val="3449283266"/>
                    </a:ext>
                  </a:extLst>
                </a:gridCol>
                <a:gridCol w="2204811">
                  <a:extLst>
                    <a:ext uri="{9D8B030D-6E8A-4147-A177-3AD203B41FA5}">
                      <a16:colId xmlns:a16="http://schemas.microsoft.com/office/drawing/2014/main" val="3112650531"/>
                    </a:ext>
                  </a:extLst>
                </a:gridCol>
                <a:gridCol w="2753632">
                  <a:extLst>
                    <a:ext uri="{9D8B030D-6E8A-4147-A177-3AD203B41FA5}">
                      <a16:colId xmlns:a16="http://schemas.microsoft.com/office/drawing/2014/main" val="4030081795"/>
                    </a:ext>
                  </a:extLst>
                </a:gridCol>
              </a:tblGrid>
              <a:tr h="550778">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Envíos diario</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Peso medio por email (MB)(3)</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Peso medio diario (MB)</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defRPr/>
                      </a:pPr>
                      <a:r>
                        <a:rPr kumimoji="0" lang="es-ES" sz="1000" b="1" i="0" u="none" strike="noStrike" kern="1200" cap="none" normalizeH="0" baseline="0" dirty="0" err="1">
                          <a:ln>
                            <a:noFill/>
                          </a:ln>
                          <a:solidFill>
                            <a:schemeClr val="bg1"/>
                          </a:solidFill>
                          <a:effectLst/>
                          <a:latin typeface="Arial" charset="0"/>
                          <a:ea typeface="+mn-ea"/>
                          <a:cs typeface="+mn-cs"/>
                        </a:rPr>
                        <a:t>Descipción</a:t>
                      </a:r>
                      <a:endParaRPr kumimoji="0" lang="es-ES" sz="1000" b="1" i="0" u="none" strike="noStrike" kern="1200" cap="none" normalizeH="0" baseline="0" dirty="0">
                        <a:ln>
                          <a:noFill/>
                        </a:ln>
                        <a:solidFill>
                          <a:schemeClr val="bg1"/>
                        </a:solidFill>
                        <a:effectLst/>
                        <a:latin typeface="Arial" charset="0"/>
                        <a:ea typeface="+mn-ea"/>
                        <a:cs typeface="+mn-cs"/>
                      </a:endParaRPr>
                    </a:p>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endParaRPr kumimoji="0" lang="es-ES" sz="1000" b="1" i="0" u="none" strike="noStrike" kern="1200" cap="none" normalizeH="0" baseline="0" dirty="0">
                        <a:ln>
                          <a:noFill/>
                        </a:ln>
                        <a:solidFill>
                          <a:schemeClr val="bg1"/>
                        </a:solidFill>
                        <a:effectLst/>
                        <a:latin typeface="Arial" charset="0"/>
                        <a:ea typeface="+mn-ea"/>
                        <a:cs typeface="+mn-cs"/>
                      </a:endParaRP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362628">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kern="1200" dirty="0">
                          <a:solidFill>
                            <a:schemeClr val="tx1">
                              <a:lumMod val="50000"/>
                              <a:lumOff val="50000"/>
                            </a:schemeClr>
                          </a:solidFill>
                          <a:latin typeface="Arial" charset="0"/>
                          <a:ea typeface="+mn-ea"/>
                          <a:cs typeface="Arial" charset="0"/>
                        </a:rPr>
                        <a:t>5</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lang="es-ES" sz="1000" b="1" kern="1200" dirty="0" err="1">
                          <a:solidFill>
                            <a:schemeClr val="tx1">
                              <a:lumMod val="50000"/>
                              <a:lumOff val="50000"/>
                            </a:schemeClr>
                          </a:solidFill>
                          <a:latin typeface="Arial" charset="0"/>
                          <a:ea typeface="+mn-ea"/>
                          <a:cs typeface="Arial" charset="0"/>
                        </a:rPr>
                        <a:t>Nº</a:t>
                      </a:r>
                      <a:r>
                        <a:rPr lang="es-ES" sz="1000" b="1" kern="1200" dirty="0">
                          <a:solidFill>
                            <a:schemeClr val="tx1">
                              <a:lumMod val="50000"/>
                              <a:lumOff val="50000"/>
                            </a:schemeClr>
                          </a:solidFill>
                          <a:latin typeface="Arial" charset="0"/>
                          <a:ea typeface="+mn-ea"/>
                          <a:cs typeface="Arial" charset="0"/>
                        </a:rPr>
                        <a:t> medio/máximo de registros por fichero: 500</a:t>
                      </a:r>
                    </a:p>
                    <a:p>
                      <a:pPr marL="0" marR="0" lvl="0" indent="0" algn="ctr" defTabSz="914400" rtl="0" eaLnBrk="1" fontAlgn="base" latinLnBrk="0" hangingPunct="1">
                        <a:lnSpc>
                          <a:spcPts val="2400"/>
                        </a:lnSpc>
                        <a:spcBef>
                          <a:spcPct val="20000"/>
                        </a:spcBef>
                        <a:spcAft>
                          <a:spcPct val="0"/>
                        </a:spcAft>
                        <a:buClrTx/>
                        <a:buSzTx/>
                        <a:buFontTx/>
                        <a:buNone/>
                        <a:tabLst/>
                        <a:defRPr/>
                      </a:pPr>
                      <a:r>
                        <a:rPr lang="es-ES" sz="1000" b="1" kern="1200" dirty="0">
                          <a:solidFill>
                            <a:schemeClr val="tx1">
                              <a:lumMod val="50000"/>
                              <a:lumOff val="50000"/>
                            </a:schemeClr>
                          </a:solidFill>
                          <a:latin typeface="Arial" charset="0"/>
                          <a:ea typeface="+mn-ea"/>
                          <a:cs typeface="Arial" charset="0"/>
                        </a:rPr>
                        <a:t>Tamaño medio/máximo (en kb) del fichero: 50kb</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b="1" kern="1200" dirty="0">
                          <a:solidFill>
                            <a:schemeClr val="tx1">
                              <a:lumMod val="50000"/>
                              <a:lumOff val="50000"/>
                            </a:schemeClr>
                          </a:solidFill>
                          <a:latin typeface="Arial" charset="0"/>
                          <a:ea typeface="+mn-ea"/>
                          <a:cs typeface="Arial" charset="0"/>
                        </a:rPr>
                        <a:t>0,050kb</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b="1" kern="1200" dirty="0" err="1">
                          <a:solidFill>
                            <a:schemeClr val="tx1">
                              <a:lumMod val="50000"/>
                              <a:lumOff val="50000"/>
                            </a:schemeClr>
                          </a:solidFill>
                          <a:latin typeface="Arial" charset="0"/>
                          <a:ea typeface="+mn-ea"/>
                          <a:cs typeface="Arial" charset="0"/>
                        </a:rPr>
                        <a:t>Envio</a:t>
                      </a:r>
                      <a:r>
                        <a:rPr lang="en-GB" sz="1400" b="1" kern="1200" dirty="0">
                          <a:solidFill>
                            <a:schemeClr val="tx1">
                              <a:lumMod val="50000"/>
                              <a:lumOff val="50000"/>
                            </a:schemeClr>
                          </a:solidFill>
                          <a:latin typeface="Arial" charset="0"/>
                          <a:ea typeface="+mn-ea"/>
                          <a:cs typeface="Arial" charset="0"/>
                        </a:rPr>
                        <a:t> de </a:t>
                      </a:r>
                      <a:r>
                        <a:rPr lang="en-GB" sz="1400" b="1" kern="1200" dirty="0" err="1">
                          <a:solidFill>
                            <a:schemeClr val="tx1">
                              <a:lumMod val="50000"/>
                              <a:lumOff val="50000"/>
                            </a:schemeClr>
                          </a:solidFill>
                          <a:latin typeface="Arial" charset="0"/>
                          <a:ea typeface="+mn-ea"/>
                          <a:cs typeface="Arial" charset="0"/>
                        </a:rPr>
                        <a:t>correos</a:t>
                      </a:r>
                      <a:r>
                        <a:rPr lang="en-GB" sz="1400" b="1" kern="1200" dirty="0">
                          <a:solidFill>
                            <a:schemeClr val="tx1">
                              <a:lumMod val="50000"/>
                              <a:lumOff val="50000"/>
                            </a:schemeClr>
                          </a:solidFill>
                          <a:latin typeface="Arial" charset="0"/>
                          <a:ea typeface="+mn-ea"/>
                          <a:cs typeface="Arial" charset="0"/>
                        </a:rPr>
                        <a:t> a </a:t>
                      </a:r>
                      <a:r>
                        <a:rPr lang="en-GB" sz="1400" b="1" kern="1200" dirty="0" err="1">
                          <a:solidFill>
                            <a:schemeClr val="tx1">
                              <a:lumMod val="50000"/>
                              <a:lumOff val="50000"/>
                            </a:schemeClr>
                          </a:solidFill>
                          <a:latin typeface="Arial" charset="0"/>
                          <a:ea typeface="+mn-ea"/>
                          <a:cs typeface="Arial" charset="0"/>
                        </a:rPr>
                        <a:t>Confirma</a:t>
                      </a:r>
                      <a:r>
                        <a:rPr lang="en-GB" sz="1400" b="1" kern="1200" dirty="0">
                          <a:solidFill>
                            <a:schemeClr val="tx1">
                              <a:lumMod val="50000"/>
                              <a:lumOff val="50000"/>
                            </a:schemeClr>
                          </a:solidFill>
                          <a:latin typeface="Arial" charset="0"/>
                          <a:ea typeface="+mn-ea"/>
                          <a:cs typeface="Arial" charset="0"/>
                        </a:rPr>
                        <a:t> </a:t>
                      </a:r>
                      <a:r>
                        <a:rPr lang="en-GB" sz="1400" b="1" kern="1200" dirty="0" err="1">
                          <a:solidFill>
                            <a:schemeClr val="tx1">
                              <a:lumMod val="50000"/>
                              <a:lumOff val="50000"/>
                            </a:schemeClr>
                          </a:solidFill>
                          <a:latin typeface="Arial" charset="0"/>
                          <a:ea typeface="+mn-ea"/>
                          <a:cs typeface="Arial" charset="0"/>
                        </a:rPr>
                        <a:t>Bacth</a:t>
                      </a:r>
                      <a:endParaRPr lang="en-GB" sz="1400" b="1" kern="1200" dirty="0">
                        <a:solidFill>
                          <a:schemeClr val="tx1">
                            <a:lumMod val="50000"/>
                            <a:lumOff val="50000"/>
                          </a:schemeClr>
                        </a:solidFill>
                        <a:latin typeface="Arial" charset="0"/>
                        <a:ea typeface="+mn-ea"/>
                        <a:cs typeface="Arial" charset="0"/>
                      </a:endParaRP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2628">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kern="1200" dirty="0">
                          <a:solidFill>
                            <a:schemeClr val="tx1">
                              <a:lumMod val="50000"/>
                              <a:lumOff val="50000"/>
                            </a:schemeClr>
                          </a:solidFill>
                          <a:latin typeface="Arial" charset="0"/>
                          <a:ea typeface="+mn-ea"/>
                          <a:cs typeface="Arial" charset="0"/>
                        </a:rPr>
                        <a:t>5</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lang="es-ES" sz="1000" b="1" kern="1200" dirty="0" err="1">
                          <a:solidFill>
                            <a:schemeClr val="tx1">
                              <a:lumMod val="50000"/>
                              <a:lumOff val="50000"/>
                            </a:schemeClr>
                          </a:solidFill>
                          <a:latin typeface="Arial" charset="0"/>
                          <a:ea typeface="+mn-ea"/>
                          <a:cs typeface="Arial" charset="0"/>
                        </a:rPr>
                        <a:t>Nº</a:t>
                      </a:r>
                      <a:r>
                        <a:rPr lang="es-ES" sz="1000" b="1" kern="1200" dirty="0">
                          <a:solidFill>
                            <a:schemeClr val="tx1">
                              <a:lumMod val="50000"/>
                              <a:lumOff val="50000"/>
                            </a:schemeClr>
                          </a:solidFill>
                          <a:latin typeface="Arial" charset="0"/>
                          <a:ea typeface="+mn-ea"/>
                          <a:cs typeface="Arial" charset="0"/>
                        </a:rPr>
                        <a:t> medio/máximo de registros por fichero:  20</a:t>
                      </a:r>
                    </a:p>
                    <a:p>
                      <a:pPr marL="0" marR="0" lvl="0" indent="0" algn="ctr" defTabSz="914400" rtl="0" eaLnBrk="1" fontAlgn="base" latinLnBrk="0" hangingPunct="1">
                        <a:lnSpc>
                          <a:spcPts val="2400"/>
                        </a:lnSpc>
                        <a:spcBef>
                          <a:spcPct val="20000"/>
                        </a:spcBef>
                        <a:spcAft>
                          <a:spcPct val="0"/>
                        </a:spcAft>
                        <a:buClrTx/>
                        <a:buSzTx/>
                        <a:buFontTx/>
                        <a:buNone/>
                        <a:tabLst/>
                        <a:defRPr/>
                      </a:pPr>
                      <a:r>
                        <a:rPr lang="es-ES" sz="1000" b="1" kern="1200" dirty="0">
                          <a:solidFill>
                            <a:schemeClr val="tx1">
                              <a:lumMod val="50000"/>
                              <a:lumOff val="50000"/>
                            </a:schemeClr>
                          </a:solidFill>
                          <a:latin typeface="Arial" charset="0"/>
                          <a:ea typeface="+mn-ea"/>
                          <a:cs typeface="Arial" charset="0"/>
                        </a:rPr>
                        <a:t>Tamaño medio/máximo (en kb) del fichero: 2Kb</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b="1" kern="1200" dirty="0">
                          <a:solidFill>
                            <a:schemeClr val="tx1">
                              <a:lumMod val="50000"/>
                              <a:lumOff val="50000"/>
                            </a:schemeClr>
                          </a:solidFill>
                          <a:latin typeface="Arial" charset="0"/>
                          <a:ea typeface="+mn-ea"/>
                          <a:cs typeface="Arial" charset="0"/>
                        </a:rPr>
                        <a:t>0,020kb</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b="1" kern="1200" dirty="0" err="1">
                          <a:solidFill>
                            <a:schemeClr val="tx1">
                              <a:lumMod val="50000"/>
                              <a:lumOff val="50000"/>
                            </a:schemeClr>
                          </a:solidFill>
                          <a:latin typeface="Arial" charset="0"/>
                          <a:ea typeface="+mn-ea"/>
                          <a:cs typeface="Arial" charset="0"/>
                        </a:rPr>
                        <a:t>Envio</a:t>
                      </a:r>
                      <a:r>
                        <a:rPr lang="en-GB" sz="1400" b="1" kern="1200" dirty="0">
                          <a:solidFill>
                            <a:schemeClr val="tx1">
                              <a:lumMod val="50000"/>
                              <a:lumOff val="50000"/>
                            </a:schemeClr>
                          </a:solidFill>
                          <a:latin typeface="Arial" charset="0"/>
                          <a:ea typeface="+mn-ea"/>
                          <a:cs typeface="Arial" charset="0"/>
                        </a:rPr>
                        <a:t> de </a:t>
                      </a:r>
                      <a:r>
                        <a:rPr lang="en-GB" sz="1400" b="1" kern="1200" dirty="0" err="1">
                          <a:solidFill>
                            <a:schemeClr val="tx1">
                              <a:lumMod val="50000"/>
                              <a:lumOff val="50000"/>
                            </a:schemeClr>
                          </a:solidFill>
                          <a:latin typeface="Arial" charset="0"/>
                          <a:ea typeface="+mn-ea"/>
                          <a:cs typeface="Arial" charset="0"/>
                        </a:rPr>
                        <a:t>correos</a:t>
                      </a:r>
                      <a:r>
                        <a:rPr lang="en-GB" sz="1400" b="1" kern="1200" dirty="0">
                          <a:solidFill>
                            <a:schemeClr val="tx1">
                              <a:lumMod val="50000"/>
                              <a:lumOff val="50000"/>
                            </a:schemeClr>
                          </a:solidFill>
                          <a:latin typeface="Arial" charset="0"/>
                          <a:ea typeface="+mn-ea"/>
                          <a:cs typeface="Arial" charset="0"/>
                        </a:rPr>
                        <a:t> a </a:t>
                      </a:r>
                      <a:r>
                        <a:rPr lang="en-GB" sz="1400" b="1" kern="1200" dirty="0" err="1">
                          <a:solidFill>
                            <a:schemeClr val="tx1">
                              <a:lumMod val="50000"/>
                              <a:lumOff val="50000"/>
                            </a:schemeClr>
                          </a:solidFill>
                          <a:latin typeface="Arial" charset="0"/>
                          <a:ea typeface="+mn-ea"/>
                          <a:cs typeface="Arial" charset="0"/>
                        </a:rPr>
                        <a:t>Acelera</a:t>
                      </a:r>
                      <a:r>
                        <a:rPr lang="en-GB" sz="1400" b="1" kern="1200" dirty="0">
                          <a:solidFill>
                            <a:schemeClr val="tx1">
                              <a:lumMod val="50000"/>
                              <a:lumOff val="50000"/>
                            </a:schemeClr>
                          </a:solidFill>
                          <a:latin typeface="Arial" charset="0"/>
                          <a:ea typeface="+mn-ea"/>
                          <a:cs typeface="Arial" charset="0"/>
                        </a:rPr>
                        <a:t> </a:t>
                      </a:r>
                      <a:r>
                        <a:rPr lang="en-GB" sz="1400" b="1" kern="1200" dirty="0" err="1">
                          <a:solidFill>
                            <a:schemeClr val="tx1">
                              <a:lumMod val="50000"/>
                              <a:lumOff val="50000"/>
                            </a:schemeClr>
                          </a:solidFill>
                          <a:latin typeface="Arial" charset="0"/>
                          <a:ea typeface="+mn-ea"/>
                          <a:cs typeface="Arial" charset="0"/>
                        </a:rPr>
                        <a:t>Bacth</a:t>
                      </a:r>
                      <a:endParaRPr lang="en-GB" sz="1400" b="1" kern="1200" dirty="0">
                        <a:solidFill>
                          <a:schemeClr val="tx1">
                            <a:lumMod val="50000"/>
                            <a:lumOff val="50000"/>
                          </a:schemeClr>
                        </a:solidFill>
                        <a:latin typeface="Arial" charset="0"/>
                        <a:ea typeface="+mn-ea"/>
                        <a:cs typeface="Arial" charset="0"/>
                      </a:endParaRP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90459036"/>
                  </a:ext>
                </a:extLst>
              </a:tr>
            </a:tbl>
          </a:graphicData>
        </a:graphic>
      </p:graphicFrame>
    </p:spTree>
    <p:extLst>
      <p:ext uri="{BB962C8B-B14F-4D97-AF65-F5344CB8AC3E}">
        <p14:creationId xmlns:p14="http://schemas.microsoft.com/office/powerpoint/2010/main" val="2113039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0" y="42180"/>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Volumetrías</a:t>
            </a:r>
          </a:p>
        </p:txBody>
      </p:sp>
      <p:sp>
        <p:nvSpPr>
          <p:cNvPr id="10" name="2 Marcador de contenido">
            <a:extLst>
              <a:ext uri="{FF2B5EF4-FFF2-40B4-BE49-F238E27FC236}">
                <a16:creationId xmlns:a16="http://schemas.microsoft.com/office/drawing/2014/main" id="{2A10DB17-4FD3-452C-9BFE-B5A5B7285BAE}"/>
              </a:ext>
            </a:extLst>
          </p:cNvPr>
          <p:cNvSpPr txBox="1">
            <a:spLocks/>
          </p:cNvSpPr>
          <p:nvPr/>
        </p:nvSpPr>
        <p:spPr bwMode="auto">
          <a:xfrm>
            <a:off x="718457" y="2853653"/>
            <a:ext cx="10374489" cy="350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endParaRPr lang="es-ES" altLang="es-ES" sz="1600" dirty="0">
              <a:solidFill>
                <a:srgbClr val="808080"/>
              </a:solidFill>
            </a:endParaRPr>
          </a:p>
        </p:txBody>
      </p:sp>
      <p:sp>
        <p:nvSpPr>
          <p:cNvPr id="12" name="2 Marcador de contenido">
            <a:extLst>
              <a:ext uri="{FF2B5EF4-FFF2-40B4-BE49-F238E27FC236}">
                <a16:creationId xmlns:a16="http://schemas.microsoft.com/office/drawing/2014/main" id="{B887963D-5A03-4EB8-879F-D5E2142629D9}"/>
              </a:ext>
            </a:extLst>
          </p:cNvPr>
          <p:cNvSpPr txBox="1">
            <a:spLocks/>
          </p:cNvSpPr>
          <p:nvPr/>
        </p:nvSpPr>
        <p:spPr bwMode="auto">
          <a:xfrm>
            <a:off x="348047" y="654306"/>
            <a:ext cx="9144829" cy="48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 sz="2200" dirty="0">
                <a:solidFill>
                  <a:srgbClr val="FF0000"/>
                </a:solidFill>
              </a:rPr>
              <a:t>Volumetrías: Gestión Documental </a:t>
            </a:r>
          </a:p>
        </p:txBody>
      </p:sp>
      <p:graphicFrame>
        <p:nvGraphicFramePr>
          <p:cNvPr id="13" name="Group 6">
            <a:extLst>
              <a:ext uri="{FF2B5EF4-FFF2-40B4-BE49-F238E27FC236}">
                <a16:creationId xmlns:a16="http://schemas.microsoft.com/office/drawing/2014/main" id="{5964C197-0ACA-4971-9859-2AE28DBEB571}"/>
              </a:ext>
            </a:extLst>
          </p:cNvPr>
          <p:cNvGraphicFramePr>
            <a:graphicFrameLocks/>
          </p:cNvGraphicFramePr>
          <p:nvPr>
            <p:extLst>
              <p:ext uri="{D42A27DB-BD31-4B8C-83A1-F6EECF244321}">
                <p14:modId xmlns:p14="http://schemas.microsoft.com/office/powerpoint/2010/main" val="355293701"/>
              </p:ext>
            </p:extLst>
          </p:nvPr>
        </p:nvGraphicFramePr>
        <p:xfrm>
          <a:off x="547914" y="1872430"/>
          <a:ext cx="11014529" cy="1268592"/>
        </p:xfrm>
        <a:graphic>
          <a:graphicData uri="http://schemas.openxmlformats.org/drawingml/2006/table">
            <a:tbl>
              <a:tblPr/>
              <a:tblGrid>
                <a:gridCol w="2429330">
                  <a:extLst>
                    <a:ext uri="{9D8B030D-6E8A-4147-A177-3AD203B41FA5}">
                      <a16:colId xmlns:a16="http://schemas.microsoft.com/office/drawing/2014/main" val="20000"/>
                    </a:ext>
                  </a:extLst>
                </a:gridCol>
                <a:gridCol w="1168400">
                  <a:extLst>
                    <a:ext uri="{9D8B030D-6E8A-4147-A177-3AD203B41FA5}">
                      <a16:colId xmlns:a16="http://schemas.microsoft.com/office/drawing/2014/main" val="20002"/>
                    </a:ext>
                  </a:extLst>
                </a:gridCol>
                <a:gridCol w="1250015">
                  <a:extLst>
                    <a:ext uri="{9D8B030D-6E8A-4147-A177-3AD203B41FA5}">
                      <a16:colId xmlns:a16="http://schemas.microsoft.com/office/drawing/2014/main" val="2847936746"/>
                    </a:ext>
                  </a:extLst>
                </a:gridCol>
                <a:gridCol w="1541696">
                  <a:extLst>
                    <a:ext uri="{9D8B030D-6E8A-4147-A177-3AD203B41FA5}">
                      <a16:colId xmlns:a16="http://schemas.microsoft.com/office/drawing/2014/main" val="611312682"/>
                    </a:ext>
                  </a:extLst>
                </a:gridCol>
                <a:gridCol w="1541696">
                  <a:extLst>
                    <a:ext uri="{9D8B030D-6E8A-4147-A177-3AD203B41FA5}">
                      <a16:colId xmlns:a16="http://schemas.microsoft.com/office/drawing/2014/main" val="430756181"/>
                    </a:ext>
                  </a:extLst>
                </a:gridCol>
                <a:gridCol w="1541696">
                  <a:extLst>
                    <a:ext uri="{9D8B030D-6E8A-4147-A177-3AD203B41FA5}">
                      <a16:colId xmlns:a16="http://schemas.microsoft.com/office/drawing/2014/main" val="1862522154"/>
                    </a:ext>
                  </a:extLst>
                </a:gridCol>
                <a:gridCol w="1541696">
                  <a:extLst>
                    <a:ext uri="{9D8B030D-6E8A-4147-A177-3AD203B41FA5}">
                      <a16:colId xmlns:a16="http://schemas.microsoft.com/office/drawing/2014/main" val="2007466975"/>
                    </a:ext>
                  </a:extLst>
                </a:gridCol>
              </a:tblGrid>
              <a:tr h="456868">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Tipos de Documentos </a:t>
                      </a:r>
                    </a:p>
                  </a:txBody>
                  <a:tcPr marL="90007" marR="90007"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Gestor</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Documentos por petición</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Total documentos diario</a:t>
                      </a:r>
                    </a:p>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endParaRPr kumimoji="0" lang="es-ES" sz="1000" b="1" i="0" u="none" strike="noStrike" kern="1200" cap="none" normalizeH="0" baseline="0" dirty="0">
                        <a:ln>
                          <a:noFill/>
                        </a:ln>
                        <a:solidFill>
                          <a:schemeClr val="bg1"/>
                        </a:solidFill>
                        <a:effectLst/>
                        <a:latin typeface="Arial" charset="0"/>
                        <a:ea typeface="+mn-ea"/>
                        <a:cs typeface="+mn-cs"/>
                      </a:endParaRP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Peso medio por documento (Kb)</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Peso total  diario (GB)</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defRPr/>
                      </a:pPr>
                      <a:r>
                        <a:rPr kumimoji="0" lang="es-ES" sz="1000" b="1" i="0" u="none" strike="noStrike" kern="1200" cap="none" normalizeH="0" baseline="0" dirty="0">
                          <a:ln>
                            <a:noFill/>
                          </a:ln>
                          <a:solidFill>
                            <a:schemeClr val="bg1"/>
                          </a:solidFill>
                          <a:effectLst/>
                          <a:latin typeface="Arial" charset="0"/>
                          <a:ea typeface="+mn-ea"/>
                          <a:cs typeface="+mn-cs"/>
                        </a:rPr>
                        <a:t>Peso total  anual (GB)</a:t>
                      </a:r>
                    </a:p>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endParaRPr kumimoji="0" lang="es-ES" sz="1000" b="1" i="0" u="none" strike="noStrike" kern="1200" cap="none" normalizeH="0" baseline="0" dirty="0">
                        <a:ln>
                          <a:noFill/>
                        </a:ln>
                        <a:solidFill>
                          <a:schemeClr val="bg1"/>
                        </a:solidFill>
                        <a:effectLst/>
                        <a:latin typeface="Arial" charset="0"/>
                        <a:ea typeface="+mn-ea"/>
                        <a:cs typeface="+mn-cs"/>
                      </a:endParaRP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630104">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lang="es-ES" sz="1400" kern="1200" dirty="0" err="1">
                          <a:solidFill>
                            <a:schemeClr val="tx1">
                              <a:lumMod val="50000"/>
                              <a:lumOff val="50000"/>
                            </a:schemeClr>
                          </a:solidFill>
                          <a:latin typeface="Arial" charset="0"/>
                          <a:ea typeface="+mn-ea"/>
                          <a:cs typeface="Arial" charset="0"/>
                        </a:rPr>
                        <a:t>jpg</a:t>
                      </a:r>
                      <a:r>
                        <a:rPr lang="es-ES" sz="1400" kern="1200" dirty="0">
                          <a:solidFill>
                            <a:schemeClr val="tx1">
                              <a:lumMod val="50000"/>
                              <a:lumOff val="50000"/>
                            </a:schemeClr>
                          </a:solidFill>
                          <a:latin typeface="Arial" charset="0"/>
                          <a:ea typeface="+mn-ea"/>
                          <a:cs typeface="Arial" charset="0"/>
                        </a:rPr>
                        <a:t>, png, </a:t>
                      </a:r>
                      <a:r>
                        <a:rPr lang="es-ES" sz="1400" kern="1200" dirty="0" err="1">
                          <a:solidFill>
                            <a:schemeClr val="tx1">
                              <a:lumMod val="50000"/>
                              <a:lumOff val="50000"/>
                            </a:schemeClr>
                          </a:solidFill>
                          <a:latin typeface="Arial" charset="0"/>
                          <a:ea typeface="+mn-ea"/>
                          <a:cs typeface="Arial" charset="0"/>
                        </a:rPr>
                        <a:t>pdf</a:t>
                      </a:r>
                      <a:endParaRPr lang="es-ES" sz="1400" kern="1200" dirty="0">
                        <a:solidFill>
                          <a:schemeClr val="tx1">
                            <a:lumMod val="50000"/>
                            <a:lumOff val="50000"/>
                          </a:schemeClr>
                        </a:solidFill>
                        <a:latin typeface="Arial" charset="0"/>
                        <a:ea typeface="+mn-ea"/>
                        <a:cs typeface="Arial" charset="0"/>
                      </a:endParaRPr>
                    </a:p>
                    <a:p>
                      <a:pPr marL="0" marR="0" lvl="0" indent="0" algn="ctr" defTabSz="914400" rtl="0" eaLnBrk="1" fontAlgn="base" latinLnBrk="0" hangingPunct="1">
                        <a:lnSpc>
                          <a:spcPts val="2400"/>
                        </a:lnSpc>
                        <a:spcBef>
                          <a:spcPct val="20000"/>
                        </a:spcBef>
                        <a:spcAft>
                          <a:spcPct val="0"/>
                        </a:spcAft>
                        <a:buClrTx/>
                        <a:buSzTx/>
                        <a:buFontTx/>
                        <a:buNone/>
                        <a:tabLst/>
                      </a:pPr>
                      <a:endParaRPr lang="es-ES" sz="1400" kern="1200" dirty="0">
                        <a:solidFill>
                          <a:schemeClr val="tx1">
                            <a:lumMod val="50000"/>
                            <a:lumOff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kern="1200" dirty="0">
                          <a:solidFill>
                            <a:schemeClr val="tx1">
                              <a:lumMod val="50000"/>
                              <a:lumOff val="50000"/>
                            </a:schemeClr>
                          </a:solidFill>
                          <a:latin typeface="Arial" charset="0"/>
                          <a:ea typeface="+mn-ea"/>
                          <a:cs typeface="Arial" charset="0"/>
                        </a:rPr>
                        <a:t>FileNet</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kern="1200" dirty="0">
                          <a:solidFill>
                            <a:schemeClr val="tx1">
                              <a:lumMod val="50000"/>
                              <a:lumOff val="50000"/>
                            </a:schemeClr>
                          </a:solidFill>
                          <a:latin typeface="Arial" charset="0"/>
                          <a:ea typeface="+mn-ea"/>
                          <a:cs typeface="Arial" charset="0"/>
                        </a:rPr>
                        <a:t>3</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kern="1200" dirty="0">
                          <a:solidFill>
                            <a:schemeClr val="tx1">
                              <a:lumMod val="50000"/>
                              <a:lumOff val="50000"/>
                            </a:schemeClr>
                          </a:solidFill>
                          <a:latin typeface="Arial" charset="0"/>
                          <a:ea typeface="+mn-ea"/>
                          <a:cs typeface="Arial" charset="0"/>
                        </a:rPr>
                        <a:t>6.000</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kern="1200" dirty="0">
                          <a:solidFill>
                            <a:schemeClr val="tx1">
                              <a:lumMod val="50000"/>
                              <a:lumOff val="50000"/>
                            </a:schemeClr>
                          </a:solidFill>
                          <a:latin typeface="Arial" charset="0"/>
                          <a:ea typeface="+mn-ea"/>
                          <a:cs typeface="Arial" charset="0"/>
                        </a:rPr>
                        <a:t>2.000</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b="1" kern="1200" dirty="0">
                          <a:solidFill>
                            <a:schemeClr val="tx1">
                              <a:lumMod val="50000"/>
                              <a:lumOff val="50000"/>
                            </a:schemeClr>
                          </a:solidFill>
                          <a:latin typeface="Arial" charset="0"/>
                          <a:ea typeface="+mn-ea"/>
                          <a:cs typeface="Arial" charset="0"/>
                        </a:rPr>
                        <a:t>18</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b="1" kern="1200" dirty="0">
                          <a:solidFill>
                            <a:schemeClr val="tx1">
                              <a:lumMod val="50000"/>
                              <a:lumOff val="50000"/>
                            </a:schemeClr>
                          </a:solidFill>
                          <a:latin typeface="Arial" charset="0"/>
                          <a:ea typeface="+mn-ea"/>
                          <a:cs typeface="Arial" charset="0"/>
                        </a:rPr>
                        <a:t>6.570</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Rectángulo 2">
            <a:extLst>
              <a:ext uri="{FF2B5EF4-FFF2-40B4-BE49-F238E27FC236}">
                <a16:creationId xmlns:a16="http://schemas.microsoft.com/office/drawing/2014/main" id="{A8AAB48B-0161-4E1B-A846-B2489B94F53F}"/>
              </a:ext>
            </a:extLst>
          </p:cNvPr>
          <p:cNvSpPr/>
          <p:nvPr/>
        </p:nvSpPr>
        <p:spPr>
          <a:xfrm>
            <a:off x="449035" y="1309819"/>
            <a:ext cx="1980029" cy="369332"/>
          </a:xfrm>
          <a:prstGeom prst="rect">
            <a:avLst/>
          </a:prstGeom>
        </p:spPr>
        <p:txBody>
          <a:bodyPr wrap="none">
            <a:spAutoFit/>
          </a:bodyPr>
          <a:lstStyle/>
          <a:p>
            <a:r>
              <a:rPr lang="es-ES" dirty="0">
                <a:solidFill>
                  <a:srgbClr val="FF0000"/>
                </a:solidFill>
              </a:rPr>
              <a:t>Alta de contratos</a:t>
            </a:r>
            <a:endParaRPr lang="es-ES" dirty="0"/>
          </a:p>
        </p:txBody>
      </p:sp>
      <p:sp>
        <p:nvSpPr>
          <p:cNvPr id="7" name="2 Marcador de contenido">
            <a:extLst>
              <a:ext uri="{FF2B5EF4-FFF2-40B4-BE49-F238E27FC236}">
                <a16:creationId xmlns:a16="http://schemas.microsoft.com/office/drawing/2014/main" id="{BB262CDD-BAED-4A22-A5E2-536453DEBAA8}"/>
              </a:ext>
            </a:extLst>
          </p:cNvPr>
          <p:cNvSpPr txBox="1">
            <a:spLocks/>
          </p:cNvSpPr>
          <p:nvPr/>
        </p:nvSpPr>
        <p:spPr bwMode="auto">
          <a:xfrm>
            <a:off x="449035" y="3594104"/>
            <a:ext cx="9046473" cy="29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 sz="2000" dirty="0">
                <a:solidFill>
                  <a:srgbClr val="FF0000"/>
                </a:solidFill>
              </a:rPr>
              <a:t>Volumetrías : SDD</a:t>
            </a:r>
            <a:endParaRPr lang="es-ES" sz="1800" dirty="0">
              <a:solidFill>
                <a:schemeClr val="bg2"/>
              </a:solidFill>
            </a:endParaRPr>
          </a:p>
        </p:txBody>
      </p:sp>
      <p:graphicFrame>
        <p:nvGraphicFramePr>
          <p:cNvPr id="9" name="Tabla 8">
            <a:extLst>
              <a:ext uri="{FF2B5EF4-FFF2-40B4-BE49-F238E27FC236}">
                <a16:creationId xmlns:a16="http://schemas.microsoft.com/office/drawing/2014/main" id="{62D96291-89C6-4534-9B49-0191DAA3BEEB}"/>
              </a:ext>
            </a:extLst>
          </p:cNvPr>
          <p:cNvGraphicFramePr>
            <a:graphicFrameLocks noGrp="1"/>
          </p:cNvGraphicFramePr>
          <p:nvPr>
            <p:extLst>
              <p:ext uri="{D42A27DB-BD31-4B8C-83A1-F6EECF244321}">
                <p14:modId xmlns:p14="http://schemas.microsoft.com/office/powerpoint/2010/main" val="3080974722"/>
              </p:ext>
            </p:extLst>
          </p:nvPr>
        </p:nvGraphicFramePr>
        <p:xfrm>
          <a:off x="449035" y="4185261"/>
          <a:ext cx="11419115" cy="1638543"/>
        </p:xfrm>
        <a:graphic>
          <a:graphicData uri="http://schemas.openxmlformats.org/drawingml/2006/table">
            <a:tbl>
              <a:tblPr/>
              <a:tblGrid>
                <a:gridCol w="1580649">
                  <a:extLst>
                    <a:ext uri="{9D8B030D-6E8A-4147-A177-3AD203B41FA5}">
                      <a16:colId xmlns:a16="http://schemas.microsoft.com/office/drawing/2014/main" val="2120595655"/>
                    </a:ext>
                  </a:extLst>
                </a:gridCol>
                <a:gridCol w="971194">
                  <a:extLst>
                    <a:ext uri="{9D8B030D-6E8A-4147-A177-3AD203B41FA5}">
                      <a16:colId xmlns:a16="http://schemas.microsoft.com/office/drawing/2014/main" val="2256302013"/>
                    </a:ext>
                  </a:extLst>
                </a:gridCol>
                <a:gridCol w="902799">
                  <a:extLst>
                    <a:ext uri="{9D8B030D-6E8A-4147-A177-3AD203B41FA5}">
                      <a16:colId xmlns:a16="http://schemas.microsoft.com/office/drawing/2014/main" val="237110933"/>
                    </a:ext>
                  </a:extLst>
                </a:gridCol>
                <a:gridCol w="1590158">
                  <a:extLst>
                    <a:ext uri="{9D8B030D-6E8A-4147-A177-3AD203B41FA5}">
                      <a16:colId xmlns:a16="http://schemas.microsoft.com/office/drawing/2014/main" val="135801800"/>
                    </a:ext>
                  </a:extLst>
                </a:gridCol>
                <a:gridCol w="1067312">
                  <a:extLst>
                    <a:ext uri="{9D8B030D-6E8A-4147-A177-3AD203B41FA5}">
                      <a16:colId xmlns:a16="http://schemas.microsoft.com/office/drawing/2014/main" val="1249663781"/>
                    </a:ext>
                  </a:extLst>
                </a:gridCol>
                <a:gridCol w="841787">
                  <a:extLst>
                    <a:ext uri="{9D8B030D-6E8A-4147-A177-3AD203B41FA5}">
                      <a16:colId xmlns:a16="http://schemas.microsoft.com/office/drawing/2014/main" val="1157684232"/>
                    </a:ext>
                  </a:extLst>
                </a:gridCol>
                <a:gridCol w="1031841">
                  <a:extLst>
                    <a:ext uri="{9D8B030D-6E8A-4147-A177-3AD203B41FA5}">
                      <a16:colId xmlns:a16="http://schemas.microsoft.com/office/drawing/2014/main" val="1615291533"/>
                    </a:ext>
                  </a:extLst>
                </a:gridCol>
                <a:gridCol w="971194">
                  <a:extLst>
                    <a:ext uri="{9D8B030D-6E8A-4147-A177-3AD203B41FA5}">
                      <a16:colId xmlns:a16="http://schemas.microsoft.com/office/drawing/2014/main" val="3346623773"/>
                    </a:ext>
                  </a:extLst>
                </a:gridCol>
                <a:gridCol w="820727">
                  <a:extLst>
                    <a:ext uri="{9D8B030D-6E8A-4147-A177-3AD203B41FA5}">
                      <a16:colId xmlns:a16="http://schemas.microsoft.com/office/drawing/2014/main" val="2717797329"/>
                    </a:ext>
                  </a:extLst>
                </a:gridCol>
                <a:gridCol w="820727">
                  <a:extLst>
                    <a:ext uri="{9D8B030D-6E8A-4147-A177-3AD203B41FA5}">
                      <a16:colId xmlns:a16="http://schemas.microsoft.com/office/drawing/2014/main" val="992654558"/>
                    </a:ext>
                  </a:extLst>
                </a:gridCol>
                <a:gridCol w="820727">
                  <a:extLst>
                    <a:ext uri="{9D8B030D-6E8A-4147-A177-3AD203B41FA5}">
                      <a16:colId xmlns:a16="http://schemas.microsoft.com/office/drawing/2014/main" val="1847041523"/>
                    </a:ext>
                  </a:extLst>
                </a:gridCol>
              </a:tblGrid>
              <a:tr h="150220">
                <a:tc gridSpan="10">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  Volumetría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lnL w="6350" cap="flat" cmpd="sng" algn="ctr">
                      <a:solidFill>
                        <a:srgbClr val="FFFFFF"/>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endParaRPr kumimoji="0" lang="es-ES" sz="1000" b="1" i="0" u="none" strike="noStrike" kern="1200" cap="none" normalizeH="0" baseline="0" dirty="0">
                        <a:ln>
                          <a:noFill/>
                        </a:ln>
                        <a:solidFill>
                          <a:schemeClr val="bg1"/>
                        </a:solidFill>
                        <a:effectLst/>
                        <a:latin typeface="Arial"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785067468"/>
                  </a:ext>
                </a:extLst>
              </a:tr>
              <a:tr h="1188631">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Tipo de Conector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Nº documentos a insertar / día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Tamaño Documento Medio</a:t>
                      </a:r>
                      <a:br>
                        <a:rPr kumimoji="0" lang="es-ES" sz="1000" b="1" i="0" u="none" strike="noStrike" kern="1200" cap="none" normalizeH="0" baseline="0" dirty="0">
                          <a:ln>
                            <a:noFill/>
                          </a:ln>
                          <a:solidFill>
                            <a:schemeClr val="bg1"/>
                          </a:solidFill>
                          <a:effectLst/>
                          <a:latin typeface="Arial" charset="0"/>
                          <a:ea typeface="+mn-ea"/>
                          <a:cs typeface="+mn-cs"/>
                        </a:rPr>
                      </a:br>
                      <a:r>
                        <a:rPr kumimoji="0" lang="es-ES" sz="1000" b="1" i="0" u="none" strike="noStrike" kern="1200" cap="none" normalizeH="0" baseline="0" dirty="0">
                          <a:ln>
                            <a:noFill/>
                          </a:ln>
                          <a:solidFill>
                            <a:schemeClr val="bg1"/>
                          </a:solidFill>
                          <a:effectLst/>
                          <a:latin typeface="Arial" charset="0"/>
                          <a:ea typeface="+mn-ea"/>
                          <a:cs typeface="+mn-cs"/>
                        </a:rPr>
                        <a:t>(Mb)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Tamaño Documento Máximo</a:t>
                      </a:r>
                      <a:br>
                        <a:rPr kumimoji="0" lang="es-ES" sz="1000" b="1" i="0" u="none" strike="noStrike" kern="1200" cap="none" normalizeH="0" baseline="0" dirty="0">
                          <a:ln>
                            <a:noFill/>
                          </a:ln>
                          <a:solidFill>
                            <a:schemeClr val="bg1"/>
                          </a:solidFill>
                          <a:effectLst/>
                          <a:latin typeface="Arial" charset="0"/>
                          <a:ea typeface="+mn-ea"/>
                          <a:cs typeface="+mn-cs"/>
                        </a:rPr>
                      </a:br>
                      <a:r>
                        <a:rPr kumimoji="0" lang="es-ES" sz="1000" b="1" i="0" u="none" strike="noStrike" kern="1200" cap="none" normalizeH="0" baseline="0" dirty="0">
                          <a:ln>
                            <a:noFill/>
                          </a:ln>
                          <a:solidFill>
                            <a:schemeClr val="bg1"/>
                          </a:solidFill>
                          <a:effectLst/>
                          <a:latin typeface="Arial" charset="0"/>
                          <a:ea typeface="+mn-ea"/>
                          <a:cs typeface="+mn-cs"/>
                        </a:rPr>
                        <a:t>(Mb)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Periodicidad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Destino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Reproceso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Postproceso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Espacio anual requerido en la BBDD DB2</a:t>
                      </a:r>
                      <a:br>
                        <a:rPr kumimoji="0" lang="es-ES" sz="1000" b="1" i="0" u="none" strike="noStrike" kern="1200" cap="none" normalizeH="0" baseline="0" dirty="0">
                          <a:ln>
                            <a:noFill/>
                          </a:ln>
                          <a:solidFill>
                            <a:schemeClr val="bg1"/>
                          </a:solidFill>
                          <a:effectLst/>
                          <a:latin typeface="Arial" charset="0"/>
                          <a:ea typeface="+mn-ea"/>
                          <a:cs typeface="+mn-cs"/>
                        </a:rPr>
                      </a:br>
                      <a:r>
                        <a:rPr kumimoji="0" lang="es-ES" sz="1000" b="1" i="0" u="none" strike="noStrike" kern="1200" cap="none" normalizeH="0" baseline="0" dirty="0">
                          <a:ln>
                            <a:noFill/>
                          </a:ln>
                          <a:solidFill>
                            <a:schemeClr val="bg1"/>
                          </a:solidFill>
                          <a:effectLst/>
                          <a:latin typeface="Arial" charset="0"/>
                          <a:ea typeface="+mn-ea"/>
                          <a:cs typeface="+mn-cs"/>
                        </a:rPr>
                        <a:t>(Mb)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Tamaño fichero XML Export/Import</a:t>
                      </a:r>
                      <a:br>
                        <a:rPr kumimoji="0" lang="es-ES" sz="1000" b="1" i="0" u="none" strike="noStrike" kern="1200" cap="none" normalizeH="0" baseline="0" dirty="0">
                          <a:ln>
                            <a:noFill/>
                          </a:ln>
                          <a:solidFill>
                            <a:schemeClr val="bg1"/>
                          </a:solidFill>
                          <a:effectLst/>
                          <a:latin typeface="Arial" charset="0"/>
                          <a:ea typeface="+mn-ea"/>
                          <a:cs typeface="+mn-cs"/>
                        </a:rPr>
                      </a:br>
                      <a:r>
                        <a:rPr kumimoji="0" lang="es-ES" sz="1000" b="1" i="0" u="none" strike="noStrike" kern="1200" cap="none" normalizeH="0" baseline="0" dirty="0">
                          <a:ln>
                            <a:noFill/>
                          </a:ln>
                          <a:solidFill>
                            <a:schemeClr val="bg1"/>
                          </a:solidFill>
                          <a:effectLst/>
                          <a:latin typeface="Arial" charset="0"/>
                          <a:ea typeface="+mn-ea"/>
                          <a:cs typeface="+mn-cs"/>
                        </a:rPr>
                        <a:t>(Kb)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Volumetría </a:t>
                      </a:r>
                    </a:p>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Diario (1)</a:t>
                      </a:r>
                    </a:p>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(Mb)</a:t>
                      </a:r>
                    </a:p>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endParaRPr kumimoji="0" lang="es-ES" sz="1000" b="1" i="0" u="none" strike="noStrike" kern="1200" cap="none" normalizeH="0" baseline="0" dirty="0">
                        <a:ln>
                          <a:noFill/>
                        </a:ln>
                        <a:solidFill>
                          <a:schemeClr val="bg1"/>
                        </a:solidFill>
                        <a:effectLst/>
                        <a:latin typeface="Arial"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57059666"/>
                  </a:ext>
                </a:extLst>
              </a:tr>
              <a:tr h="297512">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Filesystem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6000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2 MB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4 MB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diaria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FileNet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SI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NO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15 KB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131,85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1754017"/>
                  </a:ext>
                </a:extLst>
              </a:tr>
            </a:tbl>
          </a:graphicData>
        </a:graphic>
      </p:graphicFrame>
    </p:spTree>
    <p:extLst>
      <p:ext uri="{BB962C8B-B14F-4D97-AF65-F5344CB8AC3E}">
        <p14:creationId xmlns:p14="http://schemas.microsoft.com/office/powerpoint/2010/main" val="41126426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0" y="42180"/>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Volumetrías</a:t>
            </a:r>
          </a:p>
        </p:txBody>
      </p:sp>
      <p:sp>
        <p:nvSpPr>
          <p:cNvPr id="10" name="2 Marcador de contenido">
            <a:extLst>
              <a:ext uri="{FF2B5EF4-FFF2-40B4-BE49-F238E27FC236}">
                <a16:creationId xmlns:a16="http://schemas.microsoft.com/office/drawing/2014/main" id="{2A10DB17-4FD3-452C-9BFE-B5A5B7285BAE}"/>
              </a:ext>
            </a:extLst>
          </p:cNvPr>
          <p:cNvSpPr txBox="1">
            <a:spLocks/>
          </p:cNvSpPr>
          <p:nvPr/>
        </p:nvSpPr>
        <p:spPr bwMode="auto">
          <a:xfrm>
            <a:off x="718457" y="2853653"/>
            <a:ext cx="10374489" cy="350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endParaRPr lang="es-ES" altLang="es-ES" sz="1600" dirty="0">
              <a:solidFill>
                <a:srgbClr val="808080"/>
              </a:solidFill>
            </a:endParaRPr>
          </a:p>
        </p:txBody>
      </p:sp>
      <p:sp>
        <p:nvSpPr>
          <p:cNvPr id="12" name="2 Marcador de contenido">
            <a:extLst>
              <a:ext uri="{FF2B5EF4-FFF2-40B4-BE49-F238E27FC236}">
                <a16:creationId xmlns:a16="http://schemas.microsoft.com/office/drawing/2014/main" id="{B887963D-5A03-4EB8-879F-D5E2142629D9}"/>
              </a:ext>
            </a:extLst>
          </p:cNvPr>
          <p:cNvSpPr txBox="1">
            <a:spLocks/>
          </p:cNvSpPr>
          <p:nvPr/>
        </p:nvSpPr>
        <p:spPr bwMode="auto">
          <a:xfrm>
            <a:off x="348047" y="654306"/>
            <a:ext cx="9144829" cy="48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 sz="2200" dirty="0">
                <a:solidFill>
                  <a:srgbClr val="FF0000"/>
                </a:solidFill>
              </a:rPr>
              <a:t>Volumetrías: Transferencia de Ficheros</a:t>
            </a:r>
          </a:p>
        </p:txBody>
      </p:sp>
      <p:graphicFrame>
        <p:nvGraphicFramePr>
          <p:cNvPr id="9" name="Tabla 8">
            <a:extLst>
              <a:ext uri="{FF2B5EF4-FFF2-40B4-BE49-F238E27FC236}">
                <a16:creationId xmlns:a16="http://schemas.microsoft.com/office/drawing/2014/main" id="{AA6FA93F-5234-4508-BCFD-3E13D753FB0B}"/>
              </a:ext>
            </a:extLst>
          </p:cNvPr>
          <p:cNvGraphicFramePr>
            <a:graphicFrameLocks noGrp="1"/>
          </p:cNvGraphicFramePr>
          <p:nvPr>
            <p:extLst>
              <p:ext uri="{D42A27DB-BD31-4B8C-83A1-F6EECF244321}">
                <p14:modId xmlns:p14="http://schemas.microsoft.com/office/powerpoint/2010/main" val="1570411478"/>
              </p:ext>
            </p:extLst>
          </p:nvPr>
        </p:nvGraphicFramePr>
        <p:xfrm>
          <a:off x="242552" y="1139728"/>
          <a:ext cx="11706895" cy="5422863"/>
        </p:xfrm>
        <a:graphic>
          <a:graphicData uri="http://schemas.openxmlformats.org/drawingml/2006/table">
            <a:tbl>
              <a:tblPr/>
              <a:tblGrid>
                <a:gridCol w="1080386">
                  <a:extLst>
                    <a:ext uri="{9D8B030D-6E8A-4147-A177-3AD203B41FA5}">
                      <a16:colId xmlns:a16="http://schemas.microsoft.com/office/drawing/2014/main" val="20000"/>
                    </a:ext>
                  </a:extLst>
                </a:gridCol>
                <a:gridCol w="795647">
                  <a:extLst>
                    <a:ext uri="{9D8B030D-6E8A-4147-A177-3AD203B41FA5}">
                      <a16:colId xmlns:a16="http://schemas.microsoft.com/office/drawing/2014/main" val="20001"/>
                    </a:ext>
                  </a:extLst>
                </a:gridCol>
                <a:gridCol w="878774">
                  <a:extLst>
                    <a:ext uri="{9D8B030D-6E8A-4147-A177-3AD203B41FA5}">
                      <a16:colId xmlns:a16="http://schemas.microsoft.com/office/drawing/2014/main" val="20002"/>
                    </a:ext>
                  </a:extLst>
                </a:gridCol>
                <a:gridCol w="997527">
                  <a:extLst>
                    <a:ext uri="{9D8B030D-6E8A-4147-A177-3AD203B41FA5}">
                      <a16:colId xmlns:a16="http://schemas.microsoft.com/office/drawing/2014/main" val="20003"/>
                    </a:ext>
                  </a:extLst>
                </a:gridCol>
                <a:gridCol w="1377537">
                  <a:extLst>
                    <a:ext uri="{9D8B030D-6E8A-4147-A177-3AD203B41FA5}">
                      <a16:colId xmlns:a16="http://schemas.microsoft.com/office/drawing/2014/main" val="20004"/>
                    </a:ext>
                  </a:extLst>
                </a:gridCol>
                <a:gridCol w="1318162">
                  <a:extLst>
                    <a:ext uri="{9D8B030D-6E8A-4147-A177-3AD203B41FA5}">
                      <a16:colId xmlns:a16="http://schemas.microsoft.com/office/drawing/2014/main" val="20005"/>
                    </a:ext>
                  </a:extLst>
                </a:gridCol>
                <a:gridCol w="676893">
                  <a:extLst>
                    <a:ext uri="{9D8B030D-6E8A-4147-A177-3AD203B41FA5}">
                      <a16:colId xmlns:a16="http://schemas.microsoft.com/office/drawing/2014/main" val="20006"/>
                    </a:ext>
                  </a:extLst>
                </a:gridCol>
                <a:gridCol w="890649">
                  <a:extLst>
                    <a:ext uri="{9D8B030D-6E8A-4147-A177-3AD203B41FA5}">
                      <a16:colId xmlns:a16="http://schemas.microsoft.com/office/drawing/2014/main" val="20007"/>
                    </a:ext>
                  </a:extLst>
                </a:gridCol>
                <a:gridCol w="1520042">
                  <a:extLst>
                    <a:ext uri="{9D8B030D-6E8A-4147-A177-3AD203B41FA5}">
                      <a16:colId xmlns:a16="http://schemas.microsoft.com/office/drawing/2014/main" val="20008"/>
                    </a:ext>
                  </a:extLst>
                </a:gridCol>
                <a:gridCol w="1009403">
                  <a:extLst>
                    <a:ext uri="{9D8B030D-6E8A-4147-A177-3AD203B41FA5}">
                      <a16:colId xmlns:a16="http://schemas.microsoft.com/office/drawing/2014/main" val="20009"/>
                    </a:ext>
                  </a:extLst>
                </a:gridCol>
                <a:gridCol w="1161875">
                  <a:extLst>
                    <a:ext uri="{9D8B030D-6E8A-4147-A177-3AD203B41FA5}">
                      <a16:colId xmlns:a16="http://schemas.microsoft.com/office/drawing/2014/main" val="20010"/>
                    </a:ext>
                  </a:extLst>
                </a:gridCol>
              </a:tblGrid>
              <a:tr h="301250">
                <a:tc gridSpan="11">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##Transferencia de Ficheros</a:t>
                      </a:r>
                    </a:p>
                  </a:txBody>
                  <a:tcPr marL="0" marR="0" marT="0" marB="0" anchor="ctr">
                    <a:lnL>
                      <a:noFill/>
                    </a:lnL>
                    <a:lnR>
                      <a:noFill/>
                    </a:lnR>
                    <a:lnT>
                      <a:noFill/>
                    </a:lnT>
                    <a:lnB w="6350" cap="flat" cmpd="sng" algn="ctr">
                      <a:solidFill>
                        <a:srgbClr val="DA9694"/>
                      </a:solidFill>
                      <a:prstDash val="solid"/>
                      <a:round/>
                      <a:headEnd type="none" w="med" len="med"/>
                      <a:tailEnd type="none" w="med" len="med"/>
                    </a:lnB>
                    <a:solidFill>
                      <a:srgbClr val="FF0000"/>
                    </a:solidFill>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0000"/>
                  </a:ext>
                </a:extLst>
              </a:tr>
              <a:tr h="701153">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Sistema Origen</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Sistema Destino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Protocolo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Tipo de Fichero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Tamaño Medio Fichero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Tamaño Máximo Fichero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a:solidFill>
                            <a:schemeClr val="bg1"/>
                          </a:solidFill>
                          <a:effectLst/>
                          <a:latin typeface="Arial" panose="020B0604020202020204" pitchFamily="34" charset="0"/>
                          <a:ea typeface="+mn-ea"/>
                          <a:cs typeface="Arial" panose="020B0604020202020204" pitchFamily="34" charset="0"/>
                        </a:rPr>
                        <a:t>Dias Retención Origen </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Años Retención Destino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a:solidFill>
                            <a:schemeClr val="bg1"/>
                          </a:solidFill>
                          <a:effectLst/>
                          <a:latin typeface="Arial" panose="020B0604020202020204" pitchFamily="34" charset="0"/>
                          <a:ea typeface="+mn-ea"/>
                          <a:cs typeface="Arial" panose="020B0604020202020204" pitchFamily="34" charset="0"/>
                        </a:rPr>
                        <a:t>Periodicidad</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a:solidFill>
                            <a:schemeClr val="bg1"/>
                          </a:solidFill>
                          <a:effectLst/>
                          <a:latin typeface="Arial" panose="020B0604020202020204" pitchFamily="34" charset="0"/>
                          <a:ea typeface="+mn-ea"/>
                          <a:cs typeface="Arial" panose="020B0604020202020204" pitchFamily="34" charset="0"/>
                        </a:rPr>
                        <a:t>Planificado Control-M</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Observaciones</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extLst>
                  <a:ext uri="{0D108BD9-81ED-4DB2-BD59-A6C34878D82A}">
                    <a16:rowId xmlns:a16="http://schemas.microsoft.com/office/drawing/2014/main" val="10001"/>
                  </a:ext>
                </a:extLst>
              </a:tr>
              <a:tr h="1105115">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Servidor Linux  propósito General (SSMM)</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HOST</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sFTP</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err="1">
                          <a:solidFill>
                            <a:srgbClr val="000000"/>
                          </a:solidFill>
                          <a:effectLst/>
                          <a:latin typeface="Arial" panose="020B0604020202020204" pitchFamily="34" charset="0"/>
                          <a:ea typeface="+mn-ea"/>
                          <a:cs typeface="Arial" panose="020B0604020202020204" pitchFamily="34" charset="0"/>
                        </a:rPr>
                        <a:t>txt</a:t>
                      </a:r>
                      <a:endPar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88900" indent="-88900" eaLnBrk="1" hangingPunct="1">
                        <a:defRPr/>
                      </a:pPr>
                      <a:r>
                        <a:rPr lang="es-ES" sz="800" dirty="0">
                          <a:latin typeface="Arial" charset="0"/>
                        </a:rPr>
                        <a:t>-</a:t>
                      </a:r>
                      <a:r>
                        <a:rPr lang="es-ES" sz="800" dirty="0" err="1">
                          <a:latin typeface="Arial" charset="0"/>
                        </a:rPr>
                        <a:t>Nº</a:t>
                      </a:r>
                      <a:r>
                        <a:rPr lang="es-ES" sz="800" dirty="0">
                          <a:latin typeface="Arial" charset="0"/>
                        </a:rPr>
                        <a:t> medio/pico de registros/fichero = 50 / 200</a:t>
                      </a:r>
                    </a:p>
                    <a:p>
                      <a:pPr marL="88900" indent="-88900" eaLnBrk="1" hangingPunct="1">
                        <a:defRPr/>
                      </a:pPr>
                      <a:endParaRPr lang="es-ES" sz="800" dirty="0">
                        <a:latin typeface="Arial" charset="0"/>
                      </a:endParaRPr>
                    </a:p>
                    <a:p>
                      <a:pPr marL="88900" indent="-88900" eaLnBrk="1" hangingPunct="1">
                        <a:defRPr/>
                      </a:pPr>
                      <a:r>
                        <a:rPr lang="es-ES" sz="800" dirty="0">
                          <a:latin typeface="Arial" charset="0"/>
                        </a:rPr>
                        <a:t>Tamaño medio/pico /fichero = 2.5 kb/ 10 kb</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algn="ctr"/>
                      <a:r>
                        <a:rPr lang="es-ES" sz="800" b="1" kern="1200" dirty="0">
                          <a:solidFill>
                            <a:schemeClr val="tx1"/>
                          </a:solidFill>
                          <a:effectLst/>
                          <a:latin typeface="+mn-lt"/>
                          <a:ea typeface="+mn-ea"/>
                          <a:cs typeface="+mn-cs"/>
                        </a:rPr>
                        <a:t>.</a:t>
                      </a:r>
                      <a:endParaRPr lang="es-ES" sz="800" kern="1200" dirty="0">
                        <a:solidFill>
                          <a:schemeClr val="tx1"/>
                        </a:solidFill>
                        <a:effectLst/>
                        <a:latin typeface="+mn-lt"/>
                        <a:ea typeface="+mn-ea"/>
                        <a:cs typeface="+mn-cs"/>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30</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FF0000"/>
                          </a:solidFill>
                          <a:effectLst/>
                          <a:latin typeface="Arial" panose="020B0604020202020204" pitchFamily="34" charset="0"/>
                          <a:ea typeface="+mn-ea"/>
                          <a:cs typeface="Arial" panose="020B0604020202020204" pitchFamily="34" charset="0"/>
                        </a:rPr>
                        <a:t>-</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diario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si</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 sz="800" b="1" i="0" u="none" strike="noStrike" kern="1200" dirty="0">
                          <a:solidFill>
                            <a:schemeClr val="tx1"/>
                          </a:solidFill>
                          <a:effectLst/>
                          <a:latin typeface="+mn-lt"/>
                          <a:ea typeface="+mn-ea"/>
                          <a:cs typeface="+mn-cs"/>
                        </a:rPr>
                        <a:t>Proceso de cancelación de </a:t>
                      </a:r>
                      <a:r>
                        <a:rPr lang="es-ES" sz="800" b="1" i="0" u="none" strike="noStrike" kern="1200" dirty="0" err="1">
                          <a:solidFill>
                            <a:schemeClr val="tx1"/>
                          </a:solidFill>
                          <a:effectLst/>
                          <a:latin typeface="+mn-lt"/>
                          <a:ea typeface="+mn-ea"/>
                          <a:cs typeface="+mn-cs"/>
                        </a:rPr>
                        <a:t>solictud</a:t>
                      </a:r>
                      <a:r>
                        <a:rPr lang="es-ES" sz="800" b="1" i="0" u="none" strike="noStrike" kern="1200" dirty="0">
                          <a:solidFill>
                            <a:schemeClr val="tx1"/>
                          </a:solidFill>
                          <a:effectLst/>
                          <a:latin typeface="+mn-lt"/>
                          <a:ea typeface="+mn-ea"/>
                          <a:cs typeface="+mn-cs"/>
                        </a:rPr>
                        <a:t> por caducidad</a:t>
                      </a:r>
                      <a:endParaRPr lang="es-ES_tradnl" sz="8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2"/>
                  </a:ext>
                </a:extLst>
              </a:tr>
              <a:tr h="1105115">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Servidor Linux  propósito General (SSMM)</a:t>
                      </a:r>
                    </a:p>
                    <a:p>
                      <a:pPr marL="0" algn="ctr" defTabSz="914400" rtl="0" eaLnBrk="1" fontAlgn="ctr" latinLnBrk="0" hangingPunct="1"/>
                      <a:endPar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Servidor Externo Universia</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sFTP</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err="1">
                          <a:solidFill>
                            <a:srgbClr val="000000"/>
                          </a:solidFill>
                          <a:effectLst/>
                          <a:latin typeface="Arial" panose="020B0604020202020204" pitchFamily="34" charset="0"/>
                          <a:ea typeface="+mn-ea"/>
                          <a:cs typeface="Arial" panose="020B0604020202020204" pitchFamily="34" charset="0"/>
                        </a:rPr>
                        <a:t>txt</a:t>
                      </a:r>
                      <a:endPar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171450" indent="-171450">
                        <a:buFont typeface="Arial" panose="020B0604020202020204" pitchFamily="34" charset="0"/>
                        <a:buChar char="•"/>
                        <a:defRPr/>
                      </a:pPr>
                      <a:r>
                        <a:rPr lang="es-ES" sz="800" b="1" dirty="0" err="1">
                          <a:solidFill>
                            <a:schemeClr val="tx1"/>
                          </a:solidFill>
                        </a:rPr>
                        <a:t>Nº</a:t>
                      </a:r>
                      <a:r>
                        <a:rPr lang="es-ES" sz="800" b="1" dirty="0">
                          <a:solidFill>
                            <a:schemeClr val="tx1"/>
                          </a:solidFill>
                        </a:rPr>
                        <a:t> medio/máximo de registros por fichero</a:t>
                      </a:r>
                      <a:r>
                        <a:rPr lang="es-ES" sz="800" dirty="0">
                          <a:solidFill>
                            <a:schemeClr val="tx1"/>
                          </a:solidFill>
                        </a:rPr>
                        <a:t>:  2.000/3.000</a:t>
                      </a:r>
                    </a:p>
                    <a:p>
                      <a:pPr marL="171450" indent="-171450">
                        <a:buFont typeface="Arial" panose="020B0604020202020204" pitchFamily="34" charset="0"/>
                        <a:buChar char="•"/>
                        <a:defRPr/>
                      </a:pPr>
                      <a:r>
                        <a:rPr lang="es-ES" sz="800" b="1" dirty="0">
                          <a:solidFill>
                            <a:schemeClr val="tx1"/>
                          </a:solidFill>
                        </a:rPr>
                        <a:t>Tamaño medio/máximo (en kb) del fichero</a:t>
                      </a:r>
                      <a:r>
                        <a:rPr lang="es-ES" sz="800" dirty="0">
                          <a:solidFill>
                            <a:schemeClr val="tx1"/>
                          </a:solidFill>
                        </a:rPr>
                        <a:t>: 2Mb / 3 Mb</a:t>
                      </a:r>
                    </a:p>
                    <a:p>
                      <a:pPr marL="171450" indent="-171450">
                        <a:buFont typeface="Arial" panose="020B0604020202020204" pitchFamily="34" charset="0"/>
                        <a:buChar char="•"/>
                        <a:defRPr/>
                      </a:pPr>
                      <a:r>
                        <a:rPr lang="es-ES" sz="800" b="1" dirty="0" err="1">
                          <a:solidFill>
                            <a:schemeClr val="tx1"/>
                          </a:solidFill>
                        </a:rPr>
                        <a:t>Nº</a:t>
                      </a:r>
                      <a:r>
                        <a:rPr lang="es-ES" sz="800" b="1" dirty="0">
                          <a:solidFill>
                            <a:schemeClr val="tx1"/>
                          </a:solidFill>
                        </a:rPr>
                        <a:t> de ficheros enviados al día</a:t>
                      </a:r>
                      <a:r>
                        <a:rPr lang="es-ES" sz="800" dirty="0">
                          <a:solidFill>
                            <a:schemeClr val="tx1"/>
                          </a:solidFill>
                        </a:rPr>
                        <a:t>: 1</a:t>
                      </a:r>
                    </a:p>
                    <a:p>
                      <a:pPr marL="88900" indent="-88900" eaLnBrk="1" hangingPunct="1">
                        <a:defRPr/>
                      </a:pPr>
                      <a:endParaRPr lang="es-ES" sz="800" dirty="0">
                        <a:latin typeface="Arial"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algn="ctr"/>
                      <a:r>
                        <a:rPr lang="es-ES" sz="800" b="1" kern="1200" dirty="0">
                          <a:solidFill>
                            <a:schemeClr val="tx1"/>
                          </a:solidFill>
                          <a:effectLst/>
                          <a:latin typeface="+mn-lt"/>
                          <a:ea typeface="+mn-ea"/>
                          <a:cs typeface="+mn-cs"/>
                        </a:rPr>
                        <a:t>.</a:t>
                      </a:r>
                      <a:endParaRPr lang="es-ES" sz="800" kern="1200" dirty="0">
                        <a:solidFill>
                          <a:schemeClr val="tx1"/>
                        </a:solidFill>
                        <a:effectLst/>
                        <a:latin typeface="+mn-lt"/>
                        <a:ea typeface="+mn-ea"/>
                        <a:cs typeface="+mn-cs"/>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30</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diario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si</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 sz="800" b="1" i="0" u="none" strike="noStrike" kern="1200" dirty="0">
                          <a:solidFill>
                            <a:schemeClr val="tx1"/>
                          </a:solidFill>
                          <a:effectLst/>
                          <a:latin typeface="+mn-lt"/>
                          <a:ea typeface="+mn-ea"/>
                          <a:cs typeface="+mn-cs"/>
                        </a:rPr>
                        <a:t>Proceso de </a:t>
                      </a:r>
                      <a:r>
                        <a:rPr lang="es-ES" sz="800" b="1" i="0" u="none" strike="noStrike" kern="1200" dirty="0" err="1">
                          <a:solidFill>
                            <a:schemeClr val="tx1"/>
                          </a:solidFill>
                          <a:effectLst/>
                          <a:latin typeface="+mn-lt"/>
                          <a:ea typeface="+mn-ea"/>
                          <a:cs typeface="+mn-cs"/>
                        </a:rPr>
                        <a:t>envio</a:t>
                      </a:r>
                      <a:r>
                        <a:rPr lang="es-ES" sz="800" b="1" i="0" u="none" strike="noStrike" kern="1200" dirty="0">
                          <a:solidFill>
                            <a:schemeClr val="tx1"/>
                          </a:solidFill>
                          <a:effectLst/>
                          <a:latin typeface="+mn-lt"/>
                          <a:ea typeface="+mn-ea"/>
                          <a:cs typeface="+mn-cs"/>
                        </a:rPr>
                        <a:t> de información a </a:t>
                      </a:r>
                      <a:r>
                        <a:rPr lang="es-ES" sz="800" b="1" i="0" u="none" strike="noStrike" kern="1200" dirty="0" err="1">
                          <a:solidFill>
                            <a:schemeClr val="tx1"/>
                          </a:solidFill>
                          <a:effectLst/>
                          <a:latin typeface="+mn-lt"/>
                          <a:ea typeface="+mn-ea"/>
                          <a:cs typeface="+mn-cs"/>
                        </a:rPr>
                        <a:t>Uversia</a:t>
                      </a:r>
                      <a:endParaRPr lang="es-ES_tradnl" sz="8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3261885"/>
                  </a:ext>
                </a:extLst>
              </a:tr>
              <a:tr h="1105115">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Servidor Linux  propósito General (SSMM)</a:t>
                      </a:r>
                    </a:p>
                    <a:p>
                      <a:pPr marL="0" algn="ctr" defTabSz="914400" rtl="0" eaLnBrk="1" fontAlgn="ctr" latinLnBrk="0" hangingPunct="1"/>
                      <a:endPar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Servidor Externo Confirma</a:t>
                      </a:r>
                    </a:p>
                    <a:p>
                      <a:pPr marL="0" marR="0" lvl="0" indent="0" algn="ctr" defTabSz="914400" rtl="0" eaLnBrk="1" fontAlgn="ctr" latinLnBrk="0" hangingPunct="1">
                        <a:lnSpc>
                          <a:spcPct val="100000"/>
                        </a:lnSpc>
                        <a:spcBef>
                          <a:spcPts val="0"/>
                        </a:spcBef>
                        <a:spcAft>
                          <a:spcPts val="0"/>
                        </a:spcAft>
                        <a:buClrTx/>
                        <a:buSzTx/>
                        <a:buFontTx/>
                        <a:buNone/>
                        <a:tabLst/>
                        <a:defRPr/>
                      </a:pPr>
                      <a:endPar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sFTP</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err="1">
                          <a:solidFill>
                            <a:srgbClr val="000000"/>
                          </a:solidFill>
                          <a:effectLst/>
                          <a:latin typeface="Arial" panose="020B0604020202020204" pitchFamily="34" charset="0"/>
                          <a:ea typeface="+mn-ea"/>
                          <a:cs typeface="Arial" panose="020B0604020202020204" pitchFamily="34" charset="0"/>
                        </a:rPr>
                        <a:t>txt</a:t>
                      </a:r>
                      <a:endPar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171450" indent="-171450">
                        <a:buFont typeface="Arial" panose="020B0604020202020204" pitchFamily="34" charset="0"/>
                        <a:buChar char="•"/>
                        <a:defRPr/>
                      </a:pPr>
                      <a:r>
                        <a:rPr lang="es-ES" sz="800" b="1" dirty="0" err="1">
                          <a:solidFill>
                            <a:schemeClr val="tx1"/>
                          </a:solidFill>
                        </a:rPr>
                        <a:t>Nº</a:t>
                      </a:r>
                      <a:r>
                        <a:rPr lang="es-ES" sz="800" b="1" dirty="0">
                          <a:solidFill>
                            <a:schemeClr val="tx1"/>
                          </a:solidFill>
                        </a:rPr>
                        <a:t> medio/máximo de registros por fichero</a:t>
                      </a:r>
                      <a:r>
                        <a:rPr lang="es-ES" sz="800" dirty="0">
                          <a:solidFill>
                            <a:schemeClr val="tx1"/>
                          </a:solidFill>
                        </a:rPr>
                        <a:t>:  500</a:t>
                      </a:r>
                    </a:p>
                    <a:p>
                      <a:pPr marL="171450" indent="-171450">
                        <a:buFont typeface="Arial" panose="020B0604020202020204" pitchFamily="34" charset="0"/>
                        <a:buChar char="•"/>
                        <a:defRPr/>
                      </a:pPr>
                      <a:r>
                        <a:rPr lang="es-ES" sz="800" b="1" dirty="0">
                          <a:solidFill>
                            <a:schemeClr val="tx1"/>
                          </a:solidFill>
                        </a:rPr>
                        <a:t>Tamaño medio/máximo (en kb) del fichero</a:t>
                      </a:r>
                      <a:r>
                        <a:rPr lang="es-ES" sz="800" dirty="0">
                          <a:solidFill>
                            <a:schemeClr val="tx1"/>
                          </a:solidFill>
                        </a:rPr>
                        <a:t>: 50kb</a:t>
                      </a:r>
                    </a:p>
                    <a:p>
                      <a:pPr marL="171450" indent="-171450">
                        <a:buFont typeface="Arial" panose="020B0604020202020204" pitchFamily="34" charset="0"/>
                        <a:buChar char="•"/>
                        <a:defRPr/>
                      </a:pPr>
                      <a:r>
                        <a:rPr lang="es-ES" sz="800" b="1" dirty="0" err="1">
                          <a:solidFill>
                            <a:schemeClr val="tx1"/>
                          </a:solidFill>
                        </a:rPr>
                        <a:t>Nº</a:t>
                      </a:r>
                      <a:r>
                        <a:rPr lang="es-ES" sz="800" b="1" dirty="0">
                          <a:solidFill>
                            <a:schemeClr val="tx1"/>
                          </a:solidFill>
                        </a:rPr>
                        <a:t> de ficheros enviados al día</a:t>
                      </a:r>
                      <a:r>
                        <a:rPr lang="es-ES" sz="800" dirty="0">
                          <a:solidFill>
                            <a:schemeClr val="tx1"/>
                          </a:solidFill>
                        </a:rPr>
                        <a:t>: 1</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algn="ctr"/>
                      <a:r>
                        <a:rPr lang="es-ES" sz="800" b="1" kern="1200" dirty="0">
                          <a:solidFill>
                            <a:schemeClr val="tx1"/>
                          </a:solidFill>
                          <a:effectLst/>
                          <a:latin typeface="+mn-lt"/>
                          <a:ea typeface="+mn-ea"/>
                          <a:cs typeface="+mn-cs"/>
                        </a:rPr>
                        <a:t>.</a:t>
                      </a:r>
                      <a:endParaRPr lang="es-ES" sz="800" kern="1200" dirty="0">
                        <a:solidFill>
                          <a:schemeClr val="tx1"/>
                        </a:solidFill>
                        <a:effectLst/>
                        <a:latin typeface="+mn-lt"/>
                        <a:ea typeface="+mn-ea"/>
                        <a:cs typeface="+mn-cs"/>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30</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diario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si</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 sz="800" b="1" i="0" u="none" strike="noStrike" kern="1200" dirty="0">
                          <a:solidFill>
                            <a:schemeClr val="tx1"/>
                          </a:solidFill>
                          <a:effectLst/>
                          <a:latin typeface="+mn-lt"/>
                          <a:ea typeface="+mn-ea"/>
                          <a:cs typeface="+mn-cs"/>
                        </a:rPr>
                        <a:t>Proceso de </a:t>
                      </a:r>
                      <a:r>
                        <a:rPr lang="es-ES" sz="800" b="1" i="0" u="none" strike="noStrike" kern="1200" dirty="0" err="1">
                          <a:solidFill>
                            <a:schemeClr val="tx1"/>
                          </a:solidFill>
                          <a:effectLst/>
                          <a:latin typeface="+mn-lt"/>
                          <a:ea typeface="+mn-ea"/>
                          <a:cs typeface="+mn-cs"/>
                        </a:rPr>
                        <a:t>envio</a:t>
                      </a:r>
                      <a:r>
                        <a:rPr lang="es-ES" sz="800" b="1" i="0" u="none" strike="noStrike" kern="1200" dirty="0">
                          <a:solidFill>
                            <a:schemeClr val="tx1"/>
                          </a:solidFill>
                          <a:effectLst/>
                          <a:latin typeface="+mn-lt"/>
                          <a:ea typeface="+mn-ea"/>
                          <a:cs typeface="+mn-cs"/>
                        </a:rPr>
                        <a:t> de información a Confirma</a:t>
                      </a:r>
                      <a:endParaRPr lang="es-ES_tradnl" sz="8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125518220"/>
                  </a:ext>
                </a:extLst>
              </a:tr>
              <a:tr h="1105115">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Servidor Linux  propósito General (SSMM)</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FS de dominio Campañas</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sFTP</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err="1">
                          <a:solidFill>
                            <a:srgbClr val="000000"/>
                          </a:solidFill>
                          <a:effectLst/>
                          <a:latin typeface="Arial" panose="020B0604020202020204" pitchFamily="34" charset="0"/>
                          <a:ea typeface="+mn-ea"/>
                          <a:cs typeface="Arial" panose="020B0604020202020204" pitchFamily="34" charset="0"/>
                        </a:rPr>
                        <a:t>txt</a:t>
                      </a:r>
                      <a:endPar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171450" indent="-171450">
                        <a:buFont typeface="Arial" panose="020B0604020202020204" pitchFamily="34" charset="0"/>
                        <a:buChar char="•"/>
                        <a:defRPr/>
                      </a:pPr>
                      <a:r>
                        <a:rPr lang="es-ES" sz="800" b="1" dirty="0" err="1">
                          <a:solidFill>
                            <a:schemeClr val="tx1"/>
                          </a:solidFill>
                        </a:rPr>
                        <a:t>Nº</a:t>
                      </a:r>
                      <a:r>
                        <a:rPr lang="es-ES" sz="800" b="1" dirty="0">
                          <a:solidFill>
                            <a:schemeClr val="tx1"/>
                          </a:solidFill>
                        </a:rPr>
                        <a:t> medio/máximo de registros por fichero</a:t>
                      </a:r>
                      <a:r>
                        <a:rPr lang="es-ES" sz="800" dirty="0">
                          <a:solidFill>
                            <a:schemeClr val="tx1"/>
                          </a:solidFill>
                        </a:rPr>
                        <a:t>:  20</a:t>
                      </a:r>
                    </a:p>
                    <a:p>
                      <a:pPr marL="171450" indent="-171450">
                        <a:buFont typeface="Arial" panose="020B0604020202020204" pitchFamily="34" charset="0"/>
                        <a:buChar char="•"/>
                        <a:defRPr/>
                      </a:pPr>
                      <a:r>
                        <a:rPr lang="es-ES" sz="800" b="1" dirty="0">
                          <a:solidFill>
                            <a:schemeClr val="tx1"/>
                          </a:solidFill>
                        </a:rPr>
                        <a:t>Tamaño medio/máximo (en kb) del fichero</a:t>
                      </a:r>
                      <a:r>
                        <a:rPr lang="es-ES" sz="800" dirty="0">
                          <a:solidFill>
                            <a:schemeClr val="tx1"/>
                          </a:solidFill>
                        </a:rPr>
                        <a:t>: 2Kb</a:t>
                      </a:r>
                    </a:p>
                    <a:p>
                      <a:pPr marL="171450" indent="-171450">
                        <a:buFont typeface="Arial" panose="020B0604020202020204" pitchFamily="34" charset="0"/>
                        <a:buChar char="•"/>
                        <a:defRPr/>
                      </a:pPr>
                      <a:r>
                        <a:rPr lang="es-ES" sz="800" b="1" dirty="0" err="1">
                          <a:solidFill>
                            <a:schemeClr val="tx1"/>
                          </a:solidFill>
                        </a:rPr>
                        <a:t>Nº</a:t>
                      </a:r>
                      <a:r>
                        <a:rPr lang="es-ES" sz="800" b="1" dirty="0">
                          <a:solidFill>
                            <a:schemeClr val="tx1"/>
                          </a:solidFill>
                        </a:rPr>
                        <a:t> de ficheros enviados al día</a:t>
                      </a:r>
                      <a:r>
                        <a:rPr lang="es-ES" sz="800" dirty="0">
                          <a:solidFill>
                            <a:schemeClr val="tx1"/>
                          </a:solidFill>
                        </a:rPr>
                        <a:t>: 1</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algn="ctr"/>
                      <a:r>
                        <a:rPr lang="es-ES" sz="800" b="1" kern="1200" dirty="0">
                          <a:solidFill>
                            <a:schemeClr val="tx1"/>
                          </a:solidFill>
                          <a:effectLst/>
                          <a:latin typeface="+mn-lt"/>
                          <a:ea typeface="+mn-ea"/>
                          <a:cs typeface="+mn-cs"/>
                        </a:rPr>
                        <a:t>.</a:t>
                      </a:r>
                      <a:endParaRPr lang="es-ES" sz="800" kern="1200" dirty="0">
                        <a:solidFill>
                          <a:schemeClr val="tx1"/>
                        </a:solidFill>
                        <a:effectLst/>
                        <a:latin typeface="+mn-lt"/>
                        <a:ea typeface="+mn-ea"/>
                        <a:cs typeface="+mn-cs"/>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30</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FF0000"/>
                          </a:solidFill>
                          <a:effectLst/>
                          <a:latin typeface="Arial" panose="020B0604020202020204" pitchFamily="34" charset="0"/>
                          <a:ea typeface="+mn-ea"/>
                          <a:cs typeface="Arial" panose="020B0604020202020204" pitchFamily="34" charset="0"/>
                        </a:rPr>
                        <a:t>.</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diario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si</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 sz="800" b="1" i="0" u="none" strike="noStrike" kern="1200" dirty="0">
                          <a:solidFill>
                            <a:schemeClr val="tx1"/>
                          </a:solidFill>
                          <a:effectLst/>
                          <a:latin typeface="+mn-lt"/>
                          <a:ea typeface="+mn-ea"/>
                          <a:cs typeface="+mn-cs"/>
                        </a:rPr>
                        <a:t>Proceso de </a:t>
                      </a:r>
                      <a:r>
                        <a:rPr lang="es-ES" sz="800" b="1" i="0" u="none" strike="noStrike" kern="1200" dirty="0" err="1">
                          <a:solidFill>
                            <a:schemeClr val="tx1"/>
                          </a:solidFill>
                          <a:effectLst/>
                          <a:latin typeface="+mn-lt"/>
                          <a:ea typeface="+mn-ea"/>
                          <a:cs typeface="+mn-cs"/>
                        </a:rPr>
                        <a:t>envio</a:t>
                      </a:r>
                      <a:r>
                        <a:rPr lang="es-ES" sz="800" b="1" i="0" u="none" strike="noStrike" kern="1200" dirty="0">
                          <a:solidFill>
                            <a:schemeClr val="tx1"/>
                          </a:solidFill>
                          <a:effectLst/>
                          <a:latin typeface="+mn-lt"/>
                          <a:ea typeface="+mn-ea"/>
                          <a:cs typeface="+mn-cs"/>
                        </a:rPr>
                        <a:t> de información a sistema de adhesión de campañas</a:t>
                      </a:r>
                      <a:endParaRPr lang="es-ES_tradnl" sz="8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14841174"/>
                  </a:ext>
                </a:extLst>
              </a:tr>
            </a:tbl>
          </a:graphicData>
        </a:graphic>
      </p:graphicFrame>
    </p:spTree>
    <p:extLst>
      <p:ext uri="{BB962C8B-B14F-4D97-AF65-F5344CB8AC3E}">
        <p14:creationId xmlns:p14="http://schemas.microsoft.com/office/powerpoint/2010/main" val="10025774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0" y="42180"/>
            <a:ext cx="8928514"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Hardware, Software y Alta Disponibilidad</a:t>
            </a:r>
          </a:p>
        </p:txBody>
      </p:sp>
      <p:sp>
        <p:nvSpPr>
          <p:cNvPr id="20" name="Rectangle 4">
            <a:extLst>
              <a:ext uri="{FF2B5EF4-FFF2-40B4-BE49-F238E27FC236}">
                <a16:creationId xmlns:a16="http://schemas.microsoft.com/office/drawing/2014/main" id="{7A06D9D2-1607-4045-A83D-35252A9DCF86}"/>
              </a:ext>
            </a:extLst>
          </p:cNvPr>
          <p:cNvSpPr>
            <a:spLocks noChangeArrowheads="1"/>
          </p:cNvSpPr>
          <p:nvPr/>
        </p:nvSpPr>
        <p:spPr bwMode="auto">
          <a:xfrm>
            <a:off x="489364" y="1987872"/>
            <a:ext cx="8439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ts val="2400"/>
              </a:lnSpc>
              <a:spcBef>
                <a:spcPct val="20000"/>
              </a:spcBef>
              <a:buClr>
                <a:srgbClr val="FFFFFF"/>
              </a:buClr>
              <a:buSzPct val="25000"/>
              <a:buFont typeface="Times" charset="0"/>
              <a:buChar char="•"/>
              <a:defRPr/>
            </a:pPr>
            <a:endParaRPr lang="es-ES_tradnl" sz="2000" kern="0" dirty="0">
              <a:solidFill>
                <a:srgbClr val="FF0000"/>
              </a:solidFill>
              <a:latin typeface="Arial" panose="020B0604020202020204" pitchFamily="34" charset="0"/>
            </a:endParaRPr>
          </a:p>
        </p:txBody>
      </p:sp>
      <p:sp>
        <p:nvSpPr>
          <p:cNvPr id="2" name="Rectángulo 1">
            <a:extLst>
              <a:ext uri="{FF2B5EF4-FFF2-40B4-BE49-F238E27FC236}">
                <a16:creationId xmlns:a16="http://schemas.microsoft.com/office/drawing/2014/main" id="{3F380023-6E84-4AD7-B1FB-64A83492B468}"/>
              </a:ext>
            </a:extLst>
          </p:cNvPr>
          <p:cNvSpPr/>
          <p:nvPr/>
        </p:nvSpPr>
        <p:spPr>
          <a:xfrm>
            <a:off x="489364" y="663304"/>
            <a:ext cx="11125200" cy="701731"/>
          </a:xfrm>
          <a:prstGeom prst="rect">
            <a:avLst/>
          </a:prstGeom>
        </p:spPr>
        <p:txBody>
          <a:bodyPr wrap="square">
            <a:spAutoFit/>
          </a:bodyPr>
          <a:lstStyle/>
          <a:p>
            <a:pPr defTabSz="844083"/>
            <a:endParaRPr lang="es-ES" altLang="es-ES" dirty="0">
              <a:solidFill>
                <a:schemeClr val="bg1">
                  <a:lumMod val="50000"/>
                </a:schemeClr>
              </a:solidFill>
              <a:latin typeface="Arial" charset="0"/>
              <a:cs typeface="Arial" charset="0"/>
            </a:endParaRPr>
          </a:p>
          <a:p>
            <a:pPr fontAlgn="t">
              <a:spcBef>
                <a:spcPct val="20000"/>
              </a:spcBef>
              <a:spcAft>
                <a:spcPct val="0"/>
              </a:spcAft>
              <a:defRPr/>
            </a:pPr>
            <a:endParaRPr lang="it-IT" dirty="0">
              <a:solidFill>
                <a:schemeClr val="bg1">
                  <a:lumMod val="50000"/>
                </a:schemeClr>
              </a:solidFill>
              <a:latin typeface="Arial" charset="0"/>
              <a:cs typeface="Arial" charset="0"/>
            </a:endParaRPr>
          </a:p>
        </p:txBody>
      </p:sp>
      <p:sp>
        <p:nvSpPr>
          <p:cNvPr id="11" name="Rectangle 1">
            <a:extLst>
              <a:ext uri="{FF2B5EF4-FFF2-40B4-BE49-F238E27FC236}">
                <a16:creationId xmlns:a16="http://schemas.microsoft.com/office/drawing/2014/main" id="{4511CB86-772B-4F71-84F1-1A2D4ED0C004}"/>
              </a:ext>
            </a:extLst>
          </p:cNvPr>
          <p:cNvSpPr>
            <a:spLocks noChangeArrowheads="1"/>
          </p:cNvSpPr>
          <p:nvPr/>
        </p:nvSpPr>
        <p:spPr bwMode="auto">
          <a:xfrm>
            <a:off x="2577376" y="3260294"/>
            <a:ext cx="170525" cy="34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4406" tIns="42203" rIns="84406" bIns="42203" numCol="1" anchor="ctr" anchorCtr="0" compatLnSpc="1">
            <a:prstTxWarp prst="textNoShape">
              <a:avLst/>
            </a:prstTxWarp>
            <a:spAutoFit/>
          </a:bodyPr>
          <a:lstStyle/>
          <a:p>
            <a:endParaRPr lang="es-ES" sz="1662" dirty="0"/>
          </a:p>
        </p:txBody>
      </p:sp>
      <p:sp>
        <p:nvSpPr>
          <p:cNvPr id="15" name="Rectangle 156">
            <a:extLst>
              <a:ext uri="{FF2B5EF4-FFF2-40B4-BE49-F238E27FC236}">
                <a16:creationId xmlns:a16="http://schemas.microsoft.com/office/drawing/2014/main" id="{CBDC93E5-958C-4782-9262-8EE90CDE8682}"/>
              </a:ext>
            </a:extLst>
          </p:cNvPr>
          <p:cNvSpPr>
            <a:spLocks noChangeArrowheads="1"/>
          </p:cNvSpPr>
          <p:nvPr/>
        </p:nvSpPr>
        <p:spPr bwMode="auto">
          <a:xfrm>
            <a:off x="643325" y="424807"/>
            <a:ext cx="10620284" cy="2630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844083"/>
            <a:r>
              <a:rPr lang="es-ES" altLang="es-ES" sz="923" dirty="0">
                <a:solidFill>
                  <a:srgbClr val="000000"/>
                </a:solidFill>
                <a:latin typeface="Calibri" panose="020F0502020204030204" pitchFamily="34" charset="0"/>
              </a:rPr>
              <a:t> </a:t>
            </a:r>
            <a:endParaRPr lang="es-ES" altLang="es-ES" sz="1477" dirty="0">
              <a:solidFill>
                <a:srgbClr val="000000"/>
              </a:solidFill>
              <a:latin typeface="Calibri" panose="020F0502020204030204" pitchFamily="34" charset="0"/>
            </a:endParaRPr>
          </a:p>
          <a:p>
            <a:pPr lvl="0">
              <a:buClrTx/>
            </a:pPr>
            <a:r>
              <a:rPr lang="es-ES" altLang="es-ES" sz="1477" u="sng" dirty="0">
                <a:solidFill>
                  <a:srgbClr val="808080"/>
                </a:solidFill>
                <a:latin typeface="Arial"/>
              </a:rPr>
              <a:t>BD Oracle </a:t>
            </a:r>
            <a:r>
              <a:rPr lang="es-ES" altLang="es-ES" sz="1477" dirty="0">
                <a:solidFill>
                  <a:srgbClr val="808080"/>
                </a:solidFill>
                <a:latin typeface="Arial"/>
              </a:rPr>
              <a:t>: </a:t>
            </a:r>
          </a:p>
          <a:p>
            <a:pPr lvl="0">
              <a:buClrTx/>
            </a:pPr>
            <a:endParaRPr lang="es-ES" altLang="es-ES" sz="1477" dirty="0">
              <a:solidFill>
                <a:srgbClr val="808080"/>
              </a:solidFill>
              <a:latin typeface="Arial"/>
            </a:endParaRPr>
          </a:p>
          <a:p>
            <a:pPr marL="263776" indent="-263776">
              <a:buFont typeface="Arial" panose="020B0604020202020204" pitchFamily="34" charset="0"/>
              <a:buChar char="•"/>
            </a:pPr>
            <a:r>
              <a:rPr lang="es-ES" altLang="es-ES" sz="1477" dirty="0">
                <a:solidFill>
                  <a:srgbClr val="808080"/>
                </a:solidFill>
                <a:latin typeface="Arial"/>
              </a:rPr>
              <a:t>Según datos de volumetría tendremos el siguiente incremento de sizing en esta base de datos</a:t>
            </a:r>
          </a:p>
          <a:p>
            <a:pPr marL="263776" indent="-263776">
              <a:buFont typeface="Arial" panose="020B0604020202020204" pitchFamily="34" charset="0"/>
              <a:buChar char="•"/>
            </a:pPr>
            <a:r>
              <a:rPr lang="es-ES" altLang="es-ES" sz="1477" dirty="0">
                <a:solidFill>
                  <a:srgbClr val="808080"/>
                </a:solidFill>
                <a:latin typeface="Arial"/>
              </a:rPr>
              <a:t>Se desplegarán &lt; 5 tablas en la base de datos nueva, según datos indicados en los siguientes apartados</a:t>
            </a:r>
          </a:p>
          <a:p>
            <a:pPr marL="263776" indent="-263776">
              <a:buFont typeface="Arial" panose="020B0604020202020204" pitchFamily="34" charset="0"/>
              <a:buChar char="•"/>
            </a:pPr>
            <a:r>
              <a:rPr lang="es-ES" altLang="es-ES" sz="1477" dirty="0">
                <a:solidFill>
                  <a:srgbClr val="808080"/>
                </a:solidFill>
                <a:latin typeface="Arial"/>
              </a:rPr>
              <a:t>Tendríamos unos accesos concurrentes de &lt; 1 acceso/segundo</a:t>
            </a:r>
          </a:p>
          <a:p>
            <a:pPr marL="263776" indent="-263776">
              <a:buFont typeface="Arial" panose="020B0604020202020204" pitchFamily="34" charset="0"/>
              <a:buChar char="•"/>
            </a:pPr>
            <a:r>
              <a:rPr lang="es-ES" altLang="es-ES" sz="1477" dirty="0">
                <a:solidFill>
                  <a:srgbClr val="808080"/>
                </a:solidFill>
                <a:latin typeface="Arial"/>
              </a:rPr>
              <a:t>Red Backend Internet</a:t>
            </a:r>
          </a:p>
          <a:p>
            <a:pPr marL="285750" indent="-285750">
              <a:buFont typeface="Arial" panose="020B0604020202020204" pitchFamily="34" charset="0"/>
              <a:buChar char="•"/>
            </a:pPr>
            <a:r>
              <a:rPr lang="es-ES" altLang="es-ES" sz="1400" dirty="0">
                <a:solidFill>
                  <a:srgbClr val="808080"/>
                </a:solidFill>
                <a:latin typeface="Arial"/>
              </a:rPr>
              <a:t>El encoding de la base de datos es AL32UTF8</a:t>
            </a:r>
          </a:p>
          <a:p>
            <a:endParaRPr lang="es-ES" altLang="es-ES" sz="1477" dirty="0">
              <a:solidFill>
                <a:srgbClr val="000000"/>
              </a:solidFill>
              <a:latin typeface="Calibri" panose="020F0502020204030204" pitchFamily="34" charset="0"/>
            </a:endParaRPr>
          </a:p>
          <a:p>
            <a:pPr marL="263776" indent="-263776" defTabSz="844083">
              <a:buFontTx/>
              <a:buChar char="-"/>
            </a:pPr>
            <a:endParaRPr lang="es-ES" altLang="es-ES" sz="1477" dirty="0">
              <a:solidFill>
                <a:srgbClr val="000000"/>
              </a:solidFill>
              <a:latin typeface="Calibri" panose="020F0502020204030204" pitchFamily="34" charset="0"/>
            </a:endParaRPr>
          </a:p>
          <a:p>
            <a:pPr marL="263776" indent="-263776" defTabSz="844083">
              <a:buFontTx/>
              <a:buChar char="-"/>
            </a:pPr>
            <a:endParaRPr lang="es-ES" altLang="es-ES" sz="1477" dirty="0">
              <a:solidFill>
                <a:srgbClr val="000000"/>
              </a:solidFill>
              <a:latin typeface="Calibri" panose="020F0502020204030204" pitchFamily="34" charset="0"/>
            </a:endParaRPr>
          </a:p>
          <a:p>
            <a:pPr defTabSz="844083"/>
            <a:endParaRPr lang="es-ES" altLang="es-ES" sz="1477" dirty="0"/>
          </a:p>
        </p:txBody>
      </p:sp>
      <p:graphicFrame>
        <p:nvGraphicFramePr>
          <p:cNvPr id="16" name="Tabla 15">
            <a:extLst>
              <a:ext uri="{FF2B5EF4-FFF2-40B4-BE49-F238E27FC236}">
                <a16:creationId xmlns:a16="http://schemas.microsoft.com/office/drawing/2014/main" id="{4E40E7DF-1096-4EBB-9B29-021C292851B4}"/>
              </a:ext>
            </a:extLst>
          </p:cNvPr>
          <p:cNvGraphicFramePr>
            <a:graphicFrameLocks noGrp="1"/>
          </p:cNvGraphicFramePr>
          <p:nvPr>
            <p:extLst>
              <p:ext uri="{D42A27DB-BD31-4B8C-83A1-F6EECF244321}">
                <p14:modId xmlns:p14="http://schemas.microsoft.com/office/powerpoint/2010/main" val="3360280914"/>
              </p:ext>
            </p:extLst>
          </p:nvPr>
        </p:nvGraphicFramePr>
        <p:xfrm>
          <a:off x="1056789" y="2497430"/>
          <a:ext cx="10335222" cy="1263685"/>
        </p:xfrm>
        <a:graphic>
          <a:graphicData uri="http://schemas.openxmlformats.org/drawingml/2006/table">
            <a:tbl>
              <a:tblPr/>
              <a:tblGrid>
                <a:gridCol w="1555507">
                  <a:extLst>
                    <a:ext uri="{9D8B030D-6E8A-4147-A177-3AD203B41FA5}">
                      <a16:colId xmlns:a16="http://schemas.microsoft.com/office/drawing/2014/main" val="3771167623"/>
                    </a:ext>
                  </a:extLst>
                </a:gridCol>
                <a:gridCol w="797150">
                  <a:extLst>
                    <a:ext uri="{9D8B030D-6E8A-4147-A177-3AD203B41FA5}">
                      <a16:colId xmlns:a16="http://schemas.microsoft.com/office/drawing/2014/main" val="100815221"/>
                    </a:ext>
                  </a:extLst>
                </a:gridCol>
                <a:gridCol w="1405922">
                  <a:extLst>
                    <a:ext uri="{9D8B030D-6E8A-4147-A177-3AD203B41FA5}">
                      <a16:colId xmlns:a16="http://schemas.microsoft.com/office/drawing/2014/main" val="3829512120"/>
                    </a:ext>
                  </a:extLst>
                </a:gridCol>
                <a:gridCol w="1038892">
                  <a:extLst>
                    <a:ext uri="{9D8B030D-6E8A-4147-A177-3AD203B41FA5}">
                      <a16:colId xmlns:a16="http://schemas.microsoft.com/office/drawing/2014/main" val="4016530745"/>
                    </a:ext>
                  </a:extLst>
                </a:gridCol>
                <a:gridCol w="1150993">
                  <a:extLst>
                    <a:ext uri="{9D8B030D-6E8A-4147-A177-3AD203B41FA5}">
                      <a16:colId xmlns:a16="http://schemas.microsoft.com/office/drawing/2014/main" val="1137248747"/>
                    </a:ext>
                  </a:extLst>
                </a:gridCol>
                <a:gridCol w="1477108">
                  <a:extLst>
                    <a:ext uri="{9D8B030D-6E8A-4147-A177-3AD203B41FA5}">
                      <a16:colId xmlns:a16="http://schemas.microsoft.com/office/drawing/2014/main" val="4067902239"/>
                    </a:ext>
                  </a:extLst>
                </a:gridCol>
                <a:gridCol w="1093444">
                  <a:extLst>
                    <a:ext uri="{9D8B030D-6E8A-4147-A177-3AD203B41FA5}">
                      <a16:colId xmlns:a16="http://schemas.microsoft.com/office/drawing/2014/main" val="997556198"/>
                    </a:ext>
                  </a:extLst>
                </a:gridCol>
                <a:gridCol w="1816206">
                  <a:extLst>
                    <a:ext uri="{9D8B030D-6E8A-4147-A177-3AD203B41FA5}">
                      <a16:colId xmlns:a16="http://schemas.microsoft.com/office/drawing/2014/main" val="3894105389"/>
                    </a:ext>
                  </a:extLst>
                </a:gridCol>
              </a:tblGrid>
              <a:tr h="485106">
                <a:tc>
                  <a:txBody>
                    <a:bodyPr/>
                    <a:lstStyle/>
                    <a:p>
                      <a:pPr algn="ctr" fontAlgn="ctr"/>
                      <a:r>
                        <a:rPr lang="es-ES" sz="1300" b="1" i="0" u="none" strike="noStrike" dirty="0">
                          <a:solidFill>
                            <a:srgbClr val="FFFFFF"/>
                          </a:solidFill>
                          <a:effectLst/>
                          <a:latin typeface="+mj-lt"/>
                        </a:rPr>
                        <a:t>Descripción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Tipo Gestor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Tamaño</a:t>
                      </a:r>
                    </a:p>
                    <a:p>
                      <a:pPr algn="ctr" fontAlgn="ctr"/>
                      <a:r>
                        <a:rPr lang="es-ES" sz="1300" b="1" i="0" u="none" strike="noStrike" dirty="0">
                          <a:solidFill>
                            <a:srgbClr val="FFFFFF"/>
                          </a:solidFill>
                          <a:effectLst/>
                          <a:latin typeface="+mj-lt"/>
                        </a:rPr>
                        <a:t>Datos + Índices</a:t>
                      </a:r>
                      <a:br>
                        <a:rPr lang="es-ES" sz="1300" b="1" i="0" u="none" strike="noStrike" dirty="0">
                          <a:solidFill>
                            <a:srgbClr val="FFFFFF"/>
                          </a:solidFill>
                          <a:effectLst/>
                          <a:latin typeface="+mj-lt"/>
                        </a:rPr>
                      </a:br>
                      <a:r>
                        <a:rPr lang="es-ES" sz="1300" b="1" i="0" u="none" strike="noStrike" dirty="0">
                          <a:solidFill>
                            <a:srgbClr val="FFFFFF"/>
                          </a:solidFill>
                          <a:effectLst/>
                          <a:latin typeface="+mj-lt"/>
                        </a:rPr>
                        <a:t>(Teras)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 Periodo Estimado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Crecimiento Anual (GB)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Particionamiento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Profundidad Histórica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Observaciones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88692156"/>
                  </a:ext>
                </a:extLst>
              </a:tr>
              <a:tr h="669325">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BBDD Oracle</a:t>
                      </a:r>
                    </a:p>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a:t>
                      </a:r>
                      <a:r>
                        <a:rPr lang="es-ES" sz="1000" kern="1200" dirty="0" err="1">
                          <a:solidFill>
                            <a:srgbClr val="808080"/>
                          </a:solidFill>
                          <a:latin typeface="Arial"/>
                          <a:ea typeface="+mn-ea"/>
                          <a:cs typeface="+mn-cs"/>
                        </a:rPr>
                        <a:t>Hagase</a:t>
                      </a:r>
                      <a:r>
                        <a:rPr lang="es-ES" sz="1000" kern="1200" dirty="0">
                          <a:solidFill>
                            <a:srgbClr val="808080"/>
                          </a:solidFill>
                          <a:latin typeface="Arial"/>
                          <a:ea typeface="+mn-ea"/>
                          <a:cs typeface="+mn-cs"/>
                        </a:rPr>
                        <a:t> Cliente)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Oracle 12c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50 GB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1 año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1 GB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4 meses (datos de “Usuario”)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endParaRPr lang="es-ES" sz="1200" kern="1200" dirty="0">
                        <a:solidFill>
                          <a:srgbClr val="808080"/>
                        </a:solidFill>
                        <a:latin typeface="Arial"/>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03430891"/>
                  </a:ext>
                </a:extLst>
              </a:tr>
            </a:tbl>
          </a:graphicData>
        </a:graphic>
      </p:graphicFrame>
      <p:pic>
        <p:nvPicPr>
          <p:cNvPr id="17" name="Imagen 16">
            <a:extLst>
              <a:ext uri="{FF2B5EF4-FFF2-40B4-BE49-F238E27FC236}">
                <a16:creationId xmlns:a16="http://schemas.microsoft.com/office/drawing/2014/main" id="{FA4DB6DA-6265-421C-9B05-74A51AAEE74E}"/>
              </a:ext>
            </a:extLst>
          </p:cNvPr>
          <p:cNvPicPr>
            <a:picLocks noChangeAspect="1"/>
          </p:cNvPicPr>
          <p:nvPr/>
        </p:nvPicPr>
        <p:blipFill>
          <a:blip r:embed="rId3"/>
          <a:stretch>
            <a:fillRect/>
          </a:stretch>
        </p:blipFill>
        <p:spPr>
          <a:xfrm>
            <a:off x="1056790" y="4121811"/>
            <a:ext cx="10335221" cy="1714330"/>
          </a:xfrm>
          <a:prstGeom prst="rect">
            <a:avLst/>
          </a:prstGeom>
        </p:spPr>
      </p:pic>
      <p:pic>
        <p:nvPicPr>
          <p:cNvPr id="3" name="Imagen 2">
            <a:extLst>
              <a:ext uri="{FF2B5EF4-FFF2-40B4-BE49-F238E27FC236}">
                <a16:creationId xmlns:a16="http://schemas.microsoft.com/office/drawing/2014/main" id="{F57AB366-2F66-4CF4-924F-9D8221B38A8E}"/>
              </a:ext>
            </a:extLst>
          </p:cNvPr>
          <p:cNvPicPr>
            <a:picLocks noChangeAspect="1"/>
          </p:cNvPicPr>
          <p:nvPr/>
        </p:nvPicPr>
        <p:blipFill>
          <a:blip r:embed="rId4"/>
          <a:stretch>
            <a:fillRect/>
          </a:stretch>
        </p:blipFill>
        <p:spPr>
          <a:xfrm>
            <a:off x="4971549" y="4750635"/>
            <a:ext cx="323850" cy="142875"/>
          </a:xfrm>
          <a:prstGeom prst="rect">
            <a:avLst/>
          </a:prstGeom>
        </p:spPr>
      </p:pic>
      <p:pic>
        <p:nvPicPr>
          <p:cNvPr id="4" name="Imagen 3">
            <a:extLst>
              <a:ext uri="{FF2B5EF4-FFF2-40B4-BE49-F238E27FC236}">
                <a16:creationId xmlns:a16="http://schemas.microsoft.com/office/drawing/2014/main" id="{7F4FF16C-0CF2-4147-9BED-DE928656ACA4}"/>
              </a:ext>
            </a:extLst>
          </p:cNvPr>
          <p:cNvPicPr>
            <a:picLocks noChangeAspect="1"/>
          </p:cNvPicPr>
          <p:nvPr/>
        </p:nvPicPr>
        <p:blipFill>
          <a:blip r:embed="rId4"/>
          <a:stretch>
            <a:fillRect/>
          </a:stretch>
        </p:blipFill>
        <p:spPr>
          <a:xfrm>
            <a:off x="4971549" y="5150513"/>
            <a:ext cx="323850" cy="142875"/>
          </a:xfrm>
          <a:prstGeom prst="rect">
            <a:avLst/>
          </a:prstGeom>
        </p:spPr>
      </p:pic>
      <p:pic>
        <p:nvPicPr>
          <p:cNvPr id="5" name="Imagen 4">
            <a:extLst>
              <a:ext uri="{FF2B5EF4-FFF2-40B4-BE49-F238E27FC236}">
                <a16:creationId xmlns:a16="http://schemas.microsoft.com/office/drawing/2014/main" id="{2FA90453-F473-431F-B6EB-1FE13D1DFBD1}"/>
              </a:ext>
            </a:extLst>
          </p:cNvPr>
          <p:cNvPicPr>
            <a:picLocks noChangeAspect="1"/>
          </p:cNvPicPr>
          <p:nvPr/>
        </p:nvPicPr>
        <p:blipFill>
          <a:blip r:embed="rId4"/>
          <a:stretch>
            <a:fillRect/>
          </a:stretch>
        </p:blipFill>
        <p:spPr>
          <a:xfrm>
            <a:off x="4971549" y="5527750"/>
            <a:ext cx="323850" cy="142875"/>
          </a:xfrm>
          <a:prstGeom prst="rect">
            <a:avLst/>
          </a:prstGeom>
        </p:spPr>
      </p:pic>
      <p:sp>
        <p:nvSpPr>
          <p:cNvPr id="7" name="Rectángulo 6">
            <a:extLst>
              <a:ext uri="{FF2B5EF4-FFF2-40B4-BE49-F238E27FC236}">
                <a16:creationId xmlns:a16="http://schemas.microsoft.com/office/drawing/2014/main" id="{FDCFC12E-57D7-4E52-8C6C-8511E95B9E35}"/>
              </a:ext>
            </a:extLst>
          </p:cNvPr>
          <p:cNvSpPr/>
          <p:nvPr/>
        </p:nvSpPr>
        <p:spPr>
          <a:xfrm>
            <a:off x="5067802" y="4652680"/>
            <a:ext cx="312906" cy="369332"/>
          </a:xfrm>
          <a:prstGeom prst="rect">
            <a:avLst/>
          </a:prstGeom>
        </p:spPr>
        <p:txBody>
          <a:bodyPr wrap="none">
            <a:spAutoFit/>
          </a:bodyPr>
          <a:lstStyle/>
          <a:p>
            <a:r>
              <a:rPr lang="es-ES" dirty="0">
                <a:solidFill>
                  <a:srgbClr val="808080"/>
                </a:solidFill>
                <a:latin typeface="Arial"/>
              </a:rPr>
              <a:t>5</a:t>
            </a:r>
            <a:endParaRPr lang="es-ES" dirty="0"/>
          </a:p>
        </p:txBody>
      </p:sp>
      <p:sp>
        <p:nvSpPr>
          <p:cNvPr id="18" name="Rectángulo 17">
            <a:extLst>
              <a:ext uri="{FF2B5EF4-FFF2-40B4-BE49-F238E27FC236}">
                <a16:creationId xmlns:a16="http://schemas.microsoft.com/office/drawing/2014/main" id="{0C73DBF1-D33E-4016-8F18-32E65B9652DD}"/>
              </a:ext>
            </a:extLst>
          </p:cNvPr>
          <p:cNvSpPr/>
          <p:nvPr/>
        </p:nvSpPr>
        <p:spPr>
          <a:xfrm>
            <a:off x="4908983" y="5037284"/>
            <a:ext cx="441146" cy="369332"/>
          </a:xfrm>
          <a:prstGeom prst="rect">
            <a:avLst/>
          </a:prstGeom>
        </p:spPr>
        <p:txBody>
          <a:bodyPr wrap="none">
            <a:spAutoFit/>
          </a:bodyPr>
          <a:lstStyle/>
          <a:p>
            <a:r>
              <a:rPr lang="es-ES" dirty="0">
                <a:solidFill>
                  <a:srgbClr val="808080"/>
                </a:solidFill>
                <a:latin typeface="Arial"/>
              </a:rPr>
              <a:t>15</a:t>
            </a:r>
            <a:endParaRPr lang="es-ES" dirty="0"/>
          </a:p>
        </p:txBody>
      </p:sp>
      <p:sp>
        <p:nvSpPr>
          <p:cNvPr id="19" name="Rectángulo 18">
            <a:extLst>
              <a:ext uri="{FF2B5EF4-FFF2-40B4-BE49-F238E27FC236}">
                <a16:creationId xmlns:a16="http://schemas.microsoft.com/office/drawing/2014/main" id="{0BC07155-4F3F-4A3F-A45D-4F2FB0506DBA}"/>
              </a:ext>
            </a:extLst>
          </p:cNvPr>
          <p:cNvSpPr/>
          <p:nvPr/>
        </p:nvSpPr>
        <p:spPr>
          <a:xfrm>
            <a:off x="4908983" y="5414521"/>
            <a:ext cx="441146" cy="369332"/>
          </a:xfrm>
          <a:prstGeom prst="rect">
            <a:avLst/>
          </a:prstGeom>
        </p:spPr>
        <p:txBody>
          <a:bodyPr wrap="none">
            <a:spAutoFit/>
          </a:bodyPr>
          <a:lstStyle/>
          <a:p>
            <a:r>
              <a:rPr lang="es-ES" dirty="0">
                <a:solidFill>
                  <a:srgbClr val="808080"/>
                </a:solidFill>
                <a:latin typeface="Arial"/>
              </a:rPr>
              <a:t>50</a:t>
            </a:r>
            <a:endParaRPr lang="es-ES" dirty="0"/>
          </a:p>
        </p:txBody>
      </p:sp>
    </p:spTree>
    <p:extLst>
      <p:ext uri="{BB962C8B-B14F-4D97-AF65-F5344CB8AC3E}">
        <p14:creationId xmlns:p14="http://schemas.microsoft.com/office/powerpoint/2010/main" val="6168904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2 Marcador de contenido"/>
          <p:cNvSpPr txBox="1">
            <a:spLocks/>
          </p:cNvSpPr>
          <p:nvPr/>
        </p:nvSpPr>
        <p:spPr bwMode="auto">
          <a:xfrm>
            <a:off x="782516" y="573590"/>
            <a:ext cx="8403981" cy="433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230" tIns="45115" rIns="90230" bIns="4511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 sz="1846" b="1" dirty="0">
                <a:solidFill>
                  <a:srgbClr val="FF0000"/>
                </a:solidFill>
              </a:rPr>
              <a:t>Hardware ,Software ,Escalabilidad y Alta Disponibilidad</a:t>
            </a:r>
          </a:p>
          <a:p>
            <a:pPr marL="158264" indent="-316527">
              <a:buClr>
                <a:srgbClr val="FF0000"/>
              </a:buClr>
              <a:buFont typeface="Wingdings" pitchFamily="2" charset="2"/>
              <a:buChar char="§"/>
              <a:defRPr/>
            </a:pPr>
            <a:endParaRPr lang="es-ES" sz="1477" dirty="0">
              <a:solidFill>
                <a:srgbClr val="808080"/>
              </a:solidFill>
            </a:endParaRPr>
          </a:p>
          <a:p>
            <a:pPr marL="0" indent="0">
              <a:buClr>
                <a:srgbClr val="FF0000"/>
              </a:buClr>
              <a:defRPr/>
            </a:pPr>
            <a:endParaRPr lang="es-ES" sz="1477" dirty="0">
              <a:solidFill>
                <a:srgbClr val="808080"/>
              </a:solidFill>
            </a:endParaRPr>
          </a:p>
          <a:p>
            <a:pPr marL="158264" indent="-316527">
              <a:buClr>
                <a:srgbClr val="FF0000"/>
              </a:buClr>
              <a:buFont typeface="Wingdings" pitchFamily="2" charset="2"/>
              <a:buChar char="§"/>
              <a:defRPr/>
            </a:pPr>
            <a:endParaRPr lang="es-ES" sz="1477" dirty="0">
              <a:solidFill>
                <a:srgbClr val="808080"/>
              </a:solidFill>
            </a:endParaRPr>
          </a:p>
          <a:p>
            <a:pPr marL="0" indent="0">
              <a:buClr>
                <a:srgbClr val="FF0000"/>
              </a:buClr>
              <a:defRPr/>
            </a:pPr>
            <a:endParaRPr lang="es-ES" sz="1477" dirty="0">
              <a:solidFill>
                <a:srgbClr val="808080"/>
              </a:solidFill>
            </a:endParaRPr>
          </a:p>
        </p:txBody>
      </p:sp>
      <p:sp>
        <p:nvSpPr>
          <p:cNvPr id="3" name="Rectangle 1">
            <a:extLst>
              <a:ext uri="{FF2B5EF4-FFF2-40B4-BE49-F238E27FC236}">
                <a16:creationId xmlns:a16="http://schemas.microsoft.com/office/drawing/2014/main" id="{A8DDE1B0-AE25-465B-8152-9A0AD86ACDBC}"/>
              </a:ext>
            </a:extLst>
          </p:cNvPr>
          <p:cNvSpPr>
            <a:spLocks noChangeArrowheads="1"/>
          </p:cNvSpPr>
          <p:nvPr/>
        </p:nvSpPr>
        <p:spPr bwMode="auto">
          <a:xfrm>
            <a:off x="2577376" y="3260294"/>
            <a:ext cx="170525" cy="34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4406" tIns="42203" rIns="84406" bIns="42203" numCol="1" anchor="ctr" anchorCtr="0" compatLnSpc="1">
            <a:prstTxWarp prst="textNoShape">
              <a:avLst/>
            </a:prstTxWarp>
            <a:spAutoFit/>
          </a:bodyPr>
          <a:lstStyle/>
          <a:p>
            <a:endParaRPr lang="es-ES" sz="1662"/>
          </a:p>
        </p:txBody>
      </p:sp>
      <p:sp>
        <p:nvSpPr>
          <p:cNvPr id="16" name="5 Marcador de número de diapositiva">
            <a:extLst>
              <a:ext uri="{FF2B5EF4-FFF2-40B4-BE49-F238E27FC236}">
                <a16:creationId xmlns:a16="http://schemas.microsoft.com/office/drawing/2014/main" id="{B69AA849-9EAB-4579-A34D-637401F60B3B}"/>
              </a:ext>
            </a:extLst>
          </p:cNvPr>
          <p:cNvSpPr txBox="1">
            <a:spLocks/>
          </p:cNvSpPr>
          <p:nvPr/>
        </p:nvSpPr>
        <p:spPr>
          <a:xfrm>
            <a:off x="4520714" y="6304085"/>
            <a:ext cx="1861038" cy="458666"/>
          </a:xfrm>
          <a:prstGeom prst="rect">
            <a:avLst/>
          </a:prstGeom>
          <a:noFill/>
        </p:spPr>
        <p:txBody>
          <a:bodyPr vert="horz" lIns="84406" tIns="42203" rIns="84406" bIns="42203" rtlCol="0" anchor="ctr"/>
          <a:lstStyle>
            <a:defPPr>
              <a:defRPr lang="es-ES"/>
            </a:defPPr>
            <a:lvl1pPr algn="r" rtl="0" fontAlgn="base">
              <a:spcBef>
                <a:spcPct val="20000"/>
              </a:spcBef>
              <a:spcAft>
                <a:spcPct val="0"/>
              </a:spcAft>
              <a:buClr>
                <a:schemeClr val="accent2"/>
              </a:buClr>
              <a:buFont typeface="Wingdings" pitchFamily="2" charset="2"/>
              <a:defRPr sz="2400" b="1" kern="1200">
                <a:solidFill>
                  <a:srgbClr val="FF0000"/>
                </a:solidFill>
                <a:latin typeface="Arial" charset="0"/>
                <a:ea typeface="+mn-ea"/>
                <a:cs typeface="+mn-cs"/>
              </a:defRPr>
            </a:lvl1pPr>
            <a:lvl2pPr marL="742950" indent="-285750" algn="l" rtl="0" fontAlgn="base">
              <a:spcBef>
                <a:spcPct val="20000"/>
              </a:spcBef>
              <a:spcAft>
                <a:spcPct val="0"/>
              </a:spcAft>
              <a:buClr>
                <a:schemeClr val="accent2"/>
              </a:buClr>
              <a:buFont typeface="Wingdings" pitchFamily="2" charset="2"/>
              <a:defRPr sz="2600" kern="1200">
                <a:solidFill>
                  <a:srgbClr val="808080"/>
                </a:solidFill>
                <a:latin typeface="Arial" charset="0"/>
                <a:ea typeface="+mn-ea"/>
                <a:cs typeface="+mn-cs"/>
              </a:defRPr>
            </a:lvl2pPr>
            <a:lvl3pPr marL="1143000" indent="-228600" algn="l" rtl="0" fontAlgn="base">
              <a:spcBef>
                <a:spcPct val="20000"/>
              </a:spcBef>
              <a:spcAft>
                <a:spcPct val="0"/>
              </a:spcAft>
              <a:buClr>
                <a:schemeClr val="accent2"/>
              </a:buClr>
              <a:buFont typeface="Wingdings" pitchFamily="2" charset="2"/>
              <a:defRPr sz="2000" kern="1200">
                <a:solidFill>
                  <a:schemeClr val="bg2"/>
                </a:solidFill>
                <a:latin typeface="Arial" charset="0"/>
                <a:ea typeface="+mn-ea"/>
                <a:cs typeface="+mn-cs"/>
              </a:defRPr>
            </a:lvl3pPr>
            <a:lvl4pPr marL="1600200" indent="-228600" algn="l" rtl="0" fontAlgn="base">
              <a:spcBef>
                <a:spcPct val="20000"/>
              </a:spcBef>
              <a:spcAft>
                <a:spcPct val="0"/>
              </a:spcAft>
              <a:buClr>
                <a:schemeClr val="accent2"/>
              </a:buClr>
              <a:buFont typeface="Wingdings" pitchFamily="2" charset="2"/>
              <a:defRPr sz="2000" kern="1200">
                <a:solidFill>
                  <a:schemeClr val="bg2"/>
                </a:solidFill>
                <a:latin typeface="Arial" charset="0"/>
                <a:ea typeface="+mn-ea"/>
                <a:cs typeface="+mn-cs"/>
              </a:defRPr>
            </a:lvl4pPr>
            <a:lvl5pPr marL="2057400" indent="-228600" algn="l" rtl="0" fontAlgn="base">
              <a:spcBef>
                <a:spcPct val="20000"/>
              </a:spcBef>
              <a:spcAft>
                <a:spcPct val="0"/>
              </a:spcAft>
              <a:buClr>
                <a:schemeClr val="accent2"/>
              </a:buClr>
              <a:buFont typeface="Wingdings" pitchFamily="2" charset="2"/>
              <a:defRPr sz="2000" kern="1200">
                <a:solidFill>
                  <a:schemeClr val="bg2"/>
                </a:solidFill>
                <a:latin typeface="Arial" charset="0"/>
                <a:ea typeface="+mn-ea"/>
                <a:cs typeface="+mn-cs"/>
              </a:defRPr>
            </a:lvl5pPr>
            <a:lvl6pPr marL="2514600" indent="-228600" algn="l" defTabSz="914400" rtl="0" eaLnBrk="0" latinLnBrk="0" hangingPunct="0">
              <a:defRPr sz="2000" kern="1200">
                <a:solidFill>
                  <a:schemeClr val="bg2"/>
                </a:solidFill>
                <a:latin typeface="Arial" charset="0"/>
                <a:ea typeface="+mn-ea"/>
                <a:cs typeface="+mn-cs"/>
              </a:defRPr>
            </a:lvl6pPr>
            <a:lvl7pPr marL="2971800" indent="-228600" algn="l" defTabSz="914400" rtl="0" eaLnBrk="0" latinLnBrk="0" hangingPunct="0">
              <a:defRPr sz="2000" kern="1200">
                <a:solidFill>
                  <a:schemeClr val="bg2"/>
                </a:solidFill>
                <a:latin typeface="Arial" charset="0"/>
                <a:ea typeface="+mn-ea"/>
                <a:cs typeface="+mn-cs"/>
              </a:defRPr>
            </a:lvl7pPr>
            <a:lvl8pPr marL="3429000" indent="-228600" algn="l" defTabSz="914400" rtl="0" eaLnBrk="0" latinLnBrk="0" hangingPunct="0">
              <a:defRPr sz="2000" kern="1200">
                <a:solidFill>
                  <a:schemeClr val="bg2"/>
                </a:solidFill>
                <a:latin typeface="Arial" charset="0"/>
                <a:ea typeface="+mn-ea"/>
                <a:cs typeface="+mn-cs"/>
              </a:defRPr>
            </a:lvl8pPr>
            <a:lvl9pPr marL="3886200" indent="-228600" algn="l" defTabSz="914400" rtl="0" eaLnBrk="0" latinLnBrk="0" hangingPunct="0">
              <a:defRPr sz="2000" kern="1200">
                <a:solidFill>
                  <a:schemeClr val="bg2"/>
                </a:solidFill>
                <a:latin typeface="Arial" charset="0"/>
                <a:ea typeface="+mn-ea"/>
                <a:cs typeface="+mn-cs"/>
              </a:defRPr>
            </a:lvl9pPr>
          </a:lstStyle>
          <a:p>
            <a:fld id="{19E6DFBD-A76F-46A8-91C4-292B98D4C1C4}" type="slidenum">
              <a:rPr lang="es-ES" altLang="es-ES" sz="1292">
                <a:solidFill>
                  <a:schemeClr val="bg2"/>
                </a:solidFill>
              </a:rPr>
              <a:pPr/>
              <a:t>56</a:t>
            </a:fld>
            <a:endParaRPr lang="es-ES" altLang="es-ES" sz="1292" dirty="0">
              <a:solidFill>
                <a:schemeClr val="bg2"/>
              </a:solidFill>
            </a:endParaRPr>
          </a:p>
        </p:txBody>
      </p:sp>
      <p:sp>
        <p:nvSpPr>
          <p:cNvPr id="11" name="Rectángulo 10">
            <a:extLst>
              <a:ext uri="{FF2B5EF4-FFF2-40B4-BE49-F238E27FC236}">
                <a16:creationId xmlns:a16="http://schemas.microsoft.com/office/drawing/2014/main" id="{085EE350-75A9-46A8-92E6-0B426DED5602}"/>
              </a:ext>
            </a:extLst>
          </p:cNvPr>
          <p:cNvSpPr/>
          <p:nvPr/>
        </p:nvSpPr>
        <p:spPr bwMode="auto">
          <a:xfrm>
            <a:off x="782515" y="11716629"/>
            <a:ext cx="4445391" cy="450166"/>
          </a:xfrm>
          <a:prstGeom prst="rect">
            <a:avLst/>
          </a:prstGeom>
          <a:solidFill>
            <a:schemeClr val="bg1"/>
          </a:solidFill>
          <a:ln w="9525">
            <a:noFill/>
            <a:miter lim="800000"/>
            <a:headEnd/>
            <a:tailEnd/>
          </a:ln>
          <a:effectLst/>
        </p:spPr>
        <p:txBody>
          <a:bodyPr vert="horz" wrap="square" lIns="84406" tIns="42203" rIns="84406" bIns="42203" numCol="1" rtlCol="0" anchor="t" anchorCtr="0" compatLnSpc="1">
            <a:prstTxWarp prst="textNoShape">
              <a:avLst/>
            </a:prstTxWarp>
          </a:bodyPr>
          <a:lstStyle/>
          <a:p>
            <a:pPr algn="ctr"/>
            <a:endParaRPr lang="es-ES" sz="1662"/>
          </a:p>
        </p:txBody>
      </p:sp>
      <p:graphicFrame>
        <p:nvGraphicFramePr>
          <p:cNvPr id="12" name="Tabla 11">
            <a:extLst>
              <a:ext uri="{FF2B5EF4-FFF2-40B4-BE49-F238E27FC236}">
                <a16:creationId xmlns:a16="http://schemas.microsoft.com/office/drawing/2014/main" id="{3AE558E8-DB98-453A-8C9F-408115BA9355}"/>
              </a:ext>
            </a:extLst>
          </p:cNvPr>
          <p:cNvGraphicFramePr>
            <a:graphicFrameLocks noGrp="1"/>
          </p:cNvGraphicFramePr>
          <p:nvPr>
            <p:extLst>
              <p:ext uri="{D42A27DB-BD31-4B8C-83A1-F6EECF244321}">
                <p14:modId xmlns:p14="http://schemas.microsoft.com/office/powerpoint/2010/main" val="3957107988"/>
              </p:ext>
            </p:extLst>
          </p:nvPr>
        </p:nvGraphicFramePr>
        <p:xfrm>
          <a:off x="446151" y="1577340"/>
          <a:ext cx="11507375" cy="3819797"/>
        </p:xfrm>
        <a:graphic>
          <a:graphicData uri="http://schemas.openxmlformats.org/drawingml/2006/table">
            <a:tbl>
              <a:tblPr/>
              <a:tblGrid>
                <a:gridCol w="465858">
                  <a:extLst>
                    <a:ext uri="{9D8B030D-6E8A-4147-A177-3AD203B41FA5}">
                      <a16:colId xmlns:a16="http://schemas.microsoft.com/office/drawing/2014/main" val="572683860"/>
                    </a:ext>
                  </a:extLst>
                </a:gridCol>
                <a:gridCol w="1165995">
                  <a:extLst>
                    <a:ext uri="{9D8B030D-6E8A-4147-A177-3AD203B41FA5}">
                      <a16:colId xmlns:a16="http://schemas.microsoft.com/office/drawing/2014/main" val="808944852"/>
                    </a:ext>
                  </a:extLst>
                </a:gridCol>
                <a:gridCol w="469086">
                  <a:extLst>
                    <a:ext uri="{9D8B030D-6E8A-4147-A177-3AD203B41FA5}">
                      <a16:colId xmlns:a16="http://schemas.microsoft.com/office/drawing/2014/main" val="3726112877"/>
                    </a:ext>
                  </a:extLst>
                </a:gridCol>
                <a:gridCol w="631330">
                  <a:extLst>
                    <a:ext uri="{9D8B030D-6E8A-4147-A177-3AD203B41FA5}">
                      <a16:colId xmlns:a16="http://schemas.microsoft.com/office/drawing/2014/main" val="919041021"/>
                    </a:ext>
                  </a:extLst>
                </a:gridCol>
                <a:gridCol w="516543">
                  <a:extLst>
                    <a:ext uri="{9D8B030D-6E8A-4147-A177-3AD203B41FA5}">
                      <a16:colId xmlns:a16="http://schemas.microsoft.com/office/drawing/2014/main" val="1143466466"/>
                    </a:ext>
                  </a:extLst>
                </a:gridCol>
                <a:gridCol w="335453">
                  <a:extLst>
                    <a:ext uri="{9D8B030D-6E8A-4147-A177-3AD203B41FA5}">
                      <a16:colId xmlns:a16="http://schemas.microsoft.com/office/drawing/2014/main" val="3500886908"/>
                    </a:ext>
                  </a:extLst>
                </a:gridCol>
                <a:gridCol w="646784">
                  <a:extLst>
                    <a:ext uri="{9D8B030D-6E8A-4147-A177-3AD203B41FA5}">
                      <a16:colId xmlns:a16="http://schemas.microsoft.com/office/drawing/2014/main" val="3165964362"/>
                    </a:ext>
                  </a:extLst>
                </a:gridCol>
                <a:gridCol w="498563">
                  <a:extLst>
                    <a:ext uri="{9D8B030D-6E8A-4147-A177-3AD203B41FA5}">
                      <a16:colId xmlns:a16="http://schemas.microsoft.com/office/drawing/2014/main" val="545686359"/>
                    </a:ext>
                  </a:extLst>
                </a:gridCol>
                <a:gridCol w="606360">
                  <a:extLst>
                    <a:ext uri="{9D8B030D-6E8A-4147-A177-3AD203B41FA5}">
                      <a16:colId xmlns:a16="http://schemas.microsoft.com/office/drawing/2014/main" val="1699776371"/>
                    </a:ext>
                  </a:extLst>
                </a:gridCol>
                <a:gridCol w="565937">
                  <a:extLst>
                    <a:ext uri="{9D8B030D-6E8A-4147-A177-3AD203B41FA5}">
                      <a16:colId xmlns:a16="http://schemas.microsoft.com/office/drawing/2014/main" val="1067262606"/>
                    </a:ext>
                  </a:extLst>
                </a:gridCol>
                <a:gridCol w="458139">
                  <a:extLst>
                    <a:ext uri="{9D8B030D-6E8A-4147-A177-3AD203B41FA5}">
                      <a16:colId xmlns:a16="http://schemas.microsoft.com/office/drawing/2014/main" val="2186155558"/>
                    </a:ext>
                  </a:extLst>
                </a:gridCol>
                <a:gridCol w="619835">
                  <a:extLst>
                    <a:ext uri="{9D8B030D-6E8A-4147-A177-3AD203B41FA5}">
                      <a16:colId xmlns:a16="http://schemas.microsoft.com/office/drawing/2014/main" val="1086532896"/>
                    </a:ext>
                  </a:extLst>
                </a:gridCol>
                <a:gridCol w="579411">
                  <a:extLst>
                    <a:ext uri="{9D8B030D-6E8A-4147-A177-3AD203B41FA5}">
                      <a16:colId xmlns:a16="http://schemas.microsoft.com/office/drawing/2014/main" val="1194357710"/>
                    </a:ext>
                  </a:extLst>
                </a:gridCol>
                <a:gridCol w="875854">
                  <a:extLst>
                    <a:ext uri="{9D8B030D-6E8A-4147-A177-3AD203B41FA5}">
                      <a16:colId xmlns:a16="http://schemas.microsoft.com/office/drawing/2014/main" val="1128530175"/>
                    </a:ext>
                  </a:extLst>
                </a:gridCol>
                <a:gridCol w="3072227">
                  <a:extLst>
                    <a:ext uri="{9D8B030D-6E8A-4147-A177-3AD203B41FA5}">
                      <a16:colId xmlns:a16="http://schemas.microsoft.com/office/drawing/2014/main" val="1727851950"/>
                    </a:ext>
                  </a:extLst>
                </a:gridCol>
              </a:tblGrid>
              <a:tr h="297708">
                <a:tc rowSpan="2" gridSpan="2">
                  <a:txBody>
                    <a:bodyPr/>
                    <a:lstStyle/>
                    <a:p>
                      <a:pPr algn="ctr" rtl="0" fontAlgn="ctr"/>
                      <a:r>
                        <a:rPr lang="es-ES" sz="1700" b="1" i="0" u="none" strike="noStrike" dirty="0">
                          <a:solidFill>
                            <a:srgbClr val="FFFFFF"/>
                          </a:solidFill>
                          <a:effectLst/>
                          <a:latin typeface="Calibri" panose="020F0502020204030204" pitchFamily="34" charset="0"/>
                        </a:rPr>
                        <a:t>Infraestructura</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hMerge="1">
                  <a:txBody>
                    <a:bodyPr/>
                    <a:lstStyle/>
                    <a:p>
                      <a:endParaRPr lang="es-ES"/>
                    </a:p>
                  </a:txBody>
                  <a:tcPr/>
                </a:tc>
                <a:tc rowSpan="2">
                  <a:txBody>
                    <a:bodyPr/>
                    <a:lstStyle/>
                    <a:p>
                      <a:pPr algn="ctr" rtl="0" fontAlgn="ctr"/>
                      <a:r>
                        <a:rPr lang="es-ES" sz="1100" b="1" i="0" u="none" strike="noStrike">
                          <a:solidFill>
                            <a:srgbClr val="FFFFFF"/>
                          </a:solidFill>
                          <a:effectLst/>
                          <a:latin typeface="Calibri" panose="020F0502020204030204" pitchFamily="34" charset="0"/>
                        </a:rPr>
                        <a:t>Sistema Operativo</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dirty="0">
                          <a:solidFill>
                            <a:srgbClr val="FFFFFF"/>
                          </a:solidFill>
                          <a:effectLst/>
                          <a:latin typeface="Calibri" panose="020F0502020204030204" pitchFamily="34" charset="0"/>
                        </a:rPr>
                        <a:t>Nº Servidores</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dirty="0">
                          <a:solidFill>
                            <a:srgbClr val="FFFFFF"/>
                          </a:solidFill>
                          <a:effectLst/>
                          <a:latin typeface="Calibri" panose="020F0502020204030204" pitchFamily="34" charset="0"/>
                        </a:rPr>
                        <a:t>Cores/ Servidores</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dirty="0" err="1">
                          <a:solidFill>
                            <a:srgbClr val="FFFFFF"/>
                          </a:solidFill>
                          <a:effectLst/>
                          <a:latin typeface="Calibri" panose="020F0502020204030204" pitchFamily="34" charset="0"/>
                        </a:rPr>
                        <a:t>Mem</a:t>
                      </a:r>
                      <a:r>
                        <a:rPr lang="es-ES" sz="1100" b="1" i="0" u="none" strike="noStrike" dirty="0">
                          <a:solidFill>
                            <a:srgbClr val="FFFFFF"/>
                          </a:solidFill>
                          <a:effectLst/>
                          <a:latin typeface="Calibri" panose="020F0502020204030204" pitchFamily="34" charset="0"/>
                        </a:rPr>
                        <a:t>/ </a:t>
                      </a:r>
                      <a:r>
                        <a:rPr lang="es-ES" sz="1100" b="1" i="0" u="none" strike="noStrike" dirty="0" err="1">
                          <a:solidFill>
                            <a:srgbClr val="FFFFFF"/>
                          </a:solidFill>
                          <a:effectLst/>
                          <a:latin typeface="Calibri" panose="020F0502020204030204" pitchFamily="34" charset="0"/>
                        </a:rPr>
                        <a:t>Serv</a:t>
                      </a:r>
                      <a:r>
                        <a:rPr lang="es-ES" sz="1100" b="1" i="0" u="none" strike="noStrike" dirty="0">
                          <a:solidFill>
                            <a:srgbClr val="FFFFFF"/>
                          </a:solidFill>
                          <a:effectLst/>
                          <a:latin typeface="Calibri" panose="020F0502020204030204" pitchFamily="34" charset="0"/>
                        </a:rPr>
                        <a:t>. (Gb)</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gridSpan="2">
                  <a:txBody>
                    <a:bodyPr/>
                    <a:lstStyle/>
                    <a:p>
                      <a:pPr algn="ctr" rtl="0" fontAlgn="ctr"/>
                      <a:r>
                        <a:rPr lang="es-ES" sz="1100" b="1" i="0" u="none" strike="noStrike">
                          <a:solidFill>
                            <a:srgbClr val="FFFFFF"/>
                          </a:solidFill>
                          <a:effectLst/>
                          <a:latin typeface="Calibri" panose="020F0502020204030204" pitchFamily="34" charset="0"/>
                        </a:rPr>
                        <a:t>Almacenamiento</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hMerge="1">
                  <a:txBody>
                    <a:bodyPr/>
                    <a:lstStyle/>
                    <a:p>
                      <a:endParaRPr lang="es-ES"/>
                    </a:p>
                  </a:txBody>
                  <a:tcPr/>
                </a:tc>
                <a:tc rowSpan="2">
                  <a:txBody>
                    <a:bodyPr/>
                    <a:lstStyle/>
                    <a:p>
                      <a:pPr algn="ctr" rtl="0" fontAlgn="ctr"/>
                      <a:r>
                        <a:rPr lang="es-ES" sz="1100" b="1" i="0" u="none" strike="noStrike">
                          <a:solidFill>
                            <a:srgbClr val="FFFFFF"/>
                          </a:solidFill>
                          <a:effectLst/>
                          <a:latin typeface="Calibri" panose="020F0502020204030204" pitchFamily="34" charset="0"/>
                        </a:rPr>
                        <a:t>Red</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a:solidFill>
                            <a:srgbClr val="FFFFFF"/>
                          </a:solidFill>
                          <a:effectLst/>
                          <a:latin typeface="Calibri" panose="020F0502020204030204" pitchFamily="34" charset="0"/>
                        </a:rPr>
                        <a:t>Producto</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dirty="0">
                          <a:solidFill>
                            <a:srgbClr val="FFFFFF"/>
                          </a:solidFill>
                          <a:effectLst/>
                          <a:latin typeface="Calibri" panose="020F0502020204030204" pitchFamily="34" charset="0"/>
                        </a:rPr>
                        <a:t>HA</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dirty="0">
                          <a:solidFill>
                            <a:srgbClr val="FFFFFF"/>
                          </a:solidFill>
                          <a:effectLst/>
                          <a:latin typeface="Calibri" panose="020F0502020204030204" pitchFamily="34" charset="0"/>
                        </a:rPr>
                        <a:t>Balanceo </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dirty="0">
                          <a:solidFill>
                            <a:srgbClr val="FFFFFF"/>
                          </a:solidFill>
                          <a:effectLst/>
                          <a:latin typeface="Calibri" panose="020F0502020204030204" pitchFamily="34" charset="0"/>
                        </a:rPr>
                        <a:t>Escalabilidad</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dirty="0">
                          <a:solidFill>
                            <a:srgbClr val="FFFFFF"/>
                          </a:solidFill>
                          <a:effectLst/>
                          <a:latin typeface="Calibri" panose="020F0502020204030204" pitchFamily="34" charset="0"/>
                        </a:rPr>
                        <a:t>Otro SW</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700" b="1" i="0" u="none" strike="noStrike" dirty="0">
                          <a:solidFill>
                            <a:srgbClr val="FFFFFF"/>
                          </a:solidFill>
                          <a:effectLst/>
                          <a:latin typeface="Calibri" panose="020F0502020204030204" pitchFamily="34" charset="0"/>
                        </a:rPr>
                        <a:t>Detalle</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extLst>
                  <a:ext uri="{0D108BD9-81ED-4DB2-BD59-A6C34878D82A}">
                    <a16:rowId xmlns:a16="http://schemas.microsoft.com/office/drawing/2014/main" val="933239205"/>
                  </a:ext>
                </a:extLst>
              </a:tr>
              <a:tr h="405078">
                <a:tc gridSpan="2" vMerge="1">
                  <a:txBody>
                    <a:bodyPr/>
                    <a:lstStyle/>
                    <a:p>
                      <a:endParaRPr lang="es-ES"/>
                    </a:p>
                  </a:txBody>
                  <a:tcPr/>
                </a:tc>
                <a:tc hMerge="1" vMerge="1">
                  <a:txBody>
                    <a:bodyPr/>
                    <a:lstStyle/>
                    <a:p>
                      <a:endParaRPr lang="es-ES"/>
                    </a:p>
                  </a:txBody>
                  <a:tcPr/>
                </a:tc>
                <a:tc vMerge="1">
                  <a:txBody>
                    <a:bodyPr/>
                    <a:lstStyle/>
                    <a:p>
                      <a:endParaRPr lang="es-ES"/>
                    </a:p>
                  </a:txBody>
                  <a:tcPr/>
                </a:tc>
                <a:tc vMerge="1">
                  <a:txBody>
                    <a:bodyPr/>
                    <a:lstStyle/>
                    <a:p>
                      <a:endParaRPr lang="es-ES"/>
                    </a:p>
                  </a:txBody>
                  <a:tcPr/>
                </a:tc>
                <a:tc vMerge="1">
                  <a:txBody>
                    <a:bodyPr/>
                    <a:lstStyle/>
                    <a:p>
                      <a:endParaRPr lang="es-ES"/>
                    </a:p>
                  </a:txBody>
                  <a:tcPr/>
                </a:tc>
                <a:tc vMerge="1">
                  <a:txBody>
                    <a:bodyPr/>
                    <a:lstStyle/>
                    <a:p>
                      <a:endParaRPr lang="es-ES"/>
                    </a:p>
                  </a:txBody>
                  <a:tcPr/>
                </a:tc>
                <a:tc>
                  <a:txBody>
                    <a:bodyPr/>
                    <a:lstStyle/>
                    <a:p>
                      <a:pPr algn="ctr" rtl="0" fontAlgn="ctr"/>
                      <a:r>
                        <a:rPr lang="es-ES" sz="1100" b="1" i="0" u="none" strike="noStrike" dirty="0">
                          <a:solidFill>
                            <a:srgbClr val="FFFFFF"/>
                          </a:solidFill>
                          <a:effectLst/>
                          <a:latin typeface="Calibri" panose="020F0502020204030204" pitchFamily="34" charset="0"/>
                        </a:rPr>
                        <a:t>Tamaño (Gb)</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a:txBody>
                    <a:bodyPr/>
                    <a:lstStyle/>
                    <a:p>
                      <a:pPr algn="ctr" rtl="0" fontAlgn="ctr"/>
                      <a:r>
                        <a:rPr lang="es-ES" sz="1100" b="1" i="0" u="none" strike="noStrike">
                          <a:solidFill>
                            <a:srgbClr val="FFFFFF"/>
                          </a:solidFill>
                          <a:effectLst/>
                          <a:latin typeface="Calibri" panose="020F0502020204030204" pitchFamily="34" charset="0"/>
                        </a:rPr>
                        <a:t>Tipo</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vMerge="1">
                  <a:txBody>
                    <a:bodyPr/>
                    <a:lstStyle/>
                    <a:p>
                      <a:endParaRPr lang="es-ES"/>
                    </a:p>
                  </a:txBody>
                  <a:tcPr/>
                </a:tc>
                <a:tc vMerge="1">
                  <a:txBody>
                    <a:bodyPr/>
                    <a:lstStyle/>
                    <a:p>
                      <a:endParaRPr lang="es-ES"/>
                    </a:p>
                  </a:txBody>
                  <a:tcPr/>
                </a:tc>
                <a:tc vMerge="1">
                  <a:txBody>
                    <a:bodyPr/>
                    <a:lstStyle/>
                    <a:p>
                      <a:endParaRPr lang="es-ES"/>
                    </a:p>
                  </a:txBody>
                  <a:tcPr/>
                </a:tc>
                <a:tc vMerge="1">
                  <a:txBody>
                    <a:bodyPr/>
                    <a:lstStyle/>
                    <a:p>
                      <a:endParaRPr lang="es-ES"/>
                    </a:p>
                  </a:txBody>
                  <a:tcPr/>
                </a:tc>
                <a:tc vMerge="1">
                  <a:txBody>
                    <a:bodyPr/>
                    <a:lstStyle/>
                    <a:p>
                      <a:endParaRPr lang="es-ES"/>
                    </a:p>
                  </a:txBody>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74670119"/>
                  </a:ext>
                </a:extLst>
              </a:tr>
              <a:tr h="1206330">
                <a:tc>
                  <a:txBody>
                    <a:bodyPr/>
                    <a:lstStyle/>
                    <a:p>
                      <a:pPr algn="ctr" fontAlgn="ctr"/>
                      <a:r>
                        <a:rPr lang="es-ES" sz="1800" b="1" i="0" u="none" strike="noStrike">
                          <a:solidFill>
                            <a:srgbClr val="000000"/>
                          </a:solidFill>
                          <a:effectLst/>
                          <a:latin typeface="Calibri" panose="020F0502020204030204" pitchFamily="34" charset="0"/>
                        </a:rPr>
                        <a:t>Producción</a:t>
                      </a:r>
                    </a:p>
                  </a:txBody>
                  <a:tcPr marL="8273" marR="8273" marT="8273" marB="0" vert="vert27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a:txBody>
                    <a:bodyPr/>
                    <a:lstStyle/>
                    <a:p>
                      <a:pPr algn="ctr" rtl="0" fontAlgn="ctr"/>
                      <a:r>
                        <a:rPr lang="es-ES" sz="1100" b="1" i="0" u="none" strike="noStrike" dirty="0">
                          <a:solidFill>
                            <a:srgbClr val="000000"/>
                          </a:solidFill>
                          <a:effectLst/>
                          <a:latin typeface="Calibri" panose="020F0502020204030204" pitchFamily="34" charset="0"/>
                        </a:rPr>
                        <a:t>Servidor de procesos </a:t>
                      </a:r>
                      <a:r>
                        <a:rPr lang="es-ES" sz="1100" b="1" i="0" u="none" strike="noStrike" dirty="0" err="1">
                          <a:solidFill>
                            <a:srgbClr val="000000"/>
                          </a:solidFill>
                          <a:effectLst/>
                          <a:latin typeface="Calibri" panose="020F0502020204030204" pitchFamily="34" charset="0"/>
                        </a:rPr>
                        <a:t>batch</a:t>
                      </a:r>
                      <a:r>
                        <a:rPr lang="es-ES" sz="1100" b="1" i="0" u="none" strike="noStrike" dirty="0">
                          <a:solidFill>
                            <a:srgbClr val="000000"/>
                          </a:solidFill>
                          <a:effectLst/>
                          <a:latin typeface="Calibri" panose="020F0502020204030204" pitchFamily="34" charset="0"/>
                        </a:rPr>
                        <a:t> Linux de propósito general</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9393"/>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r>
                        <a:rPr lang="de-DE" sz="1000" b="0" i="0" u="none" strike="noStrike" dirty="0">
                          <a:solidFill>
                            <a:srgbClr val="000000"/>
                          </a:solidFill>
                          <a:effectLst/>
                          <a:latin typeface="Calibri" panose="020F0502020204030204" pitchFamily="34" charset="0"/>
                        </a:rPr>
                        <a:t>RHEL 7.7 64 bits</a:t>
                      </a:r>
                    </a:p>
                    <a:p>
                      <a:pPr marL="0" marR="0" lvl="0" indent="0" algn="ctr" defTabSz="914390" rtl="0" eaLnBrk="1" fontAlgn="ctr"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Calibri" panose="020F0502020204030204" pitchFamily="34" charset="0"/>
                      </a:endParaRPr>
                    </a:p>
                    <a:p>
                      <a:pPr algn="ctr" rtl="0" fontAlgn="ctr"/>
                      <a:r>
                        <a:rPr lang="de-DE" sz="1000" b="0" i="0" u="none" strike="noStrike" dirty="0">
                          <a:solidFill>
                            <a:srgbClr val="000000"/>
                          </a:solidFill>
                          <a:effectLst/>
                          <a:latin typeface="Calibri" panose="020F0502020204030204" pitchFamily="34" charset="0"/>
                        </a:rPr>
                        <a:t>  </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algn="ctr" defTabSz="914390" rtl="0" eaLnBrk="1" fontAlgn="ctr" latinLnBrk="0" hangingPunct="1">
                        <a:spcAft>
                          <a:spcPts val="0"/>
                        </a:spcAft>
                      </a:pPr>
                      <a:r>
                        <a:rPr lang="es-ES" sz="1100" b="0" i="0" u="none" strike="noStrike" kern="1200" dirty="0">
                          <a:solidFill>
                            <a:srgbClr val="000000"/>
                          </a:solidFill>
                          <a:effectLst/>
                          <a:latin typeface="Calibri" panose="020F0502020204030204" pitchFamily="34" charset="0"/>
                          <a:ea typeface="+mn-ea"/>
                          <a:cs typeface="+mn-cs"/>
                        </a:rPr>
                        <a:t>5</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000" b="0" i="0" u="none" strike="noStrike" dirty="0">
                          <a:solidFill>
                            <a:srgbClr val="000000"/>
                          </a:solidFill>
                          <a:effectLst/>
                          <a:latin typeface="Calibri" panose="020F0502020204030204" pitchFamily="34" charset="0"/>
                        </a:rPr>
                        <a:t>SAN</a:t>
                      </a:r>
                    </a:p>
                  </a:txBody>
                  <a:tcPr marL="7637" marR="7637" marT="7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Intranet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endParaRPr lang="es-ES" sz="1100" b="0" i="0" u="none" strike="noStrike" dirty="0">
                        <a:solidFill>
                          <a:srgbClr val="000000"/>
                        </a:solidFill>
                        <a:effectLst/>
                        <a:latin typeface="Calibri" panose="020F0502020204030204" pitchFamily="34" charset="0"/>
                      </a:endParaRPr>
                    </a:p>
                    <a:p>
                      <a:pPr algn="ctr" rtl="0" fontAlgn="ctr"/>
                      <a:r>
                        <a:rPr lang="es-ES" sz="1100" b="0" i="0" u="none" strike="noStrike" dirty="0">
                          <a:solidFill>
                            <a:srgbClr val="000000"/>
                          </a:solidFill>
                          <a:effectLst/>
                          <a:latin typeface="Calibri" panose="020F0502020204030204" pitchFamily="34" charset="0"/>
                        </a:rPr>
                        <a:t>N/A</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000000"/>
                          </a:solidFill>
                          <a:effectLst/>
                          <a:uLnTx/>
                          <a:uFillTx/>
                          <a:latin typeface="Calibri" panose="020F0502020204030204" pitchFamily="34" charset="0"/>
                          <a:ea typeface="+mn-ea"/>
                          <a:cs typeface="Helvetica"/>
                          <a:sym typeface="Arial"/>
                        </a:rPr>
                        <a:t>N/A</a:t>
                      </a:r>
                      <a:endParaRPr lang="es-ES" sz="1100" b="0" i="0" u="none" strike="noStrike" kern="1200" dirty="0">
                        <a:solidFill>
                          <a:srgbClr val="000000"/>
                        </a:solidFill>
                        <a:effectLst/>
                        <a:latin typeface="Calibri" panose="020F0502020204030204" pitchFamily="34" charset="0"/>
                        <a:ea typeface="+mn-ea"/>
                        <a:cs typeface="+mn-cs"/>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endParaRPr lang="es-ES" sz="1100" b="0" i="0" u="none" strike="noStrike" kern="1200" dirty="0">
                        <a:solidFill>
                          <a:srgbClr val="000000"/>
                        </a:solidFill>
                        <a:effectLst/>
                        <a:latin typeface="Calibri" panose="020F0502020204030204" pitchFamily="34" charset="0"/>
                        <a:ea typeface="+mn-ea"/>
                        <a:cs typeface="+mn-cs"/>
                      </a:endParaRPr>
                    </a:p>
                    <a:p>
                      <a:pPr marL="0" marR="0" lvl="0" indent="0" algn="ctr" defTabSz="914390" rtl="0" eaLnBrk="1" fontAlgn="ctr" latinLnBrk="0" hangingPunct="1">
                        <a:lnSpc>
                          <a:spcPct val="100000"/>
                        </a:lnSpc>
                        <a:spcBef>
                          <a:spcPts val="0"/>
                        </a:spcBef>
                        <a:spcAft>
                          <a:spcPts val="0"/>
                        </a:spcAft>
                        <a:buClrTx/>
                        <a:buSzTx/>
                        <a:buFontTx/>
                        <a:buNone/>
                        <a:tabLst/>
                        <a:defRPr/>
                      </a:pPr>
                      <a:r>
                        <a:rPr lang="es-ES" sz="1100" b="0" i="0" u="none" strike="noStrike" kern="1200" dirty="0">
                          <a:solidFill>
                            <a:srgbClr val="000000"/>
                          </a:solidFill>
                          <a:effectLst/>
                          <a:latin typeface="Calibri" panose="020F0502020204030204" pitchFamily="34" charset="0"/>
                          <a:ea typeface="+mn-ea"/>
                          <a:cs typeface="+mn-cs"/>
                        </a:rPr>
                        <a:t>N/A</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endParaRPr lang="es-ES" sz="1100" b="0" i="0" u="none" strike="noStrike" kern="1200" dirty="0">
                        <a:solidFill>
                          <a:srgbClr val="000000"/>
                        </a:solidFill>
                        <a:effectLst/>
                        <a:latin typeface="Calibri" panose="020F0502020204030204" pitchFamily="34" charset="0"/>
                        <a:ea typeface="+mn-ea"/>
                        <a:cs typeface="+mn-cs"/>
                      </a:endParaRPr>
                    </a:p>
                    <a:p>
                      <a:pPr marL="0" marR="0" lvl="0" indent="0" algn="ctr" defTabSz="914390" rtl="0" eaLnBrk="1" fontAlgn="ctr" latinLnBrk="0" hangingPunct="1">
                        <a:lnSpc>
                          <a:spcPct val="100000"/>
                        </a:lnSpc>
                        <a:spcBef>
                          <a:spcPts val="0"/>
                        </a:spcBef>
                        <a:spcAft>
                          <a:spcPts val="0"/>
                        </a:spcAft>
                        <a:buClrTx/>
                        <a:buSzTx/>
                        <a:buFontTx/>
                        <a:buNone/>
                        <a:tabLst/>
                        <a:defRPr/>
                      </a:pPr>
                      <a:r>
                        <a:rPr lang="es-ES" sz="1100" b="0" i="0" u="none" strike="noStrike" kern="1200" dirty="0">
                          <a:solidFill>
                            <a:srgbClr val="000000"/>
                          </a:solidFill>
                          <a:effectLst/>
                          <a:latin typeface="Calibri" panose="020F0502020204030204" pitchFamily="34" charset="0"/>
                          <a:ea typeface="+mn-ea"/>
                          <a:cs typeface="+mn-cs"/>
                        </a:rPr>
                        <a:t>Vertical</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Control-M</a:t>
                      </a:r>
                    </a:p>
                    <a:p>
                      <a:pPr algn="ctr" rtl="0" fontAlgn="ctr"/>
                      <a:r>
                        <a:rPr lang="es-ES" sz="1100" b="0" i="0" u="none" strike="noStrike" dirty="0">
                          <a:solidFill>
                            <a:srgbClr val="000000"/>
                          </a:solidFill>
                          <a:effectLst/>
                          <a:latin typeface="Calibri" panose="020F0502020204030204" pitchFamily="34" charset="0"/>
                        </a:rPr>
                        <a:t>Jvm</a:t>
                      </a:r>
                    </a:p>
                    <a:p>
                      <a:pPr marL="0" marR="0" lvl="0" indent="0" algn="ctr" defTabSz="914400" rtl="0" eaLnBrk="1" fontAlgn="ctr" latinLnBrk="0" hangingPunct="1">
                        <a:lnSpc>
                          <a:spcPct val="100000"/>
                        </a:lnSpc>
                        <a:spcBef>
                          <a:spcPts val="200"/>
                        </a:spcBef>
                        <a:spcAft>
                          <a:spcPts val="0"/>
                        </a:spcAft>
                        <a:buClrTx/>
                        <a:buSzTx/>
                        <a:buFontTx/>
                        <a:buNone/>
                        <a:tabLst/>
                        <a:defRPr/>
                      </a:pPr>
                      <a:r>
                        <a:rPr lang="es-ES" sz="1100" b="0" i="0" u="none" strike="noStrike" dirty="0">
                          <a:solidFill>
                            <a:srgbClr val="000000"/>
                          </a:solidFill>
                          <a:effectLst/>
                          <a:latin typeface="Calibri" panose="020F0502020204030204" pitchFamily="34" charset="0"/>
                        </a:rPr>
                        <a:t> </a:t>
                      </a:r>
                      <a:r>
                        <a:rPr lang="es-ES" sz="1100" b="0" i="0" u="none" strike="noStrike" cap="none" spc="0" baseline="0" dirty="0">
                          <a:solidFill>
                            <a:srgbClr val="000000"/>
                          </a:solidFill>
                          <a:effectLst/>
                          <a:uFillTx/>
                          <a:latin typeface="Calibri" panose="020F0502020204030204" pitchFamily="34" charset="0"/>
                          <a:ea typeface="+mn-ea"/>
                          <a:cs typeface="+mn-cs"/>
                          <a:sym typeface="Arial"/>
                        </a:rPr>
                        <a:t>jdk1.11</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lvl="0" algn="just"/>
                      <a:r>
                        <a:rPr lang="es-ES" sz="1100" b="0" i="0" u="none" strike="noStrike" cap="none" spc="0" baseline="0" dirty="0">
                          <a:solidFill>
                            <a:srgbClr val="000000"/>
                          </a:solidFill>
                          <a:effectLst/>
                          <a:uFillTx/>
                          <a:latin typeface="Calibri" panose="020F0502020204030204" pitchFamily="34" charset="0"/>
                          <a:ea typeface="+mn-ea"/>
                          <a:cs typeface="+mn-cs"/>
                          <a:sym typeface="Arial"/>
                        </a:rPr>
                        <a:t>En el servidor de propósito general de Producción se requiere una unidad de 5 GB. . Desde este servidor se lanzarán las tareas Batch que requiere para procesamiento de </a:t>
                      </a:r>
                      <a:r>
                        <a:rPr lang="es-ES" sz="1100" b="0" i="0" u="none" strike="noStrike" cap="none" spc="0" baseline="0" dirty="0" err="1">
                          <a:solidFill>
                            <a:srgbClr val="000000"/>
                          </a:solidFill>
                          <a:effectLst/>
                          <a:uFillTx/>
                          <a:latin typeface="Calibri" panose="020F0502020204030204" pitchFamily="34" charset="0"/>
                          <a:ea typeface="+mn-ea"/>
                          <a:cs typeface="+mn-cs"/>
                          <a:sym typeface="Arial"/>
                        </a:rPr>
                        <a:t>ficberos</a:t>
                      </a:r>
                      <a:endParaRPr lang="es-ES" sz="1100" b="0" i="0" u="none" strike="noStrike" cap="none" spc="0" baseline="0" dirty="0">
                        <a:solidFill>
                          <a:srgbClr val="000000"/>
                        </a:solidFill>
                        <a:effectLst/>
                        <a:uFillTx/>
                        <a:latin typeface="Calibri" panose="020F0502020204030204" pitchFamily="34" charset="0"/>
                        <a:ea typeface="+mn-ea"/>
                        <a:cs typeface="+mn-cs"/>
                        <a:sym typeface="Arial"/>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extLst>
                  <a:ext uri="{0D108BD9-81ED-4DB2-BD59-A6C34878D82A}">
                    <a16:rowId xmlns:a16="http://schemas.microsoft.com/office/drawing/2014/main" val="2908738390"/>
                  </a:ext>
                </a:extLst>
              </a:tr>
              <a:tr h="828142">
                <a:tc>
                  <a:txBody>
                    <a:bodyPr/>
                    <a:lstStyle/>
                    <a:p>
                      <a:pPr algn="ctr" fontAlgn="ctr"/>
                      <a:r>
                        <a:rPr lang="es-ES" sz="1800" b="1" i="0" u="none" strike="noStrike">
                          <a:solidFill>
                            <a:srgbClr val="000000"/>
                          </a:solidFill>
                          <a:effectLst/>
                          <a:latin typeface="Calibri" panose="020F0502020204030204" pitchFamily="34" charset="0"/>
                        </a:rPr>
                        <a:t>Pre</a:t>
                      </a:r>
                    </a:p>
                  </a:txBody>
                  <a:tcPr marL="8273" marR="8273" marT="8273" marB="0" vert="vert27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a:txBody>
                    <a:bodyPr/>
                    <a:lstStyle/>
                    <a:p>
                      <a:pPr algn="ctr" rtl="0" fontAlgn="ctr"/>
                      <a:r>
                        <a:rPr lang="es-ES" sz="1100" b="1" i="0" u="none" strike="noStrike" dirty="0">
                          <a:solidFill>
                            <a:srgbClr val="000000"/>
                          </a:solidFill>
                          <a:effectLst/>
                          <a:latin typeface="Calibri" panose="020F0502020204030204" pitchFamily="34" charset="0"/>
                        </a:rPr>
                        <a:t>Servidor de procesos </a:t>
                      </a:r>
                      <a:r>
                        <a:rPr lang="es-ES" sz="1100" b="1" i="0" u="none" strike="noStrike" dirty="0" err="1">
                          <a:solidFill>
                            <a:srgbClr val="000000"/>
                          </a:solidFill>
                          <a:effectLst/>
                          <a:latin typeface="Calibri" panose="020F0502020204030204" pitchFamily="34" charset="0"/>
                        </a:rPr>
                        <a:t>batch</a:t>
                      </a:r>
                      <a:r>
                        <a:rPr lang="es-ES" sz="1100" b="1" i="0" u="none" strike="noStrike" dirty="0">
                          <a:solidFill>
                            <a:srgbClr val="000000"/>
                          </a:solidFill>
                          <a:effectLst/>
                          <a:latin typeface="Calibri" panose="020F0502020204030204" pitchFamily="34" charset="0"/>
                        </a:rPr>
                        <a:t> Linux de propósito general</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9393"/>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r>
                        <a:rPr lang="de-DE" sz="1000" b="0" i="0" u="none" strike="noStrike" dirty="0">
                          <a:solidFill>
                            <a:srgbClr val="000000"/>
                          </a:solidFill>
                          <a:effectLst/>
                          <a:latin typeface="Calibri" panose="020F0502020204030204" pitchFamily="34" charset="0"/>
                        </a:rPr>
                        <a:t>RHEL 7.7 64 bits</a:t>
                      </a:r>
                    </a:p>
                    <a:p>
                      <a:pPr marL="0" marR="0" lvl="0" indent="0" algn="ctr" defTabSz="914390" rtl="0" eaLnBrk="1" fontAlgn="ctr"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Calibri" panose="020F0502020204030204" pitchFamily="34" charset="0"/>
                      </a:endParaRPr>
                    </a:p>
                    <a:p>
                      <a:pPr algn="ctr" rtl="0" fontAlgn="ctr"/>
                      <a:endParaRPr lang="de-DE" sz="10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algn="ctr" defTabSz="914390" rtl="0" eaLnBrk="1" fontAlgn="ctr" latinLnBrk="0" hangingPunct="1">
                        <a:spcAft>
                          <a:spcPts val="0"/>
                        </a:spcAft>
                      </a:pPr>
                      <a:r>
                        <a:rPr lang="es-ES" sz="1100" b="0" i="0" u="none" strike="noStrike" kern="1200" dirty="0">
                          <a:solidFill>
                            <a:srgbClr val="000000"/>
                          </a:solidFill>
                          <a:effectLst/>
                          <a:latin typeface="Calibri" panose="020F0502020204030204" pitchFamily="34" charset="0"/>
                          <a:ea typeface="+mn-ea"/>
                          <a:cs typeface="+mn-cs"/>
                        </a:rPr>
                        <a:t>1</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000" b="0" i="0" u="none" strike="noStrike" dirty="0">
                          <a:solidFill>
                            <a:srgbClr val="000000"/>
                          </a:solidFill>
                          <a:effectLst/>
                          <a:latin typeface="Calibri" panose="020F0502020204030204" pitchFamily="34" charset="0"/>
                        </a:rPr>
                        <a:t>SAN</a:t>
                      </a:r>
                    </a:p>
                  </a:txBody>
                  <a:tcPr marL="7637" marR="7637" marT="7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Intranet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N/A</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000000"/>
                          </a:solidFill>
                          <a:effectLst/>
                          <a:uLnTx/>
                          <a:uFillTx/>
                          <a:latin typeface="Calibri" panose="020F0502020204030204" pitchFamily="34" charset="0"/>
                          <a:ea typeface="+mn-ea"/>
                          <a:cs typeface="Helvetica"/>
                          <a:sym typeface="Arial"/>
                        </a:rPr>
                        <a:t>N/A</a:t>
                      </a: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endParaRPr lang="es-ES" sz="1100" b="0" i="0" u="none" strike="noStrike" kern="1200" dirty="0">
                        <a:solidFill>
                          <a:srgbClr val="000000"/>
                        </a:solidFill>
                        <a:effectLst/>
                        <a:latin typeface="Calibri" panose="020F0502020204030204" pitchFamily="34" charset="0"/>
                        <a:ea typeface="+mn-ea"/>
                        <a:cs typeface="+mn-cs"/>
                      </a:endParaRPr>
                    </a:p>
                    <a:p>
                      <a:pPr marL="0" marR="0" lvl="0" indent="0" algn="ctr" defTabSz="914390" rtl="0" eaLnBrk="1" fontAlgn="ctr" latinLnBrk="0" hangingPunct="1">
                        <a:lnSpc>
                          <a:spcPct val="100000"/>
                        </a:lnSpc>
                        <a:spcBef>
                          <a:spcPts val="0"/>
                        </a:spcBef>
                        <a:spcAft>
                          <a:spcPts val="0"/>
                        </a:spcAft>
                        <a:buClrTx/>
                        <a:buSzTx/>
                        <a:buFontTx/>
                        <a:buNone/>
                        <a:tabLst/>
                        <a:defRPr/>
                      </a:pPr>
                      <a:r>
                        <a:rPr lang="es-ES" sz="1100" b="0" i="0" u="none" strike="noStrike" kern="1200" dirty="0">
                          <a:solidFill>
                            <a:srgbClr val="000000"/>
                          </a:solidFill>
                          <a:effectLst/>
                          <a:latin typeface="Calibri" panose="020F0502020204030204" pitchFamily="34" charset="0"/>
                          <a:ea typeface="+mn-ea"/>
                          <a:cs typeface="+mn-cs"/>
                        </a:rPr>
                        <a:t>N/A</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endParaRPr lang="es-ES" sz="1100" b="0" i="0" u="none" strike="noStrike" kern="1200" dirty="0">
                        <a:solidFill>
                          <a:srgbClr val="000000"/>
                        </a:solidFill>
                        <a:effectLst/>
                        <a:latin typeface="Calibri" panose="020F0502020204030204" pitchFamily="34" charset="0"/>
                        <a:ea typeface="+mn-ea"/>
                        <a:cs typeface="+mn-cs"/>
                      </a:endParaRPr>
                    </a:p>
                    <a:p>
                      <a:pPr marL="0" marR="0" lvl="0" indent="0" algn="ctr" defTabSz="914390" rtl="0" eaLnBrk="1" fontAlgn="ctr" latinLnBrk="0" hangingPunct="1">
                        <a:lnSpc>
                          <a:spcPct val="100000"/>
                        </a:lnSpc>
                        <a:spcBef>
                          <a:spcPts val="0"/>
                        </a:spcBef>
                        <a:spcAft>
                          <a:spcPts val="0"/>
                        </a:spcAft>
                        <a:buClrTx/>
                        <a:buSzTx/>
                        <a:buFontTx/>
                        <a:buNone/>
                        <a:tabLst/>
                        <a:defRPr/>
                      </a:pPr>
                      <a:r>
                        <a:rPr lang="es-ES" sz="1100" b="0" i="0" u="none" strike="noStrike" kern="1200" dirty="0">
                          <a:solidFill>
                            <a:srgbClr val="000000"/>
                          </a:solidFill>
                          <a:effectLst/>
                          <a:latin typeface="Calibri" panose="020F0502020204030204" pitchFamily="34" charset="0"/>
                          <a:ea typeface="+mn-ea"/>
                          <a:cs typeface="+mn-cs"/>
                        </a:rPr>
                        <a:t>Vertical</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 Control-M</a:t>
                      </a:r>
                    </a:p>
                    <a:p>
                      <a:pPr algn="ctr" rtl="0" fontAlgn="ctr"/>
                      <a:r>
                        <a:rPr lang="es-ES" sz="1100" b="0" i="0" u="none" strike="noStrike" dirty="0" err="1">
                          <a:solidFill>
                            <a:srgbClr val="000000"/>
                          </a:solidFill>
                          <a:effectLst/>
                          <a:latin typeface="Calibri" panose="020F0502020204030204" pitchFamily="34" charset="0"/>
                        </a:rPr>
                        <a:t>Jvm</a:t>
                      </a:r>
                      <a:endParaRPr lang="es-ES" sz="1100" b="0" i="0" u="none" strike="noStrike" dirty="0">
                        <a:solidFill>
                          <a:srgbClr val="000000"/>
                        </a:solidFill>
                        <a:effectLst/>
                        <a:latin typeface="Calibri" panose="020F0502020204030204" pitchFamily="34" charset="0"/>
                      </a:endParaRPr>
                    </a:p>
                    <a:p>
                      <a:pPr marL="0" marR="0" lvl="0" indent="0" algn="ctr" defTabSz="914400" rtl="0" eaLnBrk="1" fontAlgn="ctr" latinLnBrk="0" hangingPunct="1">
                        <a:lnSpc>
                          <a:spcPct val="100000"/>
                        </a:lnSpc>
                        <a:spcBef>
                          <a:spcPts val="200"/>
                        </a:spcBef>
                        <a:spcAft>
                          <a:spcPts val="0"/>
                        </a:spcAft>
                        <a:buClrTx/>
                        <a:buSzTx/>
                        <a:buFontTx/>
                        <a:buNone/>
                        <a:tabLst/>
                        <a:defRPr/>
                      </a:pPr>
                      <a:r>
                        <a:rPr lang="es-ES" sz="1100" b="0" i="0" u="none" strike="noStrike" cap="none" spc="0" baseline="0" dirty="0">
                          <a:solidFill>
                            <a:srgbClr val="000000"/>
                          </a:solidFill>
                          <a:effectLst/>
                          <a:uFillTx/>
                          <a:latin typeface="Calibri" panose="020F0502020204030204" pitchFamily="34" charset="0"/>
                          <a:ea typeface="+mn-ea"/>
                          <a:cs typeface="+mn-cs"/>
                          <a:sym typeface="Arial"/>
                        </a:rPr>
                        <a:t>jdk1.11</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just" defTabSz="914390" rtl="0" eaLnBrk="1" fontAlgn="ctr" latinLnBrk="0" hangingPunct="1">
                        <a:lnSpc>
                          <a:spcPct val="100000"/>
                        </a:lnSpc>
                        <a:spcBef>
                          <a:spcPts val="0"/>
                        </a:spcBef>
                        <a:spcAft>
                          <a:spcPts val="0"/>
                        </a:spcAft>
                        <a:buClrTx/>
                        <a:buSzTx/>
                        <a:buFontTx/>
                        <a:buNone/>
                        <a:tabLst/>
                        <a:defRPr/>
                      </a:pPr>
                      <a:r>
                        <a:rPr lang="es-ES" sz="1100" b="0" i="0" u="none" strike="noStrike" cap="none" spc="0" baseline="0" dirty="0">
                          <a:solidFill>
                            <a:srgbClr val="000000"/>
                          </a:solidFill>
                          <a:effectLst/>
                          <a:uFillTx/>
                          <a:latin typeface="Calibri" panose="020F0502020204030204" pitchFamily="34" charset="0"/>
                          <a:ea typeface="+mn-ea"/>
                          <a:cs typeface="+mn-cs"/>
                          <a:sym typeface="Arial"/>
                        </a:rPr>
                        <a:t>En el servidor de propósito general de Preproducción se requiere una unidad de 1 GB. . Desde este servidor se lanzarán las tareas Batch que requiere para procesamiento de </a:t>
                      </a:r>
                      <a:r>
                        <a:rPr lang="es-ES" sz="1100" b="0" i="0" u="none" strike="noStrike" cap="none" spc="0" baseline="0" dirty="0" err="1">
                          <a:solidFill>
                            <a:srgbClr val="000000"/>
                          </a:solidFill>
                          <a:effectLst/>
                          <a:uFillTx/>
                          <a:latin typeface="Calibri" panose="020F0502020204030204" pitchFamily="34" charset="0"/>
                          <a:ea typeface="+mn-ea"/>
                          <a:cs typeface="+mn-cs"/>
                          <a:sym typeface="Arial"/>
                        </a:rPr>
                        <a:t>ficberos</a:t>
                      </a:r>
                      <a:r>
                        <a:rPr lang="es-ES" sz="1100" b="0" i="0" u="none" strike="noStrike" cap="none" spc="0" baseline="0" dirty="0">
                          <a:solidFill>
                            <a:srgbClr val="000000"/>
                          </a:solidFill>
                          <a:effectLst/>
                          <a:uFillTx/>
                          <a:latin typeface="Calibri" panose="020F0502020204030204" pitchFamily="34" charset="0"/>
                          <a:ea typeface="+mn-ea"/>
                          <a:cs typeface="+mn-cs"/>
                          <a:sym typeface="Arial"/>
                        </a:rPr>
                        <a: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extLst>
                  <a:ext uri="{0D108BD9-81ED-4DB2-BD59-A6C34878D82A}">
                    <a16:rowId xmlns:a16="http://schemas.microsoft.com/office/drawing/2014/main" val="1063994108"/>
                  </a:ext>
                </a:extLst>
              </a:tr>
              <a:tr h="900463">
                <a:tc>
                  <a:txBody>
                    <a:bodyPr/>
                    <a:lstStyle/>
                    <a:p>
                      <a:pPr algn="ctr" fontAlgn="ctr"/>
                      <a:r>
                        <a:rPr lang="es-ES" sz="1800" b="1" i="0" u="none" strike="noStrike" dirty="0">
                          <a:solidFill>
                            <a:srgbClr val="000000"/>
                          </a:solidFill>
                          <a:effectLst/>
                          <a:latin typeface="Calibri" panose="020F0502020204030204" pitchFamily="34" charset="0"/>
                        </a:rPr>
                        <a:t>DES</a:t>
                      </a:r>
                    </a:p>
                  </a:txBody>
                  <a:tcPr marL="8273" marR="8273" marT="8273" marB="0" vert="vert27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a:txBody>
                    <a:bodyPr/>
                    <a:lstStyle/>
                    <a:p>
                      <a:pPr algn="ctr" rtl="0" fontAlgn="ctr"/>
                      <a:r>
                        <a:rPr lang="es-ES" sz="1100" b="1" i="0" u="none" strike="noStrike" dirty="0">
                          <a:solidFill>
                            <a:srgbClr val="000000"/>
                          </a:solidFill>
                          <a:effectLst/>
                          <a:latin typeface="Calibri" panose="020F0502020204030204" pitchFamily="34" charset="0"/>
                        </a:rPr>
                        <a:t>Servidor de procesos </a:t>
                      </a:r>
                      <a:r>
                        <a:rPr lang="es-ES" sz="1100" b="1" i="0" u="none" strike="noStrike" dirty="0" err="1">
                          <a:solidFill>
                            <a:srgbClr val="000000"/>
                          </a:solidFill>
                          <a:effectLst/>
                          <a:latin typeface="Calibri" panose="020F0502020204030204" pitchFamily="34" charset="0"/>
                        </a:rPr>
                        <a:t>batch</a:t>
                      </a:r>
                      <a:r>
                        <a:rPr lang="es-ES" sz="1100" b="1" i="0" u="none" strike="noStrike" dirty="0">
                          <a:solidFill>
                            <a:srgbClr val="000000"/>
                          </a:solidFill>
                          <a:effectLst/>
                          <a:latin typeface="Calibri" panose="020F0502020204030204" pitchFamily="34" charset="0"/>
                        </a:rPr>
                        <a:t> Linux de propósito general</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9393"/>
                    </a:solidFill>
                  </a:tcPr>
                </a:tc>
                <a:tc>
                  <a:txBody>
                    <a:bodyPr/>
                    <a:lstStyle/>
                    <a:p>
                      <a:pPr algn="ctr" rtl="0" fontAlgn="ctr"/>
                      <a:r>
                        <a:rPr lang="de-DE" sz="1000" b="0" i="0" u="none" strike="noStrike" dirty="0">
                          <a:solidFill>
                            <a:srgbClr val="000000"/>
                          </a:solidFill>
                          <a:effectLst/>
                          <a:latin typeface="Calibri" panose="020F0502020204030204" pitchFamily="34" charset="0"/>
                        </a:rPr>
                        <a:t>RHEL 7.7 64 bits</a:t>
                      </a:r>
                    </a:p>
                    <a:p>
                      <a:pPr algn="ctr" rtl="0" fontAlgn="ctr"/>
                      <a:endParaRPr lang="de-DE" sz="10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1</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chemeClr val="tx1"/>
                          </a:solidFill>
                          <a:effectLst/>
                          <a:latin typeface="Calibri" panose="020F0502020204030204" pitchFamily="34" charset="0"/>
                        </a:rPr>
                        <a:t>2</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4</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algn="ctr" defTabSz="914390" rtl="0" eaLnBrk="1" fontAlgn="ctr" latinLnBrk="0" hangingPunct="1">
                        <a:spcAft>
                          <a:spcPts val="0"/>
                        </a:spcAft>
                      </a:pPr>
                      <a:r>
                        <a:rPr lang="es-ES" sz="1100" b="0" i="0" u="none" strike="noStrike" kern="1200" dirty="0">
                          <a:solidFill>
                            <a:srgbClr val="000000"/>
                          </a:solidFill>
                          <a:effectLst/>
                          <a:latin typeface="Calibri" panose="020F0502020204030204" pitchFamily="34" charset="0"/>
                          <a:ea typeface="+mn-ea"/>
                          <a:cs typeface="+mn-cs"/>
                        </a:rPr>
                        <a:t>1</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000" b="0" i="0" u="none" strike="noStrike" dirty="0">
                          <a:solidFill>
                            <a:srgbClr val="000000"/>
                          </a:solidFill>
                          <a:effectLst/>
                          <a:latin typeface="Calibri" panose="020F0502020204030204" pitchFamily="34" charset="0"/>
                        </a:rPr>
                        <a:t>SAN</a:t>
                      </a:r>
                    </a:p>
                  </a:txBody>
                  <a:tcPr marL="7637" marR="7637" marT="7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Intranet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N/A</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Helvetica"/>
                          <a:sym typeface="Arial"/>
                        </a:rPr>
                        <a:t>N/A</a:t>
                      </a: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endParaRPr lang="es-ES" sz="1100" b="0" i="0" u="none" strike="noStrike" kern="1200" dirty="0">
                        <a:solidFill>
                          <a:srgbClr val="000000"/>
                        </a:solidFill>
                        <a:effectLst/>
                        <a:latin typeface="Calibri" panose="020F0502020204030204" pitchFamily="34" charset="0"/>
                        <a:ea typeface="+mn-ea"/>
                        <a:cs typeface="+mn-cs"/>
                      </a:endParaRPr>
                    </a:p>
                    <a:p>
                      <a:pPr marL="0" marR="0" lvl="0" indent="0" algn="ctr" defTabSz="914390" rtl="0" eaLnBrk="1" fontAlgn="ctr" latinLnBrk="0" hangingPunct="1">
                        <a:lnSpc>
                          <a:spcPct val="100000"/>
                        </a:lnSpc>
                        <a:spcBef>
                          <a:spcPts val="0"/>
                        </a:spcBef>
                        <a:spcAft>
                          <a:spcPts val="0"/>
                        </a:spcAft>
                        <a:buClrTx/>
                        <a:buSzTx/>
                        <a:buFontTx/>
                        <a:buNone/>
                        <a:tabLst/>
                        <a:defRPr/>
                      </a:pPr>
                      <a:r>
                        <a:rPr lang="es-ES" sz="1100" b="0" i="0" u="none" strike="noStrike" kern="1200" dirty="0">
                          <a:solidFill>
                            <a:srgbClr val="000000"/>
                          </a:solidFill>
                          <a:effectLst/>
                          <a:latin typeface="Calibri" panose="020F0502020204030204" pitchFamily="34" charset="0"/>
                          <a:ea typeface="+mn-ea"/>
                          <a:cs typeface="+mn-cs"/>
                        </a:rPr>
                        <a:t>N/A</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endParaRPr lang="es-ES" sz="1100" b="0" i="0" u="none" strike="noStrike" kern="1200" dirty="0">
                        <a:solidFill>
                          <a:srgbClr val="000000"/>
                        </a:solidFill>
                        <a:effectLst/>
                        <a:latin typeface="Calibri" panose="020F0502020204030204" pitchFamily="34" charset="0"/>
                        <a:ea typeface="+mn-ea"/>
                        <a:cs typeface="+mn-cs"/>
                      </a:endParaRPr>
                    </a:p>
                    <a:p>
                      <a:pPr marL="0" marR="0" lvl="0" indent="0" algn="ctr" defTabSz="914390" rtl="0" eaLnBrk="1" fontAlgn="ctr" latinLnBrk="0" hangingPunct="1">
                        <a:lnSpc>
                          <a:spcPct val="100000"/>
                        </a:lnSpc>
                        <a:spcBef>
                          <a:spcPts val="0"/>
                        </a:spcBef>
                        <a:spcAft>
                          <a:spcPts val="0"/>
                        </a:spcAft>
                        <a:buClrTx/>
                        <a:buSzTx/>
                        <a:buFontTx/>
                        <a:buNone/>
                        <a:tabLst/>
                        <a:defRPr/>
                      </a:pPr>
                      <a:r>
                        <a:rPr lang="es-ES" sz="1100" b="0" i="0" u="none" strike="noStrike" kern="1200" dirty="0">
                          <a:solidFill>
                            <a:srgbClr val="000000"/>
                          </a:solidFill>
                          <a:effectLst/>
                          <a:latin typeface="Calibri" panose="020F0502020204030204" pitchFamily="34" charset="0"/>
                          <a:ea typeface="+mn-ea"/>
                          <a:cs typeface="+mn-cs"/>
                        </a:rPr>
                        <a:t>Vertical</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400" rtl="0" eaLnBrk="1" fontAlgn="ctr" latinLnBrk="0" hangingPunct="1">
                        <a:lnSpc>
                          <a:spcPct val="100000"/>
                        </a:lnSpc>
                        <a:spcBef>
                          <a:spcPts val="200"/>
                        </a:spcBef>
                        <a:spcAft>
                          <a:spcPts val="0"/>
                        </a:spcAft>
                        <a:buClrTx/>
                        <a:buSzTx/>
                        <a:buFontTx/>
                        <a:buNone/>
                        <a:tabLst/>
                        <a:defRPr/>
                      </a:pPr>
                      <a:r>
                        <a:rPr lang="es-ES" sz="1100" b="0" i="0" u="none" strike="noStrike" cap="none" spc="0" baseline="0" dirty="0">
                          <a:solidFill>
                            <a:srgbClr val="000000"/>
                          </a:solidFill>
                          <a:effectLst/>
                          <a:uFillTx/>
                          <a:latin typeface="Calibri" panose="020F0502020204030204" pitchFamily="34" charset="0"/>
                          <a:ea typeface="+mn-ea"/>
                          <a:cs typeface="+mn-cs"/>
                          <a:sym typeface="Arial"/>
                        </a:rPr>
                        <a:t> Control-M</a:t>
                      </a:r>
                    </a:p>
                    <a:p>
                      <a:pPr marL="0" marR="0" lvl="0" indent="0" algn="ctr" defTabSz="914400" rtl="0" eaLnBrk="1" fontAlgn="ctr" latinLnBrk="0" hangingPunct="1">
                        <a:lnSpc>
                          <a:spcPct val="100000"/>
                        </a:lnSpc>
                        <a:spcBef>
                          <a:spcPts val="200"/>
                        </a:spcBef>
                        <a:spcAft>
                          <a:spcPts val="0"/>
                        </a:spcAft>
                        <a:buClrTx/>
                        <a:buSzTx/>
                        <a:buFontTx/>
                        <a:buNone/>
                        <a:tabLst/>
                        <a:defRPr/>
                      </a:pPr>
                      <a:r>
                        <a:rPr lang="es-ES" sz="1100" b="0" i="0" u="none" strike="noStrike" cap="none" spc="0" baseline="0" dirty="0" err="1">
                          <a:solidFill>
                            <a:srgbClr val="000000"/>
                          </a:solidFill>
                          <a:effectLst/>
                          <a:uFillTx/>
                          <a:latin typeface="Calibri" panose="020F0502020204030204" pitchFamily="34" charset="0"/>
                          <a:ea typeface="+mn-ea"/>
                          <a:cs typeface="+mn-cs"/>
                          <a:sym typeface="Arial"/>
                        </a:rPr>
                        <a:t>Jvm</a:t>
                      </a:r>
                      <a:endParaRPr lang="es-ES" sz="1100" b="0" i="0" u="none" strike="noStrike" cap="none" spc="0" baseline="0" dirty="0">
                        <a:solidFill>
                          <a:srgbClr val="000000"/>
                        </a:solidFill>
                        <a:effectLst/>
                        <a:uFillTx/>
                        <a:latin typeface="Calibri" panose="020F0502020204030204" pitchFamily="34" charset="0"/>
                        <a:ea typeface="+mn-ea"/>
                        <a:cs typeface="+mn-cs"/>
                        <a:sym typeface="Arial"/>
                      </a:endParaRPr>
                    </a:p>
                    <a:p>
                      <a:pPr marL="0" marR="0" lvl="0" indent="0" algn="ctr" defTabSz="914400" rtl="0" eaLnBrk="1" fontAlgn="ctr" latinLnBrk="0" hangingPunct="1">
                        <a:lnSpc>
                          <a:spcPct val="100000"/>
                        </a:lnSpc>
                        <a:spcBef>
                          <a:spcPts val="200"/>
                        </a:spcBef>
                        <a:spcAft>
                          <a:spcPts val="0"/>
                        </a:spcAft>
                        <a:buClrTx/>
                        <a:buSzTx/>
                        <a:buFontTx/>
                        <a:buNone/>
                        <a:tabLst/>
                        <a:defRPr/>
                      </a:pPr>
                      <a:r>
                        <a:rPr lang="es-ES" sz="1100" b="0" i="0" u="none" strike="noStrike" cap="none" spc="0" baseline="0" dirty="0">
                          <a:solidFill>
                            <a:srgbClr val="000000"/>
                          </a:solidFill>
                          <a:effectLst/>
                          <a:uFillTx/>
                          <a:latin typeface="Calibri" panose="020F0502020204030204" pitchFamily="34" charset="0"/>
                          <a:ea typeface="+mn-ea"/>
                          <a:cs typeface="+mn-cs"/>
                          <a:sym typeface="Arial"/>
                        </a:rPr>
                        <a:t>jdk1.11</a:t>
                      </a:r>
                    </a:p>
                    <a:p>
                      <a:pPr marL="0" marR="0" lvl="0" indent="0" algn="ctr" defTabSz="914400" rtl="0" eaLnBrk="1" fontAlgn="ctr" latinLnBrk="0" hangingPunct="1">
                        <a:lnSpc>
                          <a:spcPct val="100000"/>
                        </a:lnSpc>
                        <a:spcBef>
                          <a:spcPts val="200"/>
                        </a:spcBef>
                        <a:spcAft>
                          <a:spcPts val="0"/>
                        </a:spcAft>
                        <a:buClrTx/>
                        <a:buSzTx/>
                        <a:buFontTx/>
                        <a:buNone/>
                        <a:tabLst/>
                        <a:defRPr/>
                      </a:pPr>
                      <a:endParaRPr lang="es-ES" sz="1100" b="0" i="0" u="none" strike="noStrike" cap="none" spc="0" baseline="0" dirty="0">
                        <a:solidFill>
                          <a:srgbClr val="000000"/>
                        </a:solidFill>
                        <a:effectLst/>
                        <a:uFillTx/>
                        <a:latin typeface="Calibri" panose="020F0502020204030204" pitchFamily="34" charset="0"/>
                        <a:ea typeface="+mn-ea"/>
                        <a:cs typeface="+mn-cs"/>
                        <a:sym typeface="Arial"/>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just" defTabSz="914390" rtl="0" eaLnBrk="1" fontAlgn="ctr" latinLnBrk="0" hangingPunct="1">
                        <a:lnSpc>
                          <a:spcPct val="100000"/>
                        </a:lnSpc>
                        <a:spcBef>
                          <a:spcPts val="0"/>
                        </a:spcBef>
                        <a:spcAft>
                          <a:spcPts val="0"/>
                        </a:spcAft>
                        <a:buClrTx/>
                        <a:buSzTx/>
                        <a:buFontTx/>
                        <a:buNone/>
                        <a:tabLst/>
                        <a:defRPr/>
                      </a:pPr>
                      <a:r>
                        <a:rPr lang="es-ES" sz="1100" b="0" i="0" u="none" strike="noStrike" cap="none" spc="0" baseline="0" dirty="0">
                          <a:solidFill>
                            <a:srgbClr val="000000"/>
                          </a:solidFill>
                          <a:effectLst/>
                          <a:uFillTx/>
                          <a:latin typeface="Calibri" panose="020F0502020204030204" pitchFamily="34" charset="0"/>
                          <a:ea typeface="+mn-ea"/>
                          <a:cs typeface="+mn-cs"/>
                          <a:sym typeface="Arial"/>
                        </a:rPr>
                        <a:t>En el servidor de propósito general de Desarrollo se requiere una unidad de 1 </a:t>
                      </a:r>
                      <a:r>
                        <a:rPr lang="es-ES" sz="1100" b="0" i="0" u="none" strike="noStrike" cap="none" spc="0" baseline="0" dirty="0" err="1">
                          <a:solidFill>
                            <a:srgbClr val="000000"/>
                          </a:solidFill>
                          <a:effectLst/>
                          <a:uFillTx/>
                          <a:latin typeface="Calibri" panose="020F0502020204030204" pitchFamily="34" charset="0"/>
                          <a:ea typeface="+mn-ea"/>
                          <a:cs typeface="+mn-cs"/>
                          <a:sym typeface="Arial"/>
                        </a:rPr>
                        <a:t>GB,Desde</a:t>
                      </a:r>
                      <a:r>
                        <a:rPr lang="es-ES" sz="1100" b="0" i="0" u="none" strike="noStrike" cap="none" spc="0" baseline="0" dirty="0">
                          <a:solidFill>
                            <a:srgbClr val="000000"/>
                          </a:solidFill>
                          <a:effectLst/>
                          <a:uFillTx/>
                          <a:latin typeface="Calibri" panose="020F0502020204030204" pitchFamily="34" charset="0"/>
                          <a:ea typeface="+mn-ea"/>
                          <a:cs typeface="+mn-cs"/>
                          <a:sym typeface="Arial"/>
                        </a:rPr>
                        <a:t> este servidor se lanzarán las tareas Batch que requiere para procesamiento de </a:t>
                      </a:r>
                      <a:r>
                        <a:rPr lang="es-ES" sz="1100" b="0" i="0" u="none" strike="noStrike" cap="none" spc="0" baseline="0" dirty="0" err="1">
                          <a:solidFill>
                            <a:srgbClr val="000000"/>
                          </a:solidFill>
                          <a:effectLst/>
                          <a:uFillTx/>
                          <a:latin typeface="Calibri" panose="020F0502020204030204" pitchFamily="34" charset="0"/>
                          <a:ea typeface="+mn-ea"/>
                          <a:cs typeface="+mn-cs"/>
                          <a:sym typeface="Arial"/>
                        </a:rPr>
                        <a:t>ficberos</a:t>
                      </a:r>
                      <a:endParaRPr lang="es-ES" sz="1100" b="0" i="0" u="none" strike="noStrike" cap="none" spc="0" baseline="0" dirty="0">
                        <a:solidFill>
                          <a:srgbClr val="000000"/>
                        </a:solidFill>
                        <a:effectLst/>
                        <a:uFillTx/>
                        <a:latin typeface="Calibri" panose="020F0502020204030204" pitchFamily="34" charset="0"/>
                        <a:ea typeface="+mn-ea"/>
                        <a:cs typeface="+mn-cs"/>
                        <a:sym typeface="Arial"/>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extLst>
                  <a:ext uri="{0D108BD9-81ED-4DB2-BD59-A6C34878D82A}">
                    <a16:rowId xmlns:a16="http://schemas.microsoft.com/office/drawing/2014/main" val="699595594"/>
                  </a:ext>
                </a:extLst>
              </a:tr>
              <a:tr h="182076">
                <a:tc gridSpan="14">
                  <a:txBody>
                    <a:bodyPr/>
                    <a:lstStyle/>
                    <a:p>
                      <a:pPr algn="l" fontAlgn="b"/>
                      <a:endParaRPr lang="es-ES" sz="1100" b="0" i="0" u="none" strike="noStrike" dirty="0">
                        <a:solidFill>
                          <a:srgbClr val="000000"/>
                        </a:solidFill>
                        <a:effectLst/>
                        <a:latin typeface="Calibri" panose="020F0502020204030204" pitchFamily="34" charset="0"/>
                      </a:endParaRPr>
                    </a:p>
                  </a:txBody>
                  <a:tcPr marL="8273" marR="8273" marT="8273" marB="0" anchor="b">
                    <a:lnL>
                      <a:noFill/>
                    </a:lnL>
                    <a:lnR>
                      <a:noFill/>
                    </a:lnR>
                    <a:lnT w="6350" cap="flat" cmpd="sng" algn="ctr">
                      <a:solidFill>
                        <a:srgbClr val="FFFFFF"/>
                      </a:solidFill>
                      <a:prstDash val="solid"/>
                      <a:round/>
                      <a:headEnd type="none" w="med" len="med"/>
                      <a:tailEnd type="none" w="med" len="med"/>
                    </a:lnT>
                    <a:lnB>
                      <a:noFill/>
                    </a:lnB>
                  </a:tcPr>
                </a:tc>
                <a:tc hMerge="1">
                  <a:txBody>
                    <a:bodyPr/>
                    <a:lstStyle/>
                    <a:p>
                      <a:endParaRPr lang="es-ES"/>
                    </a:p>
                  </a:txBody>
                  <a:tcPr/>
                </a:tc>
                <a:tc hMerge="1">
                  <a:txBody>
                    <a:bodyPr/>
                    <a:lstStyle/>
                    <a:p>
                      <a:endParaRPr lang="es-ES"/>
                    </a:p>
                  </a:txBody>
                  <a:tcPr>
                    <a:lnL w="12700" cmpd="sng">
                      <a:noFill/>
                      <a:prstDash val="solid"/>
                    </a:lnL>
                    <a:lnT w="6350" cap="flat" cmpd="sng" algn="ctr">
                      <a:solidFill>
                        <a:srgbClr val="FFFFFF"/>
                      </a:solidFill>
                      <a:prstDash val="solid"/>
                      <a:round/>
                      <a:headEnd type="none" w="med" len="med"/>
                      <a:tailEnd type="none" w="med" len="med"/>
                    </a:lnT>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dirty="0"/>
                    </a:p>
                  </a:txBody>
                  <a:tcPr/>
                </a:tc>
                <a:tc hMerge="1">
                  <a:txBody>
                    <a:bodyPr/>
                    <a:lstStyle/>
                    <a:p>
                      <a:endParaRPr lang="es-ES" dirty="0"/>
                    </a:p>
                  </a:txBody>
                  <a:tcPr>
                    <a:lnL w="12700" cmpd="sng">
                      <a:noFill/>
                      <a:prstDash val="solid"/>
                    </a:lnL>
                    <a:lnT w="6350" cap="flat" cmpd="sng" algn="ctr">
                      <a:solidFill>
                        <a:srgbClr val="FFFFFF"/>
                      </a:solidFill>
                      <a:prstDash val="solid"/>
                      <a:round/>
                      <a:headEnd type="none" w="med" len="med"/>
                      <a:tailEnd type="none" w="med" len="med"/>
                    </a:lnT>
                  </a:tcPr>
                </a:tc>
                <a:tc>
                  <a:txBody>
                    <a:bodyPr/>
                    <a:lstStyle/>
                    <a:p>
                      <a:pPr algn="l" fontAlgn="b"/>
                      <a:endParaRPr lang="es-ES" sz="700" b="0" i="0" u="none" strike="noStrike" dirty="0">
                        <a:solidFill>
                          <a:srgbClr val="000000"/>
                        </a:solidFill>
                        <a:effectLst/>
                        <a:latin typeface="Calibri" panose="020F0502020204030204" pitchFamily="34" charset="0"/>
                      </a:endParaRPr>
                    </a:p>
                  </a:txBody>
                  <a:tcPr marL="8273" marR="8273" marT="8273" marB="0" anchor="b">
                    <a:lnL>
                      <a:noFill/>
                    </a:lnL>
                    <a:lnR>
                      <a:noFill/>
                    </a:lnR>
                    <a:lnT w="6350" cap="flat" cmpd="sng" algn="ctr">
                      <a:solidFill>
                        <a:srgbClr val="FFFFFF"/>
                      </a:solidFill>
                      <a:prstDash val="solid"/>
                      <a:round/>
                      <a:headEnd type="none" w="med" len="med"/>
                      <a:tailEnd type="none" w="med" len="med"/>
                    </a:lnT>
                    <a:lnB>
                      <a:noFill/>
                    </a:lnB>
                  </a:tcPr>
                </a:tc>
                <a:extLst>
                  <a:ext uri="{0D108BD9-81ED-4DB2-BD59-A6C34878D82A}">
                    <a16:rowId xmlns:a16="http://schemas.microsoft.com/office/drawing/2014/main" val="747582975"/>
                  </a:ext>
                </a:extLst>
              </a:tr>
            </a:tbl>
          </a:graphicData>
        </a:graphic>
      </p:graphicFrame>
      <p:sp>
        <p:nvSpPr>
          <p:cNvPr id="4" name="Rectangle 3">
            <a:extLst>
              <a:ext uri="{FF2B5EF4-FFF2-40B4-BE49-F238E27FC236}">
                <a16:creationId xmlns:a16="http://schemas.microsoft.com/office/drawing/2014/main" id="{840F9E71-DFBB-41CD-9089-C7988009DF88}"/>
              </a:ext>
            </a:extLst>
          </p:cNvPr>
          <p:cNvSpPr>
            <a:spLocks noChangeArrowheads="1"/>
          </p:cNvSpPr>
          <p:nvPr/>
        </p:nvSpPr>
        <p:spPr bwMode="auto">
          <a:xfrm>
            <a:off x="1126882" y="6476482"/>
            <a:ext cx="170525" cy="34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4406" tIns="42203" rIns="84406" bIns="42203" numCol="1" anchor="ctr" anchorCtr="0" compatLnSpc="1">
            <a:prstTxWarp prst="textNoShape">
              <a:avLst/>
            </a:prstTxWarp>
            <a:spAutoFit/>
          </a:bodyPr>
          <a:lstStyle/>
          <a:p>
            <a:endParaRPr lang="es-ES" sz="1662"/>
          </a:p>
        </p:txBody>
      </p:sp>
      <p:sp>
        <p:nvSpPr>
          <p:cNvPr id="19" name="Rectangle 156">
            <a:extLst>
              <a:ext uri="{FF2B5EF4-FFF2-40B4-BE49-F238E27FC236}">
                <a16:creationId xmlns:a16="http://schemas.microsoft.com/office/drawing/2014/main" id="{21423285-8500-41B6-A91F-9A2720179FBF}"/>
              </a:ext>
            </a:extLst>
          </p:cNvPr>
          <p:cNvSpPr txBox="1"/>
          <p:nvPr/>
        </p:nvSpPr>
        <p:spPr>
          <a:xfrm>
            <a:off x="922521" y="470042"/>
            <a:ext cx="11031004" cy="8239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000">
                <a:latin typeface="Calibri"/>
                <a:ea typeface="Calibri"/>
                <a:cs typeface="Calibri"/>
                <a:sym typeface="Calibri"/>
              </a:defRPr>
            </a:pPr>
            <a:r>
              <a:rPr sz="923" dirty="0"/>
              <a:t> </a:t>
            </a:r>
            <a:endParaRPr sz="1477" dirty="0">
              <a:solidFill>
                <a:srgbClr val="808080"/>
              </a:solidFill>
            </a:endParaRPr>
          </a:p>
          <a:p>
            <a:pPr>
              <a:defRPr sz="1600" u="sng">
                <a:solidFill>
                  <a:srgbClr val="808080"/>
                </a:solidFill>
              </a:defRPr>
            </a:pPr>
            <a:endParaRPr lang="es-ES" sz="1477" u="sng" dirty="0"/>
          </a:p>
          <a:p>
            <a:pPr>
              <a:defRPr sz="1600" u="sng">
                <a:solidFill>
                  <a:srgbClr val="808080"/>
                </a:solidFill>
              </a:defRPr>
            </a:pPr>
            <a:endParaRPr lang="es-ES" sz="1477" dirty="0"/>
          </a:p>
          <a:p>
            <a:pPr>
              <a:defRPr sz="1600" u="sng">
                <a:solidFill>
                  <a:srgbClr val="808080"/>
                </a:solidFill>
              </a:defRPr>
            </a:pPr>
            <a:r>
              <a:rPr lang="es-ES" sz="1477" dirty="0"/>
              <a:t>El servidor batch de propósito general será utilizado para correr procesos BATCH</a:t>
            </a:r>
          </a:p>
        </p:txBody>
      </p:sp>
      <p:sp>
        <p:nvSpPr>
          <p:cNvPr id="10" name="Rectángulo 9">
            <a:extLst>
              <a:ext uri="{FF2B5EF4-FFF2-40B4-BE49-F238E27FC236}">
                <a16:creationId xmlns:a16="http://schemas.microsoft.com/office/drawing/2014/main" id="{B7D0E095-9026-451F-866D-BAAE2E397C46}"/>
              </a:ext>
            </a:extLst>
          </p:cNvPr>
          <p:cNvSpPr/>
          <p:nvPr/>
        </p:nvSpPr>
        <p:spPr>
          <a:xfrm>
            <a:off x="785856" y="6091009"/>
            <a:ext cx="8836445" cy="319639"/>
          </a:xfrm>
          <a:prstGeom prst="rect">
            <a:avLst/>
          </a:prstGeom>
        </p:spPr>
        <p:txBody>
          <a:bodyPr wrap="square">
            <a:spAutoFit/>
          </a:bodyPr>
          <a:lstStyle/>
          <a:p>
            <a:pPr eaLnBrk="0" fontAlgn="base">
              <a:spcBef>
                <a:spcPct val="0"/>
              </a:spcBef>
              <a:spcAft>
                <a:spcPct val="0"/>
              </a:spcAft>
            </a:pPr>
            <a:r>
              <a:rPr lang="es-ES" altLang="es-ES" sz="1477" dirty="0">
                <a:solidFill>
                  <a:srgbClr val="808080"/>
                </a:solidFill>
              </a:rPr>
              <a:t>* Se aprovisionará nuevas máquinas si no existen máquinas de propósito general existente.</a:t>
            </a:r>
            <a:endParaRPr lang="es-ES" sz="1477" dirty="0">
              <a:solidFill>
                <a:srgbClr val="808080"/>
              </a:solidFill>
            </a:endParaRPr>
          </a:p>
        </p:txBody>
      </p:sp>
      <p:pic>
        <p:nvPicPr>
          <p:cNvPr id="14" name="Ojo" descr="Ojo">
            <a:extLst>
              <a:ext uri="{FF2B5EF4-FFF2-40B4-BE49-F238E27FC236}">
                <a16:creationId xmlns:a16="http://schemas.microsoft.com/office/drawing/2014/main" id="{A240D3F8-C360-4E5D-B3ED-89FC75664E0B}"/>
              </a:ext>
            </a:extLst>
          </p:cNvPr>
          <p:cNvPicPr>
            <a:picLocks noChangeAspect="1"/>
          </p:cNvPicPr>
          <p:nvPr/>
        </p:nvPicPr>
        <p:blipFill>
          <a:blip r:embed="rId2"/>
          <a:stretch>
            <a:fillRect/>
          </a:stretch>
        </p:blipFill>
        <p:spPr>
          <a:xfrm>
            <a:off x="8595186" y="6087669"/>
            <a:ext cx="333158" cy="299843"/>
          </a:xfrm>
          <a:prstGeom prst="rect">
            <a:avLst/>
          </a:prstGeom>
          <a:ln w="12700" cap="flat">
            <a:noFill/>
            <a:miter lim="400000"/>
          </a:ln>
          <a:effectLst/>
        </p:spPr>
      </p:pic>
    </p:spTree>
    <p:extLst>
      <p:ext uri="{BB962C8B-B14F-4D97-AF65-F5344CB8AC3E}">
        <p14:creationId xmlns:p14="http://schemas.microsoft.com/office/powerpoint/2010/main" val="3905223992"/>
      </p:ext>
    </p:ext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0" y="42180"/>
            <a:ext cx="8928514"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Hardware, Software y Alta Disponibilidad</a:t>
            </a:r>
          </a:p>
        </p:txBody>
      </p:sp>
      <p:sp>
        <p:nvSpPr>
          <p:cNvPr id="20" name="Rectangle 4">
            <a:extLst>
              <a:ext uri="{FF2B5EF4-FFF2-40B4-BE49-F238E27FC236}">
                <a16:creationId xmlns:a16="http://schemas.microsoft.com/office/drawing/2014/main" id="{7A06D9D2-1607-4045-A83D-35252A9DCF86}"/>
              </a:ext>
            </a:extLst>
          </p:cNvPr>
          <p:cNvSpPr>
            <a:spLocks noChangeArrowheads="1"/>
          </p:cNvSpPr>
          <p:nvPr/>
        </p:nvSpPr>
        <p:spPr bwMode="auto">
          <a:xfrm>
            <a:off x="489364" y="1987872"/>
            <a:ext cx="8439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ts val="2400"/>
              </a:lnSpc>
              <a:spcBef>
                <a:spcPct val="20000"/>
              </a:spcBef>
              <a:buClr>
                <a:srgbClr val="FFFFFF"/>
              </a:buClr>
              <a:buSzPct val="25000"/>
              <a:buFont typeface="Times" charset="0"/>
              <a:buChar char="•"/>
              <a:defRPr/>
            </a:pPr>
            <a:endParaRPr lang="es-ES_tradnl" sz="2000" kern="0" dirty="0">
              <a:solidFill>
                <a:srgbClr val="FF0000"/>
              </a:solidFill>
              <a:latin typeface="Arial" panose="020B0604020202020204" pitchFamily="34" charset="0"/>
            </a:endParaRPr>
          </a:p>
        </p:txBody>
      </p:sp>
      <p:sp>
        <p:nvSpPr>
          <p:cNvPr id="2" name="Rectángulo 1">
            <a:extLst>
              <a:ext uri="{FF2B5EF4-FFF2-40B4-BE49-F238E27FC236}">
                <a16:creationId xmlns:a16="http://schemas.microsoft.com/office/drawing/2014/main" id="{3F380023-6E84-4AD7-B1FB-64A83492B468}"/>
              </a:ext>
            </a:extLst>
          </p:cNvPr>
          <p:cNvSpPr/>
          <p:nvPr/>
        </p:nvSpPr>
        <p:spPr>
          <a:xfrm>
            <a:off x="489364" y="663304"/>
            <a:ext cx="11125200" cy="701731"/>
          </a:xfrm>
          <a:prstGeom prst="rect">
            <a:avLst/>
          </a:prstGeom>
        </p:spPr>
        <p:txBody>
          <a:bodyPr wrap="square">
            <a:spAutoFit/>
          </a:bodyPr>
          <a:lstStyle/>
          <a:p>
            <a:pPr defTabSz="844083"/>
            <a:endParaRPr lang="es-ES" altLang="es-ES" dirty="0">
              <a:solidFill>
                <a:schemeClr val="bg1">
                  <a:lumMod val="50000"/>
                </a:schemeClr>
              </a:solidFill>
              <a:latin typeface="Arial" charset="0"/>
              <a:cs typeface="Arial" charset="0"/>
            </a:endParaRPr>
          </a:p>
          <a:p>
            <a:pPr fontAlgn="t">
              <a:spcBef>
                <a:spcPct val="20000"/>
              </a:spcBef>
              <a:spcAft>
                <a:spcPct val="0"/>
              </a:spcAft>
              <a:defRPr/>
            </a:pPr>
            <a:endParaRPr lang="it-IT" dirty="0">
              <a:solidFill>
                <a:schemeClr val="bg1">
                  <a:lumMod val="50000"/>
                </a:schemeClr>
              </a:solidFill>
              <a:latin typeface="Arial" charset="0"/>
              <a:cs typeface="Arial" charset="0"/>
            </a:endParaRPr>
          </a:p>
        </p:txBody>
      </p:sp>
      <p:sp>
        <p:nvSpPr>
          <p:cNvPr id="11" name="Rectangle 1">
            <a:extLst>
              <a:ext uri="{FF2B5EF4-FFF2-40B4-BE49-F238E27FC236}">
                <a16:creationId xmlns:a16="http://schemas.microsoft.com/office/drawing/2014/main" id="{4511CB86-772B-4F71-84F1-1A2D4ED0C004}"/>
              </a:ext>
            </a:extLst>
          </p:cNvPr>
          <p:cNvSpPr>
            <a:spLocks noChangeArrowheads="1"/>
          </p:cNvSpPr>
          <p:nvPr/>
        </p:nvSpPr>
        <p:spPr bwMode="auto">
          <a:xfrm>
            <a:off x="2577376" y="3260294"/>
            <a:ext cx="170525" cy="34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4406" tIns="42203" rIns="84406" bIns="42203" numCol="1" anchor="ctr" anchorCtr="0" compatLnSpc="1">
            <a:prstTxWarp prst="textNoShape">
              <a:avLst/>
            </a:prstTxWarp>
            <a:spAutoFit/>
          </a:bodyPr>
          <a:lstStyle/>
          <a:p>
            <a:endParaRPr lang="es-ES" sz="1662" dirty="0"/>
          </a:p>
        </p:txBody>
      </p:sp>
      <p:sp>
        <p:nvSpPr>
          <p:cNvPr id="15" name="Rectangle 156">
            <a:extLst>
              <a:ext uri="{FF2B5EF4-FFF2-40B4-BE49-F238E27FC236}">
                <a16:creationId xmlns:a16="http://schemas.microsoft.com/office/drawing/2014/main" id="{CBDC93E5-958C-4782-9262-8EE90CDE8682}"/>
              </a:ext>
            </a:extLst>
          </p:cNvPr>
          <p:cNvSpPr>
            <a:spLocks noChangeArrowheads="1"/>
          </p:cNvSpPr>
          <p:nvPr/>
        </p:nvSpPr>
        <p:spPr bwMode="auto">
          <a:xfrm>
            <a:off x="643325" y="424807"/>
            <a:ext cx="10620284" cy="2630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844083"/>
            <a:r>
              <a:rPr lang="es-ES" altLang="es-ES" sz="923" dirty="0">
                <a:solidFill>
                  <a:srgbClr val="000000"/>
                </a:solidFill>
                <a:latin typeface="Calibri" panose="020F0502020204030204" pitchFamily="34" charset="0"/>
              </a:rPr>
              <a:t> </a:t>
            </a:r>
            <a:endParaRPr lang="es-ES" altLang="es-ES" sz="1477" dirty="0">
              <a:solidFill>
                <a:srgbClr val="000000"/>
              </a:solidFill>
              <a:latin typeface="Calibri" panose="020F0502020204030204" pitchFamily="34" charset="0"/>
            </a:endParaRPr>
          </a:p>
          <a:p>
            <a:pPr lvl="0">
              <a:buClrTx/>
            </a:pPr>
            <a:r>
              <a:rPr lang="es-ES" altLang="es-ES" sz="1477" u="sng" dirty="0">
                <a:solidFill>
                  <a:srgbClr val="808080"/>
                </a:solidFill>
                <a:latin typeface="Arial"/>
              </a:rPr>
              <a:t>BD Oracle </a:t>
            </a:r>
            <a:r>
              <a:rPr lang="es-ES" altLang="es-ES" sz="1477" dirty="0">
                <a:solidFill>
                  <a:srgbClr val="808080"/>
                </a:solidFill>
                <a:latin typeface="Arial"/>
              </a:rPr>
              <a:t>: </a:t>
            </a:r>
          </a:p>
          <a:p>
            <a:pPr lvl="0">
              <a:buClrTx/>
            </a:pPr>
            <a:endParaRPr lang="es-ES" altLang="es-ES" sz="1477" dirty="0">
              <a:solidFill>
                <a:srgbClr val="808080"/>
              </a:solidFill>
              <a:latin typeface="Arial"/>
            </a:endParaRPr>
          </a:p>
          <a:p>
            <a:pPr marL="263776" indent="-263776">
              <a:buFont typeface="Arial" panose="020B0604020202020204" pitchFamily="34" charset="0"/>
              <a:buChar char="•"/>
            </a:pPr>
            <a:r>
              <a:rPr lang="es-ES" altLang="es-ES" sz="1477" dirty="0">
                <a:solidFill>
                  <a:srgbClr val="808080"/>
                </a:solidFill>
                <a:latin typeface="Arial"/>
              </a:rPr>
              <a:t>Según datos de volumetría tendremos el siguiente incremento de sizing en esta base de datos</a:t>
            </a:r>
          </a:p>
          <a:p>
            <a:pPr marL="263776" indent="-263776">
              <a:buFont typeface="Arial" panose="020B0604020202020204" pitchFamily="34" charset="0"/>
              <a:buChar char="•"/>
            </a:pPr>
            <a:r>
              <a:rPr lang="es-ES" altLang="es-ES" sz="1477" dirty="0">
                <a:solidFill>
                  <a:srgbClr val="808080"/>
                </a:solidFill>
                <a:latin typeface="Arial"/>
              </a:rPr>
              <a:t>Se desplegarán &lt; 5 tablas en la base de datos nueva, según datos indicados en los siguientes apartados</a:t>
            </a:r>
          </a:p>
          <a:p>
            <a:pPr marL="263776" indent="-263776">
              <a:buFont typeface="Arial" panose="020B0604020202020204" pitchFamily="34" charset="0"/>
              <a:buChar char="•"/>
            </a:pPr>
            <a:r>
              <a:rPr lang="es-ES" altLang="es-ES" sz="1477" dirty="0">
                <a:solidFill>
                  <a:srgbClr val="808080"/>
                </a:solidFill>
                <a:latin typeface="Arial"/>
              </a:rPr>
              <a:t>Tendríamos unos accesos concurrentes de &lt; 1 acceso/segundo</a:t>
            </a:r>
          </a:p>
          <a:p>
            <a:pPr marL="263776" indent="-263776">
              <a:buFont typeface="Arial" panose="020B0604020202020204" pitchFamily="34" charset="0"/>
              <a:buChar char="•"/>
            </a:pPr>
            <a:r>
              <a:rPr lang="es-ES" altLang="es-ES" sz="1477" dirty="0">
                <a:solidFill>
                  <a:srgbClr val="808080"/>
                </a:solidFill>
                <a:latin typeface="Arial"/>
              </a:rPr>
              <a:t>Red Backend Internet</a:t>
            </a:r>
          </a:p>
          <a:p>
            <a:pPr marL="285750" indent="-285750">
              <a:buFont typeface="Arial" panose="020B0604020202020204" pitchFamily="34" charset="0"/>
              <a:buChar char="•"/>
            </a:pPr>
            <a:r>
              <a:rPr lang="es-ES" altLang="es-ES" sz="1400" dirty="0">
                <a:solidFill>
                  <a:srgbClr val="808080"/>
                </a:solidFill>
                <a:latin typeface="Arial"/>
              </a:rPr>
              <a:t>El encoding de la base de datos es AL32UTF8</a:t>
            </a:r>
          </a:p>
          <a:p>
            <a:endParaRPr lang="es-ES" altLang="es-ES" sz="1477" dirty="0">
              <a:solidFill>
                <a:srgbClr val="000000"/>
              </a:solidFill>
              <a:latin typeface="Calibri" panose="020F0502020204030204" pitchFamily="34" charset="0"/>
            </a:endParaRPr>
          </a:p>
          <a:p>
            <a:pPr marL="263776" indent="-263776" defTabSz="844083">
              <a:buFontTx/>
              <a:buChar char="-"/>
            </a:pPr>
            <a:endParaRPr lang="es-ES" altLang="es-ES" sz="1477" dirty="0">
              <a:solidFill>
                <a:srgbClr val="000000"/>
              </a:solidFill>
              <a:latin typeface="Calibri" panose="020F0502020204030204" pitchFamily="34" charset="0"/>
            </a:endParaRPr>
          </a:p>
          <a:p>
            <a:pPr marL="263776" indent="-263776" defTabSz="844083">
              <a:buFontTx/>
              <a:buChar char="-"/>
            </a:pPr>
            <a:endParaRPr lang="es-ES" altLang="es-ES" sz="1477" dirty="0">
              <a:solidFill>
                <a:srgbClr val="000000"/>
              </a:solidFill>
              <a:latin typeface="Calibri" panose="020F0502020204030204" pitchFamily="34" charset="0"/>
            </a:endParaRPr>
          </a:p>
          <a:p>
            <a:pPr defTabSz="844083"/>
            <a:endParaRPr lang="es-ES" altLang="es-ES" sz="1477" dirty="0"/>
          </a:p>
        </p:txBody>
      </p:sp>
      <p:graphicFrame>
        <p:nvGraphicFramePr>
          <p:cNvPr id="16" name="Tabla 15">
            <a:extLst>
              <a:ext uri="{FF2B5EF4-FFF2-40B4-BE49-F238E27FC236}">
                <a16:creationId xmlns:a16="http://schemas.microsoft.com/office/drawing/2014/main" id="{4E40E7DF-1096-4EBB-9B29-021C292851B4}"/>
              </a:ext>
            </a:extLst>
          </p:cNvPr>
          <p:cNvGraphicFramePr>
            <a:graphicFrameLocks noGrp="1"/>
          </p:cNvGraphicFramePr>
          <p:nvPr/>
        </p:nvGraphicFramePr>
        <p:xfrm>
          <a:off x="1056789" y="2497430"/>
          <a:ext cx="10335222" cy="1263685"/>
        </p:xfrm>
        <a:graphic>
          <a:graphicData uri="http://schemas.openxmlformats.org/drawingml/2006/table">
            <a:tbl>
              <a:tblPr/>
              <a:tblGrid>
                <a:gridCol w="1555507">
                  <a:extLst>
                    <a:ext uri="{9D8B030D-6E8A-4147-A177-3AD203B41FA5}">
                      <a16:colId xmlns:a16="http://schemas.microsoft.com/office/drawing/2014/main" val="3771167623"/>
                    </a:ext>
                  </a:extLst>
                </a:gridCol>
                <a:gridCol w="797150">
                  <a:extLst>
                    <a:ext uri="{9D8B030D-6E8A-4147-A177-3AD203B41FA5}">
                      <a16:colId xmlns:a16="http://schemas.microsoft.com/office/drawing/2014/main" val="100815221"/>
                    </a:ext>
                  </a:extLst>
                </a:gridCol>
                <a:gridCol w="1405922">
                  <a:extLst>
                    <a:ext uri="{9D8B030D-6E8A-4147-A177-3AD203B41FA5}">
                      <a16:colId xmlns:a16="http://schemas.microsoft.com/office/drawing/2014/main" val="3829512120"/>
                    </a:ext>
                  </a:extLst>
                </a:gridCol>
                <a:gridCol w="1038892">
                  <a:extLst>
                    <a:ext uri="{9D8B030D-6E8A-4147-A177-3AD203B41FA5}">
                      <a16:colId xmlns:a16="http://schemas.microsoft.com/office/drawing/2014/main" val="4016530745"/>
                    </a:ext>
                  </a:extLst>
                </a:gridCol>
                <a:gridCol w="1150993">
                  <a:extLst>
                    <a:ext uri="{9D8B030D-6E8A-4147-A177-3AD203B41FA5}">
                      <a16:colId xmlns:a16="http://schemas.microsoft.com/office/drawing/2014/main" val="1137248747"/>
                    </a:ext>
                  </a:extLst>
                </a:gridCol>
                <a:gridCol w="1477108">
                  <a:extLst>
                    <a:ext uri="{9D8B030D-6E8A-4147-A177-3AD203B41FA5}">
                      <a16:colId xmlns:a16="http://schemas.microsoft.com/office/drawing/2014/main" val="4067902239"/>
                    </a:ext>
                  </a:extLst>
                </a:gridCol>
                <a:gridCol w="1093444">
                  <a:extLst>
                    <a:ext uri="{9D8B030D-6E8A-4147-A177-3AD203B41FA5}">
                      <a16:colId xmlns:a16="http://schemas.microsoft.com/office/drawing/2014/main" val="997556198"/>
                    </a:ext>
                  </a:extLst>
                </a:gridCol>
                <a:gridCol w="1816206">
                  <a:extLst>
                    <a:ext uri="{9D8B030D-6E8A-4147-A177-3AD203B41FA5}">
                      <a16:colId xmlns:a16="http://schemas.microsoft.com/office/drawing/2014/main" val="3894105389"/>
                    </a:ext>
                  </a:extLst>
                </a:gridCol>
              </a:tblGrid>
              <a:tr h="485106">
                <a:tc>
                  <a:txBody>
                    <a:bodyPr/>
                    <a:lstStyle/>
                    <a:p>
                      <a:pPr algn="ctr" fontAlgn="ctr"/>
                      <a:r>
                        <a:rPr lang="es-ES" sz="1300" b="1" i="0" u="none" strike="noStrike" dirty="0">
                          <a:solidFill>
                            <a:srgbClr val="FFFFFF"/>
                          </a:solidFill>
                          <a:effectLst/>
                          <a:latin typeface="+mj-lt"/>
                        </a:rPr>
                        <a:t>Descripción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Tipo Gestor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Tamaño</a:t>
                      </a:r>
                    </a:p>
                    <a:p>
                      <a:pPr algn="ctr" fontAlgn="ctr"/>
                      <a:r>
                        <a:rPr lang="es-ES" sz="1300" b="1" i="0" u="none" strike="noStrike" dirty="0">
                          <a:solidFill>
                            <a:srgbClr val="FFFFFF"/>
                          </a:solidFill>
                          <a:effectLst/>
                          <a:latin typeface="+mj-lt"/>
                        </a:rPr>
                        <a:t>Datos + Índices</a:t>
                      </a:r>
                      <a:br>
                        <a:rPr lang="es-ES" sz="1300" b="1" i="0" u="none" strike="noStrike" dirty="0">
                          <a:solidFill>
                            <a:srgbClr val="FFFFFF"/>
                          </a:solidFill>
                          <a:effectLst/>
                          <a:latin typeface="+mj-lt"/>
                        </a:rPr>
                      </a:br>
                      <a:r>
                        <a:rPr lang="es-ES" sz="1300" b="1" i="0" u="none" strike="noStrike" dirty="0">
                          <a:solidFill>
                            <a:srgbClr val="FFFFFF"/>
                          </a:solidFill>
                          <a:effectLst/>
                          <a:latin typeface="+mj-lt"/>
                        </a:rPr>
                        <a:t>(Teras)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 Periodo Estimado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Crecimiento Anual (GB)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Particionamiento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Profundidad Histórica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Observaciones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88692156"/>
                  </a:ext>
                </a:extLst>
              </a:tr>
              <a:tr h="669325">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BBDD Oracle</a:t>
                      </a:r>
                    </a:p>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a:t>
                      </a:r>
                      <a:r>
                        <a:rPr lang="es-ES" sz="1000" kern="1200" dirty="0" err="1">
                          <a:solidFill>
                            <a:srgbClr val="808080"/>
                          </a:solidFill>
                          <a:latin typeface="Arial"/>
                          <a:ea typeface="+mn-ea"/>
                          <a:cs typeface="+mn-cs"/>
                        </a:rPr>
                        <a:t>Hagase</a:t>
                      </a:r>
                      <a:r>
                        <a:rPr lang="es-ES" sz="1000" kern="1200" dirty="0">
                          <a:solidFill>
                            <a:srgbClr val="808080"/>
                          </a:solidFill>
                          <a:latin typeface="Arial"/>
                          <a:ea typeface="+mn-ea"/>
                          <a:cs typeface="+mn-cs"/>
                        </a:rPr>
                        <a:t> Cliente)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Oracle 12c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50 GB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1 año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1 GB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4 meses (datos de “Usuario”)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endParaRPr lang="es-ES" sz="1200" kern="1200" dirty="0">
                        <a:solidFill>
                          <a:srgbClr val="808080"/>
                        </a:solidFill>
                        <a:latin typeface="Arial"/>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03430891"/>
                  </a:ext>
                </a:extLst>
              </a:tr>
            </a:tbl>
          </a:graphicData>
        </a:graphic>
      </p:graphicFrame>
      <p:pic>
        <p:nvPicPr>
          <p:cNvPr id="17" name="Imagen 16">
            <a:extLst>
              <a:ext uri="{FF2B5EF4-FFF2-40B4-BE49-F238E27FC236}">
                <a16:creationId xmlns:a16="http://schemas.microsoft.com/office/drawing/2014/main" id="{FA4DB6DA-6265-421C-9B05-74A51AAEE74E}"/>
              </a:ext>
            </a:extLst>
          </p:cNvPr>
          <p:cNvPicPr>
            <a:picLocks noChangeAspect="1"/>
          </p:cNvPicPr>
          <p:nvPr/>
        </p:nvPicPr>
        <p:blipFill>
          <a:blip r:embed="rId3"/>
          <a:stretch>
            <a:fillRect/>
          </a:stretch>
        </p:blipFill>
        <p:spPr>
          <a:xfrm>
            <a:off x="1056790" y="4121811"/>
            <a:ext cx="10335221" cy="1714330"/>
          </a:xfrm>
          <a:prstGeom prst="rect">
            <a:avLst/>
          </a:prstGeom>
        </p:spPr>
      </p:pic>
      <p:pic>
        <p:nvPicPr>
          <p:cNvPr id="3" name="Imagen 2">
            <a:extLst>
              <a:ext uri="{FF2B5EF4-FFF2-40B4-BE49-F238E27FC236}">
                <a16:creationId xmlns:a16="http://schemas.microsoft.com/office/drawing/2014/main" id="{F57AB366-2F66-4CF4-924F-9D8221B38A8E}"/>
              </a:ext>
            </a:extLst>
          </p:cNvPr>
          <p:cNvPicPr>
            <a:picLocks noChangeAspect="1"/>
          </p:cNvPicPr>
          <p:nvPr/>
        </p:nvPicPr>
        <p:blipFill>
          <a:blip r:embed="rId4"/>
          <a:stretch>
            <a:fillRect/>
          </a:stretch>
        </p:blipFill>
        <p:spPr>
          <a:xfrm>
            <a:off x="4971549" y="4750635"/>
            <a:ext cx="323850" cy="142875"/>
          </a:xfrm>
          <a:prstGeom prst="rect">
            <a:avLst/>
          </a:prstGeom>
        </p:spPr>
      </p:pic>
      <p:pic>
        <p:nvPicPr>
          <p:cNvPr id="4" name="Imagen 3">
            <a:extLst>
              <a:ext uri="{FF2B5EF4-FFF2-40B4-BE49-F238E27FC236}">
                <a16:creationId xmlns:a16="http://schemas.microsoft.com/office/drawing/2014/main" id="{7F4FF16C-0CF2-4147-9BED-DE928656ACA4}"/>
              </a:ext>
            </a:extLst>
          </p:cNvPr>
          <p:cNvPicPr>
            <a:picLocks noChangeAspect="1"/>
          </p:cNvPicPr>
          <p:nvPr/>
        </p:nvPicPr>
        <p:blipFill>
          <a:blip r:embed="rId4"/>
          <a:stretch>
            <a:fillRect/>
          </a:stretch>
        </p:blipFill>
        <p:spPr>
          <a:xfrm>
            <a:off x="4971549" y="5150513"/>
            <a:ext cx="323850" cy="142875"/>
          </a:xfrm>
          <a:prstGeom prst="rect">
            <a:avLst/>
          </a:prstGeom>
        </p:spPr>
      </p:pic>
      <p:pic>
        <p:nvPicPr>
          <p:cNvPr id="5" name="Imagen 4">
            <a:extLst>
              <a:ext uri="{FF2B5EF4-FFF2-40B4-BE49-F238E27FC236}">
                <a16:creationId xmlns:a16="http://schemas.microsoft.com/office/drawing/2014/main" id="{2FA90453-F473-431F-B6EB-1FE13D1DFBD1}"/>
              </a:ext>
            </a:extLst>
          </p:cNvPr>
          <p:cNvPicPr>
            <a:picLocks noChangeAspect="1"/>
          </p:cNvPicPr>
          <p:nvPr/>
        </p:nvPicPr>
        <p:blipFill>
          <a:blip r:embed="rId4"/>
          <a:stretch>
            <a:fillRect/>
          </a:stretch>
        </p:blipFill>
        <p:spPr>
          <a:xfrm>
            <a:off x="4971549" y="5527750"/>
            <a:ext cx="323850" cy="142875"/>
          </a:xfrm>
          <a:prstGeom prst="rect">
            <a:avLst/>
          </a:prstGeom>
        </p:spPr>
      </p:pic>
      <p:sp>
        <p:nvSpPr>
          <p:cNvPr id="7" name="Rectángulo 6">
            <a:extLst>
              <a:ext uri="{FF2B5EF4-FFF2-40B4-BE49-F238E27FC236}">
                <a16:creationId xmlns:a16="http://schemas.microsoft.com/office/drawing/2014/main" id="{FDCFC12E-57D7-4E52-8C6C-8511E95B9E35}"/>
              </a:ext>
            </a:extLst>
          </p:cNvPr>
          <p:cNvSpPr/>
          <p:nvPr/>
        </p:nvSpPr>
        <p:spPr>
          <a:xfrm>
            <a:off x="5067802" y="4652680"/>
            <a:ext cx="312906" cy="369332"/>
          </a:xfrm>
          <a:prstGeom prst="rect">
            <a:avLst/>
          </a:prstGeom>
        </p:spPr>
        <p:txBody>
          <a:bodyPr wrap="none">
            <a:spAutoFit/>
          </a:bodyPr>
          <a:lstStyle/>
          <a:p>
            <a:r>
              <a:rPr lang="es-ES" dirty="0">
                <a:solidFill>
                  <a:srgbClr val="808080"/>
                </a:solidFill>
                <a:latin typeface="Arial"/>
              </a:rPr>
              <a:t>5</a:t>
            </a:r>
            <a:endParaRPr lang="es-ES" dirty="0"/>
          </a:p>
        </p:txBody>
      </p:sp>
      <p:sp>
        <p:nvSpPr>
          <p:cNvPr id="18" name="Rectángulo 17">
            <a:extLst>
              <a:ext uri="{FF2B5EF4-FFF2-40B4-BE49-F238E27FC236}">
                <a16:creationId xmlns:a16="http://schemas.microsoft.com/office/drawing/2014/main" id="{0C73DBF1-D33E-4016-8F18-32E65B9652DD}"/>
              </a:ext>
            </a:extLst>
          </p:cNvPr>
          <p:cNvSpPr/>
          <p:nvPr/>
        </p:nvSpPr>
        <p:spPr>
          <a:xfrm>
            <a:off x="4908983" y="5037284"/>
            <a:ext cx="441146" cy="369332"/>
          </a:xfrm>
          <a:prstGeom prst="rect">
            <a:avLst/>
          </a:prstGeom>
        </p:spPr>
        <p:txBody>
          <a:bodyPr wrap="none">
            <a:spAutoFit/>
          </a:bodyPr>
          <a:lstStyle/>
          <a:p>
            <a:r>
              <a:rPr lang="es-ES" dirty="0">
                <a:solidFill>
                  <a:srgbClr val="808080"/>
                </a:solidFill>
                <a:latin typeface="Arial"/>
              </a:rPr>
              <a:t>15</a:t>
            </a:r>
            <a:endParaRPr lang="es-ES" dirty="0"/>
          </a:p>
        </p:txBody>
      </p:sp>
      <p:sp>
        <p:nvSpPr>
          <p:cNvPr id="19" name="Rectángulo 18">
            <a:extLst>
              <a:ext uri="{FF2B5EF4-FFF2-40B4-BE49-F238E27FC236}">
                <a16:creationId xmlns:a16="http://schemas.microsoft.com/office/drawing/2014/main" id="{0BC07155-4F3F-4A3F-A45D-4F2FB0506DBA}"/>
              </a:ext>
            </a:extLst>
          </p:cNvPr>
          <p:cNvSpPr/>
          <p:nvPr/>
        </p:nvSpPr>
        <p:spPr>
          <a:xfrm>
            <a:off x="4908983" y="5414521"/>
            <a:ext cx="441146" cy="369332"/>
          </a:xfrm>
          <a:prstGeom prst="rect">
            <a:avLst/>
          </a:prstGeom>
        </p:spPr>
        <p:txBody>
          <a:bodyPr wrap="none">
            <a:spAutoFit/>
          </a:bodyPr>
          <a:lstStyle/>
          <a:p>
            <a:r>
              <a:rPr lang="es-ES" dirty="0">
                <a:solidFill>
                  <a:srgbClr val="808080"/>
                </a:solidFill>
                <a:latin typeface="Arial"/>
              </a:rPr>
              <a:t>50</a:t>
            </a:r>
            <a:endParaRPr lang="es-ES" dirty="0"/>
          </a:p>
        </p:txBody>
      </p:sp>
    </p:spTree>
    <p:extLst>
      <p:ext uri="{BB962C8B-B14F-4D97-AF65-F5344CB8AC3E}">
        <p14:creationId xmlns:p14="http://schemas.microsoft.com/office/powerpoint/2010/main" val="32750595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arcador de texto 1">
            <a:extLst>
              <a:ext uri="{FF2B5EF4-FFF2-40B4-BE49-F238E27FC236}">
                <a16:creationId xmlns:a16="http://schemas.microsoft.com/office/drawing/2014/main" id="{4D70AF1F-FBAB-498B-B4DD-121BA0619DBE}"/>
              </a:ext>
            </a:extLst>
          </p:cNvPr>
          <p:cNvSpPr txBox="1">
            <a:spLocks/>
          </p:cNvSpPr>
          <p:nvPr/>
        </p:nvSpPr>
        <p:spPr>
          <a:xfrm>
            <a:off x="589388" y="296611"/>
            <a:ext cx="10833365" cy="438836"/>
          </a:xfrm>
          <a:prstGeom prst="rect">
            <a:avLst/>
          </a:prstGeom>
        </p:spPr>
        <p:txBody>
          <a:bodyPr vert="horz" lIns="91440" tIns="45720" rIns="91440" bIns="45720" rtlCol="0">
            <a:noAutofit/>
          </a:bodyPr>
          <a:lstStyle>
            <a:defPPr>
              <a:defRPr lang="es-ES"/>
            </a:defPPr>
            <a:lvl1pPr indent="0">
              <a:lnSpc>
                <a:spcPct val="90000"/>
              </a:lnSpc>
              <a:spcBef>
                <a:spcPts val="300"/>
              </a:spcBef>
              <a:buFont typeface="Arial" panose="020B0604020202020204" pitchFamily="34" charset="0"/>
              <a:buNone/>
              <a:defRPr sz="1300">
                <a:solidFill>
                  <a:srgbClr val="EB0000"/>
                </a:solidFill>
                <a:latin typeface="Arial cuerpo"/>
                <a:ea typeface="Segoe UI" panose="020B0502040204020203" pitchFamily="34" charset="0"/>
                <a:cs typeface="Segoe UI" panose="020B0502040204020203" pitchFamily="34" charset="0"/>
              </a:defRPr>
            </a:lvl1pPr>
            <a:lvl2pPr marL="685800" indent="-228600">
              <a:lnSpc>
                <a:spcPct val="90000"/>
              </a:lnSpc>
              <a:spcBef>
                <a:spcPts val="500"/>
              </a:spcBef>
              <a:buFont typeface="Arial" panose="020B0604020202020204" pitchFamily="34" charset="0"/>
              <a:buChar char="•"/>
              <a:defRPr sz="2400">
                <a:latin typeface="Arial cuerpo"/>
              </a:defRPr>
            </a:lvl2pPr>
            <a:lvl3pPr marL="1143000" indent="-228600">
              <a:lnSpc>
                <a:spcPct val="90000"/>
              </a:lnSpc>
              <a:spcBef>
                <a:spcPts val="500"/>
              </a:spcBef>
              <a:buFont typeface="Arial" panose="020B0604020202020204" pitchFamily="34" charset="0"/>
              <a:buChar char="•"/>
              <a:defRPr sz="2000">
                <a:latin typeface="Arial cuerpo"/>
              </a:defRPr>
            </a:lvl3pPr>
            <a:lvl4pPr marL="1600200" indent="-228600">
              <a:lnSpc>
                <a:spcPct val="90000"/>
              </a:lnSpc>
              <a:spcBef>
                <a:spcPts val="500"/>
              </a:spcBef>
              <a:buFont typeface="Arial" panose="020B0604020202020204" pitchFamily="34" charset="0"/>
              <a:buChar char="•"/>
              <a:defRPr>
                <a:latin typeface="Arial cuerpo"/>
              </a:defRPr>
            </a:lvl4pPr>
            <a:lvl5pPr marL="2057400" indent="-228600">
              <a:lnSpc>
                <a:spcPct val="90000"/>
              </a:lnSpc>
              <a:spcBef>
                <a:spcPts val="500"/>
              </a:spcBef>
              <a:buFont typeface="Arial" panose="020B0604020202020204" pitchFamily="34" charset="0"/>
              <a:buChar char="•"/>
              <a:defRPr>
                <a:latin typeface="Arial cuerpo"/>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ES" sz="1400" b="1" dirty="0"/>
              <a:t>Hardware, Software, escalabilidad y alta disponibilidad.</a:t>
            </a:r>
          </a:p>
          <a:p>
            <a:r>
              <a:rPr lang="es-ES" sz="1800" b="1" dirty="0"/>
              <a:t>Dimensionamiento Plataforma Appian (Motor y BBDD)</a:t>
            </a:r>
            <a:endParaRPr lang="pt-BR" sz="1800" b="1" dirty="0"/>
          </a:p>
          <a:p>
            <a:endParaRPr lang="es-ES" sz="1400" b="1" dirty="0"/>
          </a:p>
        </p:txBody>
      </p:sp>
      <p:sp>
        <p:nvSpPr>
          <p:cNvPr id="18" name="CuadroTexto 17">
            <a:extLst>
              <a:ext uri="{FF2B5EF4-FFF2-40B4-BE49-F238E27FC236}">
                <a16:creationId xmlns:a16="http://schemas.microsoft.com/office/drawing/2014/main" id="{378B6557-8CF3-49CA-938F-F775BA1D2579}"/>
              </a:ext>
            </a:extLst>
          </p:cNvPr>
          <p:cNvSpPr txBox="1"/>
          <p:nvPr/>
        </p:nvSpPr>
        <p:spPr>
          <a:xfrm>
            <a:off x="2592921" y="5171457"/>
            <a:ext cx="8727588" cy="1015663"/>
          </a:xfrm>
          <a:prstGeom prst="rect">
            <a:avLst/>
          </a:prstGeom>
          <a:noFill/>
        </p:spPr>
        <p:txBody>
          <a:bodyPr wrap="square" rtlCol="0">
            <a:spAutoFit/>
          </a:bodyPr>
          <a:lstStyle/>
          <a:p>
            <a:pPr marL="228600" indent="-228600">
              <a:buAutoNum type="arabicParenBoth"/>
            </a:pPr>
            <a:r>
              <a:rPr lang="es-ES" sz="1200" dirty="0"/>
              <a:t>El entorno de CERT </a:t>
            </a:r>
            <a:r>
              <a:rPr lang="es-ES" sz="1200" b="1" dirty="0"/>
              <a:t>no hace falta dotarlo para este proyecto</a:t>
            </a:r>
            <a:r>
              <a:rPr lang="es-ES" sz="1200" dirty="0"/>
              <a:t>, ya que se reutilizará el ya solicitado en el DS PCAS-Contratación y Procesos como entorno de desarrollo compartido por varias aplicaciones.</a:t>
            </a:r>
          </a:p>
          <a:p>
            <a:pPr marL="228600" indent="-228600">
              <a:buAutoNum type="arabicParenBoth"/>
            </a:pPr>
            <a:r>
              <a:rPr lang="es-ES" sz="1200" dirty="0"/>
              <a:t>Almacenamiento compartido entre todos los Servidores de Aplicaciones y los Appian Engines, que estarán también en HA (En CERT, al tratarse de un Stand Alone, se utilizará un File System en vez de una NAS).</a:t>
            </a:r>
          </a:p>
          <a:p>
            <a:pPr marL="228600" indent="-228600">
              <a:buAutoNum type="arabicParenBoth"/>
            </a:pPr>
            <a:r>
              <a:rPr lang="es-ES" sz="1200" dirty="0"/>
              <a:t>Ajustarse en función de las pruebas de rendimiento que se realicen. El charset de la BBDD Oracle será AL32UTF8.</a:t>
            </a:r>
          </a:p>
        </p:txBody>
      </p:sp>
      <p:graphicFrame>
        <p:nvGraphicFramePr>
          <p:cNvPr id="19" name="Tabla 18">
            <a:extLst>
              <a:ext uri="{FF2B5EF4-FFF2-40B4-BE49-F238E27FC236}">
                <a16:creationId xmlns:a16="http://schemas.microsoft.com/office/drawing/2014/main" id="{19A3F55A-6090-46F1-AC66-EDB066DEEAC1}"/>
              </a:ext>
            </a:extLst>
          </p:cNvPr>
          <p:cNvGraphicFramePr>
            <a:graphicFrameLocks noGrp="1"/>
          </p:cNvGraphicFramePr>
          <p:nvPr>
            <p:extLst>
              <p:ext uri="{D42A27DB-BD31-4B8C-83A1-F6EECF244321}">
                <p14:modId xmlns:p14="http://schemas.microsoft.com/office/powerpoint/2010/main" val="3501018242"/>
              </p:ext>
            </p:extLst>
          </p:nvPr>
        </p:nvGraphicFramePr>
        <p:xfrm>
          <a:off x="307423" y="2438886"/>
          <a:ext cx="11484378" cy="1323840"/>
        </p:xfrm>
        <a:graphic>
          <a:graphicData uri="http://schemas.openxmlformats.org/drawingml/2006/table">
            <a:tbl>
              <a:tblPr/>
              <a:tblGrid>
                <a:gridCol w="504132">
                  <a:extLst>
                    <a:ext uri="{9D8B030D-6E8A-4147-A177-3AD203B41FA5}">
                      <a16:colId xmlns:a16="http://schemas.microsoft.com/office/drawing/2014/main" val="20000"/>
                    </a:ext>
                  </a:extLst>
                </a:gridCol>
                <a:gridCol w="895325">
                  <a:extLst>
                    <a:ext uri="{9D8B030D-6E8A-4147-A177-3AD203B41FA5}">
                      <a16:colId xmlns:a16="http://schemas.microsoft.com/office/drawing/2014/main" val="3727174841"/>
                    </a:ext>
                  </a:extLst>
                </a:gridCol>
                <a:gridCol w="869605">
                  <a:extLst>
                    <a:ext uri="{9D8B030D-6E8A-4147-A177-3AD203B41FA5}">
                      <a16:colId xmlns:a16="http://schemas.microsoft.com/office/drawing/2014/main" val="1161014383"/>
                    </a:ext>
                  </a:extLst>
                </a:gridCol>
                <a:gridCol w="912242">
                  <a:extLst>
                    <a:ext uri="{9D8B030D-6E8A-4147-A177-3AD203B41FA5}">
                      <a16:colId xmlns:a16="http://schemas.microsoft.com/office/drawing/2014/main" val="20001"/>
                    </a:ext>
                  </a:extLst>
                </a:gridCol>
                <a:gridCol w="529413">
                  <a:extLst>
                    <a:ext uri="{9D8B030D-6E8A-4147-A177-3AD203B41FA5}">
                      <a16:colId xmlns:a16="http://schemas.microsoft.com/office/drawing/2014/main" val="20002"/>
                    </a:ext>
                  </a:extLst>
                </a:gridCol>
                <a:gridCol w="280820">
                  <a:extLst>
                    <a:ext uri="{9D8B030D-6E8A-4147-A177-3AD203B41FA5}">
                      <a16:colId xmlns:a16="http://schemas.microsoft.com/office/drawing/2014/main" val="20003"/>
                    </a:ext>
                  </a:extLst>
                </a:gridCol>
                <a:gridCol w="361506">
                  <a:extLst>
                    <a:ext uri="{9D8B030D-6E8A-4147-A177-3AD203B41FA5}">
                      <a16:colId xmlns:a16="http://schemas.microsoft.com/office/drawing/2014/main" val="20004"/>
                    </a:ext>
                  </a:extLst>
                </a:gridCol>
                <a:gridCol w="496864">
                  <a:extLst>
                    <a:ext uri="{9D8B030D-6E8A-4147-A177-3AD203B41FA5}">
                      <a16:colId xmlns:a16="http://schemas.microsoft.com/office/drawing/2014/main" val="20005"/>
                    </a:ext>
                  </a:extLst>
                </a:gridCol>
                <a:gridCol w="541020">
                  <a:extLst>
                    <a:ext uri="{9D8B030D-6E8A-4147-A177-3AD203B41FA5}">
                      <a16:colId xmlns:a16="http://schemas.microsoft.com/office/drawing/2014/main" val="344019226"/>
                    </a:ext>
                  </a:extLst>
                </a:gridCol>
                <a:gridCol w="518160">
                  <a:extLst>
                    <a:ext uri="{9D8B030D-6E8A-4147-A177-3AD203B41FA5}">
                      <a16:colId xmlns:a16="http://schemas.microsoft.com/office/drawing/2014/main" val="2902758484"/>
                    </a:ext>
                  </a:extLst>
                </a:gridCol>
                <a:gridCol w="601980">
                  <a:extLst>
                    <a:ext uri="{9D8B030D-6E8A-4147-A177-3AD203B41FA5}">
                      <a16:colId xmlns:a16="http://schemas.microsoft.com/office/drawing/2014/main" val="3613826829"/>
                    </a:ext>
                  </a:extLst>
                </a:gridCol>
                <a:gridCol w="491490">
                  <a:extLst>
                    <a:ext uri="{9D8B030D-6E8A-4147-A177-3AD203B41FA5}">
                      <a16:colId xmlns:a16="http://schemas.microsoft.com/office/drawing/2014/main" val="1190099378"/>
                    </a:ext>
                  </a:extLst>
                </a:gridCol>
                <a:gridCol w="483870">
                  <a:extLst>
                    <a:ext uri="{9D8B030D-6E8A-4147-A177-3AD203B41FA5}">
                      <a16:colId xmlns:a16="http://schemas.microsoft.com/office/drawing/2014/main" val="20008"/>
                    </a:ext>
                  </a:extLst>
                </a:gridCol>
                <a:gridCol w="1005840">
                  <a:extLst>
                    <a:ext uri="{9D8B030D-6E8A-4147-A177-3AD203B41FA5}">
                      <a16:colId xmlns:a16="http://schemas.microsoft.com/office/drawing/2014/main" val="20009"/>
                    </a:ext>
                  </a:extLst>
                </a:gridCol>
                <a:gridCol w="784860">
                  <a:extLst>
                    <a:ext uri="{9D8B030D-6E8A-4147-A177-3AD203B41FA5}">
                      <a16:colId xmlns:a16="http://schemas.microsoft.com/office/drawing/2014/main" val="2225912572"/>
                    </a:ext>
                  </a:extLst>
                </a:gridCol>
                <a:gridCol w="575310">
                  <a:extLst>
                    <a:ext uri="{9D8B030D-6E8A-4147-A177-3AD203B41FA5}">
                      <a16:colId xmlns:a16="http://schemas.microsoft.com/office/drawing/2014/main" val="20010"/>
                    </a:ext>
                  </a:extLst>
                </a:gridCol>
                <a:gridCol w="982980">
                  <a:extLst>
                    <a:ext uri="{9D8B030D-6E8A-4147-A177-3AD203B41FA5}">
                      <a16:colId xmlns:a16="http://schemas.microsoft.com/office/drawing/2014/main" val="20011"/>
                    </a:ext>
                  </a:extLst>
                </a:gridCol>
                <a:gridCol w="648961">
                  <a:extLst>
                    <a:ext uri="{9D8B030D-6E8A-4147-A177-3AD203B41FA5}">
                      <a16:colId xmlns:a16="http://schemas.microsoft.com/office/drawing/2014/main" val="236679130"/>
                    </a:ext>
                  </a:extLst>
                </a:gridCol>
              </a:tblGrid>
              <a:tr h="216000">
                <a:tc rowSpan="6">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1000" b="1" i="0" u="none" strike="noStrike" dirty="0">
                          <a:solidFill>
                            <a:srgbClr val="000000"/>
                          </a:solidFill>
                          <a:effectLst/>
                          <a:latin typeface="+mn-lt"/>
                        </a:rPr>
                        <a:t>Motor de Procesos </a:t>
                      </a:r>
                    </a:p>
                    <a:p>
                      <a:pPr algn="ctr" rtl="0" fontAlgn="ctr"/>
                      <a:r>
                        <a:rPr lang="es-ES" sz="1000" b="1" i="0" u="none" strike="noStrike" dirty="0">
                          <a:solidFill>
                            <a:srgbClr val="000000"/>
                          </a:solidFill>
                          <a:effectLst/>
                          <a:latin typeface="+mn-lt"/>
                        </a:rPr>
                        <a:t>Appian</a:t>
                      </a:r>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Servidores WEB</a:t>
                      </a: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hMerge="1">
                  <a:txBody>
                    <a:bodyPr/>
                    <a:lstStyle/>
                    <a:p>
                      <a:endParaRPr lang="es-E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PRE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4</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8</a:t>
                      </a:r>
                    </a:p>
                  </a:txBody>
                  <a:tcPr marL="9389" marR="9389" marT="938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25</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64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Interno</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Apache Web Server</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Activo-Activo</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HW</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Horizontal y Vertical</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 </a:t>
                      </a:r>
                      <a:r>
                        <a:rPr lang="es-ES" sz="500" b="0" i="0" u="none" strike="noStrike" dirty="0" err="1">
                          <a:solidFill>
                            <a:srgbClr val="000000"/>
                          </a:solidFill>
                          <a:effectLst/>
                          <a:latin typeface="+mn-lt"/>
                        </a:rPr>
                        <a:t>mod_jk</a:t>
                      </a:r>
                      <a:r>
                        <a:rPr lang="es-ES" sz="500" b="0" i="0" u="none" strike="noStrike" dirty="0">
                          <a:solidFill>
                            <a:srgbClr val="000000"/>
                          </a:solidFill>
                          <a:effectLst/>
                          <a:latin typeface="+mn-lt"/>
                        </a:rPr>
                        <a:t> para conectarse a Tomcat</a:t>
                      </a:r>
                    </a:p>
                  </a:txBody>
                  <a:tcPr marL="9389" marR="9389" marT="938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10002"/>
                  </a:ext>
                </a:extLst>
              </a:tr>
              <a:tr h="216000">
                <a:tc vMerge="1">
                  <a:txBody>
                    <a:bodyPr/>
                    <a:lstStyle/>
                    <a:p>
                      <a:endParaRPr lang="es-ES" dirty="0"/>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rgbClr val="FF6161"/>
                    </a:solidFill>
                  </a:tcPr>
                </a:tc>
                <a:tc rowSpan="2"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Servidores Aplicaciones</a:t>
                      </a:r>
                      <a:endParaRPr lang="en-US" sz="800" b="1" i="0" u="none" strike="noStrike" noProof="0" dirty="0">
                        <a:solidFill>
                          <a:srgbClr val="000000"/>
                        </a:solidFill>
                        <a:effectLst/>
                        <a:latin typeface="+mn-lt"/>
                      </a:endParaRP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rowSpan="2" hMerge="1">
                  <a:txBody>
                    <a:bodyPr/>
                    <a:lstStyle/>
                    <a:p>
                      <a:endParaRPr lang="es-ES"/>
                    </a:p>
                  </a:txBody>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PRE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32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256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Interno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Intranet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914400" rtl="0" eaLnBrk="1" fontAlgn="ctr" latinLnBrk="0" hangingPunct="1"/>
                      <a:r>
                        <a:rPr lang="es-ES" sz="800" b="0" i="0" u="none" strike="noStrike" kern="1200" dirty="0">
                          <a:solidFill>
                            <a:srgbClr val="000000"/>
                          </a:solidFill>
                          <a:effectLst/>
                          <a:latin typeface="+mn-lt"/>
                          <a:ea typeface="+mn-ea"/>
                          <a:cs typeface="+mn-cs"/>
                        </a:rPr>
                        <a:t>Appian 22.1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Activo-Activo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SW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Horizontal y Vertical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10003"/>
                  </a:ext>
                </a:extLst>
              </a:tr>
              <a:tr h="108000">
                <a:tc vMerge="1">
                  <a:txBody>
                    <a:bodyPr/>
                    <a:lstStyle/>
                    <a:p>
                      <a:endParaRPr lang="es-ES"/>
                    </a:p>
                  </a:txBody>
                  <a:tcPr/>
                </a:tc>
                <a:tc gridSpan="2" vMerge="1">
                  <a:txBody>
                    <a:bodyPr/>
                    <a:lstStyle/>
                    <a:p>
                      <a:pPr algn="ctr" rtl="0" fontAlgn="ctr"/>
                      <a:endParaRPr lang="en-US" sz="800" b="1" i="0" u="none" strike="noStrike" noProof="0" dirty="0">
                        <a:solidFill>
                          <a:srgbClr val="000000"/>
                        </a:solidFill>
                        <a:effectLst/>
                        <a:latin typeface="+mn-lt"/>
                      </a:endParaRP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6161"/>
                    </a:solidFill>
                  </a:tcPr>
                </a:tc>
                <a:tc hMerge="1" vMerge="1">
                  <a:txBody>
                    <a:bodyPr/>
                    <a:lstStyle/>
                    <a:p>
                      <a:endParaRPr lang="es-ES"/>
                    </a:p>
                  </a:txBody>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256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NAS </a:t>
                      </a:r>
                      <a:r>
                        <a:rPr lang="es-ES" sz="800" b="1" kern="1200" dirty="0">
                          <a:solidFill>
                            <a:srgbClr val="FF0000"/>
                          </a:solidFill>
                          <a:effectLst/>
                          <a:latin typeface="+mn-lt"/>
                          <a:ea typeface="+mn-ea"/>
                          <a:cs typeface="+mn-cs"/>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FF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extLst>
                  <a:ext uri="{0D108BD9-81ED-4DB2-BD59-A6C34878D82A}">
                    <a16:rowId xmlns:a16="http://schemas.microsoft.com/office/drawing/2014/main" val="2131407672"/>
                  </a:ext>
                </a:extLst>
              </a:tr>
              <a:tr h="108000">
                <a:tc vMerge="1">
                  <a:txBody>
                    <a:bodyPr/>
                    <a:lstStyle/>
                    <a:p>
                      <a:endParaRPr lang="es-ES"/>
                    </a:p>
                  </a:txBody>
                  <a:tcPr>
                    <a:lnT w="12700" cap="flat" cmpd="sng" algn="ctr">
                      <a:solidFill>
                        <a:schemeClr val="bg1"/>
                      </a:solidFill>
                      <a:prstDash val="solid"/>
                      <a:round/>
                      <a:headEnd type="none" w="med" len="med"/>
                      <a:tailEnd type="none" w="med" len="med"/>
                    </a:lnT>
                  </a:tcPr>
                </a:tc>
                <a:tc rowSpan="2"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 Appian </a:t>
                      </a:r>
                      <a:r>
                        <a:rPr lang="en-US" sz="800" b="1" i="0" u="none" strike="noStrike" noProof="0" dirty="0">
                          <a:solidFill>
                            <a:srgbClr val="000000"/>
                          </a:solidFill>
                          <a:effectLst/>
                          <a:latin typeface="+mn-lt"/>
                        </a:rPr>
                        <a:t>Engines</a:t>
                      </a: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rowSpan="2" hMerge="1">
                  <a:txBody>
                    <a:bodyPr/>
                    <a:lstStyle/>
                    <a:p>
                      <a:endParaRPr lang="es-ES"/>
                    </a:p>
                  </a:txBody>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PRE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32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endParaRPr lang="es-ES"/>
                    </a:p>
                  </a:txBody>
                  <a:tcPr/>
                </a:tc>
                <a:tc vMerge="1">
                  <a:txBody>
                    <a:bodyPr/>
                    <a:lstStyle/>
                    <a:p>
                      <a:endParaRPr lang="es-ES"/>
                    </a:p>
                  </a:txBody>
                  <a:tcPr/>
                </a:tc>
                <a:tc vMerge="1">
                  <a:txBody>
                    <a:bodyPr/>
                    <a:lstStyle/>
                    <a:p>
                      <a:pPr algn="ctr" rtl="0" fontAlgn="ctr"/>
                      <a:endParaRPr lang="es-ES" sz="800" kern="1200" dirty="0">
                        <a:solidFill>
                          <a:srgbClr val="FF0000"/>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Intranet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914400" rtl="0" eaLnBrk="1" fontAlgn="ctr" latinLnBrk="0" hangingPunct="1"/>
                      <a:r>
                        <a:rPr lang="es-ES" sz="800" b="0" i="0" u="none" strike="noStrike" kern="1200" dirty="0">
                          <a:solidFill>
                            <a:srgbClr val="000000"/>
                          </a:solidFill>
                          <a:effectLst/>
                          <a:latin typeface="+mn-lt"/>
                          <a:ea typeface="+mn-ea"/>
                          <a:cs typeface="+mn-cs"/>
                        </a:rPr>
                        <a:t>Appian 22.1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Activo-Activo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SW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Horizontal y Vertical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212879955"/>
                  </a:ext>
                </a:extLst>
              </a:tr>
              <a:tr h="216000">
                <a:tc vMerge="1">
                  <a:txBody>
                    <a:bodyPr/>
                    <a:lstStyle/>
                    <a:p>
                      <a:endParaRPr lang="es-ES"/>
                    </a:p>
                  </a:txBody>
                  <a:tcPr/>
                </a:tc>
                <a:tc gridSpan="2" vMerge="1">
                  <a:txBody>
                    <a:bodyPr/>
                    <a:lstStyle/>
                    <a:p>
                      <a:pPr algn="ctr" rtl="0" fontAlgn="ctr"/>
                      <a:endParaRPr lang="en-US" sz="800" b="1" i="0" u="none" strike="noStrike" noProof="0" dirty="0">
                        <a:solidFill>
                          <a:srgbClr val="000000"/>
                        </a:solidFill>
                        <a:effectLst/>
                        <a:latin typeface="+mn-lt"/>
                      </a:endParaRP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6161"/>
                    </a:solidFill>
                  </a:tcPr>
                </a:tc>
                <a:tc hMerge="1" vMerge="1">
                  <a:txBody>
                    <a:bodyPr/>
                    <a:lstStyle/>
                    <a:p>
                      <a:endParaRPr lang="es-ES"/>
                    </a:p>
                  </a:txBody>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256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Interno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FF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extLst>
                  <a:ext uri="{0D108BD9-81ED-4DB2-BD59-A6C34878D82A}">
                    <a16:rowId xmlns:a16="http://schemas.microsoft.com/office/drawing/2014/main" val="328547652"/>
                  </a:ext>
                </a:extLst>
              </a:tr>
              <a:tr h="216000">
                <a:tc vMerge="1">
                  <a:txBody>
                    <a:bodyPr/>
                    <a:lstStyle/>
                    <a:p>
                      <a:pPr algn="ctr" rtl="0" fontAlgn="ctr"/>
                      <a:endParaRPr lang="es-ES" sz="1400" b="1" i="0" u="none" strike="noStrike" dirty="0">
                        <a:solidFill>
                          <a:srgbClr val="000000"/>
                        </a:solidFill>
                        <a:effectLst/>
                        <a:latin typeface="Calibri" panose="020F0502020204030204" pitchFamily="34" charset="0"/>
                      </a:endParaRPr>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solidFill>
                      <a:srgbClr val="FF6161"/>
                    </a:solid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Servidores BBDD de Producto</a:t>
                      </a: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hMerge="1">
                  <a:txBody>
                    <a:bodyPr/>
                    <a:lstStyle/>
                    <a:p>
                      <a:endParaRPr lang="es-E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PRE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0,5</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64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32</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SAN</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Oracle 19c</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Clúster VMware</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Vertical</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1838945697"/>
                  </a:ext>
                </a:extLst>
              </a:tr>
              <a:tr h="216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1000" b="1" i="0" u="none" strike="noStrike" kern="1200" dirty="0">
                          <a:solidFill>
                            <a:srgbClr val="000000"/>
                          </a:solidFill>
                          <a:effectLst/>
                          <a:latin typeface="+mn-lt"/>
                          <a:ea typeface="+mn-ea"/>
                          <a:cs typeface="+mn-cs"/>
                        </a:rPr>
                        <a:t>BBDD</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914400" rtl="0" eaLnBrk="1" fontAlgn="ctr" latinLnBrk="0" hangingPunct="1"/>
                      <a:r>
                        <a:rPr lang="es-ES" sz="800" b="1" i="0" u="none" strike="noStrike" kern="1200" dirty="0">
                          <a:solidFill>
                            <a:srgbClr val="000000"/>
                          </a:solidFill>
                          <a:effectLst/>
                          <a:latin typeface="+mn-lt"/>
                          <a:ea typeface="+mn-ea"/>
                          <a:cs typeface="+mn-cs"/>
                        </a:rPr>
                        <a:t>Servidores BBDD de Aplicación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b="1" i="0" u="none" strike="noStrike" kern="1200" dirty="0">
                          <a:solidFill>
                            <a:srgbClr val="000000"/>
                          </a:solidFill>
                          <a:effectLst/>
                          <a:latin typeface="+mn-lt"/>
                          <a:ea typeface="+mn-ea"/>
                          <a:cs typeface="+mn-cs"/>
                        </a:rPr>
                        <a:t>Extensión HC 2.0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PRE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a:solidFill>
                            <a:srgbClr val="000000"/>
                          </a:solidFill>
                          <a:effectLst/>
                          <a:latin typeface="+mn-lt"/>
                        </a:rPr>
                        <a:t>2</a:t>
                      </a:r>
                      <a:endParaRPr lang="es-ES" sz="800" b="1" i="0" u="none" strike="noStrike" dirty="0">
                        <a:solidFill>
                          <a:srgbClr val="FF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4</a:t>
                      </a:r>
                      <a:endParaRPr lang="es-ES" sz="800" b="1" i="0" u="none" strike="noStrike" dirty="0">
                        <a:solidFill>
                          <a:srgbClr val="FF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500</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64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512</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SAN</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Oracle 19c</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Clúster VMware</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Vertical</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3557508464"/>
                  </a:ext>
                </a:extLst>
              </a:tr>
            </a:tbl>
          </a:graphicData>
        </a:graphic>
      </p:graphicFrame>
      <p:graphicFrame>
        <p:nvGraphicFramePr>
          <p:cNvPr id="20" name="Tabla 19">
            <a:extLst>
              <a:ext uri="{FF2B5EF4-FFF2-40B4-BE49-F238E27FC236}">
                <a16:creationId xmlns:a16="http://schemas.microsoft.com/office/drawing/2014/main" id="{2346E2C1-D5BA-456C-A923-4E6F04A99F9E}"/>
              </a:ext>
            </a:extLst>
          </p:cNvPr>
          <p:cNvGraphicFramePr>
            <a:graphicFrameLocks noGrp="1"/>
          </p:cNvGraphicFramePr>
          <p:nvPr>
            <p:extLst>
              <p:ext uri="{D42A27DB-BD31-4B8C-83A1-F6EECF244321}">
                <p14:modId xmlns:p14="http://schemas.microsoft.com/office/powerpoint/2010/main" val="353292644"/>
              </p:ext>
            </p:extLst>
          </p:nvPr>
        </p:nvGraphicFramePr>
        <p:xfrm>
          <a:off x="304270" y="3807780"/>
          <a:ext cx="11490684" cy="1323840"/>
        </p:xfrm>
        <a:graphic>
          <a:graphicData uri="http://schemas.openxmlformats.org/drawingml/2006/table">
            <a:tbl>
              <a:tblPr/>
              <a:tblGrid>
                <a:gridCol w="504132">
                  <a:extLst>
                    <a:ext uri="{9D8B030D-6E8A-4147-A177-3AD203B41FA5}">
                      <a16:colId xmlns:a16="http://schemas.microsoft.com/office/drawing/2014/main" val="574038759"/>
                    </a:ext>
                  </a:extLst>
                </a:gridCol>
                <a:gridCol w="898478">
                  <a:extLst>
                    <a:ext uri="{9D8B030D-6E8A-4147-A177-3AD203B41FA5}">
                      <a16:colId xmlns:a16="http://schemas.microsoft.com/office/drawing/2014/main" val="2691114785"/>
                    </a:ext>
                  </a:extLst>
                </a:gridCol>
                <a:gridCol w="872758">
                  <a:extLst>
                    <a:ext uri="{9D8B030D-6E8A-4147-A177-3AD203B41FA5}">
                      <a16:colId xmlns:a16="http://schemas.microsoft.com/office/drawing/2014/main" val="1103660764"/>
                    </a:ext>
                  </a:extLst>
                </a:gridCol>
                <a:gridCol w="912065">
                  <a:extLst>
                    <a:ext uri="{9D8B030D-6E8A-4147-A177-3AD203B41FA5}">
                      <a16:colId xmlns:a16="http://schemas.microsoft.com/office/drawing/2014/main" val="782293173"/>
                    </a:ext>
                  </a:extLst>
                </a:gridCol>
                <a:gridCol w="525780">
                  <a:extLst>
                    <a:ext uri="{9D8B030D-6E8A-4147-A177-3AD203B41FA5}">
                      <a16:colId xmlns:a16="http://schemas.microsoft.com/office/drawing/2014/main" val="2126947607"/>
                    </a:ext>
                  </a:extLst>
                </a:gridCol>
                <a:gridCol w="284630">
                  <a:extLst>
                    <a:ext uri="{9D8B030D-6E8A-4147-A177-3AD203B41FA5}">
                      <a16:colId xmlns:a16="http://schemas.microsoft.com/office/drawing/2014/main" val="3560310373"/>
                    </a:ext>
                  </a:extLst>
                </a:gridCol>
                <a:gridCol w="361506">
                  <a:extLst>
                    <a:ext uri="{9D8B030D-6E8A-4147-A177-3AD203B41FA5}">
                      <a16:colId xmlns:a16="http://schemas.microsoft.com/office/drawing/2014/main" val="8720772"/>
                    </a:ext>
                  </a:extLst>
                </a:gridCol>
                <a:gridCol w="496864">
                  <a:extLst>
                    <a:ext uri="{9D8B030D-6E8A-4147-A177-3AD203B41FA5}">
                      <a16:colId xmlns:a16="http://schemas.microsoft.com/office/drawing/2014/main" val="2758713952"/>
                    </a:ext>
                  </a:extLst>
                </a:gridCol>
                <a:gridCol w="544830">
                  <a:extLst>
                    <a:ext uri="{9D8B030D-6E8A-4147-A177-3AD203B41FA5}">
                      <a16:colId xmlns:a16="http://schemas.microsoft.com/office/drawing/2014/main" val="3428386810"/>
                    </a:ext>
                  </a:extLst>
                </a:gridCol>
                <a:gridCol w="518160">
                  <a:extLst>
                    <a:ext uri="{9D8B030D-6E8A-4147-A177-3AD203B41FA5}">
                      <a16:colId xmlns:a16="http://schemas.microsoft.com/office/drawing/2014/main" val="376323818"/>
                    </a:ext>
                  </a:extLst>
                </a:gridCol>
                <a:gridCol w="601980">
                  <a:extLst>
                    <a:ext uri="{9D8B030D-6E8A-4147-A177-3AD203B41FA5}">
                      <a16:colId xmlns:a16="http://schemas.microsoft.com/office/drawing/2014/main" val="3056961553"/>
                    </a:ext>
                  </a:extLst>
                </a:gridCol>
                <a:gridCol w="491490">
                  <a:extLst>
                    <a:ext uri="{9D8B030D-6E8A-4147-A177-3AD203B41FA5}">
                      <a16:colId xmlns:a16="http://schemas.microsoft.com/office/drawing/2014/main" val="1245174421"/>
                    </a:ext>
                  </a:extLst>
                </a:gridCol>
                <a:gridCol w="483870">
                  <a:extLst>
                    <a:ext uri="{9D8B030D-6E8A-4147-A177-3AD203B41FA5}">
                      <a16:colId xmlns:a16="http://schemas.microsoft.com/office/drawing/2014/main" val="2074411568"/>
                    </a:ext>
                  </a:extLst>
                </a:gridCol>
                <a:gridCol w="1005840">
                  <a:extLst>
                    <a:ext uri="{9D8B030D-6E8A-4147-A177-3AD203B41FA5}">
                      <a16:colId xmlns:a16="http://schemas.microsoft.com/office/drawing/2014/main" val="447258691"/>
                    </a:ext>
                  </a:extLst>
                </a:gridCol>
                <a:gridCol w="784860">
                  <a:extLst>
                    <a:ext uri="{9D8B030D-6E8A-4147-A177-3AD203B41FA5}">
                      <a16:colId xmlns:a16="http://schemas.microsoft.com/office/drawing/2014/main" val="343431148"/>
                    </a:ext>
                  </a:extLst>
                </a:gridCol>
                <a:gridCol w="575310">
                  <a:extLst>
                    <a:ext uri="{9D8B030D-6E8A-4147-A177-3AD203B41FA5}">
                      <a16:colId xmlns:a16="http://schemas.microsoft.com/office/drawing/2014/main" val="4231475544"/>
                    </a:ext>
                  </a:extLst>
                </a:gridCol>
                <a:gridCol w="982980">
                  <a:extLst>
                    <a:ext uri="{9D8B030D-6E8A-4147-A177-3AD203B41FA5}">
                      <a16:colId xmlns:a16="http://schemas.microsoft.com/office/drawing/2014/main" val="850174939"/>
                    </a:ext>
                  </a:extLst>
                </a:gridCol>
                <a:gridCol w="645151">
                  <a:extLst>
                    <a:ext uri="{9D8B030D-6E8A-4147-A177-3AD203B41FA5}">
                      <a16:colId xmlns:a16="http://schemas.microsoft.com/office/drawing/2014/main" val="1109387743"/>
                    </a:ext>
                  </a:extLst>
                </a:gridCol>
              </a:tblGrid>
              <a:tr h="216000">
                <a:tc rowSpan="6">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1000" b="1" i="0" u="none" strike="noStrike" dirty="0">
                          <a:solidFill>
                            <a:srgbClr val="000000"/>
                          </a:solidFill>
                          <a:effectLst/>
                          <a:latin typeface="+mn-lt"/>
                        </a:rPr>
                        <a:t>Motor de Procesos </a:t>
                      </a:r>
                    </a:p>
                    <a:p>
                      <a:pPr algn="ctr" rtl="0" fontAlgn="ctr"/>
                      <a:r>
                        <a:rPr lang="es-ES" sz="1000" b="1" i="0" u="none" strike="noStrike" dirty="0">
                          <a:solidFill>
                            <a:srgbClr val="000000"/>
                          </a:solidFill>
                          <a:effectLst/>
                          <a:latin typeface="+mn-lt"/>
                        </a:rPr>
                        <a:t>Appian</a:t>
                      </a:r>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Servidores WEB</a:t>
                      </a: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hMerge="1">
                  <a:txBody>
                    <a:bodyPr/>
                    <a:lstStyle/>
                    <a:p>
                      <a:endParaRPr lang="es-E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PRO</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8</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32</a:t>
                      </a:r>
                    </a:p>
                  </a:txBody>
                  <a:tcPr marL="9389" marR="9389" marT="938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100</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256</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Interno</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Apache Web Server</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Activo-Activo</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HW</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Horizontal y Vertical</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 </a:t>
                      </a:r>
                      <a:r>
                        <a:rPr lang="es-ES" sz="500" b="0" i="0" u="none" strike="noStrike" dirty="0" err="1">
                          <a:solidFill>
                            <a:srgbClr val="000000"/>
                          </a:solidFill>
                          <a:effectLst/>
                          <a:latin typeface="+mn-lt"/>
                        </a:rPr>
                        <a:t>mod_jk</a:t>
                      </a:r>
                      <a:r>
                        <a:rPr lang="es-ES" sz="500" b="0" i="0" u="none" strike="noStrike" dirty="0">
                          <a:solidFill>
                            <a:srgbClr val="000000"/>
                          </a:solidFill>
                          <a:effectLst/>
                          <a:latin typeface="+mn-lt"/>
                        </a:rPr>
                        <a:t> para conectarse a Tomcat</a:t>
                      </a:r>
                    </a:p>
                  </a:txBody>
                  <a:tcPr marL="9389" marR="9389" marT="938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3229017773"/>
                  </a:ext>
                </a:extLst>
              </a:tr>
              <a:tr h="216000">
                <a:tc vMerge="1">
                  <a:txBody>
                    <a:bodyPr/>
                    <a:lstStyle/>
                    <a:p>
                      <a:endParaRPr lang="es-ES" dirty="0"/>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rgbClr val="FF6161"/>
                    </a:solidFill>
                  </a:tcPr>
                </a:tc>
                <a:tc rowSpan="2"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Servidores Aplicaciones</a:t>
                      </a:r>
                      <a:endParaRPr lang="en-US" sz="800" b="1" i="0" u="none" strike="noStrike" noProof="0" dirty="0">
                        <a:solidFill>
                          <a:srgbClr val="000000"/>
                        </a:solidFill>
                        <a:effectLst/>
                        <a:latin typeface="+mn-lt"/>
                      </a:endParaRP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rowSpan="2" hMerge="1">
                  <a:txBody>
                    <a:bodyPr/>
                    <a:lstStyle/>
                    <a:p>
                      <a:endParaRPr lang="es-ES"/>
                    </a:p>
                  </a:txBody>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PRO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16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128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512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Interno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Intranet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914400" rtl="0" eaLnBrk="1" fontAlgn="ctr" latinLnBrk="0" hangingPunct="1"/>
                      <a:r>
                        <a:rPr lang="es-ES" sz="800" b="0" i="0" u="none" strike="noStrike" kern="1200" dirty="0">
                          <a:solidFill>
                            <a:srgbClr val="000000"/>
                          </a:solidFill>
                          <a:effectLst/>
                          <a:latin typeface="+mn-lt"/>
                          <a:ea typeface="+mn-ea"/>
                          <a:cs typeface="+mn-cs"/>
                        </a:rPr>
                        <a:t>Appian 22.1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Activo-Activo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SW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Horizontal y Vertical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504832320"/>
                  </a:ext>
                </a:extLst>
              </a:tr>
              <a:tr h="108000">
                <a:tc vMerge="1">
                  <a:txBody>
                    <a:bodyPr/>
                    <a:lstStyle/>
                    <a:p>
                      <a:endParaRPr lang="es-ES"/>
                    </a:p>
                  </a:txBody>
                  <a:tcPr/>
                </a:tc>
                <a:tc gridSpan="2" vMerge="1">
                  <a:txBody>
                    <a:bodyPr/>
                    <a:lstStyle/>
                    <a:p>
                      <a:pPr algn="ctr" rtl="0" fontAlgn="ctr"/>
                      <a:endParaRPr lang="en-US" sz="800" b="1" i="0" u="none" strike="noStrike" noProof="0" dirty="0">
                        <a:solidFill>
                          <a:srgbClr val="000000"/>
                        </a:solidFill>
                        <a:effectLst/>
                        <a:latin typeface="+mn-lt"/>
                      </a:endParaRP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6161"/>
                    </a:solidFill>
                  </a:tcPr>
                </a:tc>
                <a:tc hMerge="1" vMerge="1">
                  <a:txBody>
                    <a:bodyPr/>
                    <a:lstStyle/>
                    <a:p>
                      <a:endParaRPr lang="es-ES"/>
                    </a:p>
                  </a:txBody>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1000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512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NAS </a:t>
                      </a:r>
                      <a:r>
                        <a:rPr lang="es-ES" sz="800" b="1" kern="1200" dirty="0">
                          <a:solidFill>
                            <a:srgbClr val="FF0000"/>
                          </a:solidFill>
                          <a:effectLst/>
                          <a:latin typeface="+mn-lt"/>
                          <a:ea typeface="+mn-ea"/>
                          <a:cs typeface="+mn-cs"/>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FF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extLst>
                  <a:ext uri="{0D108BD9-81ED-4DB2-BD59-A6C34878D82A}">
                    <a16:rowId xmlns:a16="http://schemas.microsoft.com/office/drawing/2014/main" val="3344905158"/>
                  </a:ext>
                </a:extLst>
              </a:tr>
              <a:tr h="108000">
                <a:tc vMerge="1">
                  <a:txBody>
                    <a:bodyPr/>
                    <a:lstStyle/>
                    <a:p>
                      <a:endParaRPr lang="es-ES"/>
                    </a:p>
                  </a:txBody>
                  <a:tcPr>
                    <a:lnT w="12700" cap="flat" cmpd="sng" algn="ctr">
                      <a:solidFill>
                        <a:schemeClr val="bg1"/>
                      </a:solidFill>
                      <a:prstDash val="solid"/>
                      <a:round/>
                      <a:headEnd type="none" w="med" len="med"/>
                      <a:tailEnd type="none" w="med" len="med"/>
                    </a:lnT>
                  </a:tcPr>
                </a:tc>
                <a:tc rowSpan="2"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 Appian </a:t>
                      </a:r>
                      <a:r>
                        <a:rPr lang="en-US" sz="800" b="1" i="0" u="none" strike="noStrike" noProof="0" dirty="0">
                          <a:solidFill>
                            <a:srgbClr val="000000"/>
                          </a:solidFill>
                          <a:effectLst/>
                          <a:latin typeface="+mn-lt"/>
                        </a:rPr>
                        <a:t>Engines</a:t>
                      </a: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rowSpan="2" hMerge="1">
                  <a:txBody>
                    <a:bodyPr/>
                    <a:lstStyle/>
                    <a:p>
                      <a:endParaRPr lang="es-ES"/>
                    </a:p>
                  </a:txBody>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PRO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16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128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endParaRPr lang="es-ES"/>
                    </a:p>
                  </a:txBody>
                  <a:tcPr/>
                </a:tc>
                <a:tc vMerge="1">
                  <a:txBody>
                    <a:bodyPr/>
                    <a:lstStyle/>
                    <a:p>
                      <a:endParaRPr lang="es-ES"/>
                    </a:p>
                  </a:txBody>
                  <a:tcPr/>
                </a:tc>
                <a:tc vMerge="1">
                  <a:txBody>
                    <a:bodyPr/>
                    <a:lstStyle/>
                    <a:p>
                      <a:pPr algn="ctr" rtl="0" fontAlgn="ctr"/>
                      <a:endParaRPr lang="es-ES" sz="800" kern="1200" dirty="0">
                        <a:solidFill>
                          <a:srgbClr val="FF0000"/>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Intranet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914400" rtl="0" eaLnBrk="1" fontAlgn="ctr" latinLnBrk="0" hangingPunct="1"/>
                      <a:r>
                        <a:rPr lang="es-ES" sz="800" b="0" i="0" u="none" strike="noStrike" kern="1200" dirty="0">
                          <a:solidFill>
                            <a:srgbClr val="000000"/>
                          </a:solidFill>
                          <a:effectLst/>
                          <a:latin typeface="+mn-lt"/>
                          <a:ea typeface="+mn-ea"/>
                          <a:cs typeface="+mn-cs"/>
                        </a:rPr>
                        <a:t>Appian 22.1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Activo-Activo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SW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Horizontal y Vertical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3411821668"/>
                  </a:ext>
                </a:extLst>
              </a:tr>
              <a:tr h="216000">
                <a:tc vMerge="1">
                  <a:txBody>
                    <a:bodyPr/>
                    <a:lstStyle/>
                    <a:p>
                      <a:endParaRPr lang="es-ES"/>
                    </a:p>
                  </a:txBody>
                  <a:tcPr/>
                </a:tc>
                <a:tc gridSpan="2" vMerge="1">
                  <a:txBody>
                    <a:bodyPr/>
                    <a:lstStyle/>
                    <a:p>
                      <a:pPr algn="ctr" rtl="0" fontAlgn="ctr"/>
                      <a:endParaRPr lang="en-US" sz="800" b="1" i="0" u="none" strike="noStrike" noProof="0" dirty="0">
                        <a:solidFill>
                          <a:srgbClr val="000000"/>
                        </a:solidFill>
                        <a:effectLst/>
                        <a:latin typeface="+mn-lt"/>
                      </a:endParaRP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6161"/>
                    </a:solidFill>
                  </a:tcPr>
                </a:tc>
                <a:tc hMerge="1" vMerge="1">
                  <a:txBody>
                    <a:bodyPr/>
                    <a:lstStyle/>
                    <a:p>
                      <a:endParaRPr lang="es-ES"/>
                    </a:p>
                  </a:txBody>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512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Interno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FF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extLst>
                  <a:ext uri="{0D108BD9-81ED-4DB2-BD59-A6C34878D82A}">
                    <a16:rowId xmlns:a16="http://schemas.microsoft.com/office/drawing/2014/main" val="1175983776"/>
                  </a:ext>
                </a:extLst>
              </a:tr>
              <a:tr h="216000">
                <a:tc vMerge="1">
                  <a:txBody>
                    <a:bodyPr/>
                    <a:lstStyle/>
                    <a:p>
                      <a:pPr algn="ctr" rtl="0" fontAlgn="ctr"/>
                      <a:endParaRPr lang="es-ES" sz="1400" b="1" i="0" u="none" strike="noStrike" dirty="0">
                        <a:solidFill>
                          <a:srgbClr val="000000"/>
                        </a:solidFill>
                        <a:effectLst/>
                        <a:latin typeface="Calibri" panose="020F0502020204030204" pitchFamily="34" charset="0"/>
                      </a:endParaRPr>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solidFill>
                      <a:srgbClr val="FF6161"/>
                    </a:solid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Servidores BBDD de Producto</a:t>
                      </a: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hMerge="1">
                  <a:txBody>
                    <a:bodyPr/>
                    <a:lstStyle/>
                    <a:p>
                      <a:endParaRPr lang="es-E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PRO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8</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64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32</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SAN</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Oracle 19c</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Clúster VMware</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Vertical</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1595077166"/>
                  </a:ext>
                </a:extLst>
              </a:tr>
              <a:tr h="216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1000" b="1" i="0" u="none" strike="noStrike" kern="1200" dirty="0">
                          <a:solidFill>
                            <a:srgbClr val="000000"/>
                          </a:solidFill>
                          <a:effectLst/>
                          <a:latin typeface="+mn-lt"/>
                          <a:ea typeface="+mn-ea"/>
                          <a:cs typeface="+mn-cs"/>
                        </a:rPr>
                        <a:t>BBDD</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914400" rtl="0" eaLnBrk="1" fontAlgn="ctr" latinLnBrk="0" hangingPunct="1"/>
                      <a:r>
                        <a:rPr lang="es-ES" sz="800" b="1" i="0" u="none" strike="noStrike" kern="1200" dirty="0">
                          <a:solidFill>
                            <a:srgbClr val="000000"/>
                          </a:solidFill>
                          <a:effectLst/>
                          <a:latin typeface="+mn-lt"/>
                          <a:ea typeface="+mn-ea"/>
                          <a:cs typeface="+mn-cs"/>
                        </a:rPr>
                        <a:t>Servidores BBDD de Aplicación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914400" rtl="0" eaLnBrk="1" fontAlgn="ctr" latinLnBrk="0" hangingPunct="1"/>
                      <a:r>
                        <a:rPr lang="es-ES" sz="800" b="1" i="0" u="none" strike="noStrike" kern="1200" dirty="0">
                          <a:solidFill>
                            <a:srgbClr val="000000"/>
                          </a:solidFill>
                          <a:effectLst/>
                          <a:latin typeface="+mn-lt"/>
                          <a:ea typeface="+mn-ea"/>
                          <a:cs typeface="+mn-cs"/>
                        </a:rPr>
                        <a:t>Extensión HC 2.0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PRO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4 </a:t>
                      </a:r>
                      <a:r>
                        <a:rPr lang="es-ES" sz="800" b="1" i="0" u="none" strike="noStrike" dirty="0">
                          <a:solidFill>
                            <a:srgbClr val="FF0000"/>
                          </a:solidFill>
                          <a:effectLst/>
                          <a:latin typeface="+mn-lt"/>
                        </a:rPr>
                        <a:t>(3)</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8 </a:t>
                      </a:r>
                      <a:r>
                        <a:rPr lang="es-ES" sz="800" b="1" i="0" u="none" strike="noStrike" dirty="0">
                          <a:solidFill>
                            <a:srgbClr val="FF0000"/>
                          </a:solidFill>
                          <a:effectLst/>
                          <a:latin typeface="+mn-lt"/>
                        </a:rPr>
                        <a:t>(3)</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500</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64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a:solidFill>
                            <a:srgbClr val="000000"/>
                          </a:solidFill>
                          <a:effectLst/>
                          <a:latin typeface="+mn-lt"/>
                        </a:rPr>
                        <a:t>512</a:t>
                      </a:r>
                      <a:endParaRPr lang="es-ES" sz="800" b="0" i="0" u="none" strike="noStrike" dirty="0">
                        <a:solidFill>
                          <a:srgbClr val="00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SAN</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Oracle 19c</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Clúster VMware</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Vertical</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3700781428"/>
                  </a:ext>
                </a:extLst>
              </a:tr>
            </a:tbl>
          </a:graphicData>
        </a:graphic>
      </p:graphicFrame>
      <p:graphicFrame>
        <p:nvGraphicFramePr>
          <p:cNvPr id="21" name="Tabla 20">
            <a:extLst>
              <a:ext uri="{FF2B5EF4-FFF2-40B4-BE49-F238E27FC236}">
                <a16:creationId xmlns:a16="http://schemas.microsoft.com/office/drawing/2014/main" id="{B6CE0F2B-FD47-4262-AECA-8CB003F78F91}"/>
              </a:ext>
            </a:extLst>
          </p:cNvPr>
          <p:cNvGraphicFramePr>
            <a:graphicFrameLocks noGrp="1"/>
          </p:cNvGraphicFramePr>
          <p:nvPr>
            <p:extLst>
              <p:ext uri="{D42A27DB-BD31-4B8C-83A1-F6EECF244321}">
                <p14:modId xmlns:p14="http://schemas.microsoft.com/office/powerpoint/2010/main" val="4093311268"/>
              </p:ext>
            </p:extLst>
          </p:nvPr>
        </p:nvGraphicFramePr>
        <p:xfrm>
          <a:off x="313779" y="934707"/>
          <a:ext cx="11490684" cy="1435530"/>
        </p:xfrm>
        <a:graphic>
          <a:graphicData uri="http://schemas.openxmlformats.org/drawingml/2006/table">
            <a:tbl>
              <a:tblPr/>
              <a:tblGrid>
                <a:gridCol w="504132">
                  <a:extLst>
                    <a:ext uri="{9D8B030D-6E8A-4147-A177-3AD203B41FA5}">
                      <a16:colId xmlns:a16="http://schemas.microsoft.com/office/drawing/2014/main" val="20000"/>
                    </a:ext>
                  </a:extLst>
                </a:gridCol>
                <a:gridCol w="885618">
                  <a:extLst>
                    <a:ext uri="{9D8B030D-6E8A-4147-A177-3AD203B41FA5}">
                      <a16:colId xmlns:a16="http://schemas.microsoft.com/office/drawing/2014/main" val="3727174841"/>
                    </a:ext>
                  </a:extLst>
                </a:gridCol>
                <a:gridCol w="885618">
                  <a:extLst>
                    <a:ext uri="{9D8B030D-6E8A-4147-A177-3AD203B41FA5}">
                      <a16:colId xmlns:a16="http://schemas.microsoft.com/office/drawing/2014/main" val="2920054101"/>
                    </a:ext>
                  </a:extLst>
                </a:gridCol>
                <a:gridCol w="912242">
                  <a:extLst>
                    <a:ext uri="{9D8B030D-6E8A-4147-A177-3AD203B41FA5}">
                      <a16:colId xmlns:a16="http://schemas.microsoft.com/office/drawing/2014/main" val="20001"/>
                    </a:ext>
                  </a:extLst>
                </a:gridCol>
                <a:gridCol w="531628">
                  <a:extLst>
                    <a:ext uri="{9D8B030D-6E8A-4147-A177-3AD203B41FA5}">
                      <a16:colId xmlns:a16="http://schemas.microsoft.com/office/drawing/2014/main" val="20002"/>
                    </a:ext>
                  </a:extLst>
                </a:gridCol>
                <a:gridCol w="278605">
                  <a:extLst>
                    <a:ext uri="{9D8B030D-6E8A-4147-A177-3AD203B41FA5}">
                      <a16:colId xmlns:a16="http://schemas.microsoft.com/office/drawing/2014/main" val="20003"/>
                    </a:ext>
                  </a:extLst>
                </a:gridCol>
                <a:gridCol w="361506">
                  <a:extLst>
                    <a:ext uri="{9D8B030D-6E8A-4147-A177-3AD203B41FA5}">
                      <a16:colId xmlns:a16="http://schemas.microsoft.com/office/drawing/2014/main" val="20004"/>
                    </a:ext>
                  </a:extLst>
                </a:gridCol>
                <a:gridCol w="493054">
                  <a:extLst>
                    <a:ext uri="{9D8B030D-6E8A-4147-A177-3AD203B41FA5}">
                      <a16:colId xmlns:a16="http://schemas.microsoft.com/office/drawing/2014/main" val="20005"/>
                    </a:ext>
                  </a:extLst>
                </a:gridCol>
                <a:gridCol w="541020">
                  <a:extLst>
                    <a:ext uri="{9D8B030D-6E8A-4147-A177-3AD203B41FA5}">
                      <a16:colId xmlns:a16="http://schemas.microsoft.com/office/drawing/2014/main" val="344019226"/>
                    </a:ext>
                  </a:extLst>
                </a:gridCol>
                <a:gridCol w="514350">
                  <a:extLst>
                    <a:ext uri="{9D8B030D-6E8A-4147-A177-3AD203B41FA5}">
                      <a16:colId xmlns:a16="http://schemas.microsoft.com/office/drawing/2014/main" val="1751847693"/>
                    </a:ext>
                  </a:extLst>
                </a:gridCol>
                <a:gridCol w="605790">
                  <a:extLst>
                    <a:ext uri="{9D8B030D-6E8A-4147-A177-3AD203B41FA5}">
                      <a16:colId xmlns:a16="http://schemas.microsoft.com/office/drawing/2014/main" val="134153170"/>
                    </a:ext>
                  </a:extLst>
                </a:gridCol>
                <a:gridCol w="491490">
                  <a:extLst>
                    <a:ext uri="{9D8B030D-6E8A-4147-A177-3AD203B41FA5}">
                      <a16:colId xmlns:a16="http://schemas.microsoft.com/office/drawing/2014/main" val="1190099378"/>
                    </a:ext>
                  </a:extLst>
                </a:gridCol>
                <a:gridCol w="483870">
                  <a:extLst>
                    <a:ext uri="{9D8B030D-6E8A-4147-A177-3AD203B41FA5}">
                      <a16:colId xmlns:a16="http://schemas.microsoft.com/office/drawing/2014/main" val="20008"/>
                    </a:ext>
                  </a:extLst>
                </a:gridCol>
                <a:gridCol w="1009650">
                  <a:extLst>
                    <a:ext uri="{9D8B030D-6E8A-4147-A177-3AD203B41FA5}">
                      <a16:colId xmlns:a16="http://schemas.microsoft.com/office/drawing/2014/main" val="20009"/>
                    </a:ext>
                  </a:extLst>
                </a:gridCol>
                <a:gridCol w="781050">
                  <a:extLst>
                    <a:ext uri="{9D8B030D-6E8A-4147-A177-3AD203B41FA5}">
                      <a16:colId xmlns:a16="http://schemas.microsoft.com/office/drawing/2014/main" val="2225912572"/>
                    </a:ext>
                  </a:extLst>
                </a:gridCol>
                <a:gridCol w="579120">
                  <a:extLst>
                    <a:ext uri="{9D8B030D-6E8A-4147-A177-3AD203B41FA5}">
                      <a16:colId xmlns:a16="http://schemas.microsoft.com/office/drawing/2014/main" val="20010"/>
                    </a:ext>
                  </a:extLst>
                </a:gridCol>
                <a:gridCol w="979170">
                  <a:extLst>
                    <a:ext uri="{9D8B030D-6E8A-4147-A177-3AD203B41FA5}">
                      <a16:colId xmlns:a16="http://schemas.microsoft.com/office/drawing/2014/main" val="20011"/>
                    </a:ext>
                  </a:extLst>
                </a:gridCol>
                <a:gridCol w="652771">
                  <a:extLst>
                    <a:ext uri="{9D8B030D-6E8A-4147-A177-3AD203B41FA5}">
                      <a16:colId xmlns:a16="http://schemas.microsoft.com/office/drawing/2014/main" val="236679130"/>
                    </a:ext>
                  </a:extLst>
                </a:gridCol>
              </a:tblGrid>
              <a:tr h="145936">
                <a:tc rowSpan="2" gridSpan="3">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Infraestructura</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hMerge="1">
                  <a:txBody>
                    <a:bodyPr/>
                    <a:lstStyle/>
                    <a:p>
                      <a:endParaRPr lang="es-ES"/>
                    </a:p>
                  </a:txBody>
                  <a:tcPr/>
                </a:tc>
                <a:tc rowSpan="2" hMerge="1">
                  <a:txBody>
                    <a:bodyPr/>
                    <a:lstStyle/>
                    <a:p>
                      <a:endParaRPr lang="es-ES"/>
                    </a:p>
                  </a:txBody>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Sistema Operativo</a:t>
                      </a:r>
                    </a:p>
                  </a:txBody>
                  <a:tcPr marL="0" marR="0" marT="0" marB="0" anchor="ctr">
                    <a:lnL w="19050" cap="flat" cmpd="sng" algn="ctr">
                      <a:solidFill>
                        <a:srgbClr val="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Entorno</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Nº Serv.</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Cores/ Serv</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err="1">
                          <a:solidFill>
                            <a:schemeClr val="lt1"/>
                          </a:solidFill>
                          <a:effectLst/>
                          <a:latin typeface="+mn-lt"/>
                          <a:ea typeface="+mn-ea"/>
                          <a:cs typeface="+mn-cs"/>
                        </a:rPr>
                        <a:t>Mem</a:t>
                      </a:r>
                      <a:r>
                        <a:rPr lang="es-ES" sz="800" b="1" kern="1200" dirty="0">
                          <a:solidFill>
                            <a:schemeClr val="lt1"/>
                          </a:solidFill>
                          <a:effectLst/>
                          <a:latin typeface="+mn-lt"/>
                          <a:ea typeface="+mn-ea"/>
                          <a:cs typeface="+mn-cs"/>
                        </a:rPr>
                        <a:t>/ Serv (Gb)</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gridSpan="4">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Almacenamiento (Gb)</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hMerge="1">
                  <a:txBody>
                    <a:bodyPr/>
                    <a:lstStyle/>
                    <a:p>
                      <a:endParaRPr lang="es-ES"/>
                    </a:p>
                  </a:txBody>
                  <a:tcPr/>
                </a:tc>
                <a:tc hMerge="1">
                  <a:txBody>
                    <a:bodyPr/>
                    <a:lstStyle/>
                    <a:p>
                      <a:endParaRPr lang="es-ES"/>
                    </a:p>
                  </a:txBody>
                  <a:tcPr/>
                </a:tc>
                <a:tc h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Red</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Producto</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HA</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Balanceo</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Escalabilidad</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Otro SW</a:t>
                      </a:r>
                    </a:p>
                  </a:txBody>
                  <a:tcPr marL="0" marR="0" marT="0" marB="0" anchor="ctr">
                    <a:lnL w="12700" cap="flat" cmpd="sng" algn="ctr">
                      <a:solidFill>
                        <a:sysClr val="window" lastClr="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843331708"/>
                  </a:ext>
                </a:extLst>
              </a:tr>
              <a:tr h="215028">
                <a:tc gridSpan="3"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hMerge="1"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hMerge="1" vMerge="1">
                  <a:txBody>
                    <a:bodyPr/>
                    <a:lstStyle/>
                    <a:p>
                      <a:endParaRPr lang="es-ES"/>
                    </a:p>
                  </a:txBody>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190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Estimado</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Flavor</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Block Storage</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Tipo</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extLst>
                  <a:ext uri="{0D108BD9-81ED-4DB2-BD59-A6C34878D82A}">
                    <a16:rowId xmlns:a16="http://schemas.microsoft.com/office/drawing/2014/main" val="10000"/>
                  </a:ext>
                </a:extLst>
              </a:tr>
              <a:tr h="196888">
                <a:tc rowSpan="4">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1000" b="1" i="0" u="none" strike="noStrike" kern="1200" dirty="0">
                          <a:solidFill>
                            <a:srgbClr val="000000"/>
                          </a:solidFill>
                          <a:effectLst/>
                          <a:latin typeface="+mn-lt"/>
                          <a:ea typeface="+mn-ea"/>
                          <a:cs typeface="+mn-cs"/>
                        </a:rPr>
                        <a:t>Motor de</a:t>
                      </a:r>
                    </a:p>
                    <a:p>
                      <a:pPr algn="ctr" rtl="0" fontAlgn="ctr"/>
                      <a:r>
                        <a:rPr lang="es-ES" sz="1000" b="1" i="0" u="none" strike="noStrike" kern="1200" dirty="0">
                          <a:solidFill>
                            <a:srgbClr val="000000"/>
                          </a:solidFill>
                          <a:effectLst/>
                          <a:latin typeface="+mn-lt"/>
                          <a:ea typeface="+mn-ea"/>
                          <a:cs typeface="+mn-cs"/>
                        </a:rPr>
                        <a:t>Procesos</a:t>
                      </a:r>
                    </a:p>
                    <a:p>
                      <a:pPr marL="0" marR="0" lvl="0" indent="0" algn="ctr" defTabSz="914400" rtl="0" eaLnBrk="1" fontAlgn="ctr" latinLnBrk="0" hangingPunct="1">
                        <a:lnSpc>
                          <a:spcPct val="100000"/>
                        </a:lnSpc>
                        <a:spcBef>
                          <a:spcPts val="0"/>
                        </a:spcBef>
                        <a:spcAft>
                          <a:spcPts val="0"/>
                        </a:spcAft>
                        <a:buClrTx/>
                        <a:buSzTx/>
                        <a:buFontTx/>
                        <a:buNone/>
                        <a:tabLst/>
                        <a:defRPr/>
                      </a:pPr>
                      <a:r>
                        <a:rPr lang="es-ES" sz="1000" b="1" i="0" u="none" strike="noStrike" dirty="0">
                          <a:solidFill>
                            <a:srgbClr val="000000"/>
                          </a:solidFill>
                          <a:effectLst/>
                          <a:latin typeface="+mn-lt"/>
                        </a:rPr>
                        <a:t>Appian</a:t>
                      </a:r>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Servidores WEB</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hMerge="1">
                  <a:txBody>
                    <a:bodyPr/>
                    <a:lstStyle/>
                    <a:p>
                      <a:endParaRPr lang="es-E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CERT </a:t>
                      </a:r>
                      <a:r>
                        <a:rPr kumimoji="0" lang="es-ES" sz="800" b="0" i="0" u="none" strike="noStrike" kern="1200" cap="none" spc="0" normalizeH="0" baseline="0" noProof="0" dirty="0">
                          <a:ln>
                            <a:noFill/>
                          </a:ln>
                          <a:solidFill>
                            <a:srgbClr val="FF0000"/>
                          </a:solidFill>
                          <a:effectLst/>
                          <a:uLnTx/>
                          <a:uFillTx/>
                          <a:latin typeface="Arial"/>
                          <a:ea typeface="+mn-ea"/>
                          <a:cs typeface="+mn-cs"/>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a:t>
                      </a:r>
                      <a:endParaRPr lang="es-ES" sz="800" b="1" i="0" u="none" strike="noStrike" dirty="0">
                        <a:solidFill>
                          <a:srgbClr val="FF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4</a:t>
                      </a:r>
                      <a:endParaRPr lang="es-ES" sz="800" b="1" i="0" u="none" strike="noStrike" dirty="0">
                        <a:solidFill>
                          <a:srgbClr val="FF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25</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64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128</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Interno</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Apache Web Server</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Activo-Pasivo</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b="0" i="0" u="none" strike="noStrike" dirty="0">
                          <a:solidFill>
                            <a:srgbClr val="000000"/>
                          </a:solidFill>
                          <a:effectLst/>
                          <a:latin typeface="+mn-lt"/>
                        </a:rPr>
                        <a:t>Vertical</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900" b="0" i="0" u="none" strike="noStrike" dirty="0">
                          <a:solidFill>
                            <a:srgbClr val="000000"/>
                          </a:solidFill>
                          <a:effectLst/>
                          <a:latin typeface="+mn-lt"/>
                        </a:rPr>
                        <a:t> </a:t>
                      </a:r>
                      <a:r>
                        <a:rPr lang="es-ES" sz="500" b="0" i="0" u="none" strike="noStrike" kern="1200" dirty="0" err="1">
                          <a:solidFill>
                            <a:srgbClr val="000000"/>
                          </a:solidFill>
                          <a:effectLst/>
                          <a:latin typeface="+mn-lt"/>
                          <a:ea typeface="+mn-ea"/>
                          <a:cs typeface="+mn-cs"/>
                        </a:rPr>
                        <a:t>mod_jk</a:t>
                      </a:r>
                      <a:r>
                        <a:rPr lang="es-ES" sz="500" b="0" i="0" u="none" strike="noStrike" kern="1200" dirty="0">
                          <a:solidFill>
                            <a:srgbClr val="000000"/>
                          </a:solidFill>
                          <a:effectLst/>
                          <a:latin typeface="+mn-lt"/>
                          <a:ea typeface="+mn-ea"/>
                          <a:cs typeface="+mn-cs"/>
                        </a:rPr>
                        <a:t> para conectarse a Tomcat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3557508464"/>
                  </a:ext>
                </a:extLst>
              </a:tr>
              <a:tr h="259180">
                <a:tc vMerge="1">
                  <a:txBody>
                    <a:bodyPr/>
                    <a:lstStyle/>
                    <a:p>
                      <a:pPr algn="ctr" rtl="0" fontAlgn="ctr"/>
                      <a:endParaRPr lang="es-ES" sz="1000" b="1" i="0" u="none" strike="noStrike" kern="1200" dirty="0">
                        <a:solidFill>
                          <a:srgbClr val="000000"/>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6161"/>
                    </a:solidFill>
                  </a:tcPr>
                </a:tc>
                <a:tc rowSpan="2"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b="1" i="0" u="none" strike="noStrike" dirty="0">
                          <a:solidFill>
                            <a:srgbClr val="000000"/>
                          </a:solidFill>
                          <a:effectLst/>
                          <a:latin typeface="+mn-lt"/>
                        </a:rPr>
                        <a:t>Servidor Stand Alone</a:t>
                      </a:r>
                    </a:p>
                    <a:p>
                      <a:pPr marL="0" marR="0" lvl="0" indent="0" algn="ctr" defTabSz="914400" rtl="0" eaLnBrk="1" fontAlgn="ctr" latinLnBrk="0" hangingPunct="1">
                        <a:lnSpc>
                          <a:spcPct val="100000"/>
                        </a:lnSpc>
                        <a:spcBef>
                          <a:spcPts val="0"/>
                        </a:spcBef>
                        <a:spcAft>
                          <a:spcPts val="0"/>
                        </a:spcAft>
                        <a:buClrTx/>
                        <a:buSzTx/>
                        <a:buFontTx/>
                        <a:buNone/>
                        <a:tabLst/>
                        <a:defRPr/>
                      </a:pPr>
                      <a:r>
                        <a:rPr lang="es-ES" sz="800" b="1" i="0" u="none" strike="noStrike" dirty="0">
                          <a:solidFill>
                            <a:srgbClr val="000000"/>
                          </a:solidFill>
                          <a:effectLst/>
                          <a:latin typeface="+mn-lt"/>
                        </a:rPr>
                        <a:t>(Servidores Aplicaciones</a:t>
                      </a:r>
                    </a:p>
                    <a:p>
                      <a:pPr marL="0" marR="0" lvl="0" indent="0" algn="ctr" defTabSz="914400" rtl="0" eaLnBrk="1" fontAlgn="ctr" latinLnBrk="0" hangingPunct="1">
                        <a:lnSpc>
                          <a:spcPct val="100000"/>
                        </a:lnSpc>
                        <a:spcBef>
                          <a:spcPts val="0"/>
                        </a:spcBef>
                        <a:spcAft>
                          <a:spcPts val="0"/>
                        </a:spcAft>
                        <a:buClrTx/>
                        <a:buSzTx/>
                        <a:buFontTx/>
                        <a:buNone/>
                        <a:tabLst/>
                        <a:defRPr/>
                      </a:pPr>
                      <a:r>
                        <a:rPr lang="es-ES" sz="800" b="1" i="0" u="none" strike="noStrike" dirty="0">
                          <a:solidFill>
                            <a:srgbClr val="000000"/>
                          </a:solidFill>
                          <a:effectLst/>
                          <a:latin typeface="+mn-lt"/>
                        </a:rPr>
                        <a:t>+ Appian </a:t>
                      </a:r>
                      <a:r>
                        <a:rPr lang="en-US" sz="800" b="1" i="0" u="none" strike="noStrike" noProof="0" dirty="0">
                          <a:solidFill>
                            <a:srgbClr val="000000"/>
                          </a:solidFill>
                          <a:effectLst/>
                          <a:latin typeface="+mn-lt"/>
                        </a:rPr>
                        <a:t>Engines)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rowSpan="2" hMerge="1">
                  <a:txBody>
                    <a:bodyPr/>
                    <a:lstStyle/>
                    <a:p>
                      <a:endParaRPr lang="es-ES"/>
                    </a:p>
                  </a:txBody>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CERT </a:t>
                      </a:r>
                      <a:r>
                        <a:rPr kumimoji="0" lang="es-ES" sz="800" b="0" i="0" u="none" strike="noStrike" kern="1200" cap="none" spc="0" normalizeH="0" baseline="0" noProof="0" dirty="0">
                          <a:ln>
                            <a:noFill/>
                          </a:ln>
                          <a:solidFill>
                            <a:srgbClr val="FF0000"/>
                          </a:solidFill>
                          <a:effectLst/>
                          <a:uLnTx/>
                          <a:uFillTx/>
                          <a:latin typeface="Arial"/>
                          <a:ea typeface="+mn-ea"/>
                          <a:cs typeface="+mn-cs"/>
                        </a:rPr>
                        <a:t>(1)</a:t>
                      </a: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chemeClr val="tx1"/>
                          </a:solidFill>
                          <a:effectLst/>
                          <a:latin typeface="+mn-lt"/>
                        </a:rPr>
                        <a:t>8</a:t>
                      </a:r>
                      <a:endParaRPr lang="es-ES" sz="800" b="1" kern="1200" dirty="0">
                        <a:solidFill>
                          <a:srgbClr val="FF0000"/>
                        </a:solidFill>
                        <a:effectLst/>
                        <a:latin typeface="+mn-lt"/>
                        <a:ea typeface="+mn-ea"/>
                        <a:cs typeface="+mn-cs"/>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chemeClr val="tx1"/>
                          </a:solidFill>
                          <a:effectLst/>
                          <a:latin typeface="+mn-lt"/>
                        </a:rPr>
                        <a:t>32</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256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NAS </a:t>
                      </a:r>
                      <a:r>
                        <a:rPr lang="es-ES" sz="800" b="1" kern="1200" dirty="0">
                          <a:solidFill>
                            <a:srgbClr val="FF0000"/>
                          </a:solidFill>
                          <a:effectLst/>
                          <a:latin typeface="+mn-lt"/>
                          <a:ea typeface="+mn-ea"/>
                          <a:cs typeface="+mn-cs"/>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p>
                      <a:pPr algn="ctr"/>
                      <a:r>
                        <a:rPr lang="es-ES" sz="800" kern="1200" dirty="0">
                          <a:solidFill>
                            <a:schemeClr val="dk1"/>
                          </a:solidFill>
                          <a:effectLst/>
                          <a:latin typeface="+mn-lt"/>
                          <a:ea typeface="+mn-ea"/>
                          <a:cs typeface="+mn-cs"/>
                        </a:rPr>
                        <a:t>Intranet</a:t>
                      </a: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rowSpan="2">
                  <a:txBody>
                    <a:bodyPr/>
                    <a:lstStyle/>
                    <a:p>
                      <a:pPr algn="ctr" rtl="0" fontAlgn="ctr"/>
                      <a:r>
                        <a:rPr lang="es-ES" sz="800" b="0" i="0" u="none" strike="noStrike" kern="1200" dirty="0">
                          <a:solidFill>
                            <a:srgbClr val="000000"/>
                          </a:solidFill>
                          <a:effectLst/>
                          <a:latin typeface="+mn-lt"/>
                          <a:ea typeface="+mn-ea"/>
                          <a:cs typeface="+mn-cs"/>
                        </a:rPr>
                        <a:t>Appian 22.1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rowSpan="2">
                  <a:txBody>
                    <a:bodyPr/>
                    <a:lstStyle/>
                    <a:p>
                      <a:pPr algn="ctr"/>
                      <a:r>
                        <a:rPr lang="es-ES" sz="800" b="0" i="0" u="none" strike="noStrike" dirty="0">
                          <a:solidFill>
                            <a:srgbClr val="000000"/>
                          </a:solidFill>
                          <a:effectLst/>
                          <a:latin typeface="+mn-lt"/>
                        </a:rPr>
                        <a:t>Activo-Pasivo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rowSpan="2">
                  <a:txBody>
                    <a:bodyPr/>
                    <a:lstStyle/>
                    <a:p>
                      <a:pPr algn="ct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800" b="0" i="0" u="none" strike="noStrike" dirty="0">
                          <a:solidFill>
                            <a:srgbClr val="000000"/>
                          </a:solidFill>
                          <a:effectLst/>
                          <a:latin typeface="+mn-lt"/>
                        </a:rPr>
                        <a:t>Vertical</a:t>
                      </a:r>
                    </a:p>
                    <a:p>
                      <a:pPr algn="ct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473667543"/>
                  </a:ext>
                </a:extLst>
              </a:tr>
              <a:tr h="111206">
                <a:tc vMerge="1">
                  <a:txBody>
                    <a:bodyPr/>
                    <a:lstStyle/>
                    <a:p>
                      <a:pPr algn="ctr" rtl="0" fontAlgn="ctr"/>
                      <a:endParaRPr lang="es-ES" sz="1000" b="1" i="0" u="none" strike="noStrike" kern="1200" dirty="0">
                        <a:solidFill>
                          <a:srgbClr val="000000"/>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solidFill>
                      <a:srgbClr val="FF6161"/>
                    </a:solidFill>
                  </a:tcPr>
                </a:tc>
                <a:tc gridSpan="2"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800" b="1" i="0" u="none" strike="noStrike" noProof="0" dirty="0">
                        <a:solidFill>
                          <a:srgbClr val="00000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6161"/>
                    </a:solidFill>
                  </a:tcPr>
                </a:tc>
                <a:tc hMerge="1" vMerge="1">
                  <a:txBody>
                    <a:bodyPr/>
                    <a:lstStyle/>
                    <a:p>
                      <a:endParaRPr lang="es-ES"/>
                    </a:p>
                  </a:txBody>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s-ES" sz="800" kern="1200" dirty="0">
                        <a:solidFill>
                          <a:schemeClr val="dk1"/>
                        </a:solidFill>
                        <a:effectLst/>
                        <a:latin typeface="+mn-lt"/>
                        <a:ea typeface="+mn-ea"/>
                        <a:cs typeface="+mn-cs"/>
                      </a:endParaRP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chemeClr val="tx1"/>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chemeClr val="tx1"/>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kern="1200" dirty="0">
                          <a:solidFill>
                            <a:schemeClr val="tx1"/>
                          </a:solidFill>
                          <a:effectLst/>
                          <a:latin typeface="+mn-lt"/>
                          <a:ea typeface="+mn-ea"/>
                          <a:cs typeface="+mn-cs"/>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kern="1200" dirty="0">
                          <a:solidFill>
                            <a:schemeClr val="tx1"/>
                          </a:solidFill>
                          <a:effectLst/>
                          <a:latin typeface="+mn-lt"/>
                          <a:ea typeface="+mn-ea"/>
                          <a:cs typeface="+mn-cs"/>
                        </a:rPr>
                        <a:t>256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kern="1200" dirty="0">
                          <a:solidFill>
                            <a:schemeClr val="tx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Interno</a:t>
                      </a: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kern="1200" dirty="0">
                          <a:solidFill>
                            <a:schemeClr val="dk1"/>
                          </a:solidFill>
                          <a:effectLst/>
                          <a:latin typeface="+mn-lt"/>
                          <a:ea typeface="+mn-ea"/>
                          <a:cs typeface="+mn-cs"/>
                        </a:rPr>
                        <a:t>Intranet</a:t>
                      </a: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kern="1200" dirty="0">
                          <a:solidFill>
                            <a:srgbClr val="000000"/>
                          </a:solidFill>
                          <a:effectLst/>
                          <a:latin typeface="+mn-lt"/>
                          <a:ea typeface="+mn-ea"/>
                          <a:cs typeface="+mn-cs"/>
                        </a:rPr>
                        <a:t>Appian 22.1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i="0" u="none" strike="noStrike" dirty="0">
                          <a:solidFill>
                            <a:srgbClr val="000000"/>
                          </a:solidFill>
                          <a:effectLst/>
                          <a:latin typeface="+mn-lt"/>
                        </a:rPr>
                        <a:t>Activo-Pasivo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800" b="0" i="0" u="none" strike="noStrike" dirty="0">
                          <a:solidFill>
                            <a:srgbClr val="000000"/>
                          </a:solidFill>
                          <a:effectLst/>
                          <a:latin typeface="+mn-lt"/>
                        </a:rPr>
                        <a:t>Vertical</a:t>
                      </a:r>
                    </a:p>
                    <a:p>
                      <a:pPr algn="ct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3535399745"/>
                  </a:ext>
                </a:extLst>
              </a:tr>
              <a:tr h="236266">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s-ES" sz="1000" b="1" i="0" u="none" strike="noStrike" dirty="0">
                        <a:solidFill>
                          <a:srgbClr val="000000"/>
                        </a:solidFill>
                        <a:effectLst/>
                        <a:latin typeface="+mn-lt"/>
                      </a:endParaRPr>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6161"/>
                    </a:solid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b="1" i="0" u="none" strike="noStrike" dirty="0">
                          <a:solidFill>
                            <a:srgbClr val="000000"/>
                          </a:solidFill>
                          <a:effectLst/>
                          <a:latin typeface="+mn-lt"/>
                        </a:rPr>
                        <a:t>Servidores BBDD </a:t>
                      </a:r>
                      <a:endParaRPr lang="en-US" sz="800" b="1" i="0" u="none" strike="noStrike" noProof="0" dirty="0">
                        <a:solidFill>
                          <a:srgbClr val="00000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hMerge="1">
                  <a:txBody>
                    <a:bodyPr/>
                    <a:lstStyle/>
                    <a:p>
                      <a:endParaRPr lang="es-E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CERT </a:t>
                      </a:r>
                      <a:r>
                        <a:rPr kumimoji="0" lang="es-ES" sz="800" b="0" i="0" u="none" strike="noStrike" kern="1200" cap="none" spc="0" normalizeH="0" baseline="0" noProof="0" dirty="0">
                          <a:ln>
                            <a:noFill/>
                          </a:ln>
                          <a:solidFill>
                            <a:srgbClr val="FF0000"/>
                          </a:solidFill>
                          <a:effectLst/>
                          <a:uLnTx/>
                          <a:uFillTx/>
                          <a:latin typeface="Arial"/>
                          <a:ea typeface="+mn-ea"/>
                          <a:cs typeface="+mn-cs"/>
                        </a:rPr>
                        <a:t>(1)</a:t>
                      </a: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chemeClr val="tx1"/>
                          </a:solidFill>
                          <a:effectLst/>
                          <a:latin typeface="+mn-lt"/>
                        </a:rPr>
                        <a:t>2</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chemeClr val="tx1"/>
                          </a:solidFill>
                          <a:effectLst/>
                          <a:latin typeface="+mn-lt"/>
                        </a:rPr>
                        <a:t>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kern="1200" dirty="0">
                          <a:solidFill>
                            <a:schemeClr val="tx1"/>
                          </a:solidFill>
                          <a:effectLst/>
                          <a:latin typeface="+mn-lt"/>
                          <a:ea typeface="+mn-ea"/>
                          <a:cs typeface="+mn-cs"/>
                        </a:rPr>
                        <a:t>0,5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kern="1200" dirty="0">
                          <a:solidFill>
                            <a:schemeClr val="tx1"/>
                          </a:solidFill>
                          <a:effectLst/>
                          <a:latin typeface="+mn-lt"/>
                          <a:ea typeface="+mn-ea"/>
                          <a:cs typeface="+mn-cs"/>
                        </a:rPr>
                        <a:t>64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kern="1200" dirty="0">
                          <a:solidFill>
                            <a:schemeClr val="tx1"/>
                          </a:solidFill>
                          <a:effectLst/>
                          <a:latin typeface="+mn-lt"/>
                          <a:ea typeface="+mn-ea"/>
                          <a:cs typeface="+mn-cs"/>
                        </a:rPr>
                        <a:t>32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kern="1200" dirty="0">
                          <a:solidFill>
                            <a:schemeClr val="tx1"/>
                          </a:solidFill>
                          <a:effectLst/>
                          <a:latin typeface="+mn-lt"/>
                          <a:ea typeface="+mn-ea"/>
                          <a:cs typeface="+mn-cs"/>
                        </a:rPr>
                        <a:t>SAN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kern="1200" dirty="0">
                          <a:solidFill>
                            <a:schemeClr val="tx1"/>
                          </a:solidFill>
                          <a:effectLst/>
                          <a:latin typeface="+mn-lt"/>
                          <a:ea typeface="+mn-ea"/>
                          <a:cs typeface="+mn-cs"/>
                        </a:rPr>
                        <a:t>Intranet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800" b="0" i="0" u="none" strike="noStrike" dirty="0">
                          <a:solidFill>
                            <a:srgbClr val="000000"/>
                          </a:solidFill>
                          <a:effectLst/>
                          <a:latin typeface="+mn-lt"/>
                        </a:rPr>
                        <a:t>Oracle 19c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800" b="0" i="0" u="none" strike="noStrike" dirty="0">
                          <a:solidFill>
                            <a:srgbClr val="000000"/>
                          </a:solidFill>
                          <a:effectLst/>
                          <a:latin typeface="+mn-lt"/>
                        </a:rPr>
                        <a:t>Clúster VMware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kern="1200" dirty="0">
                          <a:solidFill>
                            <a:schemeClr val="tx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i="0" u="none" strike="noStrike" dirty="0">
                          <a:solidFill>
                            <a:srgbClr val="000000"/>
                          </a:solidFill>
                          <a:effectLst/>
                          <a:latin typeface="+mn-lt"/>
                        </a:rPr>
                        <a:t>Vertical</a:t>
                      </a: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2304858968"/>
                  </a:ext>
                </a:extLst>
              </a:tr>
              <a:tr h="236266">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000" b="1" i="0" u="none" strike="noStrike" kern="1200" dirty="0">
                          <a:solidFill>
                            <a:srgbClr val="000000"/>
                          </a:solidFill>
                          <a:effectLst/>
                          <a:latin typeface="+mn-lt"/>
                          <a:ea typeface="+mn-ea"/>
                          <a:cs typeface="+mn-cs"/>
                        </a:rPr>
                        <a:t>BBDD</a:t>
                      </a:r>
                      <a:endParaRPr lang="es-ES" sz="1000" b="1"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b="1" i="0" u="none" strike="noStrike" kern="1200" dirty="0">
                          <a:solidFill>
                            <a:srgbClr val="000000"/>
                          </a:solidFill>
                          <a:effectLst/>
                          <a:latin typeface="+mn-lt"/>
                          <a:ea typeface="+mn-ea"/>
                          <a:cs typeface="+mn-cs"/>
                        </a:rPr>
                        <a:t>Servidores BBDD de Aplicación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b="1" i="0" u="none" strike="noStrike" kern="1200" dirty="0">
                          <a:solidFill>
                            <a:srgbClr val="000000"/>
                          </a:solidFill>
                          <a:effectLst/>
                          <a:latin typeface="+mn-lt"/>
                          <a:ea typeface="+mn-ea"/>
                          <a:cs typeface="+mn-cs"/>
                        </a:rPr>
                        <a:t>Extensión HC 2.0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CERT </a:t>
                      </a:r>
                      <a:r>
                        <a:rPr kumimoji="0" lang="es-ES" sz="800" b="0" i="0" u="none" strike="noStrike" kern="1200" cap="none" spc="0" normalizeH="0" baseline="0" noProof="0" dirty="0">
                          <a:ln>
                            <a:noFill/>
                          </a:ln>
                          <a:solidFill>
                            <a:srgbClr val="FF0000"/>
                          </a:solidFill>
                          <a:effectLst/>
                          <a:uLnTx/>
                          <a:uFillTx/>
                          <a:latin typeface="Arial"/>
                          <a:ea typeface="+mn-ea"/>
                          <a:cs typeface="+mn-cs"/>
                        </a:rPr>
                        <a:t>(1)</a:t>
                      </a: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endParaRPr lang="es-ES" sz="800" b="1" i="0" u="none" strike="noStrike" dirty="0">
                        <a:solidFill>
                          <a:srgbClr val="FF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a:t>
                      </a:r>
                      <a:endParaRPr lang="es-ES" sz="800" b="1" i="0" u="none" strike="noStrike" dirty="0">
                        <a:solidFill>
                          <a:srgbClr val="FF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500</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64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512</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SAN</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Oracle 19c</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Clúster VMware</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Vertical</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4082191908"/>
                  </a:ext>
                </a:extLst>
              </a:tr>
            </a:tbl>
          </a:graphicData>
        </a:graphic>
      </p:graphicFrame>
      <p:pic>
        <p:nvPicPr>
          <p:cNvPr id="22" name="Ojo" descr="MCj04377970000[1]">
            <a:hlinkClick r:id="" action="ppaction://noaction"/>
            <a:extLst>
              <a:ext uri="{FF2B5EF4-FFF2-40B4-BE49-F238E27FC236}">
                <a16:creationId xmlns:a16="http://schemas.microsoft.com/office/drawing/2014/main" id="{FDA42919-6B94-459F-8CB5-7C89184109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73476" y="5189879"/>
            <a:ext cx="331818" cy="324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9227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0" y="42180"/>
            <a:ext cx="8928514"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Hardware, Software y Alta Disponibilidad</a:t>
            </a:r>
          </a:p>
        </p:txBody>
      </p:sp>
      <p:sp>
        <p:nvSpPr>
          <p:cNvPr id="2" name="Rectángulo 1">
            <a:extLst>
              <a:ext uri="{FF2B5EF4-FFF2-40B4-BE49-F238E27FC236}">
                <a16:creationId xmlns:a16="http://schemas.microsoft.com/office/drawing/2014/main" id="{3F380023-6E84-4AD7-B1FB-64A83492B468}"/>
              </a:ext>
            </a:extLst>
          </p:cNvPr>
          <p:cNvSpPr/>
          <p:nvPr/>
        </p:nvSpPr>
        <p:spPr>
          <a:xfrm>
            <a:off x="489364" y="663304"/>
            <a:ext cx="11125200" cy="701731"/>
          </a:xfrm>
          <a:prstGeom prst="rect">
            <a:avLst/>
          </a:prstGeom>
        </p:spPr>
        <p:txBody>
          <a:bodyPr wrap="square">
            <a:spAutoFit/>
          </a:bodyPr>
          <a:lstStyle/>
          <a:p>
            <a:pPr defTabSz="844083"/>
            <a:endParaRPr lang="es-ES" altLang="es-ES" dirty="0">
              <a:solidFill>
                <a:schemeClr val="bg1">
                  <a:lumMod val="50000"/>
                </a:schemeClr>
              </a:solidFill>
              <a:latin typeface="Arial" charset="0"/>
              <a:cs typeface="Arial" charset="0"/>
            </a:endParaRPr>
          </a:p>
          <a:p>
            <a:pPr fontAlgn="t">
              <a:spcBef>
                <a:spcPct val="20000"/>
              </a:spcBef>
              <a:spcAft>
                <a:spcPct val="0"/>
              </a:spcAft>
              <a:defRPr/>
            </a:pPr>
            <a:endParaRPr lang="it-IT" dirty="0">
              <a:solidFill>
                <a:schemeClr val="bg1">
                  <a:lumMod val="50000"/>
                </a:schemeClr>
              </a:solidFill>
              <a:latin typeface="Arial" charset="0"/>
              <a:cs typeface="Arial" charset="0"/>
            </a:endParaRPr>
          </a:p>
        </p:txBody>
      </p:sp>
      <p:sp>
        <p:nvSpPr>
          <p:cNvPr id="11" name="Rectangle 1">
            <a:extLst>
              <a:ext uri="{FF2B5EF4-FFF2-40B4-BE49-F238E27FC236}">
                <a16:creationId xmlns:a16="http://schemas.microsoft.com/office/drawing/2014/main" id="{4511CB86-772B-4F71-84F1-1A2D4ED0C004}"/>
              </a:ext>
            </a:extLst>
          </p:cNvPr>
          <p:cNvSpPr>
            <a:spLocks noChangeArrowheads="1"/>
          </p:cNvSpPr>
          <p:nvPr/>
        </p:nvSpPr>
        <p:spPr bwMode="auto">
          <a:xfrm>
            <a:off x="2577376" y="3260294"/>
            <a:ext cx="170525" cy="34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4406" tIns="42203" rIns="84406" bIns="42203" numCol="1" anchor="ctr" anchorCtr="0" compatLnSpc="1">
            <a:prstTxWarp prst="textNoShape">
              <a:avLst/>
            </a:prstTxWarp>
            <a:spAutoFit/>
          </a:bodyPr>
          <a:lstStyle/>
          <a:p>
            <a:endParaRPr lang="es-ES" sz="1662" dirty="0"/>
          </a:p>
        </p:txBody>
      </p:sp>
      <p:sp>
        <p:nvSpPr>
          <p:cNvPr id="15" name="Rectangle 156">
            <a:extLst>
              <a:ext uri="{FF2B5EF4-FFF2-40B4-BE49-F238E27FC236}">
                <a16:creationId xmlns:a16="http://schemas.microsoft.com/office/drawing/2014/main" id="{CBDC93E5-958C-4782-9262-8EE90CDE8682}"/>
              </a:ext>
            </a:extLst>
          </p:cNvPr>
          <p:cNvSpPr>
            <a:spLocks noChangeArrowheads="1"/>
          </p:cNvSpPr>
          <p:nvPr/>
        </p:nvSpPr>
        <p:spPr bwMode="auto">
          <a:xfrm>
            <a:off x="994280" y="663304"/>
            <a:ext cx="10620284" cy="62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844083"/>
            <a:r>
              <a:rPr lang="es-ES" altLang="es-ES" sz="923" dirty="0">
                <a:solidFill>
                  <a:srgbClr val="000000"/>
                </a:solidFill>
                <a:latin typeface="Calibri" panose="020F0502020204030204" pitchFamily="34" charset="0"/>
              </a:rPr>
              <a:t> </a:t>
            </a:r>
            <a:endParaRPr lang="es-ES" altLang="es-ES" sz="1477" dirty="0">
              <a:solidFill>
                <a:srgbClr val="000000"/>
              </a:solidFill>
              <a:latin typeface="Calibri" panose="020F0502020204030204" pitchFamily="34" charset="0"/>
            </a:endParaRPr>
          </a:p>
          <a:p>
            <a:pPr lvl="0">
              <a:buClrTx/>
            </a:pPr>
            <a:r>
              <a:rPr lang="es-ES" altLang="es-ES" sz="2000" u="sng" dirty="0">
                <a:solidFill>
                  <a:srgbClr val="808080"/>
                </a:solidFill>
                <a:latin typeface="Arial"/>
              </a:rPr>
              <a:t>Almacenamiento S3</a:t>
            </a:r>
            <a:r>
              <a:rPr lang="es-ES" altLang="es-ES" sz="2000" dirty="0">
                <a:solidFill>
                  <a:srgbClr val="808080"/>
                </a:solidFill>
                <a:latin typeface="Arial"/>
              </a:rPr>
              <a:t>: </a:t>
            </a:r>
          </a:p>
          <a:p>
            <a:pPr lvl="0">
              <a:buClrTx/>
            </a:pPr>
            <a:endParaRPr lang="es-ES" altLang="es-ES" sz="1477" dirty="0">
              <a:solidFill>
                <a:srgbClr val="808080"/>
              </a:solidFill>
              <a:latin typeface="Arial"/>
            </a:endParaRPr>
          </a:p>
          <a:p>
            <a:pPr algn="l"/>
            <a:r>
              <a:rPr lang="es-ES" sz="1600" b="1" i="0" dirty="0">
                <a:solidFill>
                  <a:srgbClr val="242424"/>
                </a:solidFill>
                <a:effectLst/>
                <a:latin typeface="Segoe UI" panose="020B0502040204020203" pitchFamily="34" charset="0"/>
              </a:rPr>
              <a:t>Tipo de S3 a desplegar </a:t>
            </a:r>
            <a:r>
              <a:rPr lang="es-ES" sz="1600" b="0" i="0" dirty="0">
                <a:solidFill>
                  <a:srgbClr val="242424"/>
                </a:solidFill>
                <a:effectLst/>
                <a:latin typeface="Segoe UI" panose="020B0502040204020203" pitchFamily="34" charset="0"/>
              </a:rPr>
              <a:t>(</a:t>
            </a:r>
            <a:r>
              <a:rPr lang="es-ES" sz="1600" b="0" i="0" dirty="0" err="1">
                <a:solidFill>
                  <a:srgbClr val="242424"/>
                </a:solidFill>
                <a:effectLst/>
                <a:latin typeface="Segoe UI" panose="020B0502040204020203" pitchFamily="34" charset="0"/>
              </a:rPr>
              <a:t>Shared</a:t>
            </a:r>
            <a:r>
              <a:rPr lang="es-ES" sz="1600" b="0" i="0" dirty="0">
                <a:solidFill>
                  <a:srgbClr val="242424"/>
                </a:solidFill>
                <a:effectLst/>
                <a:latin typeface="Segoe UI" panose="020B0502040204020203" pitchFamily="34" charset="0"/>
              </a:rPr>
              <a:t> o </a:t>
            </a:r>
            <a:r>
              <a:rPr lang="es-ES" sz="1600" b="0" i="0" dirty="0" err="1">
                <a:solidFill>
                  <a:srgbClr val="242424"/>
                </a:solidFill>
                <a:effectLst/>
                <a:latin typeface="Segoe UI" panose="020B0502040204020203" pitchFamily="34" charset="0"/>
              </a:rPr>
              <a:t>Dedicated</a:t>
            </a:r>
            <a:r>
              <a:rPr lang="es-ES" sz="1600" b="0" i="0" dirty="0">
                <a:solidFill>
                  <a:srgbClr val="242424"/>
                </a:solidFill>
                <a:effectLst/>
                <a:latin typeface="Segoe UI" panose="020B0502040204020203" pitchFamily="34" charset="0"/>
              </a:rPr>
              <a:t>):  </a:t>
            </a:r>
          </a:p>
          <a:p>
            <a:pPr algn="l"/>
            <a:endParaRPr lang="es-ES" sz="1600" dirty="0">
              <a:solidFill>
                <a:srgbClr val="242424"/>
              </a:solidFill>
              <a:latin typeface="Segoe UI" panose="020B0502040204020203" pitchFamily="34" charset="0"/>
            </a:endParaRPr>
          </a:p>
          <a:p>
            <a:pPr algn="l"/>
            <a:r>
              <a:rPr lang="es-ES" sz="1600" b="0" i="0" dirty="0">
                <a:solidFill>
                  <a:srgbClr val="242424"/>
                </a:solidFill>
                <a:effectLst/>
                <a:latin typeface="Segoe UI" panose="020B0502040204020203" pitchFamily="34" charset="0"/>
              </a:rPr>
              <a:t>             -  Compartido para entornos CERT y PRE con </a:t>
            </a:r>
            <a:r>
              <a:rPr lang="es-ES" sz="1600" b="0" i="0" dirty="0" err="1">
                <a:solidFill>
                  <a:srgbClr val="242424"/>
                </a:solidFill>
                <a:effectLst/>
                <a:latin typeface="Segoe UI" panose="020B0502040204020203" pitchFamily="34" charset="0"/>
              </a:rPr>
              <a:t>Buckets</a:t>
            </a:r>
            <a:endParaRPr lang="es-ES" sz="1600" b="0" i="0" dirty="0">
              <a:solidFill>
                <a:srgbClr val="242424"/>
              </a:solidFill>
              <a:effectLst/>
              <a:latin typeface="Segoe UI" panose="020B0502040204020203" pitchFamily="34" charset="0"/>
            </a:endParaRPr>
          </a:p>
          <a:p>
            <a:pPr algn="l"/>
            <a:r>
              <a:rPr lang="es-ES" sz="1600" dirty="0">
                <a:solidFill>
                  <a:srgbClr val="242424"/>
                </a:solidFill>
                <a:latin typeface="Segoe UI" panose="020B0502040204020203" pitchFamily="34" charset="0"/>
              </a:rPr>
              <a:t>             -  Dedicado para entorno de PRO.</a:t>
            </a:r>
            <a:endParaRPr lang="es-ES" sz="1600" b="0" i="0" dirty="0">
              <a:solidFill>
                <a:srgbClr val="242424"/>
              </a:solidFill>
              <a:effectLst/>
              <a:latin typeface="Segoe UI" panose="020B0502040204020203" pitchFamily="34" charset="0"/>
            </a:endParaRPr>
          </a:p>
          <a:p>
            <a:pPr algn="l"/>
            <a:endParaRPr lang="es-ES" sz="1600" b="0" i="0" dirty="0">
              <a:solidFill>
                <a:srgbClr val="242424"/>
              </a:solidFill>
              <a:effectLst/>
              <a:latin typeface="Segoe UI" panose="020B0502040204020203" pitchFamily="34" charset="0"/>
            </a:endParaRPr>
          </a:p>
          <a:p>
            <a:pPr algn="l"/>
            <a:r>
              <a:rPr lang="en-US" sz="1600" b="1" dirty="0" err="1">
                <a:solidFill>
                  <a:srgbClr val="242424"/>
                </a:solidFill>
                <a:effectLst/>
                <a:latin typeface="Segoe UI" panose="020B0502040204020203" pitchFamily="34" charset="0"/>
              </a:rPr>
              <a:t>Compartido</a:t>
            </a:r>
            <a:r>
              <a:rPr lang="en-US" sz="1600" b="1" dirty="0">
                <a:solidFill>
                  <a:srgbClr val="242424"/>
                </a:solidFill>
                <a:effectLst/>
                <a:latin typeface="Segoe UI" panose="020B0502040204020203" pitchFamily="34" charset="0"/>
              </a:rPr>
              <a:t> (Shared Connectors)</a:t>
            </a:r>
            <a:r>
              <a:rPr lang="en-US" sz="1600" dirty="0">
                <a:solidFill>
                  <a:srgbClr val="242424"/>
                </a:solidFill>
                <a:effectLst/>
                <a:latin typeface="Segoe UI" panose="020B0502040204020203" pitchFamily="34" charset="0"/>
              </a:rPr>
              <a:t> = </a:t>
            </a:r>
            <a:r>
              <a:rPr lang="en-US" sz="1600" dirty="0">
                <a:solidFill>
                  <a:srgbClr val="000000"/>
                </a:solidFill>
                <a:effectLst/>
                <a:latin typeface="Segoe UI" panose="020B0502040204020203" pitchFamily="34" charset="0"/>
              </a:rPr>
              <a:t>Shared Infra between different clients</a:t>
            </a:r>
            <a:r>
              <a:rPr lang="en-US" sz="1600" dirty="0">
                <a:solidFill>
                  <a:srgbClr val="242424"/>
                </a:solidFill>
                <a:effectLst/>
                <a:latin typeface="Segoe UI" panose="020B0502040204020203" pitchFamily="34" charset="0"/>
              </a:rPr>
              <a:t> - </a:t>
            </a:r>
            <a:r>
              <a:rPr lang="en-US" sz="1600" dirty="0">
                <a:solidFill>
                  <a:srgbClr val="000000"/>
                </a:solidFill>
                <a:effectLst/>
                <a:latin typeface="Segoe UI" panose="020B0502040204020203" pitchFamily="34" charset="0"/>
              </a:rPr>
              <a:t>Standard Connectivity. Only for S3 Applications with Standard performance</a:t>
            </a:r>
            <a:endParaRPr lang="en-US" sz="1400" dirty="0">
              <a:solidFill>
                <a:srgbClr val="242424"/>
              </a:solidFill>
              <a:effectLst/>
              <a:latin typeface="Segoe UI" panose="020B0502040204020203" pitchFamily="34" charset="0"/>
            </a:endParaRPr>
          </a:p>
          <a:p>
            <a:pPr algn="l"/>
            <a:r>
              <a:rPr lang="en-US" sz="1600" dirty="0">
                <a:solidFill>
                  <a:srgbClr val="242424"/>
                </a:solidFill>
                <a:effectLst/>
                <a:latin typeface="Segoe UI" panose="020B0502040204020203" pitchFamily="34" charset="0"/>
              </a:rPr>
              <a:t> </a:t>
            </a:r>
            <a:r>
              <a:rPr lang="en-US" sz="1600" b="1" dirty="0" err="1">
                <a:solidFill>
                  <a:srgbClr val="242424"/>
                </a:solidFill>
                <a:effectLst/>
                <a:latin typeface="Segoe UI" panose="020B0502040204020203" pitchFamily="34" charset="0"/>
              </a:rPr>
              <a:t>Dedicado</a:t>
            </a:r>
            <a:r>
              <a:rPr lang="en-US" sz="1600" b="1" dirty="0">
                <a:solidFill>
                  <a:srgbClr val="242424"/>
                </a:solidFill>
                <a:effectLst/>
                <a:latin typeface="Segoe UI" panose="020B0502040204020203" pitchFamily="34" charset="0"/>
              </a:rPr>
              <a:t> (Dedicated Connectors) </a:t>
            </a:r>
            <a:r>
              <a:rPr lang="en-US" sz="1600" dirty="0">
                <a:solidFill>
                  <a:srgbClr val="242424"/>
                </a:solidFill>
                <a:effectLst/>
                <a:latin typeface="Segoe UI" panose="020B0502040204020203" pitchFamily="34" charset="0"/>
              </a:rPr>
              <a:t>= Exclusive Infra only for a specific client. For this type of connectivity, a previous approval (Director) is a must. It is only recommended for applications with very high performance (Only NFS).</a:t>
            </a:r>
            <a:endParaRPr lang="en-US" sz="1400" dirty="0">
              <a:solidFill>
                <a:srgbClr val="242424"/>
              </a:solidFill>
              <a:effectLst/>
              <a:latin typeface="Segoe UI" panose="020B0502040204020203" pitchFamily="34" charset="0"/>
            </a:endParaRPr>
          </a:p>
          <a:p>
            <a:pPr algn="l"/>
            <a:endParaRPr lang="es-ES" sz="1600" dirty="0">
              <a:solidFill>
                <a:srgbClr val="242424"/>
              </a:solidFill>
              <a:latin typeface="Segoe UI" panose="020B0502040204020203" pitchFamily="34" charset="0"/>
            </a:endParaRPr>
          </a:p>
          <a:p>
            <a:pPr algn="l"/>
            <a:endParaRPr lang="es-ES" sz="1600" b="0" i="0" dirty="0">
              <a:solidFill>
                <a:srgbClr val="242424"/>
              </a:solidFill>
              <a:effectLst/>
              <a:latin typeface="Segoe UI" panose="020B0502040204020203" pitchFamily="34" charset="0"/>
            </a:endParaRPr>
          </a:p>
          <a:p>
            <a:pPr algn="l"/>
            <a:r>
              <a:rPr lang="es-ES" sz="1600" b="1" i="0" dirty="0">
                <a:solidFill>
                  <a:srgbClr val="242424"/>
                </a:solidFill>
                <a:effectLst/>
                <a:latin typeface="Segoe UI" panose="020B0502040204020203" pitchFamily="34" charset="0"/>
              </a:rPr>
              <a:t>Número de S3</a:t>
            </a:r>
            <a:r>
              <a:rPr lang="es-ES" sz="1600" b="0" i="0" dirty="0">
                <a:solidFill>
                  <a:srgbClr val="242424"/>
                </a:solidFill>
                <a:effectLst/>
                <a:latin typeface="Segoe UI" panose="020B0502040204020203" pitchFamily="34" charset="0"/>
              </a:rPr>
              <a:t> : CERT, PRE y PRO</a:t>
            </a:r>
          </a:p>
          <a:p>
            <a:pPr algn="l"/>
            <a:endParaRPr lang="es-ES" sz="1600" dirty="0">
              <a:solidFill>
                <a:srgbClr val="242424"/>
              </a:solidFill>
              <a:latin typeface="Segoe UI" panose="020B0502040204020203" pitchFamily="34" charset="0"/>
            </a:endParaRPr>
          </a:p>
          <a:p>
            <a:pPr algn="l"/>
            <a:r>
              <a:rPr lang="es-ES" sz="1600" b="1" i="0" dirty="0">
                <a:solidFill>
                  <a:srgbClr val="242424"/>
                </a:solidFill>
                <a:effectLst/>
                <a:latin typeface="Segoe UI" panose="020B0502040204020203" pitchFamily="34" charset="0"/>
              </a:rPr>
              <a:t>Tamaño estándar:</a:t>
            </a:r>
          </a:p>
          <a:p>
            <a:pPr algn="l"/>
            <a:r>
              <a:rPr lang="es-ES" sz="1600" b="1" dirty="0">
                <a:solidFill>
                  <a:srgbClr val="242424"/>
                </a:solidFill>
                <a:latin typeface="Segoe UI" panose="020B0502040204020203" pitchFamily="34" charset="0"/>
              </a:rPr>
              <a:t>                 - </a:t>
            </a:r>
            <a:r>
              <a:rPr lang="es-ES" sz="1600" b="1" i="0" dirty="0">
                <a:solidFill>
                  <a:srgbClr val="242424"/>
                </a:solidFill>
                <a:effectLst/>
                <a:latin typeface="Segoe UI" panose="020B0502040204020203" pitchFamily="34" charset="0"/>
              </a:rPr>
              <a:t> </a:t>
            </a:r>
            <a:r>
              <a:rPr lang="es-ES" sz="1600" b="0" i="0" dirty="0">
                <a:solidFill>
                  <a:srgbClr val="242424"/>
                </a:solidFill>
                <a:effectLst/>
                <a:latin typeface="Segoe UI" panose="020B0502040204020203" pitchFamily="34" charset="0"/>
              </a:rPr>
              <a:t>512 MB para CERT </a:t>
            </a:r>
            <a:r>
              <a:rPr lang="es-ES" sz="1600" b="0" i="0">
                <a:solidFill>
                  <a:srgbClr val="242424"/>
                </a:solidFill>
                <a:effectLst/>
                <a:latin typeface="Segoe UI" panose="020B0502040204020203" pitchFamily="34" charset="0"/>
              </a:rPr>
              <a:t>y pre(</a:t>
            </a:r>
            <a:r>
              <a:rPr lang="es-ES" sz="1600" b="0" i="0" dirty="0">
                <a:solidFill>
                  <a:srgbClr val="242424"/>
                </a:solidFill>
                <a:effectLst/>
                <a:latin typeface="Segoe UI" panose="020B0502040204020203" pitchFamily="34" charset="0"/>
              </a:rPr>
              <a:t>compartido para ambos).</a:t>
            </a:r>
          </a:p>
          <a:p>
            <a:pPr algn="l"/>
            <a:r>
              <a:rPr lang="es-ES" sz="1600" dirty="0">
                <a:solidFill>
                  <a:srgbClr val="242424"/>
                </a:solidFill>
                <a:latin typeface="Segoe UI" panose="020B0502040204020203" pitchFamily="34" charset="0"/>
              </a:rPr>
              <a:t>                 -  1 TB para PRO.</a:t>
            </a:r>
            <a:r>
              <a:rPr lang="es-ES" sz="1600" b="0" i="0" dirty="0">
                <a:solidFill>
                  <a:srgbClr val="242424"/>
                </a:solidFill>
                <a:effectLst/>
                <a:latin typeface="Segoe UI" panose="020B0502040204020203" pitchFamily="34" charset="0"/>
              </a:rPr>
              <a:t>.</a:t>
            </a:r>
          </a:p>
          <a:p>
            <a:pPr algn="l"/>
            <a:r>
              <a:rPr lang="en-US" sz="1800" dirty="0">
                <a:solidFill>
                  <a:srgbClr val="242424"/>
                </a:solidFill>
                <a:effectLst/>
                <a:latin typeface="Segoe UI" panose="020B0502040204020203" pitchFamily="34" charset="0"/>
              </a:rPr>
              <a:t> </a:t>
            </a:r>
            <a:endParaRPr lang="es-ES" sz="1600" dirty="0">
              <a:solidFill>
                <a:srgbClr val="242424"/>
              </a:solidFill>
              <a:latin typeface="Segoe UI" panose="020B0502040204020203" pitchFamily="34" charset="0"/>
            </a:endParaRPr>
          </a:p>
          <a:p>
            <a:pPr algn="l"/>
            <a:endParaRPr lang="es-ES" sz="1600" dirty="0">
              <a:solidFill>
                <a:srgbClr val="242424"/>
              </a:solidFill>
              <a:latin typeface="Segoe UI" panose="020B0502040204020203" pitchFamily="34" charset="0"/>
            </a:endParaRPr>
          </a:p>
          <a:p>
            <a:pPr algn="l"/>
            <a:r>
              <a:rPr lang="es-ES" sz="1600" dirty="0">
                <a:solidFill>
                  <a:srgbClr val="242424"/>
                </a:solidFill>
                <a:latin typeface="Segoe UI" panose="020B0502040204020203" pitchFamily="34" charset="0"/>
              </a:rPr>
              <a:t>NOTA: Desde proyecto se indicará i</a:t>
            </a:r>
            <a:r>
              <a:rPr lang="es-ES" sz="1600" b="0" i="0" dirty="0">
                <a:solidFill>
                  <a:srgbClr val="242424"/>
                </a:solidFill>
                <a:effectLst/>
                <a:latin typeface="Segoe UI" panose="020B0502040204020203" pitchFamily="34" charset="0"/>
              </a:rPr>
              <a:t>nformación de contacto (Nombre y Apellidos, Email y User ID del responsable).</a:t>
            </a:r>
          </a:p>
          <a:p>
            <a:endParaRPr lang="es-ES" altLang="es-ES" sz="1477" dirty="0">
              <a:solidFill>
                <a:srgbClr val="000000"/>
              </a:solidFill>
              <a:latin typeface="Calibri" panose="020F0502020204030204" pitchFamily="34" charset="0"/>
            </a:endParaRPr>
          </a:p>
          <a:p>
            <a:pPr marL="263776" indent="-263776" defTabSz="844083">
              <a:buFontTx/>
              <a:buChar char="-"/>
            </a:pPr>
            <a:endParaRPr lang="es-ES" altLang="es-ES" sz="1477" dirty="0">
              <a:solidFill>
                <a:srgbClr val="000000"/>
              </a:solidFill>
              <a:latin typeface="Calibri" panose="020F0502020204030204" pitchFamily="34" charset="0"/>
            </a:endParaRPr>
          </a:p>
          <a:p>
            <a:pPr marL="263776" indent="-263776" defTabSz="844083">
              <a:buFontTx/>
              <a:buChar char="-"/>
            </a:pPr>
            <a:endParaRPr lang="es-ES" altLang="es-ES" sz="1477" dirty="0">
              <a:solidFill>
                <a:srgbClr val="000000"/>
              </a:solidFill>
              <a:latin typeface="Calibri" panose="020F0502020204030204" pitchFamily="34" charset="0"/>
            </a:endParaRPr>
          </a:p>
          <a:p>
            <a:pPr defTabSz="844083"/>
            <a:endParaRPr lang="es-ES" altLang="es-ES" sz="1477" dirty="0"/>
          </a:p>
        </p:txBody>
      </p:sp>
    </p:spTree>
    <p:extLst>
      <p:ext uri="{BB962C8B-B14F-4D97-AF65-F5344CB8AC3E}">
        <p14:creationId xmlns:p14="http://schemas.microsoft.com/office/powerpoint/2010/main" val="25500759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0" y="42180"/>
            <a:ext cx="8928514"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Hardware, Software y Alta Disponibilidad</a:t>
            </a:r>
          </a:p>
        </p:txBody>
      </p:sp>
      <p:sp>
        <p:nvSpPr>
          <p:cNvPr id="2" name="Rectángulo 1">
            <a:extLst>
              <a:ext uri="{FF2B5EF4-FFF2-40B4-BE49-F238E27FC236}">
                <a16:creationId xmlns:a16="http://schemas.microsoft.com/office/drawing/2014/main" id="{3F380023-6E84-4AD7-B1FB-64A83492B468}"/>
              </a:ext>
            </a:extLst>
          </p:cNvPr>
          <p:cNvSpPr/>
          <p:nvPr/>
        </p:nvSpPr>
        <p:spPr>
          <a:xfrm>
            <a:off x="489364" y="663304"/>
            <a:ext cx="11125200" cy="701731"/>
          </a:xfrm>
          <a:prstGeom prst="rect">
            <a:avLst/>
          </a:prstGeom>
        </p:spPr>
        <p:txBody>
          <a:bodyPr wrap="square">
            <a:spAutoFit/>
          </a:bodyPr>
          <a:lstStyle/>
          <a:p>
            <a:pPr defTabSz="844083"/>
            <a:endParaRPr lang="es-ES" altLang="es-ES" dirty="0">
              <a:solidFill>
                <a:schemeClr val="bg1">
                  <a:lumMod val="50000"/>
                </a:schemeClr>
              </a:solidFill>
              <a:latin typeface="Arial" charset="0"/>
              <a:cs typeface="Arial" charset="0"/>
            </a:endParaRPr>
          </a:p>
          <a:p>
            <a:pPr fontAlgn="t">
              <a:spcBef>
                <a:spcPct val="20000"/>
              </a:spcBef>
              <a:spcAft>
                <a:spcPct val="0"/>
              </a:spcAft>
              <a:defRPr/>
            </a:pPr>
            <a:endParaRPr lang="it-IT" dirty="0">
              <a:solidFill>
                <a:schemeClr val="bg1">
                  <a:lumMod val="50000"/>
                </a:schemeClr>
              </a:solidFill>
              <a:latin typeface="Arial" charset="0"/>
              <a:cs typeface="Arial" charset="0"/>
            </a:endParaRPr>
          </a:p>
        </p:txBody>
      </p:sp>
      <p:sp>
        <p:nvSpPr>
          <p:cNvPr id="11" name="Rectangle 1">
            <a:extLst>
              <a:ext uri="{FF2B5EF4-FFF2-40B4-BE49-F238E27FC236}">
                <a16:creationId xmlns:a16="http://schemas.microsoft.com/office/drawing/2014/main" id="{4511CB86-772B-4F71-84F1-1A2D4ED0C004}"/>
              </a:ext>
            </a:extLst>
          </p:cNvPr>
          <p:cNvSpPr>
            <a:spLocks noChangeArrowheads="1"/>
          </p:cNvSpPr>
          <p:nvPr/>
        </p:nvSpPr>
        <p:spPr bwMode="auto">
          <a:xfrm>
            <a:off x="2577376" y="3260294"/>
            <a:ext cx="170525" cy="34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4406" tIns="42203" rIns="84406" bIns="42203" numCol="1" anchor="ctr" anchorCtr="0" compatLnSpc="1">
            <a:prstTxWarp prst="textNoShape">
              <a:avLst/>
            </a:prstTxWarp>
            <a:spAutoFit/>
          </a:bodyPr>
          <a:lstStyle/>
          <a:p>
            <a:endParaRPr lang="es-ES" sz="1662" dirty="0"/>
          </a:p>
        </p:txBody>
      </p:sp>
      <p:sp>
        <p:nvSpPr>
          <p:cNvPr id="15" name="Rectangle 156">
            <a:extLst>
              <a:ext uri="{FF2B5EF4-FFF2-40B4-BE49-F238E27FC236}">
                <a16:creationId xmlns:a16="http://schemas.microsoft.com/office/drawing/2014/main" id="{CBDC93E5-958C-4782-9262-8EE90CDE8682}"/>
              </a:ext>
            </a:extLst>
          </p:cNvPr>
          <p:cNvSpPr>
            <a:spLocks noChangeArrowheads="1"/>
          </p:cNvSpPr>
          <p:nvPr/>
        </p:nvSpPr>
        <p:spPr bwMode="auto">
          <a:xfrm>
            <a:off x="994280" y="663304"/>
            <a:ext cx="10620284" cy="4325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844083"/>
            <a:r>
              <a:rPr lang="es-ES" altLang="es-ES" sz="923" dirty="0">
                <a:solidFill>
                  <a:srgbClr val="000000"/>
                </a:solidFill>
                <a:latin typeface="Calibri" panose="020F0502020204030204" pitchFamily="34" charset="0"/>
              </a:rPr>
              <a:t> </a:t>
            </a:r>
            <a:endParaRPr lang="es-ES" altLang="es-ES" sz="1477" dirty="0">
              <a:solidFill>
                <a:srgbClr val="000000"/>
              </a:solidFill>
              <a:latin typeface="Calibri" panose="020F0502020204030204" pitchFamily="34" charset="0"/>
            </a:endParaRPr>
          </a:p>
          <a:p>
            <a:pPr lvl="0">
              <a:buClrTx/>
            </a:pPr>
            <a:r>
              <a:rPr lang="es-ES" altLang="es-ES" sz="2000" u="sng" dirty="0">
                <a:solidFill>
                  <a:srgbClr val="808080"/>
                </a:solidFill>
                <a:latin typeface="Arial"/>
              </a:rPr>
              <a:t>Almacenamiento Volumen Persistente Multi Región</a:t>
            </a:r>
            <a:r>
              <a:rPr lang="es-ES" altLang="es-ES" sz="2000" dirty="0">
                <a:solidFill>
                  <a:srgbClr val="808080"/>
                </a:solidFill>
                <a:latin typeface="Arial"/>
              </a:rPr>
              <a:t>: </a:t>
            </a:r>
          </a:p>
          <a:p>
            <a:pPr lvl="0">
              <a:buClrTx/>
            </a:pPr>
            <a:endParaRPr lang="es-ES" altLang="es-ES" sz="1477" dirty="0">
              <a:solidFill>
                <a:srgbClr val="808080"/>
              </a:solidFill>
              <a:latin typeface="Arial"/>
            </a:endParaRPr>
          </a:p>
          <a:p>
            <a:pPr algn="l"/>
            <a:r>
              <a:rPr lang="es-ES" sz="1600" b="1" i="0" dirty="0">
                <a:solidFill>
                  <a:srgbClr val="242424"/>
                </a:solidFill>
                <a:effectLst/>
                <a:latin typeface="Segoe UI" panose="020B0502040204020203" pitchFamily="34" charset="0"/>
              </a:rPr>
              <a:t>Tipo de Volumen </a:t>
            </a:r>
            <a:r>
              <a:rPr lang="es-ES" sz="1600" b="0" i="0" dirty="0">
                <a:solidFill>
                  <a:srgbClr val="242424"/>
                </a:solidFill>
                <a:effectLst/>
                <a:latin typeface="Segoe UI" panose="020B0502040204020203" pitchFamily="34" charset="0"/>
              </a:rPr>
              <a:t>:  </a:t>
            </a:r>
          </a:p>
          <a:p>
            <a:pPr algn="l"/>
            <a:endParaRPr lang="es-ES" sz="1600" dirty="0">
              <a:solidFill>
                <a:srgbClr val="242424"/>
              </a:solidFill>
              <a:latin typeface="Segoe UI" panose="020B0502040204020203" pitchFamily="34" charset="0"/>
            </a:endParaRPr>
          </a:p>
          <a:p>
            <a:pPr algn="l"/>
            <a:r>
              <a:rPr lang="es-ES" sz="1600" b="0" i="0" dirty="0">
                <a:solidFill>
                  <a:srgbClr val="242424"/>
                </a:solidFill>
                <a:effectLst/>
                <a:latin typeface="Segoe UI" panose="020B0502040204020203" pitchFamily="34" charset="0"/>
              </a:rPr>
              <a:t>             -  Compartido para entornos CERT , TEST y PRE</a:t>
            </a:r>
          </a:p>
          <a:p>
            <a:pPr algn="l"/>
            <a:r>
              <a:rPr lang="es-ES" sz="1600" dirty="0">
                <a:solidFill>
                  <a:srgbClr val="242424"/>
                </a:solidFill>
                <a:latin typeface="Segoe UI" panose="020B0502040204020203" pitchFamily="34" charset="0"/>
              </a:rPr>
              <a:t>             -  Dedicado para entorno de PRO.</a:t>
            </a:r>
            <a:endParaRPr lang="es-ES" sz="1600" b="0" i="0" dirty="0">
              <a:solidFill>
                <a:srgbClr val="242424"/>
              </a:solidFill>
              <a:effectLst/>
              <a:latin typeface="Segoe UI" panose="020B0502040204020203" pitchFamily="34" charset="0"/>
            </a:endParaRPr>
          </a:p>
          <a:p>
            <a:pPr algn="l"/>
            <a:endParaRPr lang="es-ES" sz="1600" b="0" i="0" dirty="0">
              <a:solidFill>
                <a:srgbClr val="242424"/>
              </a:solidFill>
              <a:effectLst/>
              <a:latin typeface="Segoe UI" panose="020B0502040204020203" pitchFamily="34" charset="0"/>
            </a:endParaRPr>
          </a:p>
          <a:p>
            <a:pPr algn="l"/>
            <a:r>
              <a:rPr lang="es-ES" sz="1600" b="1" i="0" dirty="0">
                <a:solidFill>
                  <a:srgbClr val="242424"/>
                </a:solidFill>
                <a:effectLst/>
                <a:latin typeface="Segoe UI" panose="020B0502040204020203" pitchFamily="34" charset="0"/>
              </a:rPr>
              <a:t>Tamaño estándar:</a:t>
            </a:r>
          </a:p>
          <a:p>
            <a:pPr algn="l"/>
            <a:r>
              <a:rPr lang="es-ES" sz="1600" b="1" dirty="0">
                <a:solidFill>
                  <a:srgbClr val="242424"/>
                </a:solidFill>
                <a:latin typeface="Segoe UI" panose="020B0502040204020203" pitchFamily="34" charset="0"/>
              </a:rPr>
              <a:t>                 - </a:t>
            </a:r>
            <a:r>
              <a:rPr lang="es-ES" sz="1600" b="1" i="0" dirty="0">
                <a:solidFill>
                  <a:srgbClr val="242424"/>
                </a:solidFill>
                <a:effectLst/>
                <a:latin typeface="Segoe UI" panose="020B0502040204020203" pitchFamily="34" charset="0"/>
              </a:rPr>
              <a:t> </a:t>
            </a:r>
            <a:r>
              <a:rPr lang="es-ES" sz="1600" b="0" i="0" dirty="0">
                <a:solidFill>
                  <a:srgbClr val="242424"/>
                </a:solidFill>
                <a:effectLst/>
                <a:latin typeface="Segoe UI" panose="020B0502040204020203" pitchFamily="34" charset="0"/>
              </a:rPr>
              <a:t>512 MB para CERT y pre(compartido para ambos).</a:t>
            </a:r>
          </a:p>
          <a:p>
            <a:pPr algn="l"/>
            <a:r>
              <a:rPr lang="es-ES" sz="1600" dirty="0">
                <a:solidFill>
                  <a:srgbClr val="242424"/>
                </a:solidFill>
                <a:latin typeface="Segoe UI" panose="020B0502040204020203" pitchFamily="34" charset="0"/>
              </a:rPr>
              <a:t>                 -  2 TB para PRO.</a:t>
            </a:r>
            <a:r>
              <a:rPr lang="es-ES" sz="1600" b="0" i="0" dirty="0">
                <a:solidFill>
                  <a:srgbClr val="242424"/>
                </a:solidFill>
                <a:effectLst/>
                <a:latin typeface="Segoe UI" panose="020B0502040204020203" pitchFamily="34" charset="0"/>
              </a:rPr>
              <a:t>.</a:t>
            </a:r>
          </a:p>
          <a:p>
            <a:pPr algn="l"/>
            <a:r>
              <a:rPr lang="en-US" sz="1800" dirty="0">
                <a:solidFill>
                  <a:srgbClr val="242424"/>
                </a:solidFill>
                <a:effectLst/>
                <a:latin typeface="Segoe UI" panose="020B0502040204020203" pitchFamily="34" charset="0"/>
              </a:rPr>
              <a:t> </a:t>
            </a:r>
            <a:endParaRPr lang="es-ES" sz="1600" dirty="0">
              <a:solidFill>
                <a:srgbClr val="242424"/>
              </a:solidFill>
              <a:latin typeface="Segoe UI" panose="020B0502040204020203" pitchFamily="34" charset="0"/>
            </a:endParaRPr>
          </a:p>
          <a:p>
            <a:pPr algn="l"/>
            <a:endParaRPr lang="es-ES" sz="1600" dirty="0">
              <a:solidFill>
                <a:srgbClr val="242424"/>
              </a:solidFill>
              <a:latin typeface="Segoe UI" panose="020B0502040204020203" pitchFamily="34" charset="0"/>
            </a:endParaRPr>
          </a:p>
          <a:p>
            <a:pPr algn="l"/>
            <a:r>
              <a:rPr lang="es-ES" sz="1600" dirty="0">
                <a:solidFill>
                  <a:srgbClr val="242424"/>
                </a:solidFill>
                <a:latin typeface="Segoe UI" panose="020B0502040204020203" pitchFamily="34" charset="0"/>
              </a:rPr>
              <a:t>NOTA: Desde proyecto se indicará i</a:t>
            </a:r>
            <a:r>
              <a:rPr lang="es-ES" sz="1600" b="0" i="0" dirty="0">
                <a:solidFill>
                  <a:srgbClr val="242424"/>
                </a:solidFill>
                <a:effectLst/>
                <a:latin typeface="Segoe UI" panose="020B0502040204020203" pitchFamily="34" charset="0"/>
              </a:rPr>
              <a:t>nformación de contacto (Nombre y Apellidos, Email y User ID del responsable).</a:t>
            </a:r>
          </a:p>
          <a:p>
            <a:endParaRPr lang="es-ES" altLang="es-ES" sz="1477" dirty="0">
              <a:solidFill>
                <a:srgbClr val="000000"/>
              </a:solidFill>
              <a:latin typeface="Calibri" panose="020F0502020204030204" pitchFamily="34" charset="0"/>
            </a:endParaRPr>
          </a:p>
          <a:p>
            <a:pPr marL="263776" indent="-263776" defTabSz="844083">
              <a:buFontTx/>
              <a:buChar char="-"/>
            </a:pPr>
            <a:endParaRPr lang="es-ES" altLang="es-ES" sz="1477" dirty="0">
              <a:solidFill>
                <a:srgbClr val="000000"/>
              </a:solidFill>
              <a:latin typeface="Calibri" panose="020F0502020204030204" pitchFamily="34" charset="0"/>
            </a:endParaRPr>
          </a:p>
          <a:p>
            <a:pPr marL="263776" indent="-263776" defTabSz="844083">
              <a:buFontTx/>
              <a:buChar char="-"/>
            </a:pPr>
            <a:endParaRPr lang="es-ES" altLang="es-ES" sz="1477" dirty="0">
              <a:solidFill>
                <a:srgbClr val="000000"/>
              </a:solidFill>
              <a:latin typeface="Calibri" panose="020F0502020204030204" pitchFamily="34" charset="0"/>
            </a:endParaRPr>
          </a:p>
          <a:p>
            <a:pPr defTabSz="844083"/>
            <a:endParaRPr lang="es-ES" altLang="es-ES" sz="1477" dirty="0"/>
          </a:p>
        </p:txBody>
      </p:sp>
      <p:pic>
        <p:nvPicPr>
          <p:cNvPr id="3" name="Picture 662" descr="MC900434391[1]">
            <a:extLst>
              <a:ext uri="{FF2B5EF4-FFF2-40B4-BE49-F238E27FC236}">
                <a16:creationId xmlns:a16="http://schemas.microsoft.com/office/drawing/2014/main" id="{BC8AA496-767E-349E-9710-FC1D7D5C7D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86898" y="120511"/>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56358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solidFill>
                  <a:srgbClr val="EB0000"/>
                </a:solidFill>
                <a:ea typeface="Segoe UI" panose="020B0502040204020203" pitchFamily="34" charset="0"/>
                <a:cs typeface="Segoe UI" panose="020B0502040204020203" pitchFamily="34" charset="0"/>
              </a:rPr>
              <a:t>Referencias</a:t>
            </a:r>
          </a:p>
          <a:p>
            <a:endParaRPr lang="es-ES" dirty="0"/>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08</a:t>
            </a:r>
          </a:p>
        </p:txBody>
      </p:sp>
    </p:spTree>
    <p:extLst>
      <p:ext uri="{BB962C8B-B14F-4D97-AF65-F5344CB8AC3E}">
        <p14:creationId xmlns:p14="http://schemas.microsoft.com/office/powerpoint/2010/main" val="3911371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oup 28"/>
          <p:cNvGraphicFramePr>
            <a:graphicFrameLocks/>
          </p:cNvGraphicFramePr>
          <p:nvPr>
            <p:extLst>
              <p:ext uri="{D42A27DB-BD31-4B8C-83A1-F6EECF244321}">
                <p14:modId xmlns:p14="http://schemas.microsoft.com/office/powerpoint/2010/main" val="1385317081"/>
              </p:ext>
            </p:extLst>
          </p:nvPr>
        </p:nvGraphicFramePr>
        <p:xfrm>
          <a:off x="443354" y="1092712"/>
          <a:ext cx="11508015" cy="4453883"/>
        </p:xfrm>
        <a:graphic>
          <a:graphicData uri="http://schemas.openxmlformats.org/drawingml/2006/table">
            <a:tbl>
              <a:tblPr/>
              <a:tblGrid>
                <a:gridCol w="1319229">
                  <a:extLst>
                    <a:ext uri="{9D8B030D-6E8A-4147-A177-3AD203B41FA5}">
                      <a16:colId xmlns:a16="http://schemas.microsoft.com/office/drawing/2014/main" val="20000"/>
                    </a:ext>
                  </a:extLst>
                </a:gridCol>
                <a:gridCol w="4752517">
                  <a:extLst>
                    <a:ext uri="{9D8B030D-6E8A-4147-A177-3AD203B41FA5}">
                      <a16:colId xmlns:a16="http://schemas.microsoft.com/office/drawing/2014/main" val="20001"/>
                    </a:ext>
                  </a:extLst>
                </a:gridCol>
                <a:gridCol w="2020820">
                  <a:extLst>
                    <a:ext uri="{9D8B030D-6E8A-4147-A177-3AD203B41FA5}">
                      <a16:colId xmlns:a16="http://schemas.microsoft.com/office/drawing/2014/main" val="20002"/>
                    </a:ext>
                  </a:extLst>
                </a:gridCol>
                <a:gridCol w="3415449">
                  <a:extLst>
                    <a:ext uri="{9D8B030D-6E8A-4147-A177-3AD203B41FA5}">
                      <a16:colId xmlns:a16="http://schemas.microsoft.com/office/drawing/2014/main" val="20003"/>
                    </a:ext>
                  </a:extLst>
                </a:gridCol>
              </a:tblGrid>
              <a:tr h="24375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cap="none" normalizeH="0" baseline="0" dirty="0">
                          <a:ln>
                            <a:noFill/>
                          </a:ln>
                          <a:solidFill>
                            <a:schemeClr val="bg1"/>
                          </a:solidFill>
                          <a:effectLst/>
                          <a:latin typeface="Arial" charset="0"/>
                        </a:rPr>
                        <a:t>Ref</a:t>
                      </a:r>
                    </a:p>
                  </a:txBody>
                  <a:tcPr marL="71993" marR="71993" marT="71929" marB="719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kern="1200" cap="none" normalizeH="0" baseline="0" dirty="0" err="1">
                          <a:ln>
                            <a:noFill/>
                          </a:ln>
                          <a:solidFill>
                            <a:schemeClr val="bg1"/>
                          </a:solidFill>
                          <a:effectLst/>
                          <a:latin typeface="Arial" charset="0"/>
                          <a:ea typeface="+mn-ea"/>
                          <a:cs typeface="+mn-cs"/>
                        </a:rPr>
                        <a:t>Nombre</a:t>
                      </a:r>
                      <a:r>
                        <a:rPr kumimoji="0" lang="en-GB" sz="1300" b="1" i="0" u="none" strike="noStrike" kern="1200" cap="none" normalizeH="0" baseline="0" dirty="0">
                          <a:ln>
                            <a:noFill/>
                          </a:ln>
                          <a:solidFill>
                            <a:schemeClr val="bg1"/>
                          </a:solidFill>
                          <a:effectLst/>
                          <a:latin typeface="Arial" charset="0"/>
                          <a:ea typeface="+mn-ea"/>
                          <a:cs typeface="+mn-cs"/>
                        </a:rPr>
                        <a:t> y </a:t>
                      </a:r>
                      <a:r>
                        <a:rPr kumimoji="0" lang="en-GB" sz="1300" b="1" i="0" u="none" strike="noStrike" kern="1200" cap="none" normalizeH="0" baseline="0" dirty="0" err="1">
                          <a:ln>
                            <a:noFill/>
                          </a:ln>
                          <a:solidFill>
                            <a:schemeClr val="bg1"/>
                          </a:solidFill>
                          <a:effectLst/>
                          <a:latin typeface="Arial" charset="0"/>
                          <a:ea typeface="+mn-ea"/>
                          <a:cs typeface="+mn-cs"/>
                        </a:rPr>
                        <a:t>Versión</a:t>
                      </a:r>
                      <a:endParaRPr kumimoji="0" lang="en-GB" sz="1300" b="1" i="0" u="none" strike="noStrike" kern="1200" cap="none" normalizeH="0" baseline="0" dirty="0">
                        <a:ln>
                          <a:noFill/>
                        </a:ln>
                        <a:solidFill>
                          <a:schemeClr val="bg1"/>
                        </a:solidFill>
                        <a:effectLst/>
                        <a:latin typeface="Arial"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kern="1200" cap="none" normalizeH="0" baseline="0" dirty="0" err="1">
                          <a:ln>
                            <a:noFill/>
                          </a:ln>
                          <a:solidFill>
                            <a:schemeClr val="bg1"/>
                          </a:solidFill>
                          <a:effectLst/>
                          <a:latin typeface="Arial" charset="0"/>
                          <a:ea typeface="+mn-ea"/>
                          <a:cs typeface="+mn-cs"/>
                        </a:rPr>
                        <a:t>Documento</a:t>
                      </a:r>
                      <a:endParaRPr kumimoji="0" lang="en-GB" sz="1300" b="1" i="0" u="none" strike="noStrike" kern="1200" cap="none" normalizeH="0" baseline="0" dirty="0">
                        <a:ln>
                          <a:noFill/>
                        </a:ln>
                        <a:solidFill>
                          <a:schemeClr val="bg1"/>
                        </a:solidFill>
                        <a:effectLst/>
                        <a:latin typeface="Arial"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cap="none" normalizeH="0" baseline="0" dirty="0" err="1">
                          <a:ln>
                            <a:noFill/>
                          </a:ln>
                          <a:solidFill>
                            <a:schemeClr val="bg1"/>
                          </a:solidFill>
                          <a:effectLst/>
                          <a:latin typeface="Arial" charset="0"/>
                        </a:rPr>
                        <a:t>Departamento</a:t>
                      </a:r>
                      <a:endParaRPr kumimoji="0" lang="en-GB" sz="1300" b="1" i="0" u="none" strike="noStrike" cap="none" normalizeH="0" baseline="0" dirty="0">
                        <a:ln>
                          <a:noFill/>
                        </a:ln>
                        <a:solidFill>
                          <a:schemeClr val="bg1"/>
                        </a:solidFill>
                        <a:effectLst/>
                        <a:latin typeface="Times New Roman" pitchFamily="18" charset="0"/>
                      </a:endParaRPr>
                    </a:p>
                  </a:txBody>
                  <a:tcPr marL="71993" marR="71993" marT="71929" marB="719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extLst>
                  <a:ext uri="{0D108BD9-81ED-4DB2-BD59-A6C34878D82A}">
                    <a16:rowId xmlns:a16="http://schemas.microsoft.com/office/drawing/2014/main" val="10000"/>
                  </a:ext>
                </a:extLst>
              </a:tr>
              <a:tr h="777746">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rPr>
                        <a:t>[REF-1]</a:t>
                      </a:r>
                    </a:p>
                  </a:txBody>
                  <a:tcPr marL="71993" marR="71993" marT="71929" marB="719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pPr>
                      <a:r>
                        <a:rPr lang="es-ES" sz="1800" b="0" i="0" u="none" strike="noStrike" kern="1200" dirty="0">
                          <a:solidFill>
                            <a:schemeClr val="tx1"/>
                          </a:solidFill>
                          <a:effectLst/>
                          <a:latin typeface="+mn-lt"/>
                          <a:ea typeface="+mn-ea"/>
                          <a:cs typeface="+mn-cs"/>
                          <a:hlinkClick r:id="rId2" tooltip="Descargar"/>
                        </a:rPr>
                        <a:t>20210410 TCA DI Tramitación - Hágase Cliente Santander España ES V.5.2.pptx</a:t>
                      </a:r>
                      <a:endParaRPr kumimoji="0" lang="en-US" sz="1400" b="0" i="0" u="none" strike="noStrike" kern="1200" cap="none" normalizeH="0" baseline="0" dirty="0">
                        <a:ln>
                          <a:noFill/>
                        </a:ln>
                        <a:solidFill>
                          <a:schemeClr val="tx1"/>
                        </a:solidFill>
                        <a:effectLst/>
                        <a:latin typeface="Arial cuerpo"/>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 sz="1800" kern="1200" dirty="0">
                          <a:solidFill>
                            <a:schemeClr val="tx1"/>
                          </a:solidFill>
                          <a:effectLst/>
                          <a:latin typeface="+mn-lt"/>
                          <a:ea typeface="+mn-ea"/>
                          <a:cs typeface="+mn-cs"/>
                        </a:rPr>
                        <a:t>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_tradnl" sz="1800" kern="1200" dirty="0">
                          <a:solidFill>
                            <a:schemeClr val="tx1"/>
                          </a:solidFill>
                          <a:effectLst/>
                          <a:latin typeface="+mn-lt"/>
                          <a:ea typeface="+mn-ea"/>
                          <a:cs typeface="+mn-cs"/>
                        </a:rPr>
                        <a:t>Arquitectura de Dominios</a:t>
                      </a:r>
                    </a:p>
                    <a:p>
                      <a:pPr marL="0" marR="0" lvl="0" indent="0" algn="l" defTabSz="914400" rtl="0" eaLnBrk="1" fontAlgn="base" latinLnBrk="0" hangingPunct="1">
                        <a:lnSpc>
                          <a:spcPts val="2400"/>
                        </a:lnSpc>
                        <a:spcBef>
                          <a:spcPct val="20000"/>
                        </a:spcBef>
                        <a:spcAft>
                          <a:spcPct val="0"/>
                        </a:spcAft>
                        <a:buClrTx/>
                        <a:buSzTx/>
                        <a:buFontTx/>
                        <a:buNone/>
                        <a:tabLst/>
                        <a:defRPr/>
                      </a:pPr>
                      <a:endParaRPr lang="es-ES" sz="1800" kern="1200" dirty="0">
                        <a:solidFill>
                          <a:schemeClr val="tx1"/>
                        </a:solidFill>
                        <a:effectLst/>
                        <a:latin typeface="+mn-lt"/>
                        <a:ea typeface="+mn-ea"/>
                        <a:cs typeface="+mn-cs"/>
                      </a:endParaRPr>
                    </a:p>
                  </a:txBody>
                  <a:tcPr marL="71993" marR="71993" marT="71929" marB="719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9297">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rPr>
                        <a:t>[REF-2]</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lang="es-ES" sz="1800" b="0" i="0" u="sng" kern="1200" dirty="0">
                          <a:solidFill>
                            <a:schemeClr val="tx1"/>
                          </a:solidFill>
                          <a:effectLst/>
                          <a:latin typeface="+mn-lt"/>
                          <a:ea typeface="+mn-ea"/>
                          <a:cs typeface="+mn-cs"/>
                          <a:hlinkClick r:id="rId3" tooltip="Descargar"/>
                        </a:rPr>
                        <a:t>20210410 ASW IMACC-DT-</a:t>
                      </a:r>
                      <a:r>
                        <a:rPr lang="es-ES" sz="1800" b="0" i="0" u="sng" kern="1200" dirty="0" err="1">
                          <a:solidFill>
                            <a:schemeClr val="tx1"/>
                          </a:solidFill>
                          <a:effectLst/>
                          <a:latin typeface="+mn-lt"/>
                          <a:ea typeface="+mn-ea"/>
                          <a:cs typeface="+mn-cs"/>
                          <a:hlinkClick r:id="rId3" tooltip="Descargar"/>
                        </a:rPr>
                        <a:t>Supernet</a:t>
                      </a:r>
                      <a:r>
                        <a:rPr lang="es-ES" sz="1800" b="0" i="0" u="sng" kern="1200" dirty="0">
                          <a:solidFill>
                            <a:schemeClr val="tx1"/>
                          </a:solidFill>
                          <a:effectLst/>
                          <a:latin typeface="+mn-lt"/>
                          <a:ea typeface="+mn-ea"/>
                          <a:cs typeface="+mn-cs"/>
                          <a:hlinkClick r:id="rId3" tooltip="Descargar"/>
                        </a:rPr>
                        <a:t> - Tramitación Hágase Cliente-V4.3.pptx</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endParaRPr kumimoji="0" lang="en-US" sz="1400" b="1" i="0" u="none" strike="noStrike" kern="1200" cap="none" normalizeH="0" baseline="0" noProof="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 sz="1400" kern="1200" dirty="0">
                          <a:solidFill>
                            <a:schemeClr val="tx1"/>
                          </a:solidFill>
                          <a:effectLst/>
                          <a:latin typeface="+mn-lt"/>
                          <a:ea typeface="+mn-ea"/>
                          <a:cs typeface="+mn-cs"/>
                        </a:rPr>
                        <a:t>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_tradnl" sz="1400" kern="1200" dirty="0">
                          <a:solidFill>
                            <a:schemeClr val="tx1"/>
                          </a:solidFill>
                          <a:effectLst/>
                          <a:latin typeface="+mn-lt"/>
                          <a:ea typeface="+mn-ea"/>
                          <a:cs typeface="+mn-cs"/>
                        </a:rPr>
                        <a:t>Arquitectura de Dominios</a:t>
                      </a:r>
                    </a:p>
                    <a:p>
                      <a:pPr marL="0" marR="0" lvl="0" indent="0" algn="l" defTabSz="914400" rtl="0" eaLnBrk="1" fontAlgn="base" latinLnBrk="0" hangingPunct="1">
                        <a:lnSpc>
                          <a:spcPts val="2400"/>
                        </a:lnSpc>
                        <a:spcBef>
                          <a:spcPct val="20000"/>
                        </a:spcBef>
                        <a:spcAft>
                          <a:spcPct val="0"/>
                        </a:spcAft>
                        <a:buClrTx/>
                        <a:buSzTx/>
                        <a:buFontTx/>
                        <a:buNone/>
                        <a:tabLst/>
                        <a:defRPr/>
                      </a:pPr>
                      <a:endParaRPr kumimoji="0" lang="en-US" sz="1400" b="1" i="0" u="none" strike="noStrike" kern="1200" cap="none" normalizeH="0" baseline="0" noProof="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38728640"/>
                  </a:ext>
                </a:extLst>
              </a:tr>
              <a:tr h="437110">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rPr>
                        <a:t>[REF-3]</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hlinkClick r:id="rId4"/>
                        </a:rPr>
                        <a:t>Chatbot </a:t>
                      </a:r>
                      <a:r>
                        <a:rPr kumimoji="0" lang="en-US" sz="1400" b="1" i="0" u="none" strike="noStrike" kern="1200" cap="none" normalizeH="0" baseline="0" dirty="0" err="1">
                          <a:ln>
                            <a:noFill/>
                          </a:ln>
                          <a:solidFill>
                            <a:schemeClr val="tx1"/>
                          </a:solidFill>
                          <a:effectLst/>
                          <a:latin typeface="Arial" pitchFamily="34" charset="0"/>
                          <a:ea typeface="+mn-ea"/>
                          <a:cs typeface="+mn-cs"/>
                          <a:hlinkClick r:id="rId4"/>
                        </a:rPr>
                        <a:t>Inbenta</a:t>
                      </a:r>
                      <a:r>
                        <a:rPr kumimoji="0" lang="en-US" sz="1400" b="1" i="0" u="none" strike="noStrike" kern="1200" cap="none" normalizeH="0" baseline="0" dirty="0">
                          <a:ln>
                            <a:noFill/>
                          </a:ln>
                          <a:solidFill>
                            <a:schemeClr val="tx1"/>
                          </a:solidFill>
                          <a:effectLst/>
                          <a:latin typeface="Arial" pitchFamily="34" charset="0"/>
                          <a:ea typeface="+mn-ea"/>
                          <a:cs typeface="+mn-cs"/>
                          <a:hlinkClick r:id="rId4"/>
                        </a:rPr>
                        <a:t> Seguridad</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endParaRPr kumimoji="0" lang="en-US" sz="1400" b="1" i="0" u="none" strike="noStrike" kern="1200" cap="none" normalizeH="0" baseline="0" noProof="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 sz="1400" kern="1200" dirty="0">
                          <a:solidFill>
                            <a:schemeClr val="tx1"/>
                          </a:solidFill>
                          <a:effectLst/>
                          <a:latin typeface="+mn-lt"/>
                          <a:ea typeface="+mn-ea"/>
                          <a:cs typeface="+mn-cs"/>
                        </a:rPr>
                        <a:t>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_tradnl" sz="1400" kern="1200" dirty="0">
                          <a:solidFill>
                            <a:schemeClr val="tx1"/>
                          </a:solidFill>
                          <a:effectLst/>
                          <a:latin typeface="+mn-lt"/>
                          <a:ea typeface="+mn-ea"/>
                          <a:cs typeface="+mn-cs"/>
                        </a:rPr>
                        <a:t>Arquitectura de Dominios</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90621556"/>
                  </a:ext>
                </a:extLst>
              </a:tr>
              <a:tr h="619603">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rPr>
                        <a:t>[REF– 4]</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hlinkClick r:id="rId5"/>
                        </a:rPr>
                        <a:t>Chatbot </a:t>
                      </a:r>
                      <a:r>
                        <a:rPr kumimoji="0" lang="en-US" sz="1400" b="1" i="0" u="none" strike="noStrike" kern="1200" cap="none" normalizeH="0" baseline="0" dirty="0" err="1">
                          <a:ln>
                            <a:noFill/>
                          </a:ln>
                          <a:solidFill>
                            <a:schemeClr val="tx1"/>
                          </a:solidFill>
                          <a:effectLst/>
                          <a:latin typeface="Arial" pitchFamily="34" charset="0"/>
                          <a:ea typeface="+mn-ea"/>
                          <a:cs typeface="+mn-cs"/>
                          <a:hlinkClick r:id="rId5"/>
                        </a:rPr>
                        <a:t>Inbenta</a:t>
                      </a:r>
                      <a:r>
                        <a:rPr kumimoji="0" lang="en-US" sz="1400" b="1" i="0" u="none" strike="noStrike" kern="1200" cap="none" normalizeH="0" baseline="0" dirty="0">
                          <a:ln>
                            <a:noFill/>
                          </a:ln>
                          <a:solidFill>
                            <a:schemeClr val="tx1"/>
                          </a:solidFill>
                          <a:effectLst/>
                          <a:latin typeface="Arial" pitchFamily="34" charset="0"/>
                          <a:ea typeface="+mn-ea"/>
                          <a:cs typeface="+mn-cs"/>
                          <a:hlinkClick r:id="rId5"/>
                        </a:rPr>
                        <a:t> SLA</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endParaRPr kumimoji="0" lang="en-US" sz="1400" b="1" i="0" u="none" strike="noStrike" kern="1200" cap="none" normalizeH="0" baseline="0" noProof="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 sz="1400" kern="1200" dirty="0">
                          <a:solidFill>
                            <a:schemeClr val="tx1"/>
                          </a:solidFill>
                          <a:effectLst/>
                          <a:latin typeface="+mn-lt"/>
                          <a:ea typeface="+mn-ea"/>
                          <a:cs typeface="+mn-cs"/>
                        </a:rPr>
                        <a:t>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_tradnl" sz="1400" kern="1200" dirty="0">
                          <a:solidFill>
                            <a:schemeClr val="tx1"/>
                          </a:solidFill>
                          <a:effectLst/>
                          <a:latin typeface="+mn-lt"/>
                          <a:ea typeface="+mn-ea"/>
                          <a:cs typeface="+mn-cs"/>
                        </a:rPr>
                        <a:t>Arquitectura de Dominios</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lang="es-ES_tradnl" sz="1400" kern="1200" dirty="0">
                        <a:solidFill>
                          <a:schemeClr val="tx1"/>
                        </a:solidFill>
                        <a:effectLst/>
                        <a:latin typeface="+mn-lt"/>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67967202"/>
                  </a:ext>
                </a:extLst>
              </a:tr>
              <a:tr h="437110">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rPr>
                        <a:t>[REF– 5]</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lang="en-US" sz="1600" b="0" i="0" u="none" strike="noStrike" kern="1200" baseline="0" dirty="0">
                          <a:solidFill>
                            <a:schemeClr val="bg1">
                              <a:lumMod val="50000"/>
                            </a:schemeClr>
                          </a:solidFill>
                          <a:effectLst/>
                          <a:latin typeface="Calibri"/>
                          <a:ea typeface="Tahoma" pitchFamily="34" charset="0"/>
                          <a:cs typeface="Tahoma" pitchFamily="34" charset="0"/>
                        </a:rPr>
                        <a:t>Proc </a:t>
                      </a:r>
                      <a:r>
                        <a:rPr lang="en-US" sz="1600" b="0" i="0" u="none" strike="noStrike" kern="1200" baseline="0" dirty="0" err="1">
                          <a:solidFill>
                            <a:schemeClr val="bg1">
                              <a:lumMod val="50000"/>
                            </a:schemeClr>
                          </a:solidFill>
                          <a:effectLst/>
                          <a:latin typeface="Calibri"/>
                          <a:ea typeface="Tahoma" pitchFamily="34" charset="0"/>
                          <a:cs typeface="Tahoma" pitchFamily="34" charset="0"/>
                        </a:rPr>
                        <a:t>Obboarding</a:t>
                      </a:r>
                      <a:r>
                        <a:rPr lang="en-US" sz="1600" b="0" i="0" u="none" strike="noStrike" kern="1200" baseline="0" dirty="0">
                          <a:solidFill>
                            <a:schemeClr val="bg1">
                              <a:lumMod val="50000"/>
                            </a:schemeClr>
                          </a:solidFill>
                          <a:effectLst/>
                          <a:latin typeface="Calibri"/>
                          <a:ea typeface="Tahoma" pitchFamily="34" charset="0"/>
                          <a:cs typeface="Tahoma" pitchFamily="34" charset="0"/>
                        </a:rPr>
                        <a:t> proceso</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endParaRPr kumimoji="0" lang="en-US" sz="1400" b="1" i="0" u="none" strike="noStrike" kern="1200" cap="none" normalizeH="0" baseline="0" noProof="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 sz="1400" kern="1200" dirty="0">
                          <a:solidFill>
                            <a:schemeClr val="tx1"/>
                          </a:solidFill>
                          <a:effectLst/>
                          <a:latin typeface="+mn-lt"/>
                          <a:ea typeface="+mn-ea"/>
                          <a:cs typeface="+mn-cs"/>
                        </a:rPr>
                        <a:t>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_tradnl" sz="1400" kern="1200" dirty="0">
                          <a:solidFill>
                            <a:schemeClr val="tx1"/>
                          </a:solidFill>
                          <a:effectLst/>
                          <a:latin typeface="+mn-lt"/>
                          <a:ea typeface="+mn-ea"/>
                          <a:cs typeface="+mn-cs"/>
                        </a:rPr>
                        <a:t>Arquitectura de Dominios</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13747444"/>
                  </a:ext>
                </a:extLst>
              </a:tr>
            </a:tbl>
          </a:graphicData>
        </a:graphic>
      </p:graphicFrame>
      <p:sp>
        <p:nvSpPr>
          <p:cNvPr id="7" name="Marcador de texto 1">
            <a:extLst>
              <a:ext uri="{FF2B5EF4-FFF2-40B4-BE49-F238E27FC236}">
                <a16:creationId xmlns:a16="http://schemas.microsoft.com/office/drawing/2014/main" id="{A93F12C2-64DF-4164-9447-E522C842B2B8}"/>
              </a:ext>
            </a:extLst>
          </p:cNvPr>
          <p:cNvSpPr>
            <a:spLocks noGrp="1"/>
          </p:cNvSpPr>
          <p:nvPr>
            <p:ph type="body" sz="quarter" idx="4294967295"/>
          </p:nvPr>
        </p:nvSpPr>
        <p:spPr>
          <a:xfrm>
            <a:off x="653140" y="406116"/>
            <a:ext cx="10833365" cy="341135"/>
          </a:xfrm>
        </p:spPr>
        <p:txBody>
          <a:bodyPr vert="horz" lIns="91440" tIns="45720" rIns="91440" bIns="45720" rtlCol="0">
            <a:noAutofit/>
          </a:bodyPr>
          <a:lstStyle/>
          <a:p>
            <a:pPr marL="0" indent="0">
              <a:buNone/>
            </a:pPr>
            <a:r>
              <a:rPr lang="es-ES" sz="1800" b="1" dirty="0">
                <a:solidFill>
                  <a:srgbClr val="EB0000"/>
                </a:solidFill>
                <a:ea typeface="Segoe UI" panose="020B0502040204020203" pitchFamily="34" charset="0"/>
                <a:cs typeface="Segoe UI" panose="020B0502040204020203" pitchFamily="34" charset="0"/>
              </a:rPr>
              <a:t>Referencias</a:t>
            </a:r>
          </a:p>
        </p:txBody>
      </p:sp>
      <p:sp>
        <p:nvSpPr>
          <p:cNvPr id="8" name="Marcador de texto 2">
            <a:extLst>
              <a:ext uri="{FF2B5EF4-FFF2-40B4-BE49-F238E27FC236}">
                <a16:creationId xmlns:a16="http://schemas.microsoft.com/office/drawing/2014/main" id="{8C22E9A8-5CF6-4CDA-9704-7DC4C7B9A18C}"/>
              </a:ext>
            </a:extLst>
          </p:cNvPr>
          <p:cNvSpPr>
            <a:spLocks noGrp="1"/>
          </p:cNvSpPr>
          <p:nvPr>
            <p:ph type="body" idx="13"/>
          </p:nvPr>
        </p:nvSpPr>
        <p:spPr>
          <a:xfrm>
            <a:off x="653141" y="747251"/>
            <a:ext cx="11027582" cy="276627"/>
          </a:xfrm>
        </p:spPr>
        <p:txBody>
          <a:bodyPr>
            <a:noAutofit/>
          </a:bodyPr>
          <a:lstStyle/>
          <a:p>
            <a:r>
              <a:rPr lang="es-ES" sz="1400" dirty="0"/>
              <a:t>Documentos Referenciados</a:t>
            </a:r>
          </a:p>
        </p:txBody>
      </p:sp>
      <p:graphicFrame>
        <p:nvGraphicFramePr>
          <p:cNvPr id="2" name="Objeto 1">
            <a:hlinkClick r:id="" action="ppaction://ole?verb=0"/>
            <a:extLst>
              <a:ext uri="{FF2B5EF4-FFF2-40B4-BE49-F238E27FC236}">
                <a16:creationId xmlns:a16="http://schemas.microsoft.com/office/drawing/2014/main" id="{336F5425-0CAF-4401-A0AF-34DFEC73BDA3}"/>
              </a:ext>
            </a:extLst>
          </p:cNvPr>
          <p:cNvGraphicFramePr>
            <a:graphicFrameLocks noChangeAspect="1"/>
          </p:cNvGraphicFramePr>
          <p:nvPr>
            <p:extLst>
              <p:ext uri="{D42A27DB-BD31-4B8C-83A1-F6EECF244321}">
                <p14:modId xmlns:p14="http://schemas.microsoft.com/office/powerpoint/2010/main" val="3611243267"/>
              </p:ext>
            </p:extLst>
          </p:nvPr>
        </p:nvGraphicFramePr>
        <p:xfrm>
          <a:off x="7062537" y="4981066"/>
          <a:ext cx="914400" cy="771525"/>
        </p:xfrm>
        <a:graphic>
          <a:graphicData uri="http://schemas.openxmlformats.org/presentationml/2006/ole">
            <mc:AlternateContent xmlns:mc="http://schemas.openxmlformats.org/markup-compatibility/2006">
              <mc:Choice xmlns:v="urn:schemas-microsoft-com:vml" Requires="v">
                <p:oleObj name="Presentation" showAsIcon="1" r:id="rId6" imgW="914400" imgH="771480" progId="PowerPoint.Show.12">
                  <p:embed/>
                </p:oleObj>
              </mc:Choice>
              <mc:Fallback>
                <p:oleObj name="Presentation" showAsIcon="1" r:id="rId6" imgW="914400" imgH="771480" progId="PowerPoint.Show.12">
                  <p:embed/>
                  <p:pic>
                    <p:nvPicPr>
                      <p:cNvPr id="2" name="Objeto 1">
                        <a:hlinkClick r:id="" action="ppaction://ole?verb=0"/>
                        <a:extLst>
                          <a:ext uri="{FF2B5EF4-FFF2-40B4-BE49-F238E27FC236}">
                            <a16:creationId xmlns:a16="http://schemas.microsoft.com/office/drawing/2014/main" id="{336F5425-0CAF-4401-A0AF-34DFEC73BDA3}"/>
                          </a:ext>
                        </a:extLst>
                      </p:cNvPr>
                      <p:cNvPicPr/>
                      <p:nvPr/>
                    </p:nvPicPr>
                    <p:blipFill>
                      <a:blip r:embed="rId7"/>
                      <a:stretch>
                        <a:fillRect/>
                      </a:stretch>
                    </p:blipFill>
                    <p:spPr>
                      <a:xfrm>
                        <a:off x="7062537" y="4981066"/>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41394276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oup 28"/>
          <p:cNvGraphicFramePr>
            <a:graphicFrameLocks/>
          </p:cNvGraphicFramePr>
          <p:nvPr>
            <p:extLst>
              <p:ext uri="{D42A27DB-BD31-4B8C-83A1-F6EECF244321}">
                <p14:modId xmlns:p14="http://schemas.microsoft.com/office/powerpoint/2010/main" val="1016403506"/>
              </p:ext>
            </p:extLst>
          </p:nvPr>
        </p:nvGraphicFramePr>
        <p:xfrm>
          <a:off x="443354" y="1092712"/>
          <a:ext cx="11508015" cy="4491204"/>
        </p:xfrm>
        <a:graphic>
          <a:graphicData uri="http://schemas.openxmlformats.org/drawingml/2006/table">
            <a:tbl>
              <a:tblPr/>
              <a:tblGrid>
                <a:gridCol w="1319229">
                  <a:extLst>
                    <a:ext uri="{9D8B030D-6E8A-4147-A177-3AD203B41FA5}">
                      <a16:colId xmlns:a16="http://schemas.microsoft.com/office/drawing/2014/main" val="20000"/>
                    </a:ext>
                  </a:extLst>
                </a:gridCol>
                <a:gridCol w="4752517">
                  <a:extLst>
                    <a:ext uri="{9D8B030D-6E8A-4147-A177-3AD203B41FA5}">
                      <a16:colId xmlns:a16="http://schemas.microsoft.com/office/drawing/2014/main" val="20001"/>
                    </a:ext>
                  </a:extLst>
                </a:gridCol>
                <a:gridCol w="2020820">
                  <a:extLst>
                    <a:ext uri="{9D8B030D-6E8A-4147-A177-3AD203B41FA5}">
                      <a16:colId xmlns:a16="http://schemas.microsoft.com/office/drawing/2014/main" val="20002"/>
                    </a:ext>
                  </a:extLst>
                </a:gridCol>
                <a:gridCol w="3415449">
                  <a:extLst>
                    <a:ext uri="{9D8B030D-6E8A-4147-A177-3AD203B41FA5}">
                      <a16:colId xmlns:a16="http://schemas.microsoft.com/office/drawing/2014/main" val="20003"/>
                    </a:ext>
                  </a:extLst>
                </a:gridCol>
              </a:tblGrid>
              <a:tr h="281747">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cap="none" normalizeH="0" baseline="0" dirty="0">
                          <a:ln>
                            <a:noFill/>
                          </a:ln>
                          <a:solidFill>
                            <a:schemeClr val="bg1"/>
                          </a:solidFill>
                          <a:effectLst/>
                          <a:latin typeface="Arial" charset="0"/>
                        </a:rPr>
                        <a:t>Ref</a:t>
                      </a:r>
                    </a:p>
                  </a:txBody>
                  <a:tcPr marL="71993" marR="71993" marT="71929" marB="719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kern="1200" cap="none" normalizeH="0" baseline="0" dirty="0" err="1">
                          <a:ln>
                            <a:noFill/>
                          </a:ln>
                          <a:solidFill>
                            <a:schemeClr val="bg1"/>
                          </a:solidFill>
                          <a:effectLst/>
                          <a:latin typeface="Arial" charset="0"/>
                          <a:ea typeface="+mn-ea"/>
                          <a:cs typeface="+mn-cs"/>
                        </a:rPr>
                        <a:t>Nombre</a:t>
                      </a:r>
                      <a:r>
                        <a:rPr kumimoji="0" lang="en-GB" sz="1300" b="1" i="0" u="none" strike="noStrike" kern="1200" cap="none" normalizeH="0" baseline="0" dirty="0">
                          <a:ln>
                            <a:noFill/>
                          </a:ln>
                          <a:solidFill>
                            <a:schemeClr val="bg1"/>
                          </a:solidFill>
                          <a:effectLst/>
                          <a:latin typeface="Arial" charset="0"/>
                          <a:ea typeface="+mn-ea"/>
                          <a:cs typeface="+mn-cs"/>
                        </a:rPr>
                        <a:t> y </a:t>
                      </a:r>
                      <a:r>
                        <a:rPr kumimoji="0" lang="en-GB" sz="1300" b="1" i="0" u="none" strike="noStrike" kern="1200" cap="none" normalizeH="0" baseline="0" dirty="0" err="1">
                          <a:ln>
                            <a:noFill/>
                          </a:ln>
                          <a:solidFill>
                            <a:schemeClr val="bg1"/>
                          </a:solidFill>
                          <a:effectLst/>
                          <a:latin typeface="Arial" charset="0"/>
                          <a:ea typeface="+mn-ea"/>
                          <a:cs typeface="+mn-cs"/>
                        </a:rPr>
                        <a:t>Versión</a:t>
                      </a:r>
                      <a:endParaRPr kumimoji="0" lang="en-GB" sz="1300" b="1" i="0" u="none" strike="noStrike" kern="1200" cap="none" normalizeH="0" baseline="0" dirty="0">
                        <a:ln>
                          <a:noFill/>
                        </a:ln>
                        <a:solidFill>
                          <a:schemeClr val="bg1"/>
                        </a:solidFill>
                        <a:effectLst/>
                        <a:latin typeface="Arial"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kern="1200" cap="none" normalizeH="0" baseline="0" dirty="0" err="1">
                          <a:ln>
                            <a:noFill/>
                          </a:ln>
                          <a:solidFill>
                            <a:schemeClr val="bg1"/>
                          </a:solidFill>
                          <a:effectLst/>
                          <a:latin typeface="Arial" charset="0"/>
                          <a:ea typeface="+mn-ea"/>
                          <a:cs typeface="+mn-cs"/>
                        </a:rPr>
                        <a:t>Documento</a:t>
                      </a:r>
                      <a:endParaRPr kumimoji="0" lang="en-GB" sz="1300" b="1" i="0" u="none" strike="noStrike" kern="1200" cap="none" normalizeH="0" baseline="0" dirty="0">
                        <a:ln>
                          <a:noFill/>
                        </a:ln>
                        <a:solidFill>
                          <a:schemeClr val="bg1"/>
                        </a:solidFill>
                        <a:effectLst/>
                        <a:latin typeface="Arial"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cap="none" normalizeH="0" baseline="0" dirty="0" err="1">
                          <a:ln>
                            <a:noFill/>
                          </a:ln>
                          <a:solidFill>
                            <a:schemeClr val="bg1"/>
                          </a:solidFill>
                          <a:effectLst/>
                          <a:latin typeface="Arial" charset="0"/>
                        </a:rPr>
                        <a:t>Departamento</a:t>
                      </a:r>
                      <a:endParaRPr kumimoji="0" lang="en-GB" sz="1300" b="1" i="0" u="none" strike="noStrike" cap="none" normalizeH="0" baseline="0" dirty="0">
                        <a:ln>
                          <a:noFill/>
                        </a:ln>
                        <a:solidFill>
                          <a:schemeClr val="bg1"/>
                        </a:solidFill>
                        <a:effectLst/>
                        <a:latin typeface="Times New Roman" pitchFamily="18" charset="0"/>
                      </a:endParaRPr>
                    </a:p>
                  </a:txBody>
                  <a:tcPr marL="71993" marR="71993" marT="71929" marB="719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extLst>
                  <a:ext uri="{0D108BD9-81ED-4DB2-BD59-A6C34878D82A}">
                    <a16:rowId xmlns:a16="http://schemas.microsoft.com/office/drawing/2014/main" val="10000"/>
                  </a:ext>
                </a:extLst>
              </a:tr>
              <a:tr h="640765">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[REF-6]</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n-US" sz="1600" b="0" i="0" u="none" strike="noStrike" kern="1200" baseline="0" dirty="0" err="1">
                          <a:solidFill>
                            <a:schemeClr val="bg1">
                              <a:lumMod val="50000"/>
                            </a:schemeClr>
                          </a:solidFill>
                          <a:effectLst/>
                          <a:latin typeface="Calibri"/>
                          <a:ea typeface="Tahoma" pitchFamily="34" charset="0"/>
                          <a:cs typeface="Tahoma" pitchFamily="34" charset="0"/>
                        </a:rPr>
                        <a:t>Expediente</a:t>
                      </a:r>
                      <a:r>
                        <a:rPr lang="en-US" sz="1600" b="0" i="0" u="none" strike="noStrike" kern="1200" baseline="0" dirty="0">
                          <a:solidFill>
                            <a:schemeClr val="bg1">
                              <a:lumMod val="50000"/>
                            </a:schemeClr>
                          </a:solidFill>
                          <a:effectLst/>
                          <a:latin typeface="Calibri"/>
                          <a:ea typeface="Tahoma" pitchFamily="34" charset="0"/>
                          <a:cs typeface="Tahoma" pitchFamily="34" charset="0"/>
                        </a:rPr>
                        <a:t> de </a:t>
                      </a:r>
                      <a:r>
                        <a:rPr lang="en-US" sz="1600" b="0" i="0" u="none" strike="noStrike" kern="1200" baseline="0" dirty="0" err="1">
                          <a:solidFill>
                            <a:schemeClr val="bg1">
                              <a:lumMod val="50000"/>
                            </a:schemeClr>
                          </a:solidFill>
                          <a:effectLst/>
                          <a:latin typeface="Calibri"/>
                          <a:ea typeface="Tahoma" pitchFamily="34" charset="0"/>
                          <a:cs typeface="Tahoma" pitchFamily="34" charset="0"/>
                        </a:rPr>
                        <a:t>Firmas</a:t>
                      </a:r>
                      <a:endParaRPr lang="en-US" sz="1600" b="0" i="0" u="none" strike="noStrike" kern="1200" baseline="0" dirty="0">
                        <a:solidFill>
                          <a:schemeClr val="bg1">
                            <a:lumMod val="50000"/>
                          </a:schemeClr>
                        </a:solidFill>
                        <a:effectLst/>
                        <a:latin typeface="Calibri"/>
                        <a:ea typeface="Tahoma" pitchFamily="34" charset="0"/>
                        <a:cs typeface="Tahoma" pitchFamily="34" charset="0"/>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hlinkClick r:id="rId2"/>
                        </a:rPr>
                        <a:t>Link</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Santander Tecnología</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3178">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[REF-7]</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s-ES" sz="1600" b="0" i="0" u="none" strike="noStrike" kern="1200" baseline="0" dirty="0">
                          <a:solidFill>
                            <a:schemeClr val="bg1">
                              <a:lumMod val="50000"/>
                            </a:schemeClr>
                          </a:solidFill>
                          <a:effectLst/>
                          <a:latin typeface="Calibri"/>
                          <a:ea typeface="Tahoma" pitchFamily="34" charset="0"/>
                          <a:cs typeface="Tahoma" pitchFamily="34" charset="0"/>
                        </a:rPr>
                        <a:t>Patrón de Firma Canales No Presenciales</a:t>
                      </a:r>
                      <a:endParaRPr lang="en-US" sz="1600" b="0" i="0" u="none" strike="noStrike" kern="1200" baseline="0" dirty="0">
                        <a:solidFill>
                          <a:schemeClr val="bg1">
                            <a:lumMod val="50000"/>
                          </a:schemeClr>
                        </a:solidFill>
                        <a:effectLst/>
                        <a:latin typeface="Calibri"/>
                        <a:ea typeface="Tahoma" pitchFamily="34" charset="0"/>
                        <a:cs typeface="Tahoma" pitchFamily="34" charset="0"/>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hlinkClick r:id="rId3"/>
                        </a:rPr>
                        <a:t>Link</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Santander Tecnología</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38728640"/>
                  </a:ext>
                </a:extLst>
              </a:tr>
              <a:tr h="360124">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[REF-8]</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s-ES" sz="1600" b="0" i="0" u="none" strike="noStrike" kern="1200" baseline="0" dirty="0">
                          <a:solidFill>
                            <a:schemeClr val="bg1">
                              <a:lumMod val="50000"/>
                            </a:schemeClr>
                          </a:solidFill>
                          <a:effectLst/>
                          <a:latin typeface="Calibri"/>
                          <a:ea typeface="Tahoma" pitchFamily="34" charset="0"/>
                          <a:cs typeface="Tahoma" pitchFamily="34" charset="0"/>
                        </a:rPr>
                        <a:t>Heredo</a:t>
                      </a:r>
                      <a:endParaRPr lang="en-US" sz="1600" b="0" i="0" u="none" strike="noStrike" kern="1200" baseline="0" dirty="0">
                        <a:solidFill>
                          <a:schemeClr val="bg1">
                            <a:lumMod val="50000"/>
                          </a:schemeClr>
                        </a:solidFill>
                        <a:effectLst/>
                        <a:latin typeface="Calibri"/>
                        <a:ea typeface="Tahoma" pitchFamily="34" charset="0"/>
                        <a:cs typeface="Tahoma" pitchFamily="34" charset="0"/>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hlinkClick r:id="rId4"/>
                        </a:rPr>
                        <a:t>Link</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Santander Tecnología</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90621556"/>
                  </a:ext>
                </a:extLst>
              </a:tr>
              <a:tr h="510475">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[REF-9]</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s-ES" sz="1600" b="0" i="0" u="none" strike="noStrike" kern="1200" baseline="0" dirty="0">
                          <a:solidFill>
                            <a:schemeClr val="bg1">
                              <a:lumMod val="50000"/>
                            </a:schemeClr>
                          </a:solidFill>
                          <a:effectLst/>
                          <a:latin typeface="Calibri"/>
                          <a:ea typeface="Tahoma" pitchFamily="34" charset="0"/>
                          <a:cs typeface="Tahoma" pitchFamily="34" charset="0"/>
                        </a:rPr>
                        <a:t>Pi Online</a:t>
                      </a:r>
                      <a:endParaRPr lang="en-US" sz="1600" b="0" i="0" u="none" strike="noStrike" kern="1200" baseline="0" dirty="0">
                        <a:solidFill>
                          <a:schemeClr val="bg1">
                            <a:lumMod val="50000"/>
                          </a:schemeClr>
                        </a:solidFill>
                        <a:effectLst/>
                        <a:latin typeface="Calibri"/>
                        <a:ea typeface="Tahoma" pitchFamily="34" charset="0"/>
                        <a:cs typeface="Tahoma" pitchFamily="34" charset="0"/>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hlinkClick r:id="rId4"/>
                        </a:rPr>
                        <a:t>Link</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Santander Tecnología</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67967202"/>
                  </a:ext>
                </a:extLst>
              </a:tr>
              <a:tr h="510475">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[REF-10]</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s-ES" sz="1600" b="0" i="0" u="none" strike="noStrike" kern="1200" baseline="0" dirty="0">
                          <a:solidFill>
                            <a:schemeClr val="bg1">
                              <a:lumMod val="50000"/>
                            </a:schemeClr>
                          </a:solidFill>
                          <a:effectLst/>
                          <a:latin typeface="Calibri"/>
                          <a:ea typeface="Tahoma" pitchFamily="34" charset="0"/>
                          <a:cs typeface="Tahoma" pitchFamily="34" charset="0"/>
                        </a:rPr>
                        <a:t>Autenticación de usuarios servicio SAS</a:t>
                      </a:r>
                      <a:endParaRPr lang="en-US" sz="1600" b="0" i="0" u="none" strike="noStrike" kern="1200" baseline="0" dirty="0">
                        <a:solidFill>
                          <a:schemeClr val="bg1">
                            <a:lumMod val="50000"/>
                          </a:schemeClr>
                        </a:solidFill>
                        <a:effectLst/>
                        <a:latin typeface="Calibri"/>
                        <a:ea typeface="Tahoma" pitchFamily="34" charset="0"/>
                        <a:cs typeface="Tahoma" pitchFamily="34" charset="0"/>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hlinkClick r:id="rId5"/>
                        </a:rPr>
                        <a:t>Link</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Santander Tecnología</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16667815"/>
                  </a:ext>
                </a:extLst>
              </a:tr>
              <a:tr h="510475">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[REF-11]</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s-ES" sz="1600" b="0" i="0" u="none" strike="noStrike" kern="1200" baseline="0" dirty="0">
                          <a:solidFill>
                            <a:schemeClr val="bg1">
                              <a:lumMod val="50000"/>
                            </a:schemeClr>
                          </a:solidFill>
                          <a:effectLst/>
                          <a:latin typeface="Calibri"/>
                          <a:ea typeface="Tahoma" pitchFamily="34" charset="0"/>
                          <a:cs typeface="Tahoma" pitchFamily="34" charset="0"/>
                        </a:rPr>
                        <a:t>Consulta de usuarios servicio UDS</a:t>
                      </a:r>
                      <a:endParaRPr lang="en-US" sz="1600" b="0" i="0" u="none" strike="noStrike" kern="1200" baseline="0" dirty="0">
                        <a:solidFill>
                          <a:schemeClr val="bg1">
                            <a:lumMod val="50000"/>
                          </a:schemeClr>
                        </a:solidFill>
                        <a:effectLst/>
                        <a:latin typeface="Calibri"/>
                        <a:ea typeface="Tahoma" pitchFamily="34" charset="0"/>
                        <a:cs typeface="Tahoma" pitchFamily="34" charset="0"/>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hlinkClick r:id="rId6"/>
                        </a:rPr>
                        <a:t>Link</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Santander Tecnología</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60394836"/>
                  </a:ext>
                </a:extLst>
              </a:tr>
              <a:tr h="510475">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 – 12]</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n-US" sz="1600" b="0" i="0" u="none" strike="noStrike" kern="1200" baseline="0" dirty="0">
                          <a:solidFill>
                            <a:schemeClr val="bg1">
                              <a:lumMod val="50000"/>
                            </a:schemeClr>
                          </a:solidFill>
                          <a:effectLst/>
                          <a:latin typeface="Calibri"/>
                          <a:ea typeface="Tahoma" pitchFamily="34" charset="0"/>
                          <a:cs typeface="Tahoma" pitchFamily="34" charset="0"/>
                        </a:rPr>
                        <a:t>Broker OCR</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hlinkClick r:id="rId7"/>
                        </a:rPr>
                        <a:t>Link</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Santander Tecnología</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26763481"/>
                  </a:ext>
                </a:extLst>
              </a:tr>
              <a:tr h="510475">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 – 13]</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n-US" sz="1600" b="0" i="0" u="none" strike="noStrike" kern="1200" baseline="0" dirty="0" err="1">
                          <a:solidFill>
                            <a:schemeClr val="bg1">
                              <a:lumMod val="50000"/>
                            </a:schemeClr>
                          </a:solidFill>
                          <a:effectLst/>
                          <a:latin typeface="Calibri"/>
                          <a:ea typeface="Tahoma" pitchFamily="34" charset="0"/>
                          <a:cs typeface="Tahoma" pitchFamily="34" charset="0"/>
                        </a:rPr>
                        <a:t>Tesis</a:t>
                      </a:r>
                      <a:r>
                        <a:rPr lang="en-US" sz="1600" b="0" i="0" u="none" strike="noStrike" kern="1200" baseline="0" dirty="0">
                          <a:solidFill>
                            <a:schemeClr val="bg1">
                              <a:lumMod val="50000"/>
                            </a:schemeClr>
                          </a:solidFill>
                          <a:effectLst/>
                          <a:latin typeface="Calibri"/>
                          <a:ea typeface="Tahoma" pitchFamily="34" charset="0"/>
                          <a:cs typeface="Tahoma" pitchFamily="34" charset="0"/>
                        </a:rPr>
                        <a:t> Plataforma Omnicanal Onboarding </a:t>
                      </a:r>
                      <a:r>
                        <a:rPr lang="en-US" sz="1600" b="0" i="0" u="none" strike="noStrike" kern="1200" baseline="0" dirty="0" err="1">
                          <a:solidFill>
                            <a:schemeClr val="bg1">
                              <a:lumMod val="50000"/>
                            </a:schemeClr>
                          </a:solidFill>
                          <a:effectLst/>
                          <a:latin typeface="Calibri"/>
                          <a:ea typeface="Tahoma" pitchFamily="34" charset="0"/>
                          <a:cs typeface="Tahoma" pitchFamily="34" charset="0"/>
                        </a:rPr>
                        <a:t>Clientes</a:t>
                      </a:r>
                      <a:endParaRPr lang="en-US" sz="1600" b="0" i="0" u="none" strike="noStrike" kern="1200" baseline="0" dirty="0">
                        <a:solidFill>
                          <a:schemeClr val="bg1">
                            <a:lumMod val="50000"/>
                          </a:schemeClr>
                        </a:solidFill>
                        <a:effectLst/>
                        <a:latin typeface="Calibri"/>
                        <a:ea typeface="Tahoma" pitchFamily="34" charset="0"/>
                        <a:cs typeface="Tahoma" pitchFamily="34" charset="0"/>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Arquitectura Dominios</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4571837"/>
                  </a:ext>
                </a:extLst>
              </a:tr>
            </a:tbl>
          </a:graphicData>
        </a:graphic>
      </p:graphicFrame>
      <p:sp>
        <p:nvSpPr>
          <p:cNvPr id="7" name="Marcador de texto 1">
            <a:extLst>
              <a:ext uri="{FF2B5EF4-FFF2-40B4-BE49-F238E27FC236}">
                <a16:creationId xmlns:a16="http://schemas.microsoft.com/office/drawing/2014/main" id="{A93F12C2-64DF-4164-9447-E522C842B2B8}"/>
              </a:ext>
            </a:extLst>
          </p:cNvPr>
          <p:cNvSpPr>
            <a:spLocks noGrp="1"/>
          </p:cNvSpPr>
          <p:nvPr>
            <p:ph type="body" sz="quarter" idx="4294967295"/>
          </p:nvPr>
        </p:nvSpPr>
        <p:spPr>
          <a:xfrm>
            <a:off x="653140" y="406116"/>
            <a:ext cx="10833365" cy="341135"/>
          </a:xfrm>
        </p:spPr>
        <p:txBody>
          <a:bodyPr vert="horz" lIns="91440" tIns="45720" rIns="91440" bIns="45720" rtlCol="0">
            <a:noAutofit/>
          </a:bodyPr>
          <a:lstStyle/>
          <a:p>
            <a:pPr marL="0" indent="0">
              <a:buNone/>
            </a:pPr>
            <a:r>
              <a:rPr lang="es-ES" sz="1800" b="1" dirty="0">
                <a:solidFill>
                  <a:srgbClr val="EB0000"/>
                </a:solidFill>
                <a:ea typeface="Segoe UI" panose="020B0502040204020203" pitchFamily="34" charset="0"/>
                <a:cs typeface="Segoe UI" panose="020B0502040204020203" pitchFamily="34" charset="0"/>
              </a:rPr>
              <a:t>Referencias</a:t>
            </a:r>
          </a:p>
        </p:txBody>
      </p:sp>
      <p:sp>
        <p:nvSpPr>
          <p:cNvPr id="8" name="Marcador de texto 2">
            <a:extLst>
              <a:ext uri="{FF2B5EF4-FFF2-40B4-BE49-F238E27FC236}">
                <a16:creationId xmlns:a16="http://schemas.microsoft.com/office/drawing/2014/main" id="{8C22E9A8-5CF6-4CDA-9704-7DC4C7B9A18C}"/>
              </a:ext>
            </a:extLst>
          </p:cNvPr>
          <p:cNvSpPr>
            <a:spLocks noGrp="1"/>
          </p:cNvSpPr>
          <p:nvPr>
            <p:ph type="body" idx="13"/>
          </p:nvPr>
        </p:nvSpPr>
        <p:spPr>
          <a:xfrm>
            <a:off x="653141" y="747251"/>
            <a:ext cx="11027582" cy="276627"/>
          </a:xfrm>
        </p:spPr>
        <p:txBody>
          <a:bodyPr>
            <a:noAutofit/>
          </a:bodyPr>
          <a:lstStyle/>
          <a:p>
            <a:r>
              <a:rPr lang="es-ES" sz="1400" dirty="0"/>
              <a:t>Documentos Referenciados</a:t>
            </a:r>
          </a:p>
        </p:txBody>
      </p:sp>
      <p:graphicFrame>
        <p:nvGraphicFramePr>
          <p:cNvPr id="2" name="Objeto 1">
            <a:hlinkClick r:id="" action="ppaction://ole?verb=0"/>
            <a:extLst>
              <a:ext uri="{FF2B5EF4-FFF2-40B4-BE49-F238E27FC236}">
                <a16:creationId xmlns:a16="http://schemas.microsoft.com/office/drawing/2014/main" id="{C81F682D-47D0-49FD-BCAD-D1768ECE0E4C}"/>
              </a:ext>
            </a:extLst>
          </p:cNvPr>
          <p:cNvGraphicFramePr>
            <a:graphicFrameLocks noChangeAspect="1"/>
          </p:cNvGraphicFramePr>
          <p:nvPr>
            <p:extLst>
              <p:ext uri="{D42A27DB-BD31-4B8C-83A1-F6EECF244321}">
                <p14:modId xmlns:p14="http://schemas.microsoft.com/office/powerpoint/2010/main" val="227776527"/>
              </p:ext>
            </p:extLst>
          </p:nvPr>
        </p:nvGraphicFramePr>
        <p:xfrm>
          <a:off x="7192032" y="5162854"/>
          <a:ext cx="623327" cy="540000"/>
        </p:xfrm>
        <a:graphic>
          <a:graphicData uri="http://schemas.openxmlformats.org/presentationml/2006/ole">
            <mc:AlternateContent xmlns:mc="http://schemas.openxmlformats.org/markup-compatibility/2006">
              <mc:Choice xmlns:v="urn:schemas-microsoft-com:vml" Requires="v">
                <p:oleObj name="Presentation" showAsIcon="1" r:id="rId8" imgW="914233" imgH="792396" progId="PowerPoint.Show.12">
                  <p:embed/>
                </p:oleObj>
              </mc:Choice>
              <mc:Fallback>
                <p:oleObj name="Presentation" showAsIcon="1" r:id="rId8" imgW="914233" imgH="792396" progId="PowerPoint.Show.12">
                  <p:embed/>
                  <p:pic>
                    <p:nvPicPr>
                      <p:cNvPr id="2" name="Objeto 1">
                        <a:hlinkClick r:id="" action="ppaction://ole?verb=0"/>
                        <a:extLst>
                          <a:ext uri="{FF2B5EF4-FFF2-40B4-BE49-F238E27FC236}">
                            <a16:creationId xmlns:a16="http://schemas.microsoft.com/office/drawing/2014/main" id="{C81F682D-47D0-49FD-BCAD-D1768ECE0E4C}"/>
                          </a:ext>
                        </a:extLst>
                      </p:cNvPr>
                      <p:cNvPicPr/>
                      <p:nvPr/>
                    </p:nvPicPr>
                    <p:blipFill>
                      <a:blip r:embed="rId9"/>
                      <a:stretch>
                        <a:fillRect/>
                      </a:stretch>
                    </p:blipFill>
                    <p:spPr>
                      <a:xfrm>
                        <a:off x="7192032" y="5162854"/>
                        <a:ext cx="623327" cy="540000"/>
                      </a:xfrm>
                      <a:prstGeom prst="rect">
                        <a:avLst/>
                      </a:prstGeom>
                    </p:spPr>
                  </p:pic>
                </p:oleObj>
              </mc:Fallback>
            </mc:AlternateContent>
          </a:graphicData>
        </a:graphic>
      </p:graphicFrame>
    </p:spTree>
    <p:extLst>
      <p:ext uri="{BB962C8B-B14F-4D97-AF65-F5344CB8AC3E}">
        <p14:creationId xmlns:p14="http://schemas.microsoft.com/office/powerpoint/2010/main" val="9442410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solidFill>
                  <a:srgbClr val="EB0000"/>
                </a:solidFill>
                <a:ea typeface="Segoe UI" panose="020B0502040204020203" pitchFamily="34" charset="0"/>
                <a:cs typeface="Segoe UI" panose="020B0502040204020203" pitchFamily="34" charset="0"/>
              </a:rPr>
              <a:t>Contactos</a:t>
            </a:r>
          </a:p>
          <a:p>
            <a:endParaRPr lang="es-ES" dirty="0"/>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09</a:t>
            </a:r>
          </a:p>
        </p:txBody>
      </p:sp>
    </p:spTree>
    <p:extLst>
      <p:ext uri="{BB962C8B-B14F-4D97-AF65-F5344CB8AC3E}">
        <p14:creationId xmlns:p14="http://schemas.microsoft.com/office/powerpoint/2010/main" val="3308909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oup 52"/>
          <p:cNvGraphicFramePr>
            <a:graphicFrameLocks/>
          </p:cNvGraphicFramePr>
          <p:nvPr>
            <p:extLst>
              <p:ext uri="{D42A27DB-BD31-4B8C-83A1-F6EECF244321}">
                <p14:modId xmlns:p14="http://schemas.microsoft.com/office/powerpoint/2010/main" val="2594983713"/>
              </p:ext>
            </p:extLst>
          </p:nvPr>
        </p:nvGraphicFramePr>
        <p:xfrm>
          <a:off x="882578" y="747251"/>
          <a:ext cx="10374487" cy="3423543"/>
        </p:xfrm>
        <a:graphic>
          <a:graphicData uri="http://schemas.openxmlformats.org/drawingml/2006/table">
            <a:tbl>
              <a:tblPr/>
              <a:tblGrid>
                <a:gridCol w="2763477">
                  <a:extLst>
                    <a:ext uri="{9D8B030D-6E8A-4147-A177-3AD203B41FA5}">
                      <a16:colId xmlns:a16="http://schemas.microsoft.com/office/drawing/2014/main" val="20000"/>
                    </a:ext>
                  </a:extLst>
                </a:gridCol>
                <a:gridCol w="1468199">
                  <a:extLst>
                    <a:ext uri="{9D8B030D-6E8A-4147-A177-3AD203B41FA5}">
                      <a16:colId xmlns:a16="http://schemas.microsoft.com/office/drawing/2014/main" val="20001"/>
                    </a:ext>
                  </a:extLst>
                </a:gridCol>
                <a:gridCol w="3392046">
                  <a:extLst>
                    <a:ext uri="{9D8B030D-6E8A-4147-A177-3AD203B41FA5}">
                      <a16:colId xmlns:a16="http://schemas.microsoft.com/office/drawing/2014/main" val="20002"/>
                    </a:ext>
                  </a:extLst>
                </a:gridCol>
                <a:gridCol w="2750765">
                  <a:extLst>
                    <a:ext uri="{9D8B030D-6E8A-4147-A177-3AD203B41FA5}">
                      <a16:colId xmlns:a16="http://schemas.microsoft.com/office/drawing/2014/main" val="20003"/>
                    </a:ext>
                  </a:extLst>
                </a:gridCol>
              </a:tblGrid>
              <a:tr h="410151">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s-ES_tradnl" sz="1400" b="1" i="0" u="none" strike="noStrike" cap="none" normalizeH="0" baseline="0" dirty="0">
                          <a:ln>
                            <a:noFill/>
                          </a:ln>
                          <a:solidFill>
                            <a:schemeClr val="bg1"/>
                          </a:solidFill>
                          <a:effectLst/>
                          <a:latin typeface="Arial" charset="0"/>
                        </a:rPr>
                        <a:t>Nombre</a:t>
                      </a:r>
                    </a:p>
                  </a:txBody>
                  <a:tcPr marL="76196" marR="76196" marT="77970" marB="7797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s-ES_tradnl" sz="1400" b="1" i="0" u="none" strike="noStrike" cap="none" normalizeH="0" baseline="0" dirty="0">
                          <a:ln>
                            <a:noFill/>
                          </a:ln>
                          <a:solidFill>
                            <a:schemeClr val="bg1"/>
                          </a:solidFill>
                          <a:effectLst/>
                          <a:latin typeface="Arial" charset="0"/>
                        </a:rPr>
                        <a:t>Teléfono</a:t>
                      </a:r>
                      <a:endParaRPr kumimoji="0" lang="es-ES_tradnl" sz="1400" b="1" i="0" u="none" strike="noStrike" cap="none" normalizeH="0" baseline="0" dirty="0">
                        <a:ln>
                          <a:noFill/>
                        </a:ln>
                        <a:solidFill>
                          <a:schemeClr val="bg1"/>
                        </a:solidFill>
                        <a:effectLst/>
                        <a:latin typeface="Times New Roman" pitchFamily="18" charset="0"/>
                      </a:endParaRPr>
                    </a:p>
                  </a:txBody>
                  <a:tcPr marL="76196" marR="76196" marT="77970" marB="7797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s-ES_tradnl" sz="1400" b="1" i="0" u="none" strike="noStrike" cap="none" normalizeH="0" baseline="0" dirty="0">
                          <a:ln>
                            <a:noFill/>
                          </a:ln>
                          <a:solidFill>
                            <a:schemeClr val="bg1"/>
                          </a:solidFill>
                          <a:effectLst/>
                          <a:latin typeface="Arial" charset="0"/>
                        </a:rPr>
                        <a:t>Correo</a:t>
                      </a:r>
                    </a:p>
                  </a:txBody>
                  <a:tcPr marL="76196" marR="76196" marT="77970" marB="7797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s-ES_tradnl" sz="1400" b="1" i="0" u="none" strike="noStrike" cap="none" normalizeH="0" baseline="0" dirty="0">
                          <a:ln>
                            <a:noFill/>
                          </a:ln>
                          <a:solidFill>
                            <a:schemeClr val="bg1"/>
                          </a:solidFill>
                          <a:effectLst/>
                          <a:latin typeface="Arial" charset="0"/>
                        </a:rPr>
                        <a:t>Rol/Departamento</a:t>
                      </a:r>
                      <a:endParaRPr kumimoji="0" lang="es-ES_tradnl" sz="1400" b="1" i="0" u="none" strike="noStrike" cap="none" normalizeH="0" baseline="0" dirty="0">
                        <a:ln>
                          <a:noFill/>
                        </a:ln>
                        <a:solidFill>
                          <a:schemeClr val="bg1"/>
                        </a:solidFill>
                        <a:effectLst/>
                        <a:latin typeface="Times New Roman" pitchFamily="18" charset="0"/>
                      </a:endParaRPr>
                    </a:p>
                  </a:txBody>
                  <a:tcPr marL="76196" marR="76196" marT="77970" marB="7797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extLst>
                  <a:ext uri="{0D108BD9-81ED-4DB2-BD59-A6C34878D82A}">
                    <a16:rowId xmlns:a16="http://schemas.microsoft.com/office/drawing/2014/main" val="10000"/>
                  </a:ext>
                </a:extLst>
              </a:tr>
              <a:tr h="371691">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 sz="1600" b="0" i="0" u="none" strike="noStrike" kern="1200" cap="none" normalizeH="0" baseline="0" dirty="0">
                          <a:ln>
                            <a:noFill/>
                          </a:ln>
                          <a:solidFill>
                            <a:schemeClr val="tx1"/>
                          </a:solidFill>
                          <a:effectLst/>
                          <a:latin typeface="Arial cuerpo"/>
                          <a:ea typeface="+mn-ea"/>
                          <a:cs typeface="+mn-cs"/>
                        </a:rPr>
                        <a:t>Jorge Ruiz Morán</a:t>
                      </a:r>
                      <a:endParaRPr kumimoji="0" lang="es-ES_tradnl"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es-ES"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 sz="1600" b="0" i="0" u="none" strike="noStrike" kern="1200" cap="none" normalizeH="0" baseline="0" dirty="0">
                          <a:ln>
                            <a:noFill/>
                          </a:ln>
                          <a:solidFill>
                            <a:schemeClr val="tx1"/>
                          </a:solidFill>
                          <a:effectLst/>
                          <a:latin typeface="Arial" charset="0"/>
                          <a:ea typeface="+mn-ea"/>
                          <a:cs typeface="+mn-cs"/>
                        </a:rPr>
                        <a:t>Jorgealberto.ruiz@gruposantander.es</a:t>
                      </a: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 sz="1600" b="0" i="0" u="none" strike="noStrike" kern="1200" cap="none" normalizeH="0" baseline="0" dirty="0" err="1">
                          <a:ln>
                            <a:noFill/>
                          </a:ln>
                          <a:solidFill>
                            <a:schemeClr val="tx1"/>
                          </a:solidFill>
                          <a:effectLst/>
                          <a:latin typeface="Arial cuerpo"/>
                          <a:ea typeface="+mn-ea"/>
                          <a:cs typeface="+mn-cs"/>
                        </a:rPr>
                        <a:t>Everyday</a:t>
                      </a:r>
                      <a:r>
                        <a:rPr kumimoji="0" lang="es-ES" sz="1600" b="0" i="0" u="none" strike="noStrike" kern="1200" cap="none" normalizeH="0" baseline="0" dirty="0">
                          <a:ln>
                            <a:noFill/>
                          </a:ln>
                          <a:solidFill>
                            <a:schemeClr val="tx1"/>
                          </a:solidFill>
                          <a:effectLst/>
                          <a:latin typeface="Arial cuerpo"/>
                          <a:ea typeface="+mn-ea"/>
                          <a:cs typeface="+mn-cs"/>
                        </a:rPr>
                        <a:t> </a:t>
                      </a:r>
                      <a:r>
                        <a:rPr kumimoji="0" lang="es-ES" sz="1600" b="0" i="0" u="none" strike="noStrike" kern="1200" cap="none" normalizeH="0" baseline="0" dirty="0" err="1">
                          <a:ln>
                            <a:noFill/>
                          </a:ln>
                          <a:solidFill>
                            <a:schemeClr val="tx1"/>
                          </a:solidFill>
                          <a:effectLst/>
                          <a:latin typeface="Arial cuerpo"/>
                          <a:ea typeface="+mn-ea"/>
                          <a:cs typeface="+mn-cs"/>
                        </a:rPr>
                        <a:t>Banking</a:t>
                      </a:r>
                      <a:endParaRPr kumimoji="0" lang="es-ES" sz="1600" b="0" i="0" u="none" strike="noStrike" kern="1200" cap="none" normalizeH="0" baseline="0" dirty="0">
                        <a:ln>
                          <a:noFill/>
                        </a:ln>
                        <a:solidFill>
                          <a:schemeClr val="tx1"/>
                        </a:solidFill>
                        <a:effectLst/>
                        <a:latin typeface="Arial cuerpo"/>
                        <a:ea typeface="+mn-ea"/>
                        <a:cs typeface="+mn-cs"/>
                      </a:endParaRP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es-ES"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691">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_tradnl" sz="1600" b="0" i="0" u="none" strike="noStrike" kern="1200" cap="none" normalizeH="0" baseline="0" dirty="0">
                          <a:ln>
                            <a:noFill/>
                          </a:ln>
                          <a:solidFill>
                            <a:schemeClr val="tx1"/>
                          </a:solidFill>
                          <a:effectLst/>
                          <a:latin typeface="Arial cuerpo"/>
                          <a:ea typeface="+mn-ea"/>
                          <a:cs typeface="+mn-cs"/>
                        </a:rPr>
                        <a:t>Juan Angel Plaza Lorente</a:t>
                      </a:r>
                    </a:p>
                  </a:txBody>
                  <a:tcPr marL="76196" marR="76196" marT="77970" marB="7797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es-ES"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lang="es-ES" sz="1800" u="sng" kern="1200" dirty="0">
                          <a:solidFill>
                            <a:schemeClr val="tx1"/>
                          </a:solidFill>
                          <a:effectLst/>
                          <a:latin typeface="+mn-lt"/>
                          <a:ea typeface="+mn-ea"/>
                          <a:cs typeface="+mn-cs"/>
                          <a:hlinkClick r:id="rId2"/>
                        </a:rPr>
                        <a:t>JUANAN.PLAZA@servexternos.gruposantander.es</a:t>
                      </a:r>
                      <a:endParaRPr kumimoji="0" lang="it-IT"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 sz="1600" b="0" i="0" u="none" strike="noStrike" kern="1200" cap="none" normalizeH="0" baseline="0" dirty="0">
                          <a:ln>
                            <a:noFill/>
                          </a:ln>
                          <a:solidFill>
                            <a:schemeClr val="tx1"/>
                          </a:solidFill>
                          <a:effectLst/>
                          <a:latin typeface="Arial cuerpo"/>
                          <a:ea typeface="+mn-ea"/>
                          <a:cs typeface="+mn-cs"/>
                        </a:rPr>
                        <a:t>Área </a:t>
                      </a:r>
                      <a:r>
                        <a:rPr kumimoji="0" lang="es-ES" sz="1600" b="0" i="0" u="none" strike="noStrike" kern="1200" cap="none" normalizeH="0" baseline="0" dirty="0" err="1">
                          <a:ln>
                            <a:noFill/>
                          </a:ln>
                          <a:solidFill>
                            <a:schemeClr val="tx1"/>
                          </a:solidFill>
                          <a:effectLst/>
                          <a:latin typeface="Arial cuerpo"/>
                          <a:ea typeface="+mn-ea"/>
                          <a:cs typeface="+mn-cs"/>
                        </a:rPr>
                        <a:t>antander</a:t>
                      </a:r>
                      <a:r>
                        <a:rPr kumimoji="0" lang="es-ES" sz="1600" b="0" i="0" u="none" strike="noStrike" kern="1200" cap="none" normalizeH="0" baseline="0" dirty="0">
                          <a:ln>
                            <a:noFill/>
                          </a:ln>
                          <a:solidFill>
                            <a:schemeClr val="tx1"/>
                          </a:solidFill>
                          <a:effectLst/>
                          <a:latin typeface="Arial cuerpo"/>
                          <a:ea typeface="+mn-ea"/>
                          <a:cs typeface="+mn-cs"/>
                        </a:rPr>
                        <a:t> Digital de 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es-ES" sz="1600" b="0" i="0" u="none" strike="noStrike" kern="1200" cap="none" normalizeH="0" baseline="0" dirty="0">
                        <a:ln>
                          <a:noFill/>
                        </a:ln>
                        <a:solidFill>
                          <a:schemeClr val="tx1"/>
                        </a:solidFill>
                        <a:effectLst/>
                        <a:latin typeface="Arial cuerpo"/>
                        <a:ea typeface="+mn-ea"/>
                        <a:cs typeface="+mn-cs"/>
                      </a:endParaRPr>
                    </a:p>
                  </a:txBody>
                  <a:tcPr marL="76196" marR="76196" marT="77970" marB="7797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23616928"/>
                  </a:ext>
                </a:extLst>
              </a:tr>
              <a:tr h="371691">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it-IT" sz="1600" b="0" i="0" u="none" strike="noStrike" kern="1200" cap="none" normalizeH="0" baseline="0" dirty="0">
                          <a:ln>
                            <a:noFill/>
                          </a:ln>
                          <a:solidFill>
                            <a:schemeClr val="tx1"/>
                          </a:solidFill>
                          <a:effectLst/>
                          <a:latin typeface="Arial cuerpo"/>
                          <a:ea typeface="+mn-ea"/>
                          <a:cs typeface="+mn-cs"/>
                        </a:rPr>
                        <a:t>Manuel Gonzalez Lopez</a:t>
                      </a:r>
                      <a:endParaRPr kumimoji="0" lang="es-ES_tradnl" sz="1600" b="0" i="0" u="none" strike="noStrike" kern="1200" cap="none" normalizeH="0" baseline="0" dirty="0">
                        <a:ln>
                          <a:noFill/>
                        </a:ln>
                        <a:solidFill>
                          <a:schemeClr val="tx1"/>
                        </a:solidFill>
                        <a:effectLst/>
                        <a:latin typeface="Arial cuerpo"/>
                        <a:ea typeface="+mn-ea"/>
                        <a:cs typeface="+mn-cs"/>
                      </a:endParaRPr>
                    </a:p>
                  </a:txBody>
                  <a:tcPr marL="76196" marR="76196" marT="77970" marB="7797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es-ES"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it-IT" sz="1600" b="0" i="0" u="none" strike="noStrike" kern="1200" cap="none" normalizeH="0" baseline="0" dirty="0">
                          <a:ln>
                            <a:noFill/>
                          </a:ln>
                          <a:solidFill>
                            <a:schemeClr val="tx1"/>
                          </a:solidFill>
                          <a:effectLst/>
                          <a:latin typeface="Arial cuerpo"/>
                          <a:ea typeface="+mn-ea"/>
                          <a:cs typeface="+mn-cs"/>
                          <a:hlinkClick r:id="rId3"/>
                        </a:rPr>
                        <a:t>Manuel.gonzalezlopez@servexternos.gruposantander.es</a:t>
                      </a:r>
                      <a:endParaRPr kumimoji="0" lang="it-IT"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 sz="1600" b="0" i="0" u="none" strike="noStrike" kern="1200" cap="none" normalizeH="0" baseline="0" dirty="0">
                          <a:ln>
                            <a:noFill/>
                          </a:ln>
                          <a:solidFill>
                            <a:schemeClr val="tx1"/>
                          </a:solidFill>
                          <a:effectLst/>
                          <a:latin typeface="Arial cuerpo"/>
                          <a:ea typeface="+mn-ea"/>
                          <a:cs typeface="+mn-cs"/>
                        </a:rPr>
                        <a:t>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_tradnl" sz="1600" b="0" i="0" u="none" strike="noStrike" kern="1200" cap="none" normalizeH="0" baseline="0" dirty="0">
                          <a:ln>
                            <a:noFill/>
                          </a:ln>
                          <a:solidFill>
                            <a:schemeClr val="tx1"/>
                          </a:solidFill>
                          <a:effectLst/>
                          <a:latin typeface="Arial cuerpo"/>
                          <a:ea typeface="+mn-ea"/>
                          <a:cs typeface="+mn-cs"/>
                        </a:rPr>
                        <a:t>Arquitectura Técnica</a:t>
                      </a:r>
                    </a:p>
                  </a:txBody>
                  <a:tcPr marL="76196" marR="76196" marT="77970" marB="7797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51941208"/>
                  </a:ext>
                </a:extLst>
              </a:tr>
              <a:tr h="371691">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_tradnl" sz="1600" b="0" i="0" u="none" strike="noStrike" kern="1200" cap="none" normalizeH="0" baseline="0" dirty="0">
                          <a:ln>
                            <a:noFill/>
                          </a:ln>
                          <a:solidFill>
                            <a:schemeClr val="tx1"/>
                          </a:solidFill>
                          <a:effectLst/>
                          <a:latin typeface="Arial cuerpo"/>
                          <a:ea typeface="+mn-ea"/>
                          <a:cs typeface="+mn-cs"/>
                        </a:rPr>
                        <a:t>Francisco Javier Bustos Rodriguez </a:t>
                      </a: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es-ES"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es-ES_tradnl" sz="1600" b="0" i="0" u="none" strike="noStrike" cap="none" normalizeH="0" baseline="0" dirty="0">
                          <a:ln>
                            <a:noFill/>
                          </a:ln>
                          <a:solidFill>
                            <a:schemeClr val="tx1"/>
                          </a:solidFill>
                          <a:effectLst/>
                          <a:latin typeface="Arial cuerpo"/>
                        </a:rPr>
                        <a:t>francisco.bustos@servexternos.gruposantander.es</a:t>
                      </a: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 sz="1600" b="0" i="0" u="none" strike="noStrike" kern="1200" cap="none" normalizeH="0" baseline="0" dirty="0">
                          <a:ln>
                            <a:noFill/>
                          </a:ln>
                          <a:solidFill>
                            <a:schemeClr val="tx1"/>
                          </a:solidFill>
                          <a:effectLst/>
                          <a:latin typeface="Arial cuerpo"/>
                          <a:ea typeface="+mn-ea"/>
                          <a:cs typeface="+mn-cs"/>
                        </a:rPr>
                        <a:t>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_tradnl" sz="1600" b="0" i="0" u="none" strike="noStrike" kern="1200" cap="none" normalizeH="0" baseline="0" dirty="0">
                          <a:ln>
                            <a:noFill/>
                          </a:ln>
                          <a:solidFill>
                            <a:schemeClr val="tx1"/>
                          </a:solidFill>
                          <a:effectLst/>
                          <a:latin typeface="Arial cuerpo"/>
                          <a:ea typeface="+mn-ea"/>
                          <a:cs typeface="+mn-cs"/>
                        </a:rPr>
                        <a:t>Arquitectura de Dominios</a:t>
                      </a: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37661053"/>
                  </a:ext>
                </a:extLst>
              </a:tr>
            </a:tbl>
          </a:graphicData>
        </a:graphic>
      </p:graphicFrame>
      <p:sp>
        <p:nvSpPr>
          <p:cNvPr id="9" name="Marcador de texto 1">
            <a:extLst>
              <a:ext uri="{FF2B5EF4-FFF2-40B4-BE49-F238E27FC236}">
                <a16:creationId xmlns:a16="http://schemas.microsoft.com/office/drawing/2014/main" id="{62D3A145-A08E-4D34-983F-C73FD8ED5260}"/>
              </a:ext>
            </a:extLst>
          </p:cNvPr>
          <p:cNvSpPr txBox="1">
            <a:spLocks/>
          </p:cNvSpPr>
          <p:nvPr/>
        </p:nvSpPr>
        <p:spPr>
          <a:xfrm>
            <a:off x="653140" y="406116"/>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Contactos</a:t>
            </a:r>
          </a:p>
          <a:p>
            <a:pPr marL="0" indent="0">
              <a:spcBef>
                <a:spcPts val="300"/>
              </a:spcBef>
              <a:buFont typeface="Arial" panose="020B0604020202020204" pitchFamily="34" charset="0"/>
              <a:buNone/>
            </a:pPr>
            <a:endParaRPr lang="es-ES" sz="1800" b="1" dirty="0">
              <a:solidFill>
                <a:srgbClr val="EB0000"/>
              </a:solidFill>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33286523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09980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sLGQk0LqmEaW_CxwCKg4t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sLGQk0LqmEaW_CxwCKg4t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sLGQk0LqmEaW_CxwCKg4tg"/>
</p:tagLst>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fontScheme name="Personalizado 66">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942D4D8301C144BA3C26023788172C" ma:contentTypeVersion="16" ma:contentTypeDescription="Create a new document." ma:contentTypeScope="" ma:versionID="9562ee7c5e04bff6bc1af8f9a24b7444">
  <xsd:schema xmlns:xsd="http://www.w3.org/2001/XMLSchema" xmlns:xs="http://www.w3.org/2001/XMLSchema" xmlns:p="http://schemas.microsoft.com/office/2006/metadata/properties" xmlns:ns1="http://schemas.microsoft.com/sharepoint/v3" xmlns:ns3="8b9a787d-a241-40d4-91ea-f77e5e7ed189" xmlns:ns4="d0287c1c-f49f-4510-ae8e-0de89c8f72b2" targetNamespace="http://schemas.microsoft.com/office/2006/metadata/properties" ma:root="true" ma:fieldsID="aaf41157d65b0e8fce96fcc8b9ef72bb" ns1:_="" ns3:_="" ns4:_="">
    <xsd:import namespace="http://schemas.microsoft.com/sharepoint/v3"/>
    <xsd:import namespace="8b9a787d-a241-40d4-91ea-f77e5e7ed189"/>
    <xsd:import namespace="d0287c1c-f49f-4510-ae8e-0de89c8f72b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b9a787d-a241-40d4-91ea-f77e5e7ed1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0287c1c-f49f-4510-ae8e-0de89c8f72b2"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09DCDC1-6B24-4930-8587-4D3A9C9491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b9a787d-a241-40d4-91ea-f77e5e7ed189"/>
    <ds:schemaRef ds:uri="d0287c1c-f49f-4510-ae8e-0de89c8f72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1A17328-B5E7-40FE-9B44-624C81E61F50}">
  <ds:schemaRefs>
    <ds:schemaRef ds:uri="http://schemas.microsoft.com/sharepoint/v3/contenttype/forms"/>
  </ds:schemaRefs>
</ds:datastoreItem>
</file>

<file path=customXml/itemProps3.xml><?xml version="1.0" encoding="utf-8"?>
<ds:datastoreItem xmlns:ds="http://schemas.openxmlformats.org/officeDocument/2006/customXml" ds:itemID="{054DAE1F-F1F3-401D-BA93-C9379AAB3D68}">
  <ds:schemaRefs>
    <ds:schemaRef ds:uri="http://schemas.microsoft.com/office/2006/documentManagement/types"/>
    <ds:schemaRef ds:uri="8b9a787d-a241-40d4-91ea-f77e5e7ed189"/>
    <ds:schemaRef ds:uri="http://www.w3.org/XML/1998/namespace"/>
    <ds:schemaRef ds:uri="http://purl.org/dc/dcmitype/"/>
    <ds:schemaRef ds:uri="http://purl.org/dc/elements/1.1/"/>
    <ds:schemaRef ds:uri="http://schemas.microsoft.com/office/infopath/2007/PartnerControls"/>
    <ds:schemaRef ds:uri="http://purl.org/dc/terms/"/>
    <ds:schemaRef ds:uri="http://schemas.microsoft.com/office/2006/metadata/properties"/>
    <ds:schemaRef ds:uri="http://schemas.openxmlformats.org/package/2006/metadata/core-properties"/>
    <ds:schemaRef ds:uri="d0287c1c-f49f-4510-ae8e-0de89c8f72b2"/>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Office Theme</Template>
  <TotalTime>21921</TotalTime>
  <Words>9050</Words>
  <Application>Microsoft Office PowerPoint</Application>
  <PresentationFormat>Panorámica</PresentationFormat>
  <Paragraphs>2083</Paragraphs>
  <Slides>66</Slides>
  <Notes>25</Notes>
  <HiddenSlides>0</HiddenSlides>
  <MMClips>0</MMClips>
  <ScaleCrop>false</ScaleCrop>
  <HeadingPairs>
    <vt:vector size="8" baseType="variant">
      <vt:variant>
        <vt:lpstr>Fuentes usadas</vt:lpstr>
      </vt:variant>
      <vt:variant>
        <vt:i4>13</vt:i4>
      </vt:variant>
      <vt:variant>
        <vt:lpstr>Tema</vt:lpstr>
      </vt:variant>
      <vt:variant>
        <vt:i4>2</vt:i4>
      </vt:variant>
      <vt:variant>
        <vt:lpstr>Servidores OLE incrustados</vt:lpstr>
      </vt:variant>
      <vt:variant>
        <vt:i4>1</vt:i4>
      </vt:variant>
      <vt:variant>
        <vt:lpstr>Títulos de diapositiva</vt:lpstr>
      </vt:variant>
      <vt:variant>
        <vt:i4>66</vt:i4>
      </vt:variant>
    </vt:vector>
  </HeadingPairs>
  <TitlesOfParts>
    <vt:vector size="82" baseType="lpstr">
      <vt:lpstr>Arial</vt:lpstr>
      <vt:lpstr>Arial cuerpo</vt:lpstr>
      <vt:lpstr>Arial Rounded MT Bold</vt:lpstr>
      <vt:lpstr>Calibri</vt:lpstr>
      <vt:lpstr>Calibri Light</vt:lpstr>
      <vt:lpstr>Gadugi</vt:lpstr>
      <vt:lpstr>Santander Text</vt:lpstr>
      <vt:lpstr>Segoe UI</vt:lpstr>
      <vt:lpstr>Symbol</vt:lpstr>
      <vt:lpstr>Times</vt:lpstr>
      <vt:lpstr>Times New Roman</vt:lpstr>
      <vt:lpstr>Verdana</vt:lpstr>
      <vt:lpstr>Wingdings</vt:lpstr>
      <vt:lpstr>Tema de Office</vt:lpstr>
      <vt:lpstr>1_Tema de Office</vt:lpstr>
      <vt:lpstr>Presentation</vt:lpstr>
      <vt:lpstr>DS Hágase Cliente 2.0</vt:lpstr>
      <vt:lpstr>Presentación de PowerPoint</vt:lpstr>
      <vt:lpstr>Presentación de PowerPoint</vt:lpstr>
      <vt:lpstr>Presentación de PowerPoint</vt:lpstr>
      <vt:lpstr>Contenido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PARTE VI – Modelo de Servicios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ireguera@gruposantander.com</dc:creator>
  <cp:lastModifiedBy>GONZALEZ LOPEZ MANUEL</cp:lastModifiedBy>
  <cp:revision>2147</cp:revision>
  <cp:lastPrinted>2019-09-30T13:03:33Z</cp:lastPrinted>
  <dcterms:created xsi:type="dcterms:W3CDTF">2015-04-28T11:25:12Z</dcterms:created>
  <dcterms:modified xsi:type="dcterms:W3CDTF">2023-10-26T07:45:16Z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0x0101000F942D4D8301C144BA3C26023788172C</vt:lpwstr>
  </property>
  <property fmtid="{D5CDD505-2E9C-101B-9397-08002B2CF9AE}" pid="3" name="Subgrupo de plantilla">
    <vt:lpwstr>2 - Ingeniería del SW</vt:lpwstr>
  </property>
  <property fmtid="{D5CDD505-2E9C-101B-9397-08002B2CF9AE}" pid="4" name="Grupo de plantilla">
    <vt:lpwstr>2 - Delivery Tradicional</vt:lpwstr>
  </property>
  <property fmtid="{D5CDD505-2E9C-101B-9397-08002B2CF9AE}" pid="5" name="MSIP_Label_0c2abd79-57a9-4473-8700-c843f76a1e37_Enabled">
    <vt:lpwstr>true</vt:lpwstr>
  </property>
  <property fmtid="{D5CDD505-2E9C-101B-9397-08002B2CF9AE}" pid="6" name="MSIP_Label_0c2abd79-57a9-4473-8700-c843f76a1e37_SetDate">
    <vt:lpwstr>2022-06-23T08:05:41Z</vt:lpwstr>
  </property>
  <property fmtid="{D5CDD505-2E9C-101B-9397-08002B2CF9AE}" pid="7" name="MSIP_Label_0c2abd79-57a9-4473-8700-c843f76a1e37_Method">
    <vt:lpwstr>Privileged</vt:lpwstr>
  </property>
  <property fmtid="{D5CDD505-2E9C-101B-9397-08002B2CF9AE}" pid="8" name="MSIP_Label_0c2abd79-57a9-4473-8700-c843f76a1e37_Name">
    <vt:lpwstr>Internal</vt:lpwstr>
  </property>
  <property fmtid="{D5CDD505-2E9C-101B-9397-08002B2CF9AE}" pid="9" name="MSIP_Label_0c2abd79-57a9-4473-8700-c843f76a1e37_SiteId">
    <vt:lpwstr>35595a02-4d6d-44ac-99e1-f9ab4cd872db</vt:lpwstr>
  </property>
  <property fmtid="{D5CDD505-2E9C-101B-9397-08002B2CF9AE}" pid="10" name="MSIP_Label_0c2abd79-57a9-4473-8700-c843f76a1e37_ActionId">
    <vt:lpwstr>dff4ff19-648e-40da-92ea-e7b67a9a1772</vt:lpwstr>
  </property>
  <property fmtid="{D5CDD505-2E9C-101B-9397-08002B2CF9AE}" pid="11" name="MSIP_Label_0c2abd79-57a9-4473-8700-c843f76a1e37_ContentBits">
    <vt:lpwstr>0</vt:lpwstr>
  </property>
</Properties>
</file>