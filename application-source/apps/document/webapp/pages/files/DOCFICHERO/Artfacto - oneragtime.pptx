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eb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598" r:id="rId5"/>
    <p:sldId id="620" r:id="rId6"/>
    <p:sldId id="586" r:id="rId7"/>
    <p:sldId id="613" r:id="rId8"/>
    <p:sldId id="623" r:id="rId9"/>
    <p:sldId id="621" r:id="rId10"/>
    <p:sldId id="622" r:id="rId11"/>
    <p:sldId id="607" r:id="rId12"/>
    <p:sldId id="624" r:id="rId13"/>
    <p:sldId id="625" r:id="rId14"/>
    <p:sldId id="638" r:id="rId15"/>
    <p:sldId id="631" r:id="rId16"/>
    <p:sldId id="597" r:id="rId17"/>
    <p:sldId id="633" r:id="rId18"/>
    <p:sldId id="634" r:id="rId19"/>
    <p:sldId id="603" r:id="rId20"/>
    <p:sldId id="637" r:id="rId21"/>
    <p:sldId id="618" r:id="rId22"/>
    <p:sldId id="276" r:id="rId2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46670"/>
    <a:srgbClr val="016B73"/>
    <a:srgbClr val="013E55"/>
    <a:srgbClr val="0074A9"/>
    <a:srgbClr val="DBE9E8"/>
    <a:srgbClr val="14256F"/>
    <a:srgbClr val="19A3DC"/>
    <a:srgbClr val="CD1D44"/>
    <a:srgbClr val="609995"/>
    <a:srgbClr val="629B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Acento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6357" autoAdjust="0"/>
  </p:normalViewPr>
  <p:slideViewPr>
    <p:cSldViewPr snapToGrid="0">
      <p:cViewPr varScale="1">
        <p:scale>
          <a:sx n="111" d="100"/>
          <a:sy n="111" d="100"/>
        </p:scale>
        <p:origin x="579" y="5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775DE0-1806-43C7-9299-EE9FCBB8B9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D3A0DA1-DA0F-40CE-93BC-8CC07FC796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E272F0-A3F0-4A10-BB2B-7191A630E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6EC51-0378-420E-A0D7-3D2ECF773326}" type="datetimeFigureOut">
              <a:rPr lang="es-ES" smtClean="0"/>
              <a:t>28/10/2019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8223D8A-7FA5-4EFA-85FD-E97613FF6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4DED49-708F-4D83-BF97-9FE47DF49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4C008-ED25-428D-BE9A-753F0AC273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91218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CDCB02-7AC8-4323-B7BD-41EE23610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8B2D99E-090B-431D-B9C5-166B700BB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FE1BE6-E20A-40B5-883A-5FC05D373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6EC51-0378-420E-A0D7-3D2ECF773326}" type="datetimeFigureOut">
              <a:rPr lang="es-ES" smtClean="0"/>
              <a:t>28/10/2019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877253-C72B-4F22-91C9-048001D99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67F3B81-BA33-47FC-96A5-98BDF87AF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4C008-ED25-428D-BE9A-753F0AC273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5021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74E8CA-412D-47B2-8F95-BC8CD5F6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922FEC5-6136-4E09-9173-5888F5BAD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B3DE01-5CB4-4E3B-AD3A-F38BBED15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6EC51-0378-420E-A0D7-3D2ECF773326}" type="datetimeFigureOut">
              <a:rPr lang="es-ES" smtClean="0"/>
              <a:t>28/10/2019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543C6C-1E0D-484E-BE20-B2B1C6243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875058-621E-450E-80FD-E2E463950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4C008-ED25-428D-BE9A-753F0AC273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94459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2B896E-DEE6-4E77-866C-DD1D73A13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1D99A9-6F03-4D1F-B19D-38116C4A8E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29FA586-D279-4924-B09F-03A2A054AD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140D57B-BE46-4F7D-AF3D-5F787071E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6EC51-0378-420E-A0D7-3D2ECF773326}" type="datetimeFigureOut">
              <a:rPr lang="es-ES" smtClean="0"/>
              <a:t>28/10/2019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09F685F-D7E8-4302-A99F-8EDEE8368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B56108D-3841-4082-8E56-CA38E9B80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4C008-ED25-428D-BE9A-753F0AC273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8716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F3458-3D0E-432A-99B4-BDB3ECEA5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235A39-5A50-45E4-BDBD-B7DF6AF8D9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4EBA3C3-FEFF-41DF-81C2-7F232917E5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A9C592C-8838-4511-A830-3F4B655DE3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05B60DE-95A9-4358-AE25-80B84A710A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A904FFB-5951-434D-983D-76AB81186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6EC51-0378-420E-A0D7-3D2ECF773326}" type="datetimeFigureOut">
              <a:rPr lang="es-ES" smtClean="0"/>
              <a:t>28/10/2019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4992BEE-78AF-4F41-BB31-6A1CF9F36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4E8CB8-E62E-4BC7-9B17-1982FDA63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4C008-ED25-428D-BE9A-753F0AC273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86264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CE3CF2-59AA-44A4-B4D8-96A0C5FBE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E683AC2-009D-457A-8C9C-A0E24EC17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6EC51-0378-420E-A0D7-3D2ECF773326}" type="datetimeFigureOut">
              <a:rPr lang="es-ES" smtClean="0"/>
              <a:t>28/10/2019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C3F1488-9F94-4557-9214-7853C62FA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63AAC2C-ECFE-4ACE-B5D0-BE9E15D7E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4C008-ED25-428D-BE9A-753F0AC273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6847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EC9621-968C-4B39-AA8D-FE9E94D25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6EC51-0378-420E-A0D7-3D2ECF773326}" type="datetimeFigureOut">
              <a:rPr lang="es-ES" smtClean="0"/>
              <a:t>28/10/2019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2EEE3D1-6179-48AD-97B9-2F42F138B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94EF3DC-961F-4980-8613-BBCAE2DF4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4C008-ED25-428D-BE9A-753F0AC273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66108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63406A-BD69-4D11-9DA3-B84482A1E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047F9C-E887-470C-AAA9-22591159C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1FBC0A1-52E2-40BE-8E5C-805C51F2F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8107E6C-21D3-40CD-BBD4-11D65E2C6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6EC51-0378-420E-A0D7-3D2ECF773326}" type="datetimeFigureOut">
              <a:rPr lang="es-ES" smtClean="0"/>
              <a:t>28/10/2019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75B2FFF-0050-41DD-BDCC-0A9FC3EF8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C4285B8-DDF5-46B8-9B65-27945DC7A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4C008-ED25-428D-BE9A-753F0AC273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7767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040293-283E-4776-93AB-0BD0D159D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0A8EEF2-6AAA-4F08-9C2A-C949D2E7E8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BAE51E6-A589-4E09-BD49-3549401963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F17DB1-7752-45B9-B316-9C8EA2848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6EC51-0378-420E-A0D7-3D2ECF773326}" type="datetimeFigureOut">
              <a:rPr lang="es-ES" smtClean="0"/>
              <a:t>28/10/2019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A525E06-B407-4DF0-A033-5D236DD9F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1DED1A6-8700-4B17-B310-B0D979795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4C008-ED25-428D-BE9A-753F0AC273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21352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586771-A5E7-40C9-B74E-0F82E32F6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582E868-FDCC-46B9-B132-3AF20ADC88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17C5815-3011-4BDF-9D99-600DBD255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6EC51-0378-420E-A0D7-3D2ECF773326}" type="datetimeFigureOut">
              <a:rPr lang="es-ES" smtClean="0"/>
              <a:t>28/10/2019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50D997-7F18-49EB-94CD-37075C67C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3A88B4F-867C-47CA-AEE7-892AFDE96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4C008-ED25-428D-BE9A-753F0AC273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3481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DA27722-11B0-46E4-BF2C-3FFE0707CB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781C1EE-C632-4C82-AB3C-7C6A0CEA6F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00EAA2-A157-43DF-A212-CF4FB0972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6EC51-0378-420E-A0D7-3D2ECF773326}" type="datetimeFigureOut">
              <a:rPr lang="es-ES" smtClean="0"/>
              <a:t>28/10/2019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1A7AFD-1A3B-4FAC-BF5D-D027237F9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8045B02-DB1D-4857-97E1-996F427BD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4C008-ED25-428D-BE9A-753F0AC273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1662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336877D-140D-4CDD-87BB-9D4DFA959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8BB5A7-0D7D-4162-B67D-CEAA0FA8CE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4C5E2F-DD97-4D4C-9AFF-08D08005D2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06EC51-0378-420E-A0D7-3D2ECF773326}" type="datetimeFigureOut">
              <a:rPr lang="es-ES" smtClean="0"/>
              <a:t>28/10/2019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AC7CCF4-2839-4747-A6C5-A8C5A32355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9FF24A-0043-4E38-AA53-4E2CA22BB2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84C008-ED25-428D-BE9A-753F0AC273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74960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.png"/><Relationship Id="rId7" Type="http://schemas.openxmlformats.org/officeDocument/2006/relationships/image" Target="../media/image2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.png"/><Relationship Id="rId7" Type="http://schemas.openxmlformats.org/officeDocument/2006/relationships/image" Target="../media/image3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jp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13" Type="http://schemas.openxmlformats.org/officeDocument/2006/relationships/image" Target="../media/image40.png"/><Relationship Id="rId18" Type="http://schemas.openxmlformats.org/officeDocument/2006/relationships/image" Target="../media/image45.svg"/><Relationship Id="rId3" Type="http://schemas.openxmlformats.org/officeDocument/2006/relationships/image" Target="../media/image2.png"/><Relationship Id="rId21" Type="http://schemas.openxmlformats.org/officeDocument/2006/relationships/image" Target="../media/image48.png"/><Relationship Id="rId7" Type="http://schemas.openxmlformats.org/officeDocument/2006/relationships/image" Target="../media/image34.png"/><Relationship Id="rId12" Type="http://schemas.openxmlformats.org/officeDocument/2006/relationships/image" Target="../media/image39.svg"/><Relationship Id="rId17" Type="http://schemas.openxmlformats.org/officeDocument/2006/relationships/image" Target="../media/image44.png"/><Relationship Id="rId25" Type="http://schemas.openxmlformats.org/officeDocument/2006/relationships/image" Target="../media/image52.png"/><Relationship Id="rId2" Type="http://schemas.openxmlformats.org/officeDocument/2006/relationships/image" Target="../media/image1.jpg"/><Relationship Id="rId16" Type="http://schemas.openxmlformats.org/officeDocument/2006/relationships/image" Target="../media/image43.png"/><Relationship Id="rId20" Type="http://schemas.openxmlformats.org/officeDocument/2006/relationships/image" Target="../media/image47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24" Type="http://schemas.openxmlformats.org/officeDocument/2006/relationships/image" Target="../media/image51.svg"/><Relationship Id="rId5" Type="http://schemas.openxmlformats.org/officeDocument/2006/relationships/image" Target="../media/image19.png"/><Relationship Id="rId15" Type="http://schemas.openxmlformats.org/officeDocument/2006/relationships/image" Target="../media/image42.svg"/><Relationship Id="rId23" Type="http://schemas.openxmlformats.org/officeDocument/2006/relationships/image" Target="../media/image50.png"/><Relationship Id="rId10" Type="http://schemas.openxmlformats.org/officeDocument/2006/relationships/image" Target="../media/image37.svg"/><Relationship Id="rId19" Type="http://schemas.openxmlformats.org/officeDocument/2006/relationships/image" Target="../media/image46.png"/><Relationship Id="rId4" Type="http://schemas.openxmlformats.org/officeDocument/2006/relationships/image" Target="../media/image3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Relationship Id="rId22" Type="http://schemas.openxmlformats.org/officeDocument/2006/relationships/image" Target="../media/image4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jp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8.png"/><Relationship Id="rId10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png"/><Relationship Id="rId18" Type="http://schemas.openxmlformats.org/officeDocument/2006/relationships/image" Target="../media/image68.png"/><Relationship Id="rId3" Type="http://schemas.openxmlformats.org/officeDocument/2006/relationships/image" Target="../media/image2.png"/><Relationship Id="rId21" Type="http://schemas.openxmlformats.org/officeDocument/2006/relationships/image" Target="../media/image71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17" Type="http://schemas.openxmlformats.org/officeDocument/2006/relationships/image" Target="../media/image67.svg"/><Relationship Id="rId2" Type="http://schemas.openxmlformats.org/officeDocument/2006/relationships/image" Target="../media/image1.jpg"/><Relationship Id="rId16" Type="http://schemas.openxmlformats.org/officeDocument/2006/relationships/image" Target="../media/image66.png"/><Relationship Id="rId20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5" Type="http://schemas.openxmlformats.org/officeDocument/2006/relationships/image" Target="../media/image65.png"/><Relationship Id="rId10" Type="http://schemas.openxmlformats.org/officeDocument/2006/relationships/image" Target="../media/image60.png"/><Relationship Id="rId19" Type="http://schemas.openxmlformats.org/officeDocument/2006/relationships/image" Target="../media/image69.png"/><Relationship Id="rId4" Type="http://schemas.openxmlformats.org/officeDocument/2006/relationships/image" Target="../media/image3.png"/><Relationship Id="rId9" Type="http://schemas.openxmlformats.org/officeDocument/2006/relationships/image" Target="../media/image59.webp"/><Relationship Id="rId14" Type="http://schemas.openxmlformats.org/officeDocument/2006/relationships/image" Target="../media/image64.png"/><Relationship Id="rId22" Type="http://schemas.openxmlformats.org/officeDocument/2006/relationships/image" Target="../media/image7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svg"/><Relationship Id="rId13" Type="http://schemas.openxmlformats.org/officeDocument/2006/relationships/image" Target="../media/image80.png"/><Relationship Id="rId3" Type="http://schemas.openxmlformats.org/officeDocument/2006/relationships/image" Target="../media/image2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2" Type="http://schemas.openxmlformats.org/officeDocument/2006/relationships/image" Target="../media/image1.jpg"/><Relationship Id="rId16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gif"/><Relationship Id="rId11" Type="http://schemas.openxmlformats.org/officeDocument/2006/relationships/image" Target="../media/image78.png"/><Relationship Id="rId5" Type="http://schemas.openxmlformats.org/officeDocument/2006/relationships/image" Target="../media/image60.png"/><Relationship Id="rId15" Type="http://schemas.openxmlformats.org/officeDocument/2006/relationships/image" Target="../media/image81.png"/><Relationship Id="rId10" Type="http://schemas.openxmlformats.org/officeDocument/2006/relationships/image" Target="../media/image77.svg"/><Relationship Id="rId4" Type="http://schemas.openxmlformats.org/officeDocument/2006/relationships/image" Target="../media/image3.png"/><Relationship Id="rId9" Type="http://schemas.openxmlformats.org/officeDocument/2006/relationships/image" Target="../media/image76.png"/><Relationship Id="rId14" Type="http://schemas.openxmlformats.org/officeDocument/2006/relationships/image" Target="../media/image7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2.png"/><Relationship Id="rId7" Type="http://schemas.openxmlformats.org/officeDocument/2006/relationships/image" Target="../media/image84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60.png"/><Relationship Id="rId4" Type="http://schemas.openxmlformats.org/officeDocument/2006/relationships/image" Target="../media/image3.png"/><Relationship Id="rId9" Type="http://schemas.openxmlformats.org/officeDocument/2006/relationships/image" Target="../media/image86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42.svg"/><Relationship Id="rId18" Type="http://schemas.openxmlformats.org/officeDocument/2006/relationships/image" Target="../media/image48.png"/><Relationship Id="rId3" Type="http://schemas.openxmlformats.org/officeDocument/2006/relationships/image" Target="../media/image2.png"/><Relationship Id="rId21" Type="http://schemas.openxmlformats.org/officeDocument/2006/relationships/image" Target="../media/image93.png"/><Relationship Id="rId7" Type="http://schemas.openxmlformats.org/officeDocument/2006/relationships/image" Target="../media/image89.png"/><Relationship Id="rId12" Type="http://schemas.openxmlformats.org/officeDocument/2006/relationships/image" Target="../media/image41.png"/><Relationship Id="rId17" Type="http://schemas.openxmlformats.org/officeDocument/2006/relationships/image" Target="../media/image47.svg"/><Relationship Id="rId25" Type="http://schemas.openxmlformats.org/officeDocument/2006/relationships/image" Target="../media/image97.png"/><Relationship Id="rId2" Type="http://schemas.openxmlformats.org/officeDocument/2006/relationships/image" Target="../media/image1.jpg"/><Relationship Id="rId16" Type="http://schemas.openxmlformats.org/officeDocument/2006/relationships/image" Target="../media/image46.png"/><Relationship Id="rId20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11" Type="http://schemas.openxmlformats.org/officeDocument/2006/relationships/image" Target="../media/image35.svg"/><Relationship Id="rId24" Type="http://schemas.openxmlformats.org/officeDocument/2006/relationships/image" Target="../media/image96.jpg"/><Relationship Id="rId5" Type="http://schemas.openxmlformats.org/officeDocument/2006/relationships/image" Target="../media/image87.png"/><Relationship Id="rId15" Type="http://schemas.openxmlformats.org/officeDocument/2006/relationships/image" Target="../media/image45.svg"/><Relationship Id="rId23" Type="http://schemas.openxmlformats.org/officeDocument/2006/relationships/image" Target="../media/image95.png"/><Relationship Id="rId10" Type="http://schemas.openxmlformats.org/officeDocument/2006/relationships/image" Target="../media/image34.png"/><Relationship Id="rId19" Type="http://schemas.openxmlformats.org/officeDocument/2006/relationships/image" Target="../media/image49.svg"/><Relationship Id="rId4" Type="http://schemas.openxmlformats.org/officeDocument/2006/relationships/image" Target="../media/image3.png"/><Relationship Id="rId9" Type="http://schemas.openxmlformats.org/officeDocument/2006/relationships/image" Target="../media/image91.png"/><Relationship Id="rId14" Type="http://schemas.openxmlformats.org/officeDocument/2006/relationships/image" Target="../media/image44.png"/><Relationship Id="rId22" Type="http://schemas.openxmlformats.org/officeDocument/2006/relationships/image" Target="../media/image9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8.jp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5" Type="http://schemas.openxmlformats.org/officeDocument/2006/relationships/image" Target="../media/image100.jpg"/><Relationship Id="rId4" Type="http://schemas.openxmlformats.org/officeDocument/2006/relationships/image" Target="../media/image99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ventana, exterior, cielo&#10;&#10;Descripción generada con confianza muy alta">
            <a:extLst>
              <a:ext uri="{FF2B5EF4-FFF2-40B4-BE49-F238E27FC236}">
                <a16:creationId xmlns:a16="http://schemas.microsoft.com/office/drawing/2014/main" id="{84BB6350-E164-4AD4-AC82-146EAF494A8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30" t="10153" r="5159" b="75641"/>
          <a:stretch/>
        </p:blipFill>
        <p:spPr>
          <a:xfrm>
            <a:off x="0" y="0"/>
            <a:ext cx="12192000" cy="97422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B930881-B1F3-4B8F-9510-7AE2668552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5936" y="221322"/>
            <a:ext cx="2016155" cy="53157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B2EE530-A3EA-4E3B-8A3D-AB25228964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974221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A3CCC8B3-C227-42B9-9183-968AB905E226}"/>
              </a:ext>
            </a:extLst>
          </p:cNvPr>
          <p:cNvSpPr/>
          <p:nvPr/>
        </p:nvSpPr>
        <p:spPr>
          <a:xfrm>
            <a:off x="2057399" y="1076609"/>
            <a:ext cx="2514600" cy="12158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D3F5BD0-E82E-494F-81EE-EDF3824EA83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9F42304-3B31-429C-B414-29EA749CCE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0051" y="650283"/>
            <a:ext cx="12192000" cy="5131108"/>
          </a:xfrm>
          <a:prstGeom prst="rect">
            <a:avLst/>
          </a:prstGeom>
        </p:spPr>
      </p:pic>
      <p:pic>
        <p:nvPicPr>
          <p:cNvPr id="7" name="Imagen 6" descr="Imagen que contiene dibujo&#10;&#10;Descripción generada automáticamente">
            <a:extLst>
              <a:ext uri="{FF2B5EF4-FFF2-40B4-BE49-F238E27FC236}">
                <a16:creationId xmlns:a16="http://schemas.microsoft.com/office/drawing/2014/main" id="{7F17789A-2EAF-4D92-AAF5-66A5AFD213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0066" y="6207717"/>
            <a:ext cx="1722281" cy="391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303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ventana, exterior, cielo&#10;&#10;Descripción generada con confianza muy alta">
            <a:extLst>
              <a:ext uri="{FF2B5EF4-FFF2-40B4-BE49-F238E27FC236}">
                <a16:creationId xmlns:a16="http://schemas.microsoft.com/office/drawing/2014/main" id="{84BB6350-E164-4AD4-AC82-146EAF494A8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30" t="10153" r="5159" b="75641"/>
          <a:stretch/>
        </p:blipFill>
        <p:spPr>
          <a:xfrm>
            <a:off x="0" y="0"/>
            <a:ext cx="12192000" cy="97422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B930881-B1F3-4B8F-9510-7AE2668552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5936" y="221322"/>
            <a:ext cx="2016155" cy="53157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B2EE530-A3EA-4E3B-8A3D-AB25228964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974221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E3B9C85B-22BB-4020-9B0D-EFFE92572510}"/>
              </a:ext>
            </a:extLst>
          </p:cNvPr>
          <p:cNvSpPr txBox="1"/>
          <p:nvPr/>
        </p:nvSpPr>
        <p:spPr>
          <a:xfrm>
            <a:off x="177247" y="229677"/>
            <a:ext cx="118375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Que </a:t>
            </a:r>
            <a:r>
              <a:rPr lang="en-US" sz="28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significa</a:t>
            </a:r>
            <a:r>
              <a:rPr lang="en-US" sz="2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para </a:t>
            </a:r>
            <a:r>
              <a:rPr lang="en-US" sz="28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nosotros</a:t>
            </a:r>
            <a:r>
              <a:rPr lang="en-US" sz="2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Open Low Code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AA234BE-7550-4380-A7E9-3FFE8FFEEA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4045" y="2433440"/>
            <a:ext cx="725253" cy="688776"/>
          </a:xfrm>
          <a:prstGeom prst="rect">
            <a:avLst/>
          </a:prstGeom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3D9F7BCB-F4C8-4A60-8D1C-E63C9EBD2405}"/>
              </a:ext>
            </a:extLst>
          </p:cNvPr>
          <p:cNvSpPr/>
          <p:nvPr/>
        </p:nvSpPr>
        <p:spPr>
          <a:xfrm>
            <a:off x="2305951" y="2551367"/>
            <a:ext cx="86632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No </a:t>
            </a:r>
            <a:r>
              <a:rPr lang="es-ES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creamos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ninguna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dependencia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entre las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aplicaciónes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y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nuestra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plataforma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  <a:endParaRPr lang="en-US" sz="1000" b="1" dirty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FCF36EE-6A39-4382-89A2-6BFC615E0B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4044" y="3311629"/>
            <a:ext cx="725253" cy="600848"/>
          </a:xfrm>
          <a:prstGeom prst="rect">
            <a:avLst/>
          </a:prstGeom>
        </p:spPr>
      </p:pic>
      <p:sp>
        <p:nvSpPr>
          <p:cNvPr id="19" name="Rectángulo 18">
            <a:extLst>
              <a:ext uri="{FF2B5EF4-FFF2-40B4-BE49-F238E27FC236}">
                <a16:creationId xmlns:a16="http://schemas.microsoft.com/office/drawing/2014/main" id="{16BBDA5C-263A-4C73-9F9F-D9105FE12E28}"/>
              </a:ext>
            </a:extLst>
          </p:cNvPr>
          <p:cNvSpPr/>
          <p:nvPr/>
        </p:nvSpPr>
        <p:spPr>
          <a:xfrm>
            <a:off x="2305952" y="3422921"/>
            <a:ext cx="75712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Acceso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completo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al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codigo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generado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permitiendo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su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modificación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. </a:t>
            </a:r>
            <a:endParaRPr lang="en-US" sz="1000" b="1" dirty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1F89440-3612-4297-B90B-58AB440B1162}"/>
              </a:ext>
            </a:extLst>
          </p:cNvPr>
          <p:cNvSpPr/>
          <p:nvPr/>
        </p:nvSpPr>
        <p:spPr>
          <a:xfrm>
            <a:off x="2239172" y="5288401"/>
            <a:ext cx="90071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Fomentamos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la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generación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de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aplicaciones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implementando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tecnologias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Open Source.</a:t>
            </a:r>
            <a:endParaRPr lang="es-ES" dirty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C66EFEE-CF8E-454F-8375-EE502CA1EA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2560" y="5291347"/>
            <a:ext cx="645523" cy="645523"/>
          </a:xfrm>
          <a:prstGeom prst="rect">
            <a:avLst/>
          </a:prstGeom>
        </p:spPr>
      </p:pic>
      <p:sp>
        <p:nvSpPr>
          <p:cNvPr id="25" name="Rectángulo 24">
            <a:extLst>
              <a:ext uri="{FF2B5EF4-FFF2-40B4-BE49-F238E27FC236}">
                <a16:creationId xmlns:a16="http://schemas.microsoft.com/office/drawing/2014/main" id="{FB1899CC-5C37-44A3-9687-3C93C6DEB0B3}"/>
              </a:ext>
            </a:extLst>
          </p:cNvPr>
          <p:cNvSpPr/>
          <p:nvPr/>
        </p:nvSpPr>
        <p:spPr>
          <a:xfrm>
            <a:off x="2239173" y="4364776"/>
            <a:ext cx="75712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Adaptada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100% al stack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tecnológico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y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metodología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de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nuestro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cliente.</a:t>
            </a:r>
            <a:endParaRPr lang="es-ES" dirty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22872AC-FC5E-40DE-ADDC-A3F754D4689E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46" t="24311" r="15445" b="18495"/>
          <a:stretch/>
        </p:blipFill>
        <p:spPr>
          <a:xfrm>
            <a:off x="1169501" y="4258673"/>
            <a:ext cx="738243" cy="645523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6B5680D0-5ED6-48D8-BE5B-787160EBBF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884" y="295996"/>
            <a:ext cx="1449705" cy="382226"/>
          </a:xfrm>
          <a:prstGeom prst="rect">
            <a:avLst/>
          </a:prstGeom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43E6FEA0-A237-4F8E-B1C9-884ACCE321C5}"/>
              </a:ext>
            </a:extLst>
          </p:cNvPr>
          <p:cNvSpPr/>
          <p:nvPr/>
        </p:nvSpPr>
        <p:spPr>
          <a:xfrm>
            <a:off x="1787909" y="1523628"/>
            <a:ext cx="87532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Al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contrario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de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como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funcionan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el resto de </a:t>
            </a:r>
            <a:r>
              <a:rPr lang="en-US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plataformas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Low-Code , con Artfacto</a:t>
            </a:r>
            <a:endParaRPr lang="en-US" sz="1000" b="1" dirty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6619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ventana, exterior, cielo&#10;&#10;Descripción generada con confianza muy alta">
            <a:extLst>
              <a:ext uri="{FF2B5EF4-FFF2-40B4-BE49-F238E27FC236}">
                <a16:creationId xmlns:a16="http://schemas.microsoft.com/office/drawing/2014/main" id="{814C5158-04D1-4FD6-B5C2-F5C2C4F0EB3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30" t="10153" r="5159" b="75641"/>
          <a:stretch/>
        </p:blipFill>
        <p:spPr>
          <a:xfrm>
            <a:off x="0" y="0"/>
            <a:ext cx="12192000" cy="97422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87DF1E5-9C96-42F7-ABCD-C7AA016764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5936" y="221322"/>
            <a:ext cx="2016155" cy="531575"/>
          </a:xfrm>
          <a:prstGeom prst="rect">
            <a:avLst/>
          </a:prstGeom>
        </p:spPr>
      </p:pic>
      <p:pic>
        <p:nvPicPr>
          <p:cNvPr id="8" name="Imagen 7" descr="Imagen que contiene captura de pantalla, monitor, interior, ordenador&#10;&#10;Descripción generada con confianza alta">
            <a:extLst>
              <a:ext uri="{FF2B5EF4-FFF2-40B4-BE49-F238E27FC236}">
                <a16:creationId xmlns:a16="http://schemas.microsoft.com/office/drawing/2014/main" id="{93BF1C47-AE93-4575-8860-AAF3F1282E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5759" y="3498211"/>
            <a:ext cx="5943887" cy="3107127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3F117F12-57D6-4261-A651-10304FC45AF6}"/>
              </a:ext>
            </a:extLst>
          </p:cNvPr>
          <p:cNvSpPr txBox="1"/>
          <p:nvPr/>
        </p:nvSpPr>
        <p:spPr>
          <a:xfrm>
            <a:off x="2075398" y="3234440"/>
            <a:ext cx="21526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</a:rPr>
              <a:t>Adaptable y personalizable </a:t>
            </a:r>
          </a:p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</a:rPr>
              <a:t>a las tecnologías del cliente.</a:t>
            </a:r>
          </a:p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</a:rPr>
              <a:t>Consolidación de equipos </a:t>
            </a:r>
          </a:p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</a:rPr>
              <a:t>de desarrollo. 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09D43AD-FE3E-4AA7-A366-7DC9EC43B851}"/>
              </a:ext>
            </a:extLst>
          </p:cNvPr>
          <p:cNvSpPr txBox="1"/>
          <p:nvPr/>
        </p:nvSpPr>
        <p:spPr>
          <a:xfrm>
            <a:off x="2116870" y="4398290"/>
            <a:ext cx="18207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Reducción de tiempo de generación</a:t>
            </a:r>
          </a:p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 proyectos.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BE62969-CB6A-4ABB-AB0A-1176DA590D78}"/>
              </a:ext>
            </a:extLst>
          </p:cNvPr>
          <p:cNvSpPr txBox="1"/>
          <p:nvPr/>
        </p:nvSpPr>
        <p:spPr>
          <a:xfrm>
            <a:off x="2145939" y="5383242"/>
            <a:ext cx="19747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Ahorro en costes directos</a:t>
            </a:r>
            <a:b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 desarrollo, correctivos y evolutivos.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269A40B-D9B2-45A9-BC95-68857F205FD1}"/>
              </a:ext>
            </a:extLst>
          </p:cNvPr>
          <p:cNvSpPr txBox="1"/>
          <p:nvPr/>
        </p:nvSpPr>
        <p:spPr>
          <a:xfrm>
            <a:off x="2081461" y="2409835"/>
            <a:ext cx="19747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Normalización y buena praxis en el código generado.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4809212-BA41-4DED-83E9-9A6193E3F206}"/>
              </a:ext>
            </a:extLst>
          </p:cNvPr>
          <p:cNvSpPr txBox="1"/>
          <p:nvPr/>
        </p:nvSpPr>
        <p:spPr>
          <a:xfrm>
            <a:off x="0" y="1407326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algn="ctr">
              <a:defRPr sz="3200">
                <a:solidFill>
                  <a:srgbClr val="5F849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s-ES" dirty="0"/>
              <a:t>Ventajas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35F440D-C976-4D9C-BF86-54C137A94EB1}"/>
              </a:ext>
            </a:extLst>
          </p:cNvPr>
          <p:cNvSpPr txBox="1"/>
          <p:nvPr/>
        </p:nvSpPr>
        <p:spPr>
          <a:xfrm>
            <a:off x="5251903" y="2331659"/>
            <a:ext cx="19747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Pruebas de calidad integradas.  Reducción </a:t>
            </a:r>
          </a:p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 la pérdida de </a:t>
            </a:r>
            <a:r>
              <a:rPr lang="es-E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Know</a:t>
            </a:r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E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How</a:t>
            </a:r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ante la rotación </a:t>
            </a:r>
          </a:p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 personal.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C72766E-D2A8-4C2E-9B22-523E5C7239D2}"/>
              </a:ext>
            </a:extLst>
          </p:cNvPr>
          <p:cNvSpPr txBox="1"/>
          <p:nvPr/>
        </p:nvSpPr>
        <p:spPr>
          <a:xfrm>
            <a:off x="8678180" y="2323215"/>
            <a:ext cx="21439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Generación Automática </a:t>
            </a:r>
          </a:p>
          <a:p>
            <a:r>
              <a:rPr lang="es-E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 código fuente y otros componentes.</a:t>
            </a:r>
            <a:r>
              <a:rPr lang="es-E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 El código fuente es propiedad del cliente.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46F0A802-7849-48D1-853D-7725244F73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573" y="3423130"/>
            <a:ext cx="602364" cy="602364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9F555F90-6A2D-4739-9BAB-081CB8A7D4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573" y="2448848"/>
            <a:ext cx="586659" cy="586659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CB1D159E-8B68-47B9-8AA4-28343EA89D1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290" y="4413117"/>
            <a:ext cx="615823" cy="615823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B1C0DCC1-F754-4C82-8638-F1097B566B9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290" y="5391567"/>
            <a:ext cx="584775" cy="584775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E39B2C70-F561-46D4-8688-EC323390417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9031" y="2344122"/>
            <a:ext cx="584775" cy="584775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45D3C10A-D13D-4045-84D9-41266BE644E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4103" y="2323215"/>
            <a:ext cx="631284" cy="631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295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n 23" descr="Imagen que contiene estrella&#10;&#10;Descripción generada con confianza alta">
            <a:extLst>
              <a:ext uri="{FF2B5EF4-FFF2-40B4-BE49-F238E27FC236}">
                <a16:creationId xmlns:a16="http://schemas.microsoft.com/office/drawing/2014/main" id="{3E52E6A0-75CE-470E-B800-D83FE259A9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519"/>
          <a:stretch/>
        </p:blipFill>
        <p:spPr>
          <a:xfrm flipH="1" flipV="1">
            <a:off x="-2" y="0"/>
            <a:ext cx="6096001" cy="6858000"/>
          </a:xfrm>
          <a:prstGeom prst="rect">
            <a:avLst/>
          </a:prstGeom>
        </p:spPr>
      </p:pic>
      <p:sp>
        <p:nvSpPr>
          <p:cNvPr id="26" name="Rectángulo 25">
            <a:extLst>
              <a:ext uri="{FF2B5EF4-FFF2-40B4-BE49-F238E27FC236}">
                <a16:creationId xmlns:a16="http://schemas.microsoft.com/office/drawing/2014/main" id="{8ABD3141-3342-4913-A9C9-D320B8D7BA11}"/>
              </a:ext>
            </a:extLst>
          </p:cNvPr>
          <p:cNvSpPr/>
          <p:nvPr/>
        </p:nvSpPr>
        <p:spPr>
          <a:xfrm>
            <a:off x="0" y="3022134"/>
            <a:ext cx="6095999" cy="8137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0D0B041E-2DB3-430F-AA04-9D15E66236B9}"/>
              </a:ext>
            </a:extLst>
          </p:cNvPr>
          <p:cNvSpPr txBox="1"/>
          <p:nvPr/>
        </p:nvSpPr>
        <p:spPr>
          <a:xfrm>
            <a:off x="-2" y="3136612"/>
            <a:ext cx="6095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dirty="0">
                <a:solidFill>
                  <a:srgbClr val="001216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Artfacto </a:t>
            </a:r>
            <a:r>
              <a:rPr lang="es-ES" sz="3200" dirty="0" err="1">
                <a:solidFill>
                  <a:srgbClr val="001216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Plataform</a:t>
            </a:r>
            <a:endParaRPr lang="es-ES" sz="3200" dirty="0">
              <a:solidFill>
                <a:srgbClr val="001216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64EC08F2-0231-451C-8C5B-0EB49B5175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2721" y="335559"/>
            <a:ext cx="2233044" cy="2233044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24845CC6-3919-45C4-8367-8A73CE5D5F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5999" y="3970650"/>
            <a:ext cx="2232000" cy="2232000"/>
          </a:xfrm>
          <a:prstGeom prst="rect">
            <a:avLst/>
          </a:prstGeom>
        </p:spPr>
      </p:pic>
      <p:pic>
        <p:nvPicPr>
          <p:cNvPr id="42" name="Imagen 41">
            <a:extLst>
              <a:ext uri="{FF2B5EF4-FFF2-40B4-BE49-F238E27FC236}">
                <a16:creationId xmlns:a16="http://schemas.microsoft.com/office/drawing/2014/main" id="{A6E7D924-5EEB-4B76-AA30-9ADF33ED3E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3968" y="3970650"/>
            <a:ext cx="2232000" cy="2232000"/>
          </a:xfrm>
          <a:prstGeom prst="rect">
            <a:avLst/>
          </a:prstGeom>
        </p:spPr>
      </p:pic>
      <p:pic>
        <p:nvPicPr>
          <p:cNvPr id="44" name="Imagen 43">
            <a:extLst>
              <a:ext uri="{FF2B5EF4-FFF2-40B4-BE49-F238E27FC236}">
                <a16:creationId xmlns:a16="http://schemas.microsoft.com/office/drawing/2014/main" id="{36AB9BCA-F92C-46ED-B639-2EC6DEA4EA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5999" y="373387"/>
            <a:ext cx="2232000" cy="22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772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ventana, exterior, cielo&#10;&#10;Descripción generada con confianza muy alta">
            <a:extLst>
              <a:ext uri="{FF2B5EF4-FFF2-40B4-BE49-F238E27FC236}">
                <a16:creationId xmlns:a16="http://schemas.microsoft.com/office/drawing/2014/main" id="{84BB6350-E164-4AD4-AC82-146EAF494A8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30" t="10153" r="5159" b="75641"/>
          <a:stretch/>
        </p:blipFill>
        <p:spPr>
          <a:xfrm>
            <a:off x="0" y="0"/>
            <a:ext cx="12192000" cy="97422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B930881-B1F3-4B8F-9510-7AE2668552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5936" y="221322"/>
            <a:ext cx="2016155" cy="53157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B2EE530-A3EA-4E3B-8A3D-AB25228964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974221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E3B9C85B-22BB-4020-9B0D-EFFE92572510}"/>
              </a:ext>
            </a:extLst>
          </p:cNvPr>
          <p:cNvSpPr txBox="1"/>
          <p:nvPr/>
        </p:nvSpPr>
        <p:spPr>
          <a:xfrm>
            <a:off x="177247" y="269279"/>
            <a:ext cx="118375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Entorno</a:t>
            </a:r>
            <a:r>
              <a:rPr lang="en-US" sz="2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de </a:t>
            </a:r>
            <a:r>
              <a:rPr lang="en-US" sz="28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desarrollo</a:t>
            </a:r>
            <a:endParaRPr lang="en-US" sz="28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3CCC8B3-C227-42B9-9183-968AB905E226}"/>
              </a:ext>
            </a:extLst>
          </p:cNvPr>
          <p:cNvSpPr/>
          <p:nvPr/>
        </p:nvSpPr>
        <p:spPr>
          <a:xfrm>
            <a:off x="2057399" y="1076609"/>
            <a:ext cx="2514600" cy="12158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E23DD4E-04D7-4860-8A87-B76554727C64}"/>
              </a:ext>
            </a:extLst>
          </p:cNvPr>
          <p:cNvSpPr/>
          <p:nvPr/>
        </p:nvSpPr>
        <p:spPr>
          <a:xfrm>
            <a:off x="4902201" y="1438078"/>
            <a:ext cx="269903" cy="5902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E64C37C-F520-434A-B68E-690A4D61AAB3}"/>
              </a:ext>
            </a:extLst>
          </p:cNvPr>
          <p:cNvSpPr/>
          <p:nvPr/>
        </p:nvSpPr>
        <p:spPr>
          <a:xfrm>
            <a:off x="6901986" y="2030091"/>
            <a:ext cx="899437" cy="4491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96EA7BF2-5FA3-4446-8025-A2351C1E17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0" y="390654"/>
            <a:ext cx="2094848" cy="2094848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B80730CC-9B79-4E32-B103-2E90DC05CA36}"/>
              </a:ext>
            </a:extLst>
          </p:cNvPr>
          <p:cNvSpPr/>
          <p:nvPr/>
        </p:nvSpPr>
        <p:spPr>
          <a:xfrm>
            <a:off x="6901986" y="2712803"/>
            <a:ext cx="4312649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rgbClr val="646670"/>
                </a:solidFill>
                <a:latin typeface="Roboto" panose="02000000000000000000"/>
              </a:rPr>
              <a:t>Artfacto Kamino es el entorno de desarrollo, que permite crear aplicaciones en diversas tecnologías de una forma grafica e intuitiva, sin necesidad de escribir código.</a:t>
            </a:r>
          </a:p>
          <a:p>
            <a:endParaRPr lang="es-ES" sz="1600" dirty="0">
              <a:solidFill>
                <a:srgbClr val="646670"/>
              </a:solidFill>
              <a:latin typeface="Roboto" panose="02000000000000000000"/>
            </a:endParaRPr>
          </a:p>
          <a:p>
            <a:r>
              <a:rPr lang="es-ES" sz="1600" dirty="0">
                <a:solidFill>
                  <a:srgbClr val="646670"/>
                </a:solidFill>
                <a:latin typeface="Roboto" panose="02000000000000000000"/>
              </a:rPr>
              <a:t>También permite migrar proyectos diseñados en Kamino de una tecnología </a:t>
            </a:r>
          </a:p>
          <a:p>
            <a:r>
              <a:rPr lang="es-ES" sz="1600" dirty="0">
                <a:solidFill>
                  <a:srgbClr val="646670"/>
                </a:solidFill>
                <a:latin typeface="Roboto" panose="02000000000000000000"/>
              </a:rPr>
              <a:t>a otra en cuestión de minutos.</a:t>
            </a:r>
            <a:endParaRPr lang="es-ES" sz="1600" dirty="0">
              <a:solidFill>
                <a:srgbClr val="646670"/>
              </a:solidFill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AF6C672B-1807-41F4-B0AE-D1D473835C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962" y="2096217"/>
            <a:ext cx="4508344" cy="2209623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784B2080-30AB-4BFE-A46C-3314287E78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3560" y="4305840"/>
            <a:ext cx="3305995" cy="2199919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01360D19-9F5D-4C76-80E3-C3D4A4BA58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884" y="295996"/>
            <a:ext cx="1449705" cy="382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472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ventana, exterior, cielo&#10;&#10;Descripción generada con confianza muy alta">
            <a:extLst>
              <a:ext uri="{FF2B5EF4-FFF2-40B4-BE49-F238E27FC236}">
                <a16:creationId xmlns:a16="http://schemas.microsoft.com/office/drawing/2014/main" id="{84BB6350-E164-4AD4-AC82-146EAF494A8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30" t="10153" r="5159" b="75641"/>
          <a:stretch/>
        </p:blipFill>
        <p:spPr>
          <a:xfrm>
            <a:off x="0" y="0"/>
            <a:ext cx="12192000" cy="97422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B930881-B1F3-4B8F-9510-7AE2668552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5936" y="221322"/>
            <a:ext cx="2016155" cy="53157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B2EE530-A3EA-4E3B-8A3D-AB25228964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974221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E3B9C85B-22BB-4020-9B0D-EFFE92572510}"/>
              </a:ext>
            </a:extLst>
          </p:cNvPr>
          <p:cNvSpPr txBox="1"/>
          <p:nvPr/>
        </p:nvSpPr>
        <p:spPr>
          <a:xfrm>
            <a:off x="177247" y="259296"/>
            <a:ext cx="118375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Diseño</a:t>
            </a:r>
            <a:r>
              <a:rPr lang="en-US" sz="2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de </a:t>
            </a:r>
            <a:r>
              <a:rPr lang="en-US" sz="28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Pantallas</a:t>
            </a:r>
            <a:endParaRPr lang="en-US" sz="28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3CCC8B3-C227-42B9-9183-968AB905E226}"/>
              </a:ext>
            </a:extLst>
          </p:cNvPr>
          <p:cNvSpPr/>
          <p:nvPr/>
        </p:nvSpPr>
        <p:spPr>
          <a:xfrm>
            <a:off x="2057399" y="1076609"/>
            <a:ext cx="2514600" cy="12158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E23DD4E-04D7-4860-8A87-B76554727C64}"/>
              </a:ext>
            </a:extLst>
          </p:cNvPr>
          <p:cNvSpPr/>
          <p:nvPr/>
        </p:nvSpPr>
        <p:spPr>
          <a:xfrm>
            <a:off x="4902201" y="1438078"/>
            <a:ext cx="269903" cy="5902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E64C37C-F520-434A-B68E-690A4D61AAB3}"/>
              </a:ext>
            </a:extLst>
          </p:cNvPr>
          <p:cNvSpPr/>
          <p:nvPr/>
        </p:nvSpPr>
        <p:spPr>
          <a:xfrm>
            <a:off x="6967036" y="2028362"/>
            <a:ext cx="899437" cy="4491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96EA7BF2-5FA3-4446-8025-A2351C1E17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0" y="390654"/>
            <a:ext cx="2094848" cy="2094848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1EDC84F9-35E5-4145-8943-65CE13DF3E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165" y="2030443"/>
            <a:ext cx="4008945" cy="2023285"/>
          </a:xfrm>
          <a:prstGeom prst="rect">
            <a:avLst/>
          </a:prstGeom>
        </p:spPr>
      </p:pic>
      <p:sp>
        <p:nvSpPr>
          <p:cNvPr id="22" name="Rectángulo 21">
            <a:extLst>
              <a:ext uri="{FF2B5EF4-FFF2-40B4-BE49-F238E27FC236}">
                <a16:creationId xmlns:a16="http://schemas.microsoft.com/office/drawing/2014/main" id="{12B8BB58-2B4E-4779-A615-2579F7062906}"/>
              </a:ext>
            </a:extLst>
          </p:cNvPr>
          <p:cNvSpPr/>
          <p:nvPr/>
        </p:nvSpPr>
        <p:spPr>
          <a:xfrm>
            <a:off x="5475713" y="1966418"/>
            <a:ext cx="5874041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Kamino </a:t>
            </a:r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proporciona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 </a:t>
            </a:r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diferentes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 </a:t>
            </a:r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diseñadores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 que le </a:t>
            </a:r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permiten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 </a:t>
            </a:r>
          </a:p>
          <a:p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crear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 </a:t>
            </a:r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pantallas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 de </a:t>
            </a:r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aplicaciones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, </a:t>
            </a:r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incluyendo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 </a:t>
            </a:r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moviles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, </a:t>
            </a:r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utilizando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 </a:t>
            </a:r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plantillas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 </a:t>
            </a:r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definidas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 por el </a:t>
            </a:r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propio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 </a:t>
            </a:r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usuario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 y que </a:t>
            </a:r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pueden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 </a:t>
            </a:r>
          </a:p>
          <a:p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ser </a:t>
            </a:r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reutilizadas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.</a:t>
            </a:r>
            <a:endParaRPr lang="en-US" sz="1600" b="1" dirty="0">
              <a:solidFill>
                <a:srgbClr val="646670"/>
              </a:solidFill>
              <a:latin typeface="Roboto" panose="02000000000000000000"/>
            </a:endParaRPr>
          </a:p>
          <a:p>
            <a:br>
              <a:rPr lang="en-US" dirty="0"/>
            </a:br>
            <a:endParaRPr lang="es-ES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4D420CE3-D209-4A8D-B4CA-01DD3E5B89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884" y="295996"/>
            <a:ext cx="1449705" cy="382226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5946B96D-2D75-4B93-94ED-D05BB8E494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13334" y="3894337"/>
            <a:ext cx="5874040" cy="254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811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ventana, exterior, cielo&#10;&#10;Descripción generada con confianza muy alta">
            <a:extLst>
              <a:ext uri="{FF2B5EF4-FFF2-40B4-BE49-F238E27FC236}">
                <a16:creationId xmlns:a16="http://schemas.microsoft.com/office/drawing/2014/main" id="{84BB6350-E164-4AD4-AC82-146EAF494A8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30" t="10153" r="5159" b="75641"/>
          <a:stretch/>
        </p:blipFill>
        <p:spPr>
          <a:xfrm>
            <a:off x="0" y="0"/>
            <a:ext cx="12192000" cy="97422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B930881-B1F3-4B8F-9510-7AE2668552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5936" y="221322"/>
            <a:ext cx="2016155" cy="53157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B2EE530-A3EA-4E3B-8A3D-AB25228964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974221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E3B9C85B-22BB-4020-9B0D-EFFE92572510}"/>
              </a:ext>
            </a:extLst>
          </p:cNvPr>
          <p:cNvSpPr txBox="1"/>
          <p:nvPr/>
        </p:nvSpPr>
        <p:spPr>
          <a:xfrm>
            <a:off x="177247" y="229677"/>
            <a:ext cx="118375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Diseñe</a:t>
            </a:r>
            <a:r>
              <a:rPr lang="en-US" sz="2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sus </a:t>
            </a:r>
            <a:r>
              <a:rPr lang="en-US" sz="28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microservicios</a:t>
            </a:r>
            <a:endParaRPr lang="en-US" sz="28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3CCC8B3-C227-42B9-9183-968AB905E226}"/>
              </a:ext>
            </a:extLst>
          </p:cNvPr>
          <p:cNvSpPr/>
          <p:nvPr/>
        </p:nvSpPr>
        <p:spPr>
          <a:xfrm>
            <a:off x="2057399" y="1076609"/>
            <a:ext cx="2514600" cy="12158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E23DD4E-04D7-4860-8A87-B76554727C64}"/>
              </a:ext>
            </a:extLst>
          </p:cNvPr>
          <p:cNvSpPr/>
          <p:nvPr/>
        </p:nvSpPr>
        <p:spPr>
          <a:xfrm>
            <a:off x="4902201" y="1438078"/>
            <a:ext cx="269903" cy="5902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E64C37C-F520-434A-B68E-690A4D61AAB3}"/>
              </a:ext>
            </a:extLst>
          </p:cNvPr>
          <p:cNvSpPr/>
          <p:nvPr/>
        </p:nvSpPr>
        <p:spPr>
          <a:xfrm>
            <a:off x="6967036" y="2028362"/>
            <a:ext cx="899437" cy="4491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96EA7BF2-5FA3-4446-8025-A2351C1E17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0" y="390654"/>
            <a:ext cx="2094848" cy="2094848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B80730CC-9B79-4E32-B103-2E90DC05CA36}"/>
              </a:ext>
            </a:extLst>
          </p:cNvPr>
          <p:cNvSpPr/>
          <p:nvPr/>
        </p:nvSpPr>
        <p:spPr>
          <a:xfrm>
            <a:off x="7245777" y="2211207"/>
            <a:ext cx="4406820" cy="25436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Kamino </a:t>
            </a:r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permite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 </a:t>
            </a:r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diseñar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 </a:t>
            </a:r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graficamente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 micro Servicios </a:t>
            </a:r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siguiendo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 las </a:t>
            </a:r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especificaciones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 </a:t>
            </a:r>
          </a:p>
          <a:p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de Open API 3 y Swagger 2.0</a:t>
            </a:r>
          </a:p>
          <a:p>
            <a:endParaRPr lang="en-US" sz="1600" dirty="0">
              <a:solidFill>
                <a:srgbClr val="646670"/>
              </a:solidFill>
              <a:latin typeface="Roboto" panose="02000000000000000000"/>
            </a:endParaRPr>
          </a:p>
          <a:p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Conecta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 Operaciones con bases de </a:t>
            </a:r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datos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 </a:t>
            </a:r>
          </a:p>
          <a:p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y Servicios web </a:t>
            </a:r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internos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 o de </a:t>
            </a:r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terceros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.</a:t>
            </a:r>
          </a:p>
          <a:p>
            <a:endParaRPr lang="en-US" sz="1600" dirty="0">
              <a:solidFill>
                <a:srgbClr val="646670"/>
              </a:solidFill>
              <a:latin typeface="Roboto" panose="02000000000000000000"/>
            </a:endParaRPr>
          </a:p>
          <a:p>
            <a:r>
              <a:rPr lang="es-ES" sz="1600" dirty="0">
                <a:solidFill>
                  <a:srgbClr val="646670"/>
                </a:solidFill>
                <a:latin typeface="Roboto" panose="02000000000000000000"/>
              </a:rPr>
              <a:t>Puede definir reglas en lenguaje natural</a:t>
            </a:r>
          </a:p>
          <a:p>
            <a:endParaRPr lang="es-ES" sz="1600" dirty="0">
              <a:solidFill>
                <a:srgbClr val="646670"/>
              </a:solidFill>
              <a:latin typeface="Roboto" panose="02000000000000000000"/>
            </a:endParaRPr>
          </a:p>
          <a:p>
            <a:r>
              <a:rPr lang="es-ES" sz="1600" dirty="0">
                <a:solidFill>
                  <a:srgbClr val="646670"/>
                </a:solidFill>
                <a:latin typeface="Roboto" panose="02000000000000000000"/>
              </a:rPr>
              <a:t>Despliega automáticamente en su plataforma </a:t>
            </a:r>
          </a:p>
          <a:p>
            <a:r>
              <a:rPr lang="es-ES" sz="1600" dirty="0">
                <a:solidFill>
                  <a:srgbClr val="646670"/>
                </a:solidFill>
                <a:latin typeface="Roboto" panose="02000000000000000000"/>
              </a:rPr>
              <a:t>de gestión de </a:t>
            </a:r>
            <a:r>
              <a:rPr lang="es-ES" sz="1600" dirty="0" err="1">
                <a:solidFill>
                  <a:srgbClr val="646670"/>
                </a:solidFill>
                <a:latin typeface="Roboto" panose="02000000000000000000"/>
              </a:rPr>
              <a:t>APIs</a:t>
            </a:r>
            <a:r>
              <a:rPr lang="es-ES" sz="1600" dirty="0">
                <a:solidFill>
                  <a:srgbClr val="646670"/>
                </a:solidFill>
                <a:latin typeface="Roboto" panose="02000000000000000000"/>
              </a:rPr>
              <a:t>.</a:t>
            </a:r>
          </a:p>
          <a:p>
            <a:endParaRPr lang="es-ES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4F61A9DA-075E-4F82-8863-6A71031A3B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959" y="1960510"/>
            <a:ext cx="6036902" cy="343459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8C2D0D4-A085-4750-B183-8B333BE7A2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0997" y="6073629"/>
            <a:ext cx="1448777" cy="481272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C83B9070-3F99-47EA-B6B6-C10AFA2DF4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2978" y="6073629"/>
            <a:ext cx="1671815" cy="529837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D087C56E-4890-4421-BEC4-87CD53CD8A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884" y="295996"/>
            <a:ext cx="1449705" cy="382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406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ventana, exterior, cielo&#10;&#10;Descripción generada con confianza muy alta">
            <a:extLst>
              <a:ext uri="{FF2B5EF4-FFF2-40B4-BE49-F238E27FC236}">
                <a16:creationId xmlns:a16="http://schemas.microsoft.com/office/drawing/2014/main" id="{84BB6350-E164-4AD4-AC82-146EAF494A8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30" t="10153" r="5159" b="75641"/>
          <a:stretch/>
        </p:blipFill>
        <p:spPr>
          <a:xfrm>
            <a:off x="0" y="0"/>
            <a:ext cx="12192000" cy="97422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B930881-B1F3-4B8F-9510-7AE2668552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5936" y="221322"/>
            <a:ext cx="2016155" cy="53157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B2EE530-A3EA-4E3B-8A3D-AB25228964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974221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E3B9C85B-22BB-4020-9B0D-EFFE92572510}"/>
              </a:ext>
            </a:extLst>
          </p:cNvPr>
          <p:cNvSpPr txBox="1"/>
          <p:nvPr/>
        </p:nvSpPr>
        <p:spPr>
          <a:xfrm>
            <a:off x="177247" y="292951"/>
            <a:ext cx="118375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Analisis</a:t>
            </a:r>
            <a:r>
              <a:rPr lang="en-US" sz="2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de </a:t>
            </a:r>
            <a:r>
              <a:rPr lang="en-US" sz="28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requisitos</a:t>
            </a:r>
            <a:r>
              <a:rPr lang="en-US" sz="2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con NLP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3CCC8B3-C227-42B9-9183-968AB905E226}"/>
              </a:ext>
            </a:extLst>
          </p:cNvPr>
          <p:cNvSpPr/>
          <p:nvPr/>
        </p:nvSpPr>
        <p:spPr>
          <a:xfrm>
            <a:off x="2057399" y="1076609"/>
            <a:ext cx="2514600" cy="12158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Imagen 16" descr="Imagen que contiene texto&#10;&#10;Descripción generada automáticamente">
            <a:extLst>
              <a:ext uri="{FF2B5EF4-FFF2-40B4-BE49-F238E27FC236}">
                <a16:creationId xmlns:a16="http://schemas.microsoft.com/office/drawing/2014/main" id="{B40856C7-B780-4B9D-B79D-E0032D45FA5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298" b="3521"/>
          <a:stretch/>
        </p:blipFill>
        <p:spPr>
          <a:xfrm>
            <a:off x="2728519" y="3879371"/>
            <a:ext cx="4452273" cy="2658933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CE23DD4E-04D7-4860-8A87-B76554727C64}"/>
              </a:ext>
            </a:extLst>
          </p:cNvPr>
          <p:cNvSpPr/>
          <p:nvPr/>
        </p:nvSpPr>
        <p:spPr>
          <a:xfrm>
            <a:off x="4902201" y="1438078"/>
            <a:ext cx="269903" cy="5902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E64C37C-F520-434A-B68E-690A4D61AAB3}"/>
              </a:ext>
            </a:extLst>
          </p:cNvPr>
          <p:cNvSpPr/>
          <p:nvPr/>
        </p:nvSpPr>
        <p:spPr>
          <a:xfrm>
            <a:off x="5172103" y="2587577"/>
            <a:ext cx="899437" cy="4491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4E66167-29BA-4CE2-A701-85733AD99895}"/>
              </a:ext>
            </a:extLst>
          </p:cNvPr>
          <p:cNvSpPr/>
          <p:nvPr/>
        </p:nvSpPr>
        <p:spPr>
          <a:xfrm>
            <a:off x="0" y="1379993"/>
            <a:ext cx="12192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Construye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aplicaciones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y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prototipos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en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minutos</a:t>
            </a:r>
            <a:endParaRPr lang="en-US" sz="1050" dirty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9F8802D-8D03-4865-B6B7-09F35A226079}"/>
              </a:ext>
            </a:extLst>
          </p:cNvPr>
          <p:cNvSpPr/>
          <p:nvPr/>
        </p:nvSpPr>
        <p:spPr>
          <a:xfrm>
            <a:off x="6964435" y="2623669"/>
            <a:ext cx="4511705" cy="335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El </a:t>
            </a:r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usuario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 </a:t>
            </a:r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funcional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 </a:t>
            </a:r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cumplimenta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 una </a:t>
            </a:r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plantilla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 </a:t>
            </a:r>
          </a:p>
          <a:p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de </a:t>
            </a:r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requisitos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 </a:t>
            </a:r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en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 </a:t>
            </a:r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lenguaje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 natural, </a:t>
            </a:r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definiendo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 </a:t>
            </a:r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campos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, </a:t>
            </a:r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reglas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, </a:t>
            </a:r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eventos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, </a:t>
            </a:r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llamadas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 a </a:t>
            </a:r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Servicios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…</a:t>
            </a:r>
          </a:p>
          <a:p>
            <a:endParaRPr lang="en-US" sz="1600" dirty="0">
              <a:solidFill>
                <a:srgbClr val="646670"/>
              </a:solidFill>
              <a:latin typeface="Roboto" panose="02000000000000000000"/>
            </a:endParaRPr>
          </a:p>
          <a:p>
            <a:r>
              <a:rPr lang="en-US" sz="1600" b="1" dirty="0">
                <a:solidFill>
                  <a:srgbClr val="646670"/>
                </a:solidFill>
                <a:latin typeface="Roboto" panose="02000000000000000000"/>
              </a:rPr>
              <a:t>Artfacto Trace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, con </a:t>
            </a:r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nuestro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 motor </a:t>
            </a:r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semántico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, </a:t>
            </a:r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analiza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 el </a:t>
            </a:r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documento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 y genera las </a:t>
            </a:r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pantallas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 </a:t>
            </a:r>
          </a:p>
          <a:p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y el </a:t>
            </a:r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modelo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 de </a:t>
            </a:r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datos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 </a:t>
            </a:r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relacional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 </a:t>
            </a:r>
          </a:p>
          <a:p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completamente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 </a:t>
            </a:r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normalizado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.</a:t>
            </a:r>
          </a:p>
          <a:p>
            <a:endParaRPr lang="en-US" sz="1600" dirty="0">
              <a:solidFill>
                <a:srgbClr val="646670"/>
              </a:solidFill>
              <a:latin typeface="Roboto" panose="02000000000000000000"/>
            </a:endParaRPr>
          </a:p>
          <a:p>
            <a:r>
              <a:rPr lang="en-US" sz="1600" b="1" dirty="0" err="1">
                <a:solidFill>
                  <a:srgbClr val="646670"/>
                </a:solidFill>
                <a:latin typeface="Roboto" panose="02000000000000000000"/>
              </a:rPr>
              <a:t>Soporta</a:t>
            </a:r>
            <a:r>
              <a:rPr lang="en-US" sz="1600" b="1" dirty="0">
                <a:solidFill>
                  <a:srgbClr val="646670"/>
                </a:solidFill>
                <a:latin typeface="Roboto" panose="02000000000000000000"/>
              </a:rPr>
              <a:t> </a:t>
            </a:r>
            <a:r>
              <a:rPr lang="en-US" sz="1600" b="1" dirty="0" err="1">
                <a:solidFill>
                  <a:srgbClr val="646670"/>
                </a:solidFill>
                <a:latin typeface="Roboto" panose="02000000000000000000"/>
              </a:rPr>
              <a:t>lenguaje</a:t>
            </a:r>
            <a:r>
              <a:rPr lang="en-US" sz="1600" b="1" dirty="0">
                <a:solidFill>
                  <a:srgbClr val="646670"/>
                </a:solidFill>
                <a:latin typeface="Roboto" panose="02000000000000000000"/>
              </a:rPr>
              <a:t> </a:t>
            </a:r>
            <a:r>
              <a:rPr lang="en-US" sz="1600" b="1" dirty="0" err="1">
                <a:solidFill>
                  <a:srgbClr val="646670"/>
                </a:solidFill>
                <a:latin typeface="Roboto" panose="02000000000000000000"/>
              </a:rPr>
              <a:t>español</a:t>
            </a:r>
            <a:r>
              <a:rPr lang="en-US" sz="1600" b="1" dirty="0">
                <a:solidFill>
                  <a:srgbClr val="646670"/>
                </a:solidFill>
                <a:latin typeface="Roboto" panose="02000000000000000000"/>
              </a:rPr>
              <a:t> e </a:t>
            </a:r>
            <a:r>
              <a:rPr lang="en-US" sz="1600" b="1" dirty="0" err="1">
                <a:solidFill>
                  <a:srgbClr val="646670"/>
                </a:solidFill>
                <a:latin typeface="Roboto" panose="02000000000000000000"/>
              </a:rPr>
              <a:t>inglés</a:t>
            </a:r>
            <a:endParaRPr lang="en-US" sz="1600" b="1" dirty="0">
              <a:solidFill>
                <a:srgbClr val="646670"/>
              </a:solidFill>
              <a:latin typeface="Roboto" panose="02000000000000000000"/>
            </a:endParaRPr>
          </a:p>
          <a:p>
            <a:pPr algn="just"/>
            <a:br>
              <a:rPr lang="en-US" dirty="0"/>
            </a:br>
            <a:endParaRPr lang="es-ES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A6AEEE5C-4B4C-470E-B963-DF166A1D13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884" y="295996"/>
            <a:ext cx="1449705" cy="382226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91001759-7684-4601-9EDB-BE76D2BA1C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564" y="2225769"/>
            <a:ext cx="1730227" cy="2103496"/>
          </a:xfrm>
          <a:prstGeom prst="rect">
            <a:avLst/>
          </a:prstGeom>
        </p:spPr>
      </p:pic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089D1A54-1416-48BC-9199-B1CF23DCE6DB}"/>
              </a:ext>
            </a:extLst>
          </p:cNvPr>
          <p:cNvSpPr/>
          <p:nvPr/>
        </p:nvSpPr>
        <p:spPr>
          <a:xfrm>
            <a:off x="2497307" y="2823455"/>
            <a:ext cx="203948" cy="1881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5E47CF13-6969-44AD-8076-DEB17B0CB76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4281" y="2099462"/>
            <a:ext cx="244074" cy="244074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9B24B025-3B21-422D-A4C3-0EA84A99D2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66656" y="2255810"/>
            <a:ext cx="3413968" cy="1511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095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ventana, exterior, cielo&#10;&#10;Descripción generada con confianza muy alta">
            <a:extLst>
              <a:ext uri="{FF2B5EF4-FFF2-40B4-BE49-F238E27FC236}">
                <a16:creationId xmlns:a16="http://schemas.microsoft.com/office/drawing/2014/main" id="{84BB6350-E164-4AD4-AC82-146EAF494A8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30" t="10153" r="5159" b="75641"/>
          <a:stretch/>
        </p:blipFill>
        <p:spPr>
          <a:xfrm>
            <a:off x="0" y="0"/>
            <a:ext cx="12192000" cy="97422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B930881-B1F3-4B8F-9510-7AE2668552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5936" y="221322"/>
            <a:ext cx="2016155" cy="53157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B2EE530-A3EA-4E3B-8A3D-AB25228964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974221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E3B9C85B-22BB-4020-9B0D-EFFE92572510}"/>
              </a:ext>
            </a:extLst>
          </p:cNvPr>
          <p:cNvSpPr txBox="1"/>
          <p:nvPr/>
        </p:nvSpPr>
        <p:spPr>
          <a:xfrm>
            <a:off x="177246" y="224765"/>
            <a:ext cx="118375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DevOps and CI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3CCC8B3-C227-42B9-9183-968AB905E226}"/>
              </a:ext>
            </a:extLst>
          </p:cNvPr>
          <p:cNvSpPr/>
          <p:nvPr/>
        </p:nvSpPr>
        <p:spPr>
          <a:xfrm>
            <a:off x="4181001" y="1038866"/>
            <a:ext cx="2514600" cy="12158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E23DD4E-04D7-4860-8A87-B76554727C64}"/>
              </a:ext>
            </a:extLst>
          </p:cNvPr>
          <p:cNvSpPr/>
          <p:nvPr/>
        </p:nvSpPr>
        <p:spPr>
          <a:xfrm>
            <a:off x="6956134" y="1384641"/>
            <a:ext cx="269903" cy="5902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E64C37C-F520-434A-B68E-690A4D61AAB3}"/>
              </a:ext>
            </a:extLst>
          </p:cNvPr>
          <p:cNvSpPr/>
          <p:nvPr/>
        </p:nvSpPr>
        <p:spPr>
          <a:xfrm>
            <a:off x="9020969" y="1974925"/>
            <a:ext cx="899437" cy="4491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80730CC-9B79-4E32-B103-2E90DC05CA36}"/>
              </a:ext>
            </a:extLst>
          </p:cNvPr>
          <p:cNvSpPr/>
          <p:nvPr/>
        </p:nvSpPr>
        <p:spPr>
          <a:xfrm>
            <a:off x="8409834" y="1608420"/>
            <a:ext cx="3477365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Incluimos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 </a:t>
            </a:r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nuestra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 </a:t>
            </a:r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propia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 </a:t>
            </a:r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plataforma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 DevOps que </a:t>
            </a:r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permite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 </a:t>
            </a:r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desplegar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 </a:t>
            </a:r>
          </a:p>
          <a:p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y pasar los test de </a:t>
            </a:r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pruebas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 </a:t>
            </a:r>
          </a:p>
          <a:p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de forma </a:t>
            </a:r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automatizada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.</a:t>
            </a:r>
          </a:p>
          <a:p>
            <a:endParaRPr lang="en-US" sz="1600" dirty="0">
              <a:solidFill>
                <a:srgbClr val="646670"/>
              </a:solidFill>
              <a:latin typeface="Roboto" panose="02000000000000000000"/>
            </a:endParaRPr>
          </a:p>
          <a:p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Korasa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 Tambien </a:t>
            </a:r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puede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 </a:t>
            </a:r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interactuar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 </a:t>
            </a:r>
          </a:p>
          <a:p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y </a:t>
            </a:r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conectarse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 con </a:t>
            </a:r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otras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 </a:t>
            </a:r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plataformas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 </a:t>
            </a:r>
            <a:r>
              <a:rPr lang="en-US" sz="1600" dirty="0" err="1">
                <a:solidFill>
                  <a:srgbClr val="646670"/>
                </a:solidFill>
                <a:latin typeface="Roboto" panose="02000000000000000000"/>
              </a:rPr>
              <a:t>devops</a:t>
            </a:r>
            <a:r>
              <a:rPr lang="en-US" sz="1600" dirty="0">
                <a:solidFill>
                  <a:srgbClr val="646670"/>
                </a:solidFill>
                <a:latin typeface="Roboto" panose="02000000000000000000"/>
              </a:rPr>
              <a:t>.</a:t>
            </a:r>
            <a:endParaRPr lang="es-ES" sz="1600" dirty="0">
              <a:solidFill>
                <a:srgbClr val="646670"/>
              </a:solidFill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0D020DA3-9BDA-4E4F-BCBA-DDEC826B69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737" y="414148"/>
            <a:ext cx="2232000" cy="223200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859F3447-E3B1-412C-BFB3-331FFCA693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6205" y="1880241"/>
            <a:ext cx="461782" cy="461782"/>
          </a:xfrm>
          <a:prstGeom prst="rect">
            <a:avLst/>
          </a:prstGeom>
        </p:spPr>
      </p:pic>
      <p:pic>
        <p:nvPicPr>
          <p:cNvPr id="18" name="Gráfico 6">
            <a:extLst>
              <a:ext uri="{FF2B5EF4-FFF2-40B4-BE49-F238E27FC236}">
                <a16:creationId xmlns:a16="http://schemas.microsoft.com/office/drawing/2014/main" id="{6C493A0F-C2F1-4B1F-827C-91042D66575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87866" y="2318884"/>
            <a:ext cx="1451565" cy="206430"/>
          </a:xfrm>
          <a:prstGeom prst="rect">
            <a:avLst/>
          </a:prstGeom>
        </p:spPr>
      </p:pic>
      <p:pic>
        <p:nvPicPr>
          <p:cNvPr id="22" name="Gráfico 21">
            <a:extLst>
              <a:ext uri="{FF2B5EF4-FFF2-40B4-BE49-F238E27FC236}">
                <a16:creationId xmlns:a16="http://schemas.microsoft.com/office/drawing/2014/main" id="{CDB8C2C5-7E5D-42B7-896E-11D199BF07D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27404" y="1790100"/>
            <a:ext cx="698874" cy="633431"/>
          </a:xfrm>
          <a:prstGeom prst="rect">
            <a:avLst/>
          </a:prstGeom>
        </p:spPr>
      </p:pic>
      <p:sp>
        <p:nvSpPr>
          <p:cNvPr id="24" name="Flecha: a la derecha con bandas 1">
            <a:extLst>
              <a:ext uri="{FF2B5EF4-FFF2-40B4-BE49-F238E27FC236}">
                <a16:creationId xmlns:a16="http://schemas.microsoft.com/office/drawing/2014/main" id="{A50F5764-9A74-4B06-988A-30C41A29F3B6}"/>
              </a:ext>
            </a:extLst>
          </p:cNvPr>
          <p:cNvSpPr/>
          <p:nvPr/>
        </p:nvSpPr>
        <p:spPr>
          <a:xfrm rot="5400000">
            <a:off x="5738180" y="2603382"/>
            <a:ext cx="295256" cy="311031"/>
          </a:xfrm>
          <a:prstGeom prst="stripedRightArrow">
            <a:avLst/>
          </a:prstGeom>
          <a:solidFill>
            <a:srgbClr val="B57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25" name="Marcador de contenido 4">
            <a:extLst>
              <a:ext uri="{FF2B5EF4-FFF2-40B4-BE49-F238E27FC236}">
                <a16:creationId xmlns:a16="http://schemas.microsoft.com/office/drawing/2014/main" id="{1E44E356-10AE-4B82-BC50-E9B87F0661B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flipH="1">
            <a:off x="1379258" y="3116432"/>
            <a:ext cx="707260" cy="976394"/>
          </a:xfrm>
          <a:prstGeom prst="rect">
            <a:avLst/>
          </a:prstGeom>
        </p:spPr>
      </p:pic>
      <p:pic>
        <p:nvPicPr>
          <p:cNvPr id="26" name="Marcador de contenido 15">
            <a:extLst>
              <a:ext uri="{FF2B5EF4-FFF2-40B4-BE49-F238E27FC236}">
                <a16:creationId xmlns:a16="http://schemas.microsoft.com/office/drawing/2014/main" id="{7CD4812D-00DA-4660-967D-E06813EC086C}"/>
              </a:ext>
            </a:extLst>
          </p:cNvPr>
          <p:cNvPicPr>
            <a:picLocks noGrp="1"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35989" y="2998274"/>
            <a:ext cx="5708964" cy="1306299"/>
          </a:xfrm>
          <a:prstGeom prst="rect">
            <a:avLst/>
          </a:prstGeom>
        </p:spPr>
      </p:pic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8F99D8FA-E1E8-4DB6-B10A-D71F0FBE6E14}"/>
              </a:ext>
            </a:extLst>
          </p:cNvPr>
          <p:cNvCxnSpPr/>
          <p:nvPr/>
        </p:nvCxnSpPr>
        <p:spPr>
          <a:xfrm flipV="1">
            <a:off x="579234" y="4380435"/>
            <a:ext cx="10487341" cy="60960"/>
          </a:xfrm>
          <a:prstGeom prst="line">
            <a:avLst/>
          </a:prstGeom>
          <a:ln w="3175">
            <a:solidFill>
              <a:srgbClr val="B572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Gráfico 28">
            <a:extLst>
              <a:ext uri="{FF2B5EF4-FFF2-40B4-BE49-F238E27FC236}">
                <a16:creationId xmlns:a16="http://schemas.microsoft.com/office/drawing/2014/main" id="{CFB09FEF-F425-4548-9D01-ABB6AB01CB0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57993" y="4640498"/>
            <a:ext cx="1195760" cy="319230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D0CF386D-07BC-4EBA-98CF-106A23774EF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504" y="5189312"/>
            <a:ext cx="1059368" cy="427308"/>
          </a:xfrm>
          <a:prstGeom prst="rect">
            <a:avLst/>
          </a:prstGeom>
        </p:spPr>
      </p:pic>
      <p:pic>
        <p:nvPicPr>
          <p:cNvPr id="32" name="Gráfico 31">
            <a:extLst>
              <a:ext uri="{FF2B5EF4-FFF2-40B4-BE49-F238E27FC236}">
                <a16:creationId xmlns:a16="http://schemas.microsoft.com/office/drawing/2014/main" id="{D1074759-A27B-4568-A14C-06FA3DBCFD7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989183" y="5388396"/>
            <a:ext cx="1326978" cy="195818"/>
          </a:xfrm>
          <a:prstGeom prst="rect">
            <a:avLst/>
          </a:prstGeom>
        </p:spPr>
      </p:pic>
      <p:pic>
        <p:nvPicPr>
          <p:cNvPr id="33" name="Gráfico 6">
            <a:extLst>
              <a:ext uri="{FF2B5EF4-FFF2-40B4-BE49-F238E27FC236}">
                <a16:creationId xmlns:a16="http://schemas.microsoft.com/office/drawing/2014/main" id="{4F9ED7D7-8717-4CE9-8968-EE4A92042BB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965569" y="4662655"/>
            <a:ext cx="1465460" cy="376933"/>
          </a:xfrm>
          <a:prstGeom prst="rect">
            <a:avLst/>
          </a:prstGeom>
        </p:spPr>
      </p:pic>
      <p:pic>
        <p:nvPicPr>
          <p:cNvPr id="35" name="Marcador de contenido 4">
            <a:extLst>
              <a:ext uri="{FF2B5EF4-FFF2-40B4-BE49-F238E27FC236}">
                <a16:creationId xmlns:a16="http://schemas.microsoft.com/office/drawing/2014/main" id="{A778632B-0C39-4914-89C7-ADE0E2B749F0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042876" y="4801234"/>
            <a:ext cx="1421673" cy="685071"/>
          </a:xfrm>
          <a:prstGeom prst="rect">
            <a:avLst/>
          </a:prstGeom>
        </p:spPr>
      </p:pic>
      <p:pic>
        <p:nvPicPr>
          <p:cNvPr id="37" name="Marcador de contenido 6">
            <a:extLst>
              <a:ext uri="{FF2B5EF4-FFF2-40B4-BE49-F238E27FC236}">
                <a16:creationId xmlns:a16="http://schemas.microsoft.com/office/drawing/2014/main" id="{C11A428C-DFBE-4391-B990-B84AED495EA3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076396" y="4624794"/>
            <a:ext cx="1446803" cy="383219"/>
          </a:xfrm>
          <a:prstGeom prst="rect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77A02D3E-773B-433B-ACB6-8C0E3EDC4CEB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076396" y="5189681"/>
            <a:ext cx="2081320" cy="1370880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E97A4EA3-31F3-464D-8B29-172DA435C0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884" y="295996"/>
            <a:ext cx="1449705" cy="382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177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ventana, exterior, cielo&#10;&#10;Descripción generada con confianza muy alta">
            <a:extLst>
              <a:ext uri="{FF2B5EF4-FFF2-40B4-BE49-F238E27FC236}">
                <a16:creationId xmlns:a16="http://schemas.microsoft.com/office/drawing/2014/main" id="{84BB6350-E164-4AD4-AC82-146EAF494A8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30" t="10153" r="5159" b="75641"/>
          <a:stretch/>
        </p:blipFill>
        <p:spPr>
          <a:xfrm>
            <a:off x="0" y="0"/>
            <a:ext cx="12192000" cy="97422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B930881-B1F3-4B8F-9510-7AE2668552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5936" y="221322"/>
            <a:ext cx="2016155" cy="53157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B2EE530-A3EA-4E3B-8A3D-AB25228964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974221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E3B9C85B-22BB-4020-9B0D-EFFE92572510}"/>
              </a:ext>
            </a:extLst>
          </p:cNvPr>
          <p:cNvSpPr txBox="1"/>
          <p:nvPr/>
        </p:nvSpPr>
        <p:spPr>
          <a:xfrm>
            <a:off x="177247" y="276800"/>
            <a:ext cx="118375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% </a:t>
            </a:r>
            <a:r>
              <a:rPr lang="en-US" sz="28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Efectividad</a:t>
            </a:r>
            <a:endParaRPr lang="en-US" sz="28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E23DD4E-04D7-4860-8A87-B76554727C64}"/>
              </a:ext>
            </a:extLst>
          </p:cNvPr>
          <p:cNvSpPr/>
          <p:nvPr/>
        </p:nvSpPr>
        <p:spPr>
          <a:xfrm>
            <a:off x="4902201" y="1438078"/>
            <a:ext cx="269903" cy="5902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E64C37C-F520-434A-B68E-690A4D61AAB3}"/>
              </a:ext>
            </a:extLst>
          </p:cNvPr>
          <p:cNvSpPr/>
          <p:nvPr/>
        </p:nvSpPr>
        <p:spPr>
          <a:xfrm>
            <a:off x="6967036" y="2028362"/>
            <a:ext cx="899437" cy="4491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40A22B6E-17F4-4FBF-A941-15216FDC76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80" y="577374"/>
            <a:ext cx="1883711" cy="188371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A0D1F4C4-5BE0-4B29-A404-B5F44402C2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884" y="295996"/>
            <a:ext cx="1449705" cy="382226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C12432B1-D198-4F5D-9A81-12DF9B5AD87D}"/>
              </a:ext>
            </a:extLst>
          </p:cNvPr>
          <p:cNvSpPr txBox="1"/>
          <p:nvPr/>
        </p:nvSpPr>
        <p:spPr>
          <a:xfrm>
            <a:off x="675098" y="4354940"/>
            <a:ext cx="331806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rgbClr val="646670"/>
                </a:solidFill>
                <a:latin typeface="Roboto" panose="02000000000000000000"/>
              </a:rPr>
              <a:t>Al adaptar Artfacto a la tecnología del cliente, se realiza conjuntamente con el un estudio de costes, con el fin de poder proporcionar métricas aproximadas de ahorro.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81E0295-662F-4933-9C6E-E256EC1D56AC}"/>
              </a:ext>
            </a:extLst>
          </p:cNvPr>
          <p:cNvSpPr txBox="1"/>
          <p:nvPr/>
        </p:nvSpPr>
        <p:spPr>
          <a:xfrm>
            <a:off x="675098" y="2373798"/>
            <a:ext cx="31634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rgbClr val="646670"/>
                </a:solidFill>
                <a:latin typeface="Roboto" panose="02000000000000000000"/>
              </a:rPr>
              <a:t>Al generar la aplicación, Artfacto realiza un calculo estimado </a:t>
            </a:r>
          </a:p>
          <a:p>
            <a:r>
              <a:rPr lang="es-ES" sz="1600" dirty="0">
                <a:solidFill>
                  <a:srgbClr val="646670"/>
                </a:solidFill>
                <a:latin typeface="Roboto" panose="02000000000000000000"/>
              </a:rPr>
              <a:t>del % de efectividad obtenido, así como una comparativa </a:t>
            </a:r>
          </a:p>
          <a:p>
            <a:r>
              <a:rPr lang="es-ES" sz="1600" dirty="0">
                <a:solidFill>
                  <a:srgbClr val="646670"/>
                </a:solidFill>
                <a:latin typeface="Roboto" panose="02000000000000000000"/>
              </a:rPr>
              <a:t>en horas entre el desarrollo tradicional y el uso de artfacto.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0D5F2AA-7073-4DF7-8F3E-C978D2AACA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4168" y="1716442"/>
            <a:ext cx="5181397" cy="4493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099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ventana, exterior, cielo&#10;&#10;Descripción generada con confianza muy alta">
            <a:extLst>
              <a:ext uri="{FF2B5EF4-FFF2-40B4-BE49-F238E27FC236}">
                <a16:creationId xmlns:a16="http://schemas.microsoft.com/office/drawing/2014/main" id="{84BB6350-E164-4AD4-AC82-146EAF494A8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30" t="10153" r="5159" b="75641"/>
          <a:stretch/>
        </p:blipFill>
        <p:spPr>
          <a:xfrm>
            <a:off x="0" y="0"/>
            <a:ext cx="12192000" cy="97422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B930881-B1F3-4B8F-9510-7AE2668552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5936" y="221322"/>
            <a:ext cx="2016155" cy="53157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B2EE530-A3EA-4E3B-8A3D-AB25228964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974221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E3B9C85B-22BB-4020-9B0D-EFFE92572510}"/>
              </a:ext>
            </a:extLst>
          </p:cNvPr>
          <p:cNvSpPr txBox="1"/>
          <p:nvPr/>
        </p:nvSpPr>
        <p:spPr>
          <a:xfrm>
            <a:off x="177247" y="276800"/>
            <a:ext cx="118375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ROI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E23DD4E-04D7-4860-8A87-B76554727C64}"/>
              </a:ext>
            </a:extLst>
          </p:cNvPr>
          <p:cNvSpPr/>
          <p:nvPr/>
        </p:nvSpPr>
        <p:spPr>
          <a:xfrm>
            <a:off x="4902201" y="1438078"/>
            <a:ext cx="269903" cy="5902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E64C37C-F520-434A-B68E-690A4D61AAB3}"/>
              </a:ext>
            </a:extLst>
          </p:cNvPr>
          <p:cNvSpPr/>
          <p:nvPr/>
        </p:nvSpPr>
        <p:spPr>
          <a:xfrm>
            <a:off x="6967036" y="2028362"/>
            <a:ext cx="899437" cy="4491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0D1F4C4-5BE0-4B29-A404-B5F44402C2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884" y="295996"/>
            <a:ext cx="1449705" cy="38222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60ADF95-40DD-49A3-B4A2-3D8E646026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34882" y="1505270"/>
            <a:ext cx="7479870" cy="4379064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82DD1AE2-43F8-4949-940C-0D9AD1EC9DB5}"/>
              </a:ext>
            </a:extLst>
          </p:cNvPr>
          <p:cNvSpPr txBox="1"/>
          <p:nvPr/>
        </p:nvSpPr>
        <p:spPr>
          <a:xfrm>
            <a:off x="232832" y="2308956"/>
            <a:ext cx="4314583" cy="3524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rgbClr val="646670"/>
                </a:solidFill>
                <a:latin typeface="Roboto" panose="02000000000000000000"/>
              </a:rPr>
              <a:t>Aplicación web con un % de efectividad del 80% .</a:t>
            </a:r>
          </a:p>
          <a:p>
            <a:endParaRPr lang="es-ES" sz="1600" dirty="0">
              <a:solidFill>
                <a:srgbClr val="646670"/>
              </a:solidFill>
              <a:latin typeface="Roboto" panose="02000000000000000000"/>
            </a:endParaRPr>
          </a:p>
          <a:p>
            <a:r>
              <a:rPr lang="es-ES" sz="1400" dirty="0">
                <a:solidFill>
                  <a:srgbClr val="646670"/>
                </a:solidFill>
                <a:latin typeface="Roboto" panose="02000000000000000000"/>
              </a:rPr>
              <a:t>Desarrollo tradicional </a:t>
            </a:r>
          </a:p>
          <a:p>
            <a:endParaRPr lang="es-ES" sz="1200" dirty="0">
              <a:solidFill>
                <a:srgbClr val="646670"/>
              </a:solidFill>
              <a:latin typeface="Roboto" panose="02000000000000000000"/>
            </a:endParaRPr>
          </a:p>
          <a:p>
            <a:r>
              <a:rPr lang="es-ES" sz="1200" dirty="0">
                <a:solidFill>
                  <a:srgbClr val="646670"/>
                </a:solidFill>
                <a:latin typeface="Roboto" panose="02000000000000000000"/>
              </a:rPr>
              <a:t>Realizado por un perfil senior con una tarifa de venta de 50€ /hora y un coste salarial de 40€/hora.</a:t>
            </a:r>
          </a:p>
          <a:p>
            <a:endParaRPr lang="es-ES" sz="1200" dirty="0">
              <a:solidFill>
                <a:srgbClr val="646670"/>
              </a:solidFill>
              <a:latin typeface="Roboto" panose="02000000000000000000"/>
            </a:endParaRPr>
          </a:p>
          <a:p>
            <a:r>
              <a:rPr lang="es-ES" sz="1400" dirty="0">
                <a:solidFill>
                  <a:srgbClr val="646670"/>
                </a:solidFill>
                <a:latin typeface="Roboto" panose="02000000000000000000"/>
              </a:rPr>
              <a:t>Desarrollo con Artfacto</a:t>
            </a:r>
          </a:p>
          <a:p>
            <a:endParaRPr lang="es-ES" sz="1400" dirty="0">
              <a:solidFill>
                <a:srgbClr val="646670"/>
              </a:solidFill>
              <a:latin typeface="Roboto" panose="02000000000000000000"/>
            </a:endParaRPr>
          </a:p>
          <a:p>
            <a:r>
              <a:rPr lang="es-ES" sz="1200" dirty="0">
                <a:solidFill>
                  <a:srgbClr val="646670"/>
                </a:solidFill>
                <a:latin typeface="Roboto" panose="02000000000000000000"/>
              </a:rPr>
              <a:t>Realizado por un perfil junior con una tarifa de venta de 50€ / hora y un coste salarial de 30€/hora.</a:t>
            </a:r>
          </a:p>
          <a:p>
            <a:endParaRPr lang="es-ES" sz="1400" dirty="0">
              <a:solidFill>
                <a:srgbClr val="646670"/>
              </a:solidFill>
              <a:latin typeface="Roboto" panose="02000000000000000000"/>
            </a:endParaRPr>
          </a:p>
          <a:p>
            <a:endParaRPr lang="es-ES" sz="1400" dirty="0">
              <a:solidFill>
                <a:srgbClr val="646670"/>
              </a:solidFill>
              <a:latin typeface="Roboto" panose="02000000000000000000"/>
            </a:endParaRPr>
          </a:p>
          <a:p>
            <a:r>
              <a:rPr lang="es-ES" sz="1050" dirty="0">
                <a:solidFill>
                  <a:srgbClr val="646670"/>
                </a:solidFill>
                <a:latin typeface="Roboto" panose="02000000000000000000"/>
              </a:rPr>
              <a:t>* Estas tarifas y costes son las actuales de mercado, ofrecidas por diferentes empresas IT . Zontisa no presta estos servicios , solo los asociados a la adecuación de artfacto a su tecnología. 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D146058-55D0-417A-8307-23216A5EB031}"/>
              </a:ext>
            </a:extLst>
          </p:cNvPr>
          <p:cNvSpPr txBox="1"/>
          <p:nvPr/>
        </p:nvSpPr>
        <p:spPr>
          <a:xfrm>
            <a:off x="402166" y="1166716"/>
            <a:ext cx="33180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rgbClr val="646670"/>
                </a:solidFill>
                <a:latin typeface="Roboto" panose="02000000000000000000"/>
              </a:rPr>
              <a:t>Criterios para el calculo del ROI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09B9798-84F4-4C85-9EFB-A05723589878}"/>
              </a:ext>
            </a:extLst>
          </p:cNvPr>
          <p:cNvSpPr txBox="1"/>
          <p:nvPr/>
        </p:nvSpPr>
        <p:spPr>
          <a:xfrm>
            <a:off x="220133" y="6375402"/>
            <a:ext cx="1117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rgbClr val="646670"/>
                </a:solidFill>
                <a:latin typeface="Roboto" panose="02000000000000000000"/>
              </a:rPr>
              <a:t>Artfacto, le permitirá reorganizar sus equipos de desarrollo , para optimizar sus recursos , maximizar su rentabilidad y/o competitividad</a:t>
            </a:r>
          </a:p>
        </p:txBody>
      </p:sp>
    </p:spTree>
    <p:extLst>
      <p:ext uri="{BB962C8B-B14F-4D97-AF65-F5344CB8AC3E}">
        <p14:creationId xmlns:p14="http://schemas.microsoft.com/office/powerpoint/2010/main" val="2717593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ventana, exterior, cielo&#10;&#10;Descripción generada con confianza muy alta">
            <a:extLst>
              <a:ext uri="{FF2B5EF4-FFF2-40B4-BE49-F238E27FC236}">
                <a16:creationId xmlns:a16="http://schemas.microsoft.com/office/drawing/2014/main" id="{84BB6350-E164-4AD4-AC82-146EAF494A8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30" t="10153" r="5159" b="75641"/>
          <a:stretch/>
        </p:blipFill>
        <p:spPr>
          <a:xfrm>
            <a:off x="0" y="0"/>
            <a:ext cx="12192000" cy="97422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B930881-B1F3-4B8F-9510-7AE2668552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5936" y="221322"/>
            <a:ext cx="2016155" cy="53157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B2EE530-A3EA-4E3B-8A3D-AB25228964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974221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E3B9C85B-22BB-4020-9B0D-EFFE92572510}"/>
              </a:ext>
            </a:extLst>
          </p:cNvPr>
          <p:cNvSpPr txBox="1"/>
          <p:nvPr/>
        </p:nvSpPr>
        <p:spPr>
          <a:xfrm>
            <a:off x="177247" y="276800"/>
            <a:ext cx="118375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Casos</a:t>
            </a:r>
            <a:r>
              <a:rPr lang="en-US" sz="2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de </a:t>
            </a:r>
            <a:r>
              <a:rPr lang="en-US" sz="28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uso</a:t>
            </a:r>
            <a:endParaRPr lang="en-US" sz="28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E23DD4E-04D7-4860-8A87-B76554727C64}"/>
              </a:ext>
            </a:extLst>
          </p:cNvPr>
          <p:cNvSpPr/>
          <p:nvPr/>
        </p:nvSpPr>
        <p:spPr>
          <a:xfrm>
            <a:off x="4902201" y="1438078"/>
            <a:ext cx="269903" cy="59028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E64C37C-F520-434A-B68E-690A4D61AAB3}"/>
              </a:ext>
            </a:extLst>
          </p:cNvPr>
          <p:cNvSpPr/>
          <p:nvPr/>
        </p:nvSpPr>
        <p:spPr>
          <a:xfrm>
            <a:off x="6967036" y="2028361"/>
            <a:ext cx="901139" cy="4681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40A22B6E-17F4-4FBF-A941-15216FDC76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80" y="577374"/>
            <a:ext cx="1883711" cy="188371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A0D1F4C4-5BE0-4B29-A404-B5F44402C2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884" y="295996"/>
            <a:ext cx="1449705" cy="382226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C12432B1-D198-4F5D-9A81-12DF9B5AD87D}"/>
              </a:ext>
            </a:extLst>
          </p:cNvPr>
          <p:cNvSpPr txBox="1"/>
          <p:nvPr/>
        </p:nvSpPr>
        <p:spPr>
          <a:xfrm>
            <a:off x="0" y="1348958"/>
            <a:ext cx="12192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rgbClr val="646670"/>
                </a:solidFill>
                <a:latin typeface="Roboto" panose="02000000000000000000"/>
              </a:rPr>
              <a:t>Algunos casos en los que usar Artfacto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9F250F13-07B5-4796-8565-F8D249A35FF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1831" y="3523880"/>
            <a:ext cx="495300" cy="49530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E1CEFFB0-A838-42EF-A30E-21A23A1C1AF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1831" y="4149635"/>
            <a:ext cx="495300" cy="49530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D3EBF827-A614-47F7-B4EF-D3C7CD3B5C4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1831" y="4807203"/>
            <a:ext cx="495300" cy="49530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4B5D230A-762A-4A8E-AF51-F1C4AE4717A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1831" y="5455067"/>
            <a:ext cx="495300" cy="495300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1FCEEE76-09C9-483F-A8ED-CE9294031A1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1831" y="6084285"/>
            <a:ext cx="495300" cy="495300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D7413F00-E093-48B2-8353-E9CDD8F45B4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1831" y="2215173"/>
            <a:ext cx="495300" cy="495300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AB82FD68-FE17-4BCC-9CDC-F36EA618AFA4}"/>
              </a:ext>
            </a:extLst>
          </p:cNvPr>
          <p:cNvSpPr txBox="1"/>
          <p:nvPr/>
        </p:nvSpPr>
        <p:spPr>
          <a:xfrm>
            <a:off x="2319831" y="2164840"/>
            <a:ext cx="8833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rgbClr val="646670"/>
                </a:solidFill>
                <a:latin typeface="Roboto" panose="02000000000000000000"/>
              </a:rPr>
              <a:t>Normalizar y estandarizar las aplicaciones que se desarrollan por equipos internos o externos, en uno o varios </a:t>
            </a:r>
            <a:r>
              <a:rPr lang="es-ES" sz="1600" dirty="0" err="1">
                <a:solidFill>
                  <a:srgbClr val="646670"/>
                </a:solidFill>
                <a:latin typeface="Roboto" panose="02000000000000000000"/>
              </a:rPr>
              <a:t>stack</a:t>
            </a:r>
            <a:r>
              <a:rPr lang="es-ES" sz="1600" dirty="0">
                <a:solidFill>
                  <a:srgbClr val="646670"/>
                </a:solidFill>
                <a:latin typeface="Roboto" panose="02000000000000000000"/>
              </a:rPr>
              <a:t> tecnológicos.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40DB24E5-4F5C-4A30-A096-4990D2819BCD}"/>
              </a:ext>
            </a:extLst>
          </p:cNvPr>
          <p:cNvSpPr txBox="1"/>
          <p:nvPr/>
        </p:nvSpPr>
        <p:spPr>
          <a:xfrm>
            <a:off x="2319831" y="2843347"/>
            <a:ext cx="8833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rgbClr val="646670"/>
                </a:solidFill>
                <a:latin typeface="Roboto" panose="02000000000000000000"/>
              </a:rPr>
              <a:t>Creación rápida de prototipos y pruebas de concepto de una misma aplicación en diversas tecnologías. 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2DD26D54-50C0-462E-8099-A882587161C1}"/>
              </a:ext>
            </a:extLst>
          </p:cNvPr>
          <p:cNvSpPr txBox="1"/>
          <p:nvPr/>
        </p:nvSpPr>
        <p:spPr>
          <a:xfrm>
            <a:off x="2319831" y="3607294"/>
            <a:ext cx="88332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rgbClr val="646670"/>
                </a:solidFill>
                <a:latin typeface="Roboto" panose="02000000000000000000"/>
              </a:rPr>
              <a:t>Captura de requisitos de usuario para aplicaciones con Front-</a:t>
            </a:r>
            <a:r>
              <a:rPr lang="es-ES" sz="1600" dirty="0" err="1">
                <a:solidFill>
                  <a:srgbClr val="646670"/>
                </a:solidFill>
                <a:latin typeface="Roboto" panose="02000000000000000000"/>
              </a:rPr>
              <a:t>End</a:t>
            </a:r>
            <a:r>
              <a:rPr lang="es-ES" sz="1600" dirty="0">
                <a:solidFill>
                  <a:srgbClr val="646670"/>
                </a:solidFill>
                <a:latin typeface="Roboto" panose="02000000000000000000"/>
              </a:rPr>
              <a:t> o Movilidad.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A9CC7794-6B5D-4AE8-90BB-D77CAC5A0B42}"/>
              </a:ext>
            </a:extLst>
          </p:cNvPr>
          <p:cNvSpPr txBox="1"/>
          <p:nvPr/>
        </p:nvSpPr>
        <p:spPr>
          <a:xfrm>
            <a:off x="2319831" y="4207605"/>
            <a:ext cx="88332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rgbClr val="646670"/>
                </a:solidFill>
                <a:latin typeface="Roboto" panose="02000000000000000000"/>
              </a:rPr>
              <a:t>Creación y publicación rápida de componentes y servicios en diferentes tecnologías.</a:t>
            </a:r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365AD8E4-EE7C-45FB-81E5-859E051E0E6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1831" y="2885785"/>
            <a:ext cx="495300" cy="495300"/>
          </a:xfrm>
          <a:prstGeom prst="rect">
            <a:avLst/>
          </a:prstGeom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0BB2DE53-EC5A-424E-A76A-38A913A35401}"/>
              </a:ext>
            </a:extLst>
          </p:cNvPr>
          <p:cNvSpPr txBox="1"/>
          <p:nvPr/>
        </p:nvSpPr>
        <p:spPr>
          <a:xfrm>
            <a:off x="2319831" y="4875733"/>
            <a:ext cx="88332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rgbClr val="646670"/>
                </a:solidFill>
                <a:latin typeface="Roboto" panose="02000000000000000000"/>
              </a:rPr>
              <a:t>Personalización y versionado de productos verticales, creados con artfacto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7DEE86AA-CC2A-4004-9949-3A8988E5B608}"/>
              </a:ext>
            </a:extLst>
          </p:cNvPr>
          <p:cNvSpPr txBox="1"/>
          <p:nvPr/>
        </p:nvSpPr>
        <p:spPr>
          <a:xfrm>
            <a:off x="2319831" y="5535448"/>
            <a:ext cx="88332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rgbClr val="646670"/>
                </a:solidFill>
                <a:latin typeface="Roboto" panose="02000000000000000000"/>
              </a:rPr>
              <a:t>Incrementar la productividad y margen de beneficio en proyectos cerrados.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F81FDAE-3EB9-45CE-95D9-9E23509321E6}"/>
              </a:ext>
            </a:extLst>
          </p:cNvPr>
          <p:cNvSpPr txBox="1"/>
          <p:nvPr/>
        </p:nvSpPr>
        <p:spPr>
          <a:xfrm>
            <a:off x="2319831" y="6140021"/>
            <a:ext cx="88332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rgbClr val="646670"/>
                </a:solidFill>
                <a:latin typeface="Roboto" panose="02000000000000000000"/>
              </a:rPr>
              <a:t>Migración semi automática de aplicaciones en diversas tecnologías </a:t>
            </a:r>
          </a:p>
        </p:txBody>
      </p:sp>
    </p:spTree>
    <p:extLst>
      <p:ext uri="{BB962C8B-B14F-4D97-AF65-F5344CB8AC3E}">
        <p14:creationId xmlns:p14="http://schemas.microsoft.com/office/powerpoint/2010/main" val="3297115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ventana, exterior, cielo&#10;&#10;Descripción generada con confianza muy alta">
            <a:extLst>
              <a:ext uri="{FF2B5EF4-FFF2-40B4-BE49-F238E27FC236}">
                <a16:creationId xmlns:a16="http://schemas.microsoft.com/office/drawing/2014/main" id="{84BB6350-E164-4AD4-AC82-146EAF494A8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30" t="10153" r="5159" b="75641"/>
          <a:stretch/>
        </p:blipFill>
        <p:spPr>
          <a:xfrm>
            <a:off x="0" y="0"/>
            <a:ext cx="12192000" cy="97422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B930881-B1F3-4B8F-9510-7AE2668552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5936" y="221322"/>
            <a:ext cx="2016155" cy="53157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B2EE530-A3EA-4E3B-8A3D-AB25228964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974221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E3B9C85B-22BB-4020-9B0D-EFFE92572510}"/>
              </a:ext>
            </a:extLst>
          </p:cNvPr>
          <p:cNvSpPr txBox="1"/>
          <p:nvPr/>
        </p:nvSpPr>
        <p:spPr>
          <a:xfrm>
            <a:off x="167757" y="225438"/>
            <a:ext cx="118375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¿</a:t>
            </a:r>
            <a:r>
              <a:rPr lang="en-US" sz="28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Qué</a:t>
            </a:r>
            <a:r>
              <a:rPr lang="en-US" sz="2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Tecnologías</a:t>
            </a:r>
            <a:r>
              <a:rPr lang="en-US" sz="2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Soportamos</a:t>
            </a:r>
            <a:r>
              <a:rPr lang="en-US" sz="2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? 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74AF7F2D-DEBF-4D76-AC39-EF01E252E1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3837" y="1670991"/>
            <a:ext cx="1109194" cy="783830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83646A5F-61A8-43DA-B569-C72272E476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167" y="2795653"/>
            <a:ext cx="654376" cy="654376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CF418FE0-CD9E-4AC5-B986-C7A0893F303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643" y="1692624"/>
            <a:ext cx="419827" cy="477076"/>
          </a:xfrm>
          <a:prstGeom prst="rect">
            <a:avLst/>
          </a:prstGeom>
        </p:spPr>
      </p:pic>
      <p:pic>
        <p:nvPicPr>
          <p:cNvPr id="30" name="Imagen 29" descr="Imagen que contiene señal, exterior, texto&#10;&#10;Descripción generada automáticamente">
            <a:extLst>
              <a:ext uri="{FF2B5EF4-FFF2-40B4-BE49-F238E27FC236}">
                <a16:creationId xmlns:a16="http://schemas.microsoft.com/office/drawing/2014/main" id="{5D362C94-33F1-4111-BE23-CA79AC2AEDA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8649" y="3341357"/>
            <a:ext cx="594735" cy="594735"/>
          </a:xfrm>
          <a:prstGeom prst="rect">
            <a:avLst/>
          </a:prstGeom>
        </p:spPr>
      </p:pic>
      <p:pic>
        <p:nvPicPr>
          <p:cNvPr id="32" name="Imagen 31" descr="Imagen que contiene señal, objeto, reloj&#10;&#10;Descripción generada automáticamente">
            <a:extLst>
              <a:ext uri="{FF2B5EF4-FFF2-40B4-BE49-F238E27FC236}">
                <a16:creationId xmlns:a16="http://schemas.microsoft.com/office/drawing/2014/main" id="{AD391C61-07F1-4723-9F02-A3DC0DC241C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4012" y="1989111"/>
            <a:ext cx="547080" cy="547080"/>
          </a:xfrm>
          <a:prstGeom prst="rect">
            <a:avLst/>
          </a:prstGeom>
        </p:spPr>
      </p:pic>
      <p:pic>
        <p:nvPicPr>
          <p:cNvPr id="15" name="Picture 2" descr="Image result for java logo">
            <a:extLst>
              <a:ext uri="{FF2B5EF4-FFF2-40B4-BE49-F238E27FC236}">
                <a16:creationId xmlns:a16="http://schemas.microsoft.com/office/drawing/2014/main" id="{067C77B5-6738-4190-A840-61DAEA07B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1697" y="4625370"/>
            <a:ext cx="584121" cy="1069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B749876E-88D8-46D7-A6AF-0C42F8F8B69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0490" y="3071099"/>
            <a:ext cx="449650" cy="483245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B6897904-BA47-49E5-8DFE-8E37F298E32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643" y="4047859"/>
            <a:ext cx="533028" cy="533028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6B5DD74A-D619-4E83-A3D8-73959D8935F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35986" y="4054898"/>
            <a:ext cx="677846" cy="880566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49E74A1-177A-40E0-9CBC-48B12B51F05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86862" y="2699522"/>
            <a:ext cx="859784" cy="92012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C840826-E730-44DD-93D2-12FC3001A6F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3643" y="5506551"/>
            <a:ext cx="783251" cy="596516"/>
          </a:xfrm>
          <a:prstGeom prst="rect">
            <a:avLst/>
          </a:prstGeom>
        </p:spPr>
      </p:pic>
      <p:pic>
        <p:nvPicPr>
          <p:cNvPr id="27" name="Gráfico 26">
            <a:extLst>
              <a:ext uri="{FF2B5EF4-FFF2-40B4-BE49-F238E27FC236}">
                <a16:creationId xmlns:a16="http://schemas.microsoft.com/office/drawing/2014/main" id="{A6E3B1CC-8AA0-49DF-8829-7850FC967F0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843668" y="5209563"/>
            <a:ext cx="390788" cy="39078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9E0B885-F91F-401D-9F22-23F2A6B9691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877475" y="4262572"/>
            <a:ext cx="979756" cy="86218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A47653F3-3C6B-451B-9979-4DAF7077F1E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424709" y="1923252"/>
            <a:ext cx="689123" cy="466594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5941E608-2EEF-406B-8504-E30D7DCB941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848434" y="5695087"/>
            <a:ext cx="2275923" cy="470175"/>
          </a:xfrm>
          <a:prstGeom prst="rect">
            <a:avLst/>
          </a:prstGeom>
        </p:spPr>
      </p:pic>
      <p:sp>
        <p:nvSpPr>
          <p:cNvPr id="35" name="Rectángulo 34">
            <a:extLst>
              <a:ext uri="{FF2B5EF4-FFF2-40B4-BE49-F238E27FC236}">
                <a16:creationId xmlns:a16="http://schemas.microsoft.com/office/drawing/2014/main" id="{00C7764E-AFEF-448A-A489-7AA487C2AC15}"/>
              </a:ext>
            </a:extLst>
          </p:cNvPr>
          <p:cNvSpPr/>
          <p:nvPr/>
        </p:nvSpPr>
        <p:spPr>
          <a:xfrm>
            <a:off x="8811172" y="3594475"/>
            <a:ext cx="237176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Artfacto </a:t>
            </a:r>
            <a:r>
              <a:rPr 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apenas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tiene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límites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94468E9A-BB4A-44C9-93C2-54FFCFA824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884" y="295996"/>
            <a:ext cx="1449705" cy="382226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CF6A79B5-9380-4F92-BF51-19A62F93C898}"/>
              </a:ext>
            </a:extLst>
          </p:cNvPr>
          <p:cNvSpPr txBox="1"/>
          <p:nvPr/>
        </p:nvSpPr>
        <p:spPr>
          <a:xfrm>
            <a:off x="8811172" y="4920068"/>
            <a:ext cx="25895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</a:rPr>
              <a:t>Sí desarrollas con una tecnología aplicaciones empresariales, Artfacto</a:t>
            </a:r>
          </a:p>
          <a:p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</a:rPr>
              <a:t>puede generarla.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4BBFB28C-3E1F-4A6E-A0A8-6E9D18170D5B}"/>
              </a:ext>
            </a:extLst>
          </p:cNvPr>
          <p:cNvSpPr/>
          <p:nvPr/>
        </p:nvSpPr>
        <p:spPr>
          <a:xfrm>
            <a:off x="8811172" y="2089779"/>
            <a:ext cx="270732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</a:rPr>
              <a:t>Generación de aplicaciones Escritorio, Web y Móvil.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718CE609-9286-4100-A679-DF3A75132FCC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3848" y="2107114"/>
            <a:ext cx="676947" cy="676947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59D71168-1A54-40B4-B0AD-2BEA90F9A6B4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4687" y="3578750"/>
            <a:ext cx="616224" cy="61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50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ventana, exterior, cielo&#10;&#10;Descripción generada con confianza muy alta">
            <a:extLst>
              <a:ext uri="{FF2B5EF4-FFF2-40B4-BE49-F238E27FC236}">
                <a16:creationId xmlns:a16="http://schemas.microsoft.com/office/drawing/2014/main" id="{84BB6350-E164-4AD4-AC82-146EAF494A8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30" t="10153" r="5159" b="75641"/>
          <a:stretch/>
        </p:blipFill>
        <p:spPr>
          <a:xfrm>
            <a:off x="0" y="0"/>
            <a:ext cx="12192000" cy="97422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B930881-B1F3-4B8F-9510-7AE2668552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5936" y="221322"/>
            <a:ext cx="2016155" cy="53157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B2EE530-A3EA-4E3B-8A3D-AB25228964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974221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E3B9C85B-22BB-4020-9B0D-EFFE92572510}"/>
              </a:ext>
            </a:extLst>
          </p:cNvPr>
          <p:cNvSpPr txBox="1"/>
          <p:nvPr/>
        </p:nvSpPr>
        <p:spPr>
          <a:xfrm>
            <a:off x="167757" y="225438"/>
            <a:ext cx="118375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¿</a:t>
            </a:r>
            <a:r>
              <a:rPr lang="en-US" sz="28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Qué</a:t>
            </a:r>
            <a:r>
              <a:rPr lang="en-US" sz="2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Tecnologías</a:t>
            </a:r>
            <a:r>
              <a:rPr lang="en-US" sz="2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Soportamos</a:t>
            </a:r>
            <a:r>
              <a:rPr lang="en-US" sz="2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?</a:t>
            </a:r>
            <a:endParaRPr lang="es-ES" dirty="0"/>
          </a:p>
        </p:txBody>
      </p:sp>
      <p:pic>
        <p:nvPicPr>
          <p:cNvPr id="15" name="Picture 2" descr="Image result for java logo">
            <a:extLst>
              <a:ext uri="{FF2B5EF4-FFF2-40B4-BE49-F238E27FC236}">
                <a16:creationId xmlns:a16="http://schemas.microsoft.com/office/drawing/2014/main" id="{067C77B5-6738-4190-A840-61DAEA07B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984" y="1808583"/>
            <a:ext cx="584121" cy="1069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F7188941-C877-4589-B7FB-B1DBE9C3340B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87" t="32667" r="15551" b="27391"/>
          <a:stretch/>
        </p:blipFill>
        <p:spPr>
          <a:xfrm>
            <a:off x="4691586" y="1994319"/>
            <a:ext cx="1551426" cy="466594"/>
          </a:xfrm>
          <a:prstGeom prst="rect">
            <a:avLst/>
          </a:prstGeom>
        </p:spPr>
      </p:pic>
      <p:pic>
        <p:nvPicPr>
          <p:cNvPr id="20" name="Gráfico 19">
            <a:extLst>
              <a:ext uri="{FF2B5EF4-FFF2-40B4-BE49-F238E27FC236}">
                <a16:creationId xmlns:a16="http://schemas.microsoft.com/office/drawing/2014/main" id="{4E997623-6A00-4081-9591-EE429177231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49946" y="4933429"/>
            <a:ext cx="1581281" cy="1096144"/>
          </a:xfrm>
          <a:prstGeom prst="rect">
            <a:avLst/>
          </a:prstGeom>
        </p:spPr>
      </p:pic>
      <p:pic>
        <p:nvPicPr>
          <p:cNvPr id="21" name="Gráfico 20">
            <a:extLst>
              <a:ext uri="{FF2B5EF4-FFF2-40B4-BE49-F238E27FC236}">
                <a16:creationId xmlns:a16="http://schemas.microsoft.com/office/drawing/2014/main" id="{82425BBD-9626-436B-8379-85D49EF8A8D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76765" y="3077434"/>
            <a:ext cx="1192426" cy="963957"/>
          </a:xfrm>
          <a:prstGeom prst="rect">
            <a:avLst/>
          </a:prstGeom>
        </p:spPr>
      </p:pic>
      <p:pic>
        <p:nvPicPr>
          <p:cNvPr id="22" name="Picture 2" descr="Image result for ibm db2 logo">
            <a:extLst>
              <a:ext uri="{FF2B5EF4-FFF2-40B4-BE49-F238E27FC236}">
                <a16:creationId xmlns:a16="http://schemas.microsoft.com/office/drawing/2014/main" id="{CA8B8913-3C16-401C-AAB3-648FC15049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984" y="3712662"/>
            <a:ext cx="639281" cy="639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5CBE6463-C02F-476E-A8A6-C23D9ADF502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0627" y="2204335"/>
            <a:ext cx="1331092" cy="38135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87B8819-A4A3-4DAB-894F-A73A58DD92A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29581" y="3670768"/>
            <a:ext cx="1377639" cy="64289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5941E608-2EEF-406B-8504-E30D7DCB941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93808" y="5246414"/>
            <a:ext cx="2275923" cy="470175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94468E9A-BB4A-44C9-93C2-54FFCFA824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884" y="295996"/>
            <a:ext cx="1449705" cy="382226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1C312B77-AE58-4E6C-9BE3-EC92DAC08F91}"/>
              </a:ext>
            </a:extLst>
          </p:cNvPr>
          <p:cNvSpPr txBox="1"/>
          <p:nvPr/>
        </p:nvSpPr>
        <p:spPr>
          <a:xfrm>
            <a:off x="8704666" y="4342933"/>
            <a:ext cx="26540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</a:rPr>
              <a:t>Nos conectamos </a:t>
            </a:r>
          </a:p>
          <a:p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</a:rPr>
              <a:t>con bases de datos </a:t>
            </a:r>
          </a:p>
          <a:p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</a:rPr>
              <a:t>relacionales y NoSQL, Servicios web Mainframe…</a:t>
            </a:r>
          </a:p>
        </p:txBody>
      </p:sp>
      <p:pic>
        <p:nvPicPr>
          <p:cNvPr id="7170" name="Picture 2" descr="Image result for microservices icon">
            <a:extLst>
              <a:ext uri="{FF2B5EF4-FFF2-40B4-BE49-F238E27FC236}">
                <a16:creationId xmlns:a16="http://schemas.microsoft.com/office/drawing/2014/main" id="{F497CCAF-075E-4A55-9B85-B7491C3615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4109" y="2602472"/>
            <a:ext cx="659641" cy="659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Rectángulo 36">
            <a:extLst>
              <a:ext uri="{FF2B5EF4-FFF2-40B4-BE49-F238E27FC236}">
                <a16:creationId xmlns:a16="http://schemas.microsoft.com/office/drawing/2014/main" id="{45E5E475-450D-4932-B8A4-E0DA8A2BC0B7}"/>
              </a:ext>
            </a:extLst>
          </p:cNvPr>
          <p:cNvSpPr/>
          <p:nvPr/>
        </p:nvSpPr>
        <p:spPr>
          <a:xfrm>
            <a:off x="8705759" y="2507934"/>
            <a:ext cx="191470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</a:rPr>
              <a:t>Generación </a:t>
            </a:r>
          </a:p>
          <a:p>
            <a:r>
              <a:rPr lang="es-E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</a:rPr>
              <a:t>de microservicios </a:t>
            </a:r>
            <a:r>
              <a:rPr lang="es-E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</a:rPr>
              <a:t>openAPi</a:t>
            </a:r>
            <a:endParaRPr lang="es-ES" sz="1600" b="1" dirty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0494B0D-9965-4449-AE6F-09CF5E209FF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1579" y="4563611"/>
            <a:ext cx="595393" cy="595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0744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ventana, exterior, cielo&#10;&#10;Descripción generada con confianza muy alta">
            <a:extLst>
              <a:ext uri="{FF2B5EF4-FFF2-40B4-BE49-F238E27FC236}">
                <a16:creationId xmlns:a16="http://schemas.microsoft.com/office/drawing/2014/main" id="{84BB6350-E164-4AD4-AC82-146EAF494A8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30" t="10153" r="5159" b="75641"/>
          <a:stretch/>
        </p:blipFill>
        <p:spPr>
          <a:xfrm>
            <a:off x="0" y="0"/>
            <a:ext cx="12192000" cy="97422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B930881-B1F3-4B8F-9510-7AE2668552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5936" y="221322"/>
            <a:ext cx="2016155" cy="53157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B2EE530-A3EA-4E3B-8A3D-AB25228964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974221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E3B9C85B-22BB-4020-9B0D-EFFE92572510}"/>
              </a:ext>
            </a:extLst>
          </p:cNvPr>
          <p:cNvSpPr txBox="1"/>
          <p:nvPr/>
        </p:nvSpPr>
        <p:spPr>
          <a:xfrm>
            <a:off x="167757" y="225438"/>
            <a:ext cx="118375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¿</a:t>
            </a:r>
            <a:r>
              <a:rPr lang="en-US" sz="28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Qué</a:t>
            </a:r>
            <a:r>
              <a:rPr lang="en-US" sz="2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Tecnologías</a:t>
            </a:r>
            <a:r>
              <a:rPr lang="en-US" sz="2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Soportamos</a:t>
            </a:r>
            <a:r>
              <a:rPr lang="en-US" sz="2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?</a:t>
            </a:r>
          </a:p>
        </p:txBody>
      </p:sp>
      <p:pic>
        <p:nvPicPr>
          <p:cNvPr id="15" name="Picture 2" descr="Image result for java logo">
            <a:extLst>
              <a:ext uri="{FF2B5EF4-FFF2-40B4-BE49-F238E27FC236}">
                <a16:creationId xmlns:a16="http://schemas.microsoft.com/office/drawing/2014/main" id="{067C77B5-6738-4190-A840-61DAEA07B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3088" y="2143945"/>
            <a:ext cx="642534" cy="1176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94468E9A-BB4A-44C9-93C2-54FFCFA824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884" y="295996"/>
            <a:ext cx="1449705" cy="382226"/>
          </a:xfrm>
          <a:prstGeom prst="rect">
            <a:avLst/>
          </a:prstGeom>
        </p:spPr>
      </p:pic>
      <p:pic>
        <p:nvPicPr>
          <p:cNvPr id="36" name="Picture 2" descr="Image of eclipse iot">
            <a:extLst>
              <a:ext uri="{FF2B5EF4-FFF2-40B4-BE49-F238E27FC236}">
                <a16:creationId xmlns:a16="http://schemas.microsoft.com/office/drawing/2014/main" id="{0C4C9EFA-1132-41AB-A733-778A7ED493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3393" y="4237412"/>
            <a:ext cx="1163736" cy="909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Image result for intel iot logo">
            <a:extLst>
              <a:ext uri="{FF2B5EF4-FFF2-40B4-BE49-F238E27FC236}">
                <a16:creationId xmlns:a16="http://schemas.microsoft.com/office/drawing/2014/main" id="{47D9F663-03FC-479F-A405-FAB6AFB42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863" y="4113079"/>
            <a:ext cx="2195250" cy="1237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meraki.cisco.com/img/cisco-meraki.png">
            <a:extLst>
              <a:ext uri="{FF2B5EF4-FFF2-40B4-BE49-F238E27FC236}">
                <a16:creationId xmlns:a16="http://schemas.microsoft.com/office/drawing/2014/main" id="{E7A184A1-E641-4F8C-BC96-04EA10FBB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333" y="2543558"/>
            <a:ext cx="3090425" cy="635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Rectángulo 36">
            <a:extLst>
              <a:ext uri="{FF2B5EF4-FFF2-40B4-BE49-F238E27FC236}">
                <a16:creationId xmlns:a16="http://schemas.microsoft.com/office/drawing/2014/main" id="{4B999E24-B672-49C0-9FC7-76FF3CA6E396}"/>
              </a:ext>
            </a:extLst>
          </p:cNvPr>
          <p:cNvSpPr/>
          <p:nvPr/>
        </p:nvSpPr>
        <p:spPr>
          <a:xfrm>
            <a:off x="8761634" y="3157082"/>
            <a:ext cx="231882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</a:rPr>
              <a:t>Generación</a:t>
            </a:r>
          </a:p>
          <a:p>
            <a:r>
              <a:rPr lang="es-E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</a:rPr>
              <a:t>de aplicaciones IOT (Cisco-</a:t>
            </a:r>
            <a:r>
              <a:rPr lang="es-E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</a:rPr>
              <a:t>Meraki</a:t>
            </a:r>
            <a:r>
              <a:rPr lang="es-E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</a:rPr>
              <a:t>, Eclipse IOT , Intel IOT…)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9F30AF0-BDC1-4D11-9B23-8EDD9688D792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60" t="30895" r="30040" b="31009"/>
          <a:stretch/>
        </p:blipFill>
        <p:spPr>
          <a:xfrm>
            <a:off x="7600426" y="3273591"/>
            <a:ext cx="806610" cy="77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1787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ventana, exterior, cielo&#10;&#10;Descripción generada con confianza muy alta">
            <a:extLst>
              <a:ext uri="{FF2B5EF4-FFF2-40B4-BE49-F238E27FC236}">
                <a16:creationId xmlns:a16="http://schemas.microsoft.com/office/drawing/2014/main" id="{84BB6350-E164-4AD4-AC82-146EAF494A8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30" t="10153" r="5159" b="75641"/>
          <a:stretch/>
        </p:blipFill>
        <p:spPr>
          <a:xfrm>
            <a:off x="0" y="0"/>
            <a:ext cx="12192000" cy="97422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B930881-B1F3-4B8F-9510-7AE2668552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5936" y="221322"/>
            <a:ext cx="2016155" cy="53157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B2EE530-A3EA-4E3B-8A3D-AB25228964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974221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E3B9C85B-22BB-4020-9B0D-EFFE92572510}"/>
              </a:ext>
            </a:extLst>
          </p:cNvPr>
          <p:cNvSpPr txBox="1"/>
          <p:nvPr/>
        </p:nvSpPr>
        <p:spPr>
          <a:xfrm>
            <a:off x="177247" y="242364"/>
            <a:ext cx="118375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¿Con </a:t>
            </a:r>
            <a:r>
              <a:rPr lang="en-US" sz="28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qué</a:t>
            </a:r>
            <a:r>
              <a:rPr lang="en-US" sz="2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28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nos</a:t>
            </a:r>
            <a:r>
              <a:rPr lang="en-US" sz="2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Podemos </a:t>
            </a:r>
            <a:r>
              <a:rPr lang="en-US" sz="28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Integrar</a:t>
            </a:r>
            <a:r>
              <a:rPr lang="en-US" sz="2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?</a:t>
            </a:r>
          </a:p>
        </p:txBody>
      </p:sp>
      <p:pic>
        <p:nvPicPr>
          <p:cNvPr id="19" name="Picture 4" descr="Resultado de imagen de jenkins ICON">
            <a:extLst>
              <a:ext uri="{FF2B5EF4-FFF2-40B4-BE49-F238E27FC236}">
                <a16:creationId xmlns:a16="http://schemas.microsoft.com/office/drawing/2014/main" id="{AA62AEA2-6C91-4350-A9D4-963DB792C2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0391" y="5454500"/>
            <a:ext cx="911864" cy="911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 descr="Resultado de imagen de gitlab ICON">
            <a:extLst>
              <a:ext uri="{FF2B5EF4-FFF2-40B4-BE49-F238E27FC236}">
                <a16:creationId xmlns:a16="http://schemas.microsoft.com/office/drawing/2014/main" id="{077002D9-8E64-485D-96E4-35C704B96C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7701" y="1656275"/>
            <a:ext cx="1626975" cy="717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8" descr="Resultado de imagen de SONARQUBE icon">
            <a:extLst>
              <a:ext uri="{FF2B5EF4-FFF2-40B4-BE49-F238E27FC236}">
                <a16:creationId xmlns:a16="http://schemas.microsoft.com/office/drawing/2014/main" id="{8FA8571B-8A6E-46C3-A275-F5DE082315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4380" y="1852370"/>
            <a:ext cx="1626975" cy="850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2D2A8B1E-044C-495F-9E88-9784AAEA38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31888" y="4319504"/>
            <a:ext cx="1275119" cy="510048"/>
          </a:xfrm>
          <a:prstGeom prst="rect">
            <a:avLst/>
          </a:prstGeom>
        </p:spPr>
      </p:pic>
      <p:pic>
        <p:nvPicPr>
          <p:cNvPr id="23" name="Picture 2" descr="Resultado de imagen de DOCKER">
            <a:extLst>
              <a:ext uri="{FF2B5EF4-FFF2-40B4-BE49-F238E27FC236}">
                <a16:creationId xmlns:a16="http://schemas.microsoft.com/office/drawing/2014/main" id="{94CD9911-5D5F-42EC-B4F1-6EB16D29C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667" y="3983433"/>
            <a:ext cx="1070449" cy="911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Gráfico 6">
            <a:extLst>
              <a:ext uri="{FF2B5EF4-FFF2-40B4-BE49-F238E27FC236}">
                <a16:creationId xmlns:a16="http://schemas.microsoft.com/office/drawing/2014/main" id="{58275047-56C2-4071-BDE4-960235E8D0E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8297" y="1626985"/>
            <a:ext cx="1626976" cy="231376"/>
          </a:xfrm>
          <a:prstGeom prst="rect">
            <a:avLst/>
          </a:prstGeom>
        </p:spPr>
      </p:pic>
      <p:pic>
        <p:nvPicPr>
          <p:cNvPr id="25" name="Gráfico 24">
            <a:extLst>
              <a:ext uri="{FF2B5EF4-FFF2-40B4-BE49-F238E27FC236}">
                <a16:creationId xmlns:a16="http://schemas.microsoft.com/office/drawing/2014/main" id="{F0C4C6D6-4E87-4F2E-B49A-2E06421D48A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29005" y="3096738"/>
            <a:ext cx="1512476" cy="403783"/>
          </a:xfrm>
          <a:prstGeom prst="rect">
            <a:avLst/>
          </a:prstGeom>
        </p:spPr>
      </p:pic>
      <p:pic>
        <p:nvPicPr>
          <p:cNvPr id="26" name="Gráfico 25">
            <a:extLst>
              <a:ext uri="{FF2B5EF4-FFF2-40B4-BE49-F238E27FC236}">
                <a16:creationId xmlns:a16="http://schemas.microsoft.com/office/drawing/2014/main" id="{28E75CCC-C5C2-43DA-943F-89CF1F5AAA9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47355" y="5838210"/>
            <a:ext cx="1921410" cy="283536"/>
          </a:xfrm>
          <a:prstGeom prst="rect">
            <a:avLst/>
          </a:prstGeom>
        </p:spPr>
      </p:pic>
      <p:pic>
        <p:nvPicPr>
          <p:cNvPr id="27" name="Gráfico 6">
            <a:extLst>
              <a:ext uri="{FF2B5EF4-FFF2-40B4-BE49-F238E27FC236}">
                <a16:creationId xmlns:a16="http://schemas.microsoft.com/office/drawing/2014/main" id="{2B344F03-7B9A-4018-BE2A-883F33E97DD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913078" y="4432205"/>
            <a:ext cx="1544827" cy="397347"/>
          </a:xfrm>
          <a:prstGeom prst="rect">
            <a:avLst/>
          </a:prstGeom>
        </p:spPr>
      </p:pic>
      <p:pic>
        <p:nvPicPr>
          <p:cNvPr id="28" name="Marcador de contenido 4">
            <a:extLst>
              <a:ext uri="{FF2B5EF4-FFF2-40B4-BE49-F238E27FC236}">
                <a16:creationId xmlns:a16="http://schemas.microsoft.com/office/drawing/2014/main" id="{32FE6064-1BA4-4CF5-8819-A777EF6CBB3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680990" y="5568934"/>
            <a:ext cx="1117613" cy="538552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CEF4DF96-D4F8-4F5B-A69C-A28F1ECFCDC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672612" y="3031463"/>
            <a:ext cx="1839696" cy="620620"/>
          </a:xfrm>
          <a:prstGeom prst="rect">
            <a:avLst/>
          </a:prstGeom>
        </p:spPr>
      </p:pic>
      <p:pic>
        <p:nvPicPr>
          <p:cNvPr id="29" name="Imagen 28" descr="Imagen que contiene gráficos vectoriales&#10;&#10;Descripción generada automáticamente">
            <a:extLst>
              <a:ext uri="{FF2B5EF4-FFF2-40B4-BE49-F238E27FC236}">
                <a16:creationId xmlns:a16="http://schemas.microsoft.com/office/drawing/2014/main" id="{4D5522C6-1CEE-42CE-9A4A-13492E897846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0990" y="4200757"/>
            <a:ext cx="747541" cy="747541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9F592D41-E246-4829-B0EE-BDD5810E902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1307" y="5666554"/>
            <a:ext cx="1020095" cy="510048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43214EAD-BE48-473B-B061-2F4CA0103E41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3" t="14939" r="9775" b="25165"/>
          <a:stretch/>
        </p:blipFill>
        <p:spPr>
          <a:xfrm>
            <a:off x="947354" y="2647612"/>
            <a:ext cx="1305997" cy="543239"/>
          </a:xfrm>
          <a:prstGeom prst="rect">
            <a:avLst/>
          </a:prstGeom>
        </p:spPr>
      </p:pic>
      <p:pic>
        <p:nvPicPr>
          <p:cNvPr id="32" name="Imagen 31" descr="Imagen que contiene imágenes prediseñadas&#10;&#10;Descripción generada automáticamente">
            <a:extLst>
              <a:ext uri="{FF2B5EF4-FFF2-40B4-BE49-F238E27FC236}">
                <a16:creationId xmlns:a16="http://schemas.microsoft.com/office/drawing/2014/main" id="{D4A3A4D1-8D8D-419A-A725-F671E8BE7FD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1022" y="1934327"/>
            <a:ext cx="1075018" cy="604877"/>
          </a:xfrm>
          <a:prstGeom prst="rect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26574D86-C169-45D5-A36D-FDEE74C1BE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884" y="295996"/>
            <a:ext cx="1449705" cy="382226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F77F455C-0A26-440D-A97B-4FC5F06705C9}"/>
              </a:ext>
            </a:extLst>
          </p:cNvPr>
          <p:cNvSpPr txBox="1"/>
          <p:nvPr/>
        </p:nvSpPr>
        <p:spPr>
          <a:xfrm>
            <a:off x="9546776" y="4755402"/>
            <a:ext cx="22619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</a:rPr>
              <a:t>¡Simplemente</a:t>
            </a:r>
            <a:r>
              <a:rPr lang="es-ES" b="1" dirty="0"/>
              <a:t> </a:t>
            </a:r>
          </a:p>
          <a:p>
            <a:r>
              <a:rPr lang="es-ES" b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</a:rPr>
              <a:t>con quien nos deje!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E381DF6-455E-49CE-81D2-B0DB7D9266CC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8153" y="3652083"/>
            <a:ext cx="812919" cy="812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6759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ventana, exterior, cielo&#10;&#10;Descripción generada con confianza muy alta">
            <a:extLst>
              <a:ext uri="{FF2B5EF4-FFF2-40B4-BE49-F238E27FC236}">
                <a16:creationId xmlns:a16="http://schemas.microsoft.com/office/drawing/2014/main" id="{84BB6350-E164-4AD4-AC82-146EAF494A8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30" t="10153" r="5159" b="75641"/>
          <a:stretch/>
        </p:blipFill>
        <p:spPr>
          <a:xfrm>
            <a:off x="0" y="0"/>
            <a:ext cx="12192000" cy="97422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B930881-B1F3-4B8F-9510-7AE2668552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5936" y="221322"/>
            <a:ext cx="2016155" cy="53157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B2EE530-A3EA-4E3B-8A3D-AB25228964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974221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E3B9C85B-22BB-4020-9B0D-EFFE92572510}"/>
              </a:ext>
            </a:extLst>
          </p:cNvPr>
          <p:cNvSpPr txBox="1"/>
          <p:nvPr/>
        </p:nvSpPr>
        <p:spPr>
          <a:xfrm>
            <a:off x="177247" y="242364"/>
            <a:ext cx="118375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Roadmap </a:t>
            </a:r>
            <a:r>
              <a:rPr lang="en-US" sz="28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Artfacto</a:t>
            </a:r>
            <a:r>
              <a:rPr lang="en-US" sz="28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2019</a:t>
            </a:r>
          </a:p>
        </p:txBody>
      </p:sp>
      <p:pic>
        <p:nvPicPr>
          <p:cNvPr id="38" name="Imagen 37">
            <a:extLst>
              <a:ext uri="{FF2B5EF4-FFF2-40B4-BE49-F238E27FC236}">
                <a16:creationId xmlns:a16="http://schemas.microsoft.com/office/drawing/2014/main" id="{26574D86-C169-45D5-A36D-FDEE74C1BE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884" y="295996"/>
            <a:ext cx="1449705" cy="382226"/>
          </a:xfrm>
          <a:prstGeom prst="rect">
            <a:avLst/>
          </a:prstGeom>
        </p:spPr>
      </p:pic>
      <p:pic>
        <p:nvPicPr>
          <p:cNvPr id="3" name="Imagen 2" descr="Imagen que contiene objeto&#10;&#10;Descripción generada automáticamente">
            <a:extLst>
              <a:ext uri="{FF2B5EF4-FFF2-40B4-BE49-F238E27FC236}">
                <a16:creationId xmlns:a16="http://schemas.microsoft.com/office/drawing/2014/main" id="{404AB70F-60DC-442A-B0A6-FDD705B562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009" y="1025756"/>
            <a:ext cx="9636089" cy="5641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720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ventana, exterior, cielo&#10;&#10;Descripción generada con confianza muy alta">
            <a:extLst>
              <a:ext uri="{FF2B5EF4-FFF2-40B4-BE49-F238E27FC236}">
                <a16:creationId xmlns:a16="http://schemas.microsoft.com/office/drawing/2014/main" id="{84BB6350-E164-4AD4-AC82-146EAF494A8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30" t="10153" r="5159" b="75641"/>
          <a:stretch/>
        </p:blipFill>
        <p:spPr>
          <a:xfrm>
            <a:off x="0" y="0"/>
            <a:ext cx="12192000" cy="97422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B930881-B1F3-4B8F-9510-7AE2668552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5936" y="221322"/>
            <a:ext cx="2016155" cy="531575"/>
          </a:xfrm>
          <a:prstGeom prst="rect">
            <a:avLst/>
          </a:prstGeom>
        </p:spPr>
      </p:pic>
      <p:pic>
        <p:nvPicPr>
          <p:cNvPr id="6" name="Picture 2" descr="Resultado de imagen de cdti">
            <a:extLst>
              <a:ext uri="{FF2B5EF4-FFF2-40B4-BE49-F238E27FC236}">
                <a16:creationId xmlns:a16="http://schemas.microsoft.com/office/drawing/2014/main" id="{8E13E5E2-7A35-4FEC-A109-AB27E46A8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782" y="2338263"/>
            <a:ext cx="1003026" cy="449901"/>
          </a:xfrm>
          <a:prstGeom prst="rect">
            <a:avLst/>
          </a:prstGeom>
          <a:solidFill>
            <a:schemeClr val="bg1">
              <a:lumMod val="95000"/>
              <a:alpha val="0"/>
            </a:schemeClr>
          </a:solidFill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6893ECC-7158-4BAC-8DE3-FBAED3D85B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719" y="3977794"/>
            <a:ext cx="1001089" cy="769693"/>
          </a:xfrm>
          <a:prstGeom prst="rect">
            <a:avLst/>
          </a:prstGeom>
        </p:spPr>
      </p:pic>
      <p:pic>
        <p:nvPicPr>
          <p:cNvPr id="1026" name="Picture 2" descr="Resultado de imagen de pyme innovadora">
            <a:extLst>
              <a:ext uri="{FF2B5EF4-FFF2-40B4-BE49-F238E27FC236}">
                <a16:creationId xmlns:a16="http://schemas.microsoft.com/office/drawing/2014/main" id="{C7A89A5C-C1F8-4FB3-AF55-9B3EEAB260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5722" y="5223877"/>
            <a:ext cx="703145" cy="902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B606A632-32D4-4983-999D-B6863153262D}"/>
              </a:ext>
            </a:extLst>
          </p:cNvPr>
          <p:cNvSpPr/>
          <p:nvPr/>
        </p:nvSpPr>
        <p:spPr>
          <a:xfrm>
            <a:off x="3602030" y="1686867"/>
            <a:ext cx="8052414" cy="22741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1200" dirty="0">
                <a:solidFill>
                  <a:srgbClr val="4D5266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 </a:t>
            </a:r>
            <a:r>
              <a:rPr lang="es-ES" sz="1200" b="1" dirty="0">
                <a:solidFill>
                  <a:srgbClr val="4D5266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CDTI</a:t>
            </a:r>
            <a:r>
              <a:rPr lang="es-ES" sz="1200" dirty="0">
                <a:solidFill>
                  <a:srgbClr val="4D5266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(Centro para el Desarrollo Tecnológico Industrial) es una Entidad Pública Empresarial, dependiente </a:t>
            </a:r>
          </a:p>
          <a:p>
            <a:pPr>
              <a:lnSpc>
                <a:spcPct val="150000"/>
              </a:lnSpc>
            </a:pPr>
            <a:r>
              <a:rPr lang="es-ES" sz="1200" dirty="0">
                <a:solidFill>
                  <a:srgbClr val="4D5266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del Ministerio de Economía, Industria y Competitividad, que promueve la innovación y el desarrollo tecnológico </a:t>
            </a:r>
          </a:p>
          <a:p>
            <a:pPr>
              <a:lnSpc>
                <a:spcPct val="150000"/>
              </a:lnSpc>
            </a:pPr>
            <a:r>
              <a:rPr lang="es-ES" sz="1200" dirty="0">
                <a:solidFill>
                  <a:srgbClr val="4D5266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 las empresas españolas.</a:t>
            </a:r>
          </a:p>
          <a:p>
            <a:pPr>
              <a:lnSpc>
                <a:spcPct val="150000"/>
              </a:lnSpc>
            </a:pPr>
            <a:r>
              <a:rPr lang="es-ES" sz="1200" b="1" dirty="0" err="1">
                <a:solidFill>
                  <a:srgbClr val="4D5266"/>
                </a:solidFill>
                <a:latin typeface="Roboto" panose="02000000000000000000" pitchFamily="2" charset="0"/>
              </a:rPr>
              <a:t>Artfacto</a:t>
            </a:r>
            <a:r>
              <a:rPr lang="es-ES" sz="1200" b="1" dirty="0">
                <a:solidFill>
                  <a:srgbClr val="4D5266"/>
                </a:solidFill>
                <a:latin typeface="Roboto" panose="02000000000000000000" pitchFamily="2" charset="0"/>
              </a:rPr>
              <a:t> está cofinanciado por el CDTI del Gobierno de España. </a:t>
            </a:r>
          </a:p>
          <a:p>
            <a:pPr>
              <a:lnSpc>
                <a:spcPct val="150000"/>
              </a:lnSpc>
            </a:pPr>
            <a:r>
              <a:rPr lang="es-ES" sz="1200" b="1" dirty="0" err="1">
                <a:solidFill>
                  <a:srgbClr val="4D5266"/>
                </a:solidFill>
                <a:latin typeface="Roboto" panose="02000000000000000000" pitchFamily="2" charset="0"/>
              </a:rPr>
              <a:t>Nº</a:t>
            </a:r>
            <a:r>
              <a:rPr lang="es-ES" sz="1200" b="1" dirty="0">
                <a:solidFill>
                  <a:srgbClr val="4D5266"/>
                </a:solidFill>
                <a:latin typeface="Roboto" panose="02000000000000000000" pitchFamily="2" charset="0"/>
              </a:rPr>
              <a:t> Expediente: </a:t>
            </a:r>
            <a:r>
              <a:rPr lang="es-ES" sz="1200" dirty="0">
                <a:solidFill>
                  <a:srgbClr val="4D5266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EXP 00102615 / IDI-20170765 ( Hito 1)</a:t>
            </a:r>
            <a:endParaRPr lang="es-ES" dirty="0">
              <a:solidFill>
                <a:srgbClr val="4D5266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ES" sz="1200" b="1" dirty="0">
                <a:solidFill>
                  <a:srgbClr val="4D5266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Título: </a:t>
            </a:r>
            <a:r>
              <a:rPr lang="es-ES" sz="1200" dirty="0">
                <a:solidFill>
                  <a:srgbClr val="64667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DESARROLLO DE UNA PLATAFORMA "LOW-CODE" PERSONALIZABLE BASADA EN I.A., ANÁLISIS SEMÁNTICO Y SISTEMAS DE RECONOCIMIENTO DE VOZ.</a:t>
            </a:r>
            <a:endParaRPr lang="es-ES" dirty="0">
              <a:solidFill>
                <a:srgbClr val="646670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lnSpc>
                <a:spcPct val="150000"/>
              </a:lnSpc>
            </a:pPr>
            <a:endParaRPr lang="es-ES" sz="1200" b="1" dirty="0">
              <a:solidFill>
                <a:srgbClr val="4D5266"/>
              </a:solidFill>
              <a:latin typeface="Roboto" panose="02000000000000000000" pitchFamily="2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3EBAEB0-A3C2-4015-9013-5569A351CD30}"/>
              </a:ext>
            </a:extLst>
          </p:cNvPr>
          <p:cNvSpPr/>
          <p:nvPr/>
        </p:nvSpPr>
        <p:spPr>
          <a:xfrm>
            <a:off x="3602030" y="4072332"/>
            <a:ext cx="8052414" cy="6121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1200" b="1" dirty="0">
                <a:solidFill>
                  <a:srgbClr val="4D5266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ENISA</a:t>
            </a:r>
            <a:r>
              <a:rPr lang="es-ES" sz="1200" dirty="0">
                <a:solidFill>
                  <a:srgbClr val="4D5266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es una sociedad mercantil estatal, dependiente del Ministerio de Economía, Industria y Competitiva, </a:t>
            </a:r>
          </a:p>
          <a:p>
            <a:pPr>
              <a:lnSpc>
                <a:spcPct val="150000"/>
              </a:lnSpc>
            </a:pPr>
            <a:r>
              <a:rPr lang="es-ES" sz="1200" dirty="0">
                <a:solidFill>
                  <a:srgbClr val="4D5266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que participa activamente en la financiación de proyectos empresariales viables e innovadoras.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39CB69A-793C-4C28-8F47-AFE5EAC807C0}"/>
              </a:ext>
            </a:extLst>
          </p:cNvPr>
          <p:cNvSpPr/>
          <p:nvPr/>
        </p:nvSpPr>
        <p:spPr>
          <a:xfrm>
            <a:off x="3602030" y="5240655"/>
            <a:ext cx="8052414" cy="6121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sz="1200" dirty="0">
                <a:solidFill>
                  <a:srgbClr val="4D5266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 </a:t>
            </a:r>
            <a:r>
              <a:rPr lang="es-ES" sz="1200" b="1" dirty="0">
                <a:solidFill>
                  <a:srgbClr val="4D5266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Ministerio de Economía y Competitividad </a:t>
            </a:r>
            <a:r>
              <a:rPr lang="es-ES" sz="1200" dirty="0">
                <a:solidFill>
                  <a:srgbClr val="4D5266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reconoce </a:t>
            </a:r>
            <a:r>
              <a:rPr lang="es-ES" sz="1200" dirty="0" err="1">
                <a:solidFill>
                  <a:srgbClr val="4D5266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Zontisa</a:t>
            </a:r>
            <a:r>
              <a:rPr lang="es-ES" sz="1200" dirty="0">
                <a:solidFill>
                  <a:srgbClr val="4D5266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como empresa innovadora acreditada </a:t>
            </a:r>
          </a:p>
          <a:p>
            <a:pPr>
              <a:lnSpc>
                <a:spcPct val="150000"/>
              </a:lnSpc>
            </a:pPr>
            <a:r>
              <a:rPr lang="es-ES" sz="1200" dirty="0">
                <a:solidFill>
                  <a:srgbClr val="4D5266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por haber realizado actividades de relevancia en el ámbito de la I+D+i. 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B2EE530-A3EA-4E3B-8A3D-AB25228964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97422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B83296C5-C5BD-4B47-898A-AFF5AA74F8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884" y="295996"/>
            <a:ext cx="1449705" cy="382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0763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C91B7F2-0D97-4C12-8F91-5B9C8375ECBB}"/>
              </a:ext>
            </a:extLst>
          </p:cNvPr>
          <p:cNvSpPr/>
          <p:nvPr/>
        </p:nvSpPr>
        <p:spPr>
          <a:xfrm>
            <a:off x="1" y="2816603"/>
            <a:ext cx="12192000" cy="12247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By</a:t>
            </a:r>
            <a:r>
              <a:rPr lang="es-E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s-ES" sz="1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Zontisa</a:t>
            </a:r>
            <a:r>
              <a:rPr lang="es-E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Smart </a:t>
            </a:r>
            <a:r>
              <a:rPr lang="es-ES" sz="14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Technology</a:t>
            </a:r>
            <a:endParaRPr lang="es-ES" sz="1400" b="1" dirty="0">
              <a:solidFill>
                <a:schemeClr val="tx1">
                  <a:lumMod val="65000"/>
                  <a:lumOff val="3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algn="ctr"/>
            <a:endParaRPr lang="es-ES" dirty="0"/>
          </a:p>
        </p:txBody>
      </p:sp>
      <p:pic>
        <p:nvPicPr>
          <p:cNvPr id="6" name="Imagen 5" descr="Imagen que contiene exterior&#10;&#10;Descripción generada con confianza alta">
            <a:extLst>
              <a:ext uri="{FF2B5EF4-FFF2-40B4-BE49-F238E27FC236}">
                <a16:creationId xmlns:a16="http://schemas.microsoft.com/office/drawing/2014/main" id="{10801DDD-AB7E-4461-B3BE-7D34348E427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74" b="24274"/>
          <a:stretch/>
        </p:blipFill>
        <p:spPr>
          <a:xfrm>
            <a:off x="5005387" y="5461757"/>
            <a:ext cx="2181225" cy="1224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2417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AD3B79071582E4CB9E089613CC6D667" ma:contentTypeVersion="7" ma:contentTypeDescription="Crear nuevo documento." ma:contentTypeScope="" ma:versionID="f474714044b4a1a6170f1860b375ee1e">
  <xsd:schema xmlns:xsd="http://www.w3.org/2001/XMLSchema" xmlns:xs="http://www.w3.org/2001/XMLSchema" xmlns:p="http://schemas.microsoft.com/office/2006/metadata/properties" xmlns:ns2="6cddc03f-a1a7-498c-8df0-c0f34b625928" xmlns:ns3="0e818131-733a-4fc7-bbc2-d3ee04ceca2c" targetNamespace="http://schemas.microsoft.com/office/2006/metadata/properties" ma:root="true" ma:fieldsID="7c156067bfeff22a329190ef03905030" ns2:_="" ns3:_="">
    <xsd:import namespace="6cddc03f-a1a7-498c-8df0-c0f34b625928"/>
    <xsd:import namespace="0e818131-733a-4fc7-bbc2-d3ee04ceca2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ddc03f-a1a7-498c-8df0-c0f34b62592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818131-733a-4fc7-bbc2-d3ee04ceca2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MediaServiceAutoTags" ma:internalName="MediaServiceAutoTags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6cddc03f-a1a7-498c-8df0-c0f34b625928">
      <UserInfo>
        <DisplayName>Manuel Jose Gonzalez Lopez</DisplayName>
        <AccountId>11</AccountId>
        <AccountType/>
      </UserInfo>
      <UserInfo>
        <DisplayName>Martin Sotelo</DisplayName>
        <AccountId>248</AccountId>
        <AccountType/>
      </UserInfo>
      <UserInfo>
        <DisplayName>Josep LLuis Lopez</DisplayName>
        <AccountId>236</AccountId>
        <AccountType/>
      </UserInfo>
      <UserInfo>
        <DisplayName>Yngrid Casart Quintero</DisplayName>
        <AccountId>83</AccountId>
        <AccountType/>
      </UserInfo>
      <UserInfo>
        <DisplayName>Maria Naveros</DisplayName>
        <AccountId>245</AccountId>
        <AccountType/>
      </UserInfo>
      <UserInfo>
        <DisplayName>Shenglin Xu</DisplayName>
        <AccountId>253</AccountId>
        <AccountType/>
      </UserInfo>
      <UserInfo>
        <DisplayName>Noelia Garcia Olmo</DisplayName>
        <AccountId>272</AccountId>
        <AccountType/>
      </UserInfo>
      <UserInfo>
        <DisplayName>Jose Luis Casanova Cabanas</DisplayName>
        <AccountId>18</AccountId>
        <AccountType/>
      </UserInfo>
      <UserInfo>
        <DisplayName>Maryam Ghaderi</DisplayName>
        <AccountId>258</AccountId>
        <AccountType/>
      </UserInfo>
      <UserInfo>
        <DisplayName>Sergei Sinenkov</DisplayName>
        <AccountId>280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67D6393B-045E-43EF-BE4C-5C98F32AB56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0B7DC6D-7C97-4F2E-98B2-5CE975D58A7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cddc03f-a1a7-498c-8df0-c0f34b625928"/>
    <ds:schemaRef ds:uri="0e818131-733a-4fc7-bbc2-d3ee04ceca2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4651D8F-779D-491A-81E8-47E2A0881687}">
  <ds:schemaRefs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purl.org/dc/terms/"/>
    <ds:schemaRef ds:uri="http://schemas.openxmlformats.org/package/2006/metadata/core-properties"/>
    <ds:schemaRef ds:uri="http://purl.org/dc/elements/1.1/"/>
    <ds:schemaRef ds:uri="http://www.w3.org/XML/1998/namespace"/>
    <ds:schemaRef ds:uri="http://schemas.microsoft.com/office/2006/metadata/properties"/>
    <ds:schemaRef ds:uri="6cddc03f-a1a7-498c-8df0-c0f34b625928"/>
    <ds:schemaRef ds:uri="0e818131-733a-4fc7-bbc2-d3ee04ceca2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1181</TotalTime>
  <Words>863</Words>
  <Application>Microsoft Office PowerPoint</Application>
  <PresentationFormat>Panorámica</PresentationFormat>
  <Paragraphs>118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Roboto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Maria Naveros</dc:creator>
  <cp:lastModifiedBy>Manuel Jose Gonzalez Lopez</cp:lastModifiedBy>
  <cp:revision>212</cp:revision>
  <dcterms:created xsi:type="dcterms:W3CDTF">2018-10-26T10:46:20Z</dcterms:created>
  <dcterms:modified xsi:type="dcterms:W3CDTF">2019-10-28T10:49:41Z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0x0101003AD3B79071582E4CB9E089613CC6D667</vt:lpwstr>
  </property>
</Properties>
</file>